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1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5" r:id="rId16"/>
    <p:sldId id="271" r:id="rId17"/>
    <p:sldId id="273" r:id="rId18"/>
    <p:sldId id="276" r:id="rId19"/>
    <p:sldId id="277" r:id="rId20"/>
    <p:sldId id="278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50" d="100"/>
          <a:sy n="50" d="100"/>
        </p:scale>
        <p:origin x="360" y="12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536E4-8DA2-4030-95FB-DE280B8F9E33}" type="datetimeFigureOut">
              <a:rPr lang="ko-KR" altLang="en-US" smtClean="0"/>
              <a:t>2026-08-28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5655-FEDF-463D-8E3A-E9436836915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93777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536E4-8DA2-4030-95FB-DE280B8F9E33}" type="datetimeFigureOut">
              <a:rPr lang="ko-KR" altLang="en-US" smtClean="0"/>
              <a:t>2026-08-28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5655-FEDF-463D-8E3A-E9436836915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94790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536E4-8DA2-4030-95FB-DE280B8F9E33}" type="datetimeFigureOut">
              <a:rPr lang="ko-KR" altLang="en-US" smtClean="0"/>
              <a:t>2026-08-28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5655-FEDF-463D-8E3A-E9436836915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06054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536E4-8DA2-4030-95FB-DE280B8F9E33}" type="datetimeFigureOut">
              <a:rPr lang="ko-KR" altLang="en-US" smtClean="0"/>
              <a:t>2026-08-28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5655-FEDF-463D-8E3A-E9436836915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75961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536E4-8DA2-4030-95FB-DE280B8F9E33}" type="datetimeFigureOut">
              <a:rPr lang="ko-KR" altLang="en-US" smtClean="0"/>
              <a:t>2026-08-28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5655-FEDF-463D-8E3A-E9436836915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19808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536E4-8DA2-4030-95FB-DE280B8F9E33}" type="datetimeFigureOut">
              <a:rPr lang="ko-KR" altLang="en-US" smtClean="0"/>
              <a:t>2026-08-28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5655-FEDF-463D-8E3A-E9436836915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5598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536E4-8DA2-4030-95FB-DE280B8F9E33}" type="datetimeFigureOut">
              <a:rPr lang="ko-KR" altLang="en-US" smtClean="0"/>
              <a:t>2026-08-28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5655-FEDF-463D-8E3A-E9436836915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55155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536E4-8DA2-4030-95FB-DE280B8F9E33}" type="datetimeFigureOut">
              <a:rPr lang="ko-KR" altLang="en-US" smtClean="0"/>
              <a:t>2026-08-28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5655-FEDF-463D-8E3A-E9436836915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232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536E4-8DA2-4030-95FB-DE280B8F9E33}" type="datetimeFigureOut">
              <a:rPr lang="ko-KR" altLang="en-US" smtClean="0"/>
              <a:t>2026-08-28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5655-FEDF-463D-8E3A-E9436836915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32957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536E4-8DA2-4030-95FB-DE280B8F9E33}" type="datetimeFigureOut">
              <a:rPr lang="ko-KR" altLang="en-US" smtClean="0"/>
              <a:t>2026-08-28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5655-FEDF-463D-8E3A-E9436836915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2189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536E4-8DA2-4030-95FB-DE280B8F9E33}" type="datetimeFigureOut">
              <a:rPr lang="ko-KR" altLang="en-US" smtClean="0"/>
              <a:t>2026-08-28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5655-FEDF-463D-8E3A-E9436836915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000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1536E4-8DA2-4030-95FB-DE280B8F9E33}" type="datetimeFigureOut">
              <a:rPr lang="ko-KR" altLang="en-US" smtClean="0"/>
              <a:t>2026-08-28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FA5655-FEDF-463D-8E3A-E9436836915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4867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jpeg"/><Relationship Id="rId7" Type="http://schemas.openxmlformats.org/officeDocument/2006/relationships/image" Target="../media/image10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18" Type="http://schemas.openxmlformats.org/officeDocument/2006/relationships/image" Target="../media/image31.jpeg"/><Relationship Id="rId3" Type="http://schemas.openxmlformats.org/officeDocument/2006/relationships/image" Target="../media/image16.jpeg"/><Relationship Id="rId21" Type="http://schemas.openxmlformats.org/officeDocument/2006/relationships/image" Target="../media/image34.jpe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17" Type="http://schemas.openxmlformats.org/officeDocument/2006/relationships/image" Target="../media/image30.png"/><Relationship Id="rId2" Type="http://schemas.openxmlformats.org/officeDocument/2006/relationships/image" Target="../media/image15.png"/><Relationship Id="rId16" Type="http://schemas.openxmlformats.org/officeDocument/2006/relationships/image" Target="../media/image29.png"/><Relationship Id="rId20" Type="http://schemas.openxmlformats.org/officeDocument/2006/relationships/image" Target="../media/image3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jpeg"/><Relationship Id="rId15" Type="http://schemas.openxmlformats.org/officeDocument/2006/relationships/image" Target="../media/image28.png"/><Relationship Id="rId23" Type="http://schemas.openxmlformats.org/officeDocument/2006/relationships/image" Target="../media/image36.png"/><Relationship Id="rId10" Type="http://schemas.openxmlformats.org/officeDocument/2006/relationships/image" Target="../media/image23.png"/><Relationship Id="rId19" Type="http://schemas.openxmlformats.org/officeDocument/2006/relationships/image" Target="../media/image32.jpeg"/><Relationship Id="rId4" Type="http://schemas.openxmlformats.org/officeDocument/2006/relationships/image" Target="../media/image17.jpeg"/><Relationship Id="rId9" Type="http://schemas.openxmlformats.org/officeDocument/2006/relationships/image" Target="../media/image22.png"/><Relationship Id="rId14" Type="http://schemas.openxmlformats.org/officeDocument/2006/relationships/image" Target="../media/image27.png"/><Relationship Id="rId22" Type="http://schemas.openxmlformats.org/officeDocument/2006/relationships/image" Target="../media/image35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도구 사용 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도구 숙련도가 낮다면</a:t>
            </a:r>
            <a:r>
              <a:rPr lang="en-US" altLang="ko-KR" dirty="0" smtClean="0"/>
              <a:t>, </a:t>
            </a:r>
            <a:r>
              <a:rPr lang="ko-KR" altLang="en-US" dirty="0" smtClean="0"/>
              <a:t>사용하지 않는 게 좋다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ko-KR" altLang="en-US" dirty="0" smtClean="0"/>
              <a:t>글자로 원하는 바를 다른 사람에게 전달하는 것보다</a:t>
            </a:r>
            <a:endParaRPr lang="en-US" altLang="ko-KR" dirty="0" smtClean="0"/>
          </a:p>
          <a:p>
            <a:r>
              <a:rPr lang="ko-KR" altLang="en-US" b="1" u="sng" dirty="0" smtClean="0"/>
              <a:t>러프 스케치</a:t>
            </a:r>
            <a:r>
              <a:rPr lang="ko-KR" altLang="en-US" dirty="0" smtClean="0"/>
              <a:t>로라도 표현할 수 있으면 좋다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75901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게임 플레이 유튜브 영상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[</a:t>
            </a:r>
            <a:r>
              <a:rPr lang="ko-KR" altLang="en-US" dirty="0" err="1" smtClean="0"/>
              <a:t>데드</a:t>
            </a:r>
            <a:r>
              <a:rPr lang="ko-KR" altLang="en-US" smtClean="0"/>
              <a:t> 바이 데이라이트</a:t>
            </a:r>
            <a:r>
              <a:rPr lang="en-US" altLang="ko-KR" smtClean="0"/>
              <a:t>] </a:t>
            </a:r>
            <a:r>
              <a:rPr lang="en-US" altLang="ko-KR" smtClean="0"/>
              <a:t>: </a:t>
            </a:r>
            <a:r>
              <a:rPr lang="ko-KR" altLang="en-US" smtClean="0"/>
              <a:t>단순한 스피드 싸움뿐만 아니라</a:t>
            </a:r>
            <a:r>
              <a:rPr lang="en-US" altLang="ko-KR" smtClean="0"/>
              <a:t>, </a:t>
            </a:r>
            <a:r>
              <a:rPr lang="ko-KR" altLang="en-US" smtClean="0"/>
              <a:t>스킬과 구조물을 활용한 플레이</a:t>
            </a:r>
            <a:endParaRPr lang="en-US" altLang="ko-KR" smtClean="0"/>
          </a:p>
          <a:p>
            <a:r>
              <a:rPr lang="en-US" altLang="ko-KR" smtClean="0"/>
              <a:t>[Within Skerry] : </a:t>
            </a:r>
            <a:r>
              <a:rPr lang="ko-KR" altLang="en-US" smtClean="0"/>
              <a:t>무서운 존재가 나오기 전까지 너무 단순한 구조물들로 레벨이 설계돼있다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3365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그래픽 </a:t>
            </a:r>
            <a:r>
              <a:rPr lang="en-US" altLang="ko-KR" smtClean="0"/>
              <a:t>quality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그래픽 질이 떨어지면</a:t>
            </a:r>
            <a:r>
              <a:rPr lang="en-US" altLang="ko-KR" smtClean="0"/>
              <a:t>, </a:t>
            </a:r>
            <a:r>
              <a:rPr lang="ko-KR" altLang="en-US" smtClean="0"/>
              <a:t>어느 순간부터 몰입감이 ↓</a:t>
            </a:r>
            <a:endParaRPr lang="en-US" altLang="ko-KR" smtClean="0"/>
          </a:p>
          <a:p>
            <a:r>
              <a:rPr lang="en-US" altLang="ko-KR" smtClean="0"/>
              <a:t>But </a:t>
            </a:r>
            <a:r>
              <a:rPr lang="ko-KR" altLang="en-US" smtClean="0"/>
              <a:t>공포게임은 시야가 차단되거나 불편해도 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어린이용 게임같은 밝은 분위기의 게임은</a:t>
            </a:r>
            <a:r>
              <a:rPr lang="en-US" altLang="ko-KR" smtClean="0"/>
              <a:t>, </a:t>
            </a:r>
            <a:r>
              <a:rPr lang="ko-KR" altLang="en-US" smtClean="0"/>
              <a:t>색채도 다양하고 빛도 밝게 표현한다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스릴러</a:t>
            </a:r>
            <a:r>
              <a:rPr lang="en-US" altLang="ko-KR" smtClean="0"/>
              <a:t>, </a:t>
            </a:r>
            <a:r>
              <a:rPr lang="ko-KR" altLang="en-US" smtClean="0"/>
              <a:t>공포 게임은 색채값이 없어도</a:t>
            </a:r>
            <a:r>
              <a:rPr lang="en-US" altLang="ko-KR" smtClean="0"/>
              <a:t>, </a:t>
            </a:r>
            <a:r>
              <a:rPr lang="ko-KR" altLang="en-US" smtClean="0"/>
              <a:t>어두워도 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즉</a:t>
            </a:r>
            <a:r>
              <a:rPr lang="en-US" altLang="ko-KR" smtClean="0"/>
              <a:t>, </a:t>
            </a:r>
            <a:r>
              <a:rPr lang="ko-KR" altLang="en-US" smtClean="0"/>
              <a:t>시각적인 정보의 시스템은 어떤 장르의 게임인지를 나타낼 수 있다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7299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24" y="298825"/>
            <a:ext cx="11254152" cy="626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986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기능 </a:t>
            </a:r>
            <a:r>
              <a:rPr lang="en-US" altLang="ko-KR" smtClean="0"/>
              <a:t>=&gt; </a:t>
            </a:r>
            <a:r>
              <a:rPr lang="ko-KR" altLang="en-US" smtClean="0"/>
              <a:t>약속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smtClean="0"/>
              <a:t>[</a:t>
            </a:r>
            <a:r>
              <a:rPr lang="ko-KR" altLang="en-US" smtClean="0"/>
              <a:t>데바데</a:t>
            </a:r>
            <a:r>
              <a:rPr lang="en-US" altLang="ko-KR" smtClean="0"/>
              <a:t>] </a:t>
            </a:r>
          </a:p>
          <a:p>
            <a:r>
              <a:rPr lang="ko-KR" altLang="en-US" smtClean="0"/>
              <a:t>플레이어가 갈고리에 걸리면</a:t>
            </a:r>
            <a:r>
              <a:rPr lang="en-US" altLang="ko-KR" smtClean="0"/>
              <a:t>, </a:t>
            </a:r>
            <a:r>
              <a:rPr lang="ko-KR" altLang="en-US" smtClean="0"/>
              <a:t>다른 플레이어의 도움 없으면 못 빠져나온다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기능 </a:t>
            </a:r>
            <a:r>
              <a:rPr lang="en-US" altLang="ko-KR" smtClean="0"/>
              <a:t>&gt; </a:t>
            </a:r>
            <a:r>
              <a:rPr lang="ko-KR" altLang="en-US" smtClean="0"/>
              <a:t>약속</a:t>
            </a:r>
            <a:endParaRPr lang="en-US" altLang="ko-KR" smtClean="0"/>
          </a:p>
          <a:p>
            <a:pPr lvl="1"/>
            <a:r>
              <a:rPr lang="ko-KR" altLang="en-US" smtClean="0"/>
              <a:t>즉</a:t>
            </a:r>
            <a:r>
              <a:rPr lang="en-US" altLang="ko-KR" smtClean="0"/>
              <a:t>, </a:t>
            </a:r>
            <a:r>
              <a:rPr lang="ko-KR" altLang="en-US" smtClean="0"/>
              <a:t>실제 악당이라면 갈고리를 모두 한군데에 모아놨을 것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en-US" altLang="ko-KR" smtClean="0"/>
              <a:t>But </a:t>
            </a:r>
            <a:r>
              <a:rPr lang="ko-KR" altLang="en-US" smtClean="0"/>
              <a:t>게임의 기능이 더 중요하기 때문에</a:t>
            </a:r>
            <a:r>
              <a:rPr lang="en-US" altLang="ko-KR" smtClean="0"/>
              <a:t>, </a:t>
            </a:r>
            <a:r>
              <a:rPr lang="ko-KR" altLang="en-US" smtClean="0"/>
              <a:t>갈고리를 모두 흩어놓은 것</a:t>
            </a:r>
            <a:r>
              <a:rPr lang="en-US" altLang="ko-KR" smtClean="0"/>
              <a:t>.</a:t>
            </a:r>
            <a:endParaRPr lang="en-US" altLang="ko-KR"/>
          </a:p>
          <a:p>
            <a:r>
              <a:rPr lang="ko-KR" altLang="en-US" smtClean="0"/>
              <a:t>악당은 점프를 못한다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악당에게 상태이상</a:t>
            </a:r>
            <a:r>
              <a:rPr lang="en-US" altLang="ko-KR" smtClean="0"/>
              <a:t>(</a:t>
            </a:r>
            <a:r>
              <a:rPr lang="ko-KR" altLang="en-US" smtClean="0"/>
              <a:t>스턴</a:t>
            </a:r>
            <a:r>
              <a:rPr lang="en-US" altLang="ko-KR" smtClean="0"/>
              <a:t>)</a:t>
            </a:r>
            <a:r>
              <a:rPr lang="ko-KR" altLang="en-US" smtClean="0"/>
              <a:t>을 주기 위한 오브젝트를 활용하기 위해</a:t>
            </a:r>
            <a:r>
              <a:rPr lang="en-US" altLang="ko-KR" smtClean="0"/>
              <a:t>.</a:t>
            </a:r>
          </a:p>
          <a:p>
            <a:pPr lvl="1"/>
            <a:endParaRPr lang="en-US" altLang="ko-KR"/>
          </a:p>
          <a:p>
            <a:r>
              <a:rPr lang="ko-KR" altLang="en-US" smtClean="0"/>
              <a:t>게임의 장르에 따라 이런 약속들이 만들어져야 한다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3241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523" y="44393"/>
            <a:ext cx="10034954" cy="676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570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[Hide &amp; Chick]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맵에 따라서 룰이 달라진다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마지막까지 깃발을 들고 있는 사람이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이긴다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인지 초기화 </a:t>
            </a:r>
            <a:r>
              <a:rPr lang="en-US" altLang="ko-KR" smtClean="0"/>
              <a:t>: </a:t>
            </a:r>
            <a:r>
              <a:rPr lang="ko-KR" altLang="en-US" smtClean="0"/>
              <a:t>내가 사람이라고 생각했던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닭이</a:t>
            </a:r>
            <a:r>
              <a:rPr lang="en-US" altLang="ko-KR" smtClean="0"/>
              <a:t>, </a:t>
            </a:r>
            <a:r>
              <a:rPr lang="ko-KR" altLang="en-US" smtClean="0"/>
              <a:t>오브젝트를 지나치면서</a:t>
            </a:r>
            <a:r>
              <a:rPr lang="en-US" altLang="ko-KR" smtClean="0"/>
              <a:t>, AI</a:t>
            </a:r>
            <a:r>
              <a:rPr lang="ko-KR" altLang="en-US" smtClean="0"/>
              <a:t>와</a:t>
            </a:r>
            <a:r>
              <a:rPr lang="en-US" altLang="ko-KR" smtClean="0"/>
              <a:t> </a:t>
            </a:r>
            <a:r>
              <a:rPr lang="ko-KR" altLang="en-US" smtClean="0"/>
              <a:t>자리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가 바꼈을 수도 있으므로</a:t>
            </a:r>
            <a:r>
              <a:rPr lang="en-US" altLang="ko-KR" smtClean="0"/>
              <a:t>, </a:t>
            </a:r>
            <a:r>
              <a:rPr lang="ko-KR" altLang="en-US" smtClean="0"/>
              <a:t>오브젝트 위치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하나만으로 이러한 설계를 할 수 있다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시스템적으로 아주 잘 만든 게임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1309" y="2113888"/>
            <a:ext cx="4410691" cy="4744112"/>
          </a:xfrm>
          <a:prstGeom prst="rect">
            <a:avLst/>
          </a:prstGeom>
        </p:spPr>
      </p:pic>
      <p:sp>
        <p:nvSpPr>
          <p:cNvPr id="5" name="포인트가 5개인 별 4"/>
          <p:cNvSpPr/>
          <p:nvPr/>
        </p:nvSpPr>
        <p:spPr>
          <a:xfrm>
            <a:off x="9278815" y="3344801"/>
            <a:ext cx="656493" cy="656493"/>
          </a:xfrm>
          <a:prstGeom prst="star5">
            <a:avLst>
              <a:gd name="adj" fmla="val 27847"/>
              <a:gd name="hf" fmla="val 105146"/>
              <a:gd name="vf" fmla="val 110557"/>
            </a:avLst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3809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요소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메인 플레이에 적용할 수 있는 요소</a:t>
            </a:r>
            <a:endParaRPr lang="en-US" altLang="ko-KR" smtClean="0"/>
          </a:p>
          <a:p>
            <a:r>
              <a:rPr lang="ko-KR" altLang="en-US" smtClean="0"/>
              <a:t>서브 플레이에 보조적 도움을 받을 수 있는 요소</a:t>
            </a:r>
            <a:endParaRPr lang="en-US" altLang="ko-KR" smtClean="0"/>
          </a:p>
          <a:p>
            <a:r>
              <a:rPr lang="ko-KR" altLang="en-US" smtClean="0"/>
              <a:t>리마커블한 재미 요소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설계한 약속들에 따라서</a:t>
            </a:r>
            <a:r>
              <a:rPr lang="en-US" altLang="ko-KR" smtClean="0"/>
              <a:t>, </a:t>
            </a:r>
            <a:r>
              <a:rPr lang="ko-KR" altLang="en-US" smtClean="0"/>
              <a:t>어떤 플레이가 가능할 지가 정해진다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8791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355" y="198244"/>
            <a:ext cx="9537290" cy="6461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1216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공간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이 공간에서 플레이어가 어떻게 플레이해야 하는지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내가 만든 시스템을 시각화하자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8768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시스템을 시각화하기 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내쉬기 강화 </a:t>
            </a:r>
            <a:r>
              <a:rPr lang="en-US" altLang="ko-KR" smtClean="0"/>
              <a:t>: </a:t>
            </a:r>
            <a:r>
              <a:rPr lang="ko-KR" altLang="en-US" smtClean="0"/>
              <a:t>소리 뱉기</a:t>
            </a:r>
            <a:endParaRPr lang="en-US" altLang="ko-KR" smtClean="0"/>
          </a:p>
          <a:p>
            <a:r>
              <a:rPr lang="ko-KR" altLang="en-US" smtClean="0"/>
              <a:t>과흡입 </a:t>
            </a:r>
            <a:r>
              <a:rPr lang="en-US" altLang="ko-KR" smtClean="0"/>
              <a:t>: </a:t>
            </a:r>
            <a:r>
              <a:rPr lang="ko-KR" altLang="en-US" smtClean="0"/>
              <a:t>은신</a:t>
            </a:r>
            <a:endParaRPr lang="en-US" altLang="ko-KR" smtClean="0"/>
          </a:p>
          <a:p>
            <a:r>
              <a:rPr lang="ko-KR" altLang="en-US" smtClean="0"/>
              <a:t>강제 내뱉기</a:t>
            </a:r>
            <a:endParaRPr lang="en-US" altLang="ko-KR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03470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22" t="28889" r="33889" b="29444"/>
          <a:stretch/>
        </p:blipFill>
        <p:spPr>
          <a:xfrm>
            <a:off x="323850" y="304800"/>
            <a:ext cx="2667000" cy="28575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12" t="53056" r="13333" b="26944"/>
          <a:stretch/>
        </p:blipFill>
        <p:spPr>
          <a:xfrm>
            <a:off x="952500" y="4838700"/>
            <a:ext cx="1409700" cy="13716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89" t="12778" r="33333" b="24444"/>
          <a:stretch/>
        </p:blipFill>
        <p:spPr>
          <a:xfrm>
            <a:off x="5348302" y="2286000"/>
            <a:ext cx="1049099" cy="186690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22" t="11388" r="30000" b="12223"/>
          <a:stretch/>
        </p:blipFill>
        <p:spPr>
          <a:xfrm>
            <a:off x="6493799" y="4665792"/>
            <a:ext cx="964276" cy="182880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00" t="6111" r="27500" b="6111"/>
          <a:stretch/>
        </p:blipFill>
        <p:spPr>
          <a:xfrm>
            <a:off x="3876675" y="419100"/>
            <a:ext cx="1074275" cy="209550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9" t="8611" r="13889" b="8611"/>
          <a:stretch/>
        </p:blipFill>
        <p:spPr>
          <a:xfrm>
            <a:off x="2152650" y="3357562"/>
            <a:ext cx="2114550" cy="2128838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11" t="24424" r="21111" b="26648"/>
          <a:stretch/>
        </p:blipFill>
        <p:spPr>
          <a:xfrm>
            <a:off x="6259274" y="383946"/>
            <a:ext cx="2152650" cy="1822908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89" t="2222" r="7500" b="2222"/>
          <a:stretch/>
        </p:blipFill>
        <p:spPr>
          <a:xfrm>
            <a:off x="7063011" y="2686050"/>
            <a:ext cx="2000250" cy="2286000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78" b="12778"/>
          <a:stretch/>
        </p:blipFill>
        <p:spPr>
          <a:xfrm>
            <a:off x="9382125" y="4712758"/>
            <a:ext cx="2667000" cy="1985433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00" b="15000"/>
          <a:stretch/>
        </p:blipFill>
        <p:spPr>
          <a:xfrm>
            <a:off x="9239250" y="2686050"/>
            <a:ext cx="2667000" cy="1866900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9800" y="304800"/>
            <a:ext cx="198120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3936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105391"/>
            <a:ext cx="11811000" cy="664721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22" t="28889" r="33889" b="29444"/>
          <a:stretch/>
        </p:blipFill>
        <p:spPr>
          <a:xfrm>
            <a:off x="1330739" y="-1193583"/>
            <a:ext cx="667764" cy="715462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12" t="53056" r="13333" b="26944"/>
          <a:stretch/>
        </p:blipFill>
        <p:spPr>
          <a:xfrm>
            <a:off x="2022755" y="-686823"/>
            <a:ext cx="312547" cy="304101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89" t="12778" r="33333" b="24444"/>
          <a:stretch/>
        </p:blipFill>
        <p:spPr>
          <a:xfrm>
            <a:off x="4839350" y="4277232"/>
            <a:ext cx="664454" cy="1182412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22" t="11388" r="30000" b="12223"/>
          <a:stretch/>
        </p:blipFill>
        <p:spPr>
          <a:xfrm>
            <a:off x="5466716" y="2204230"/>
            <a:ext cx="527683" cy="1000782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00" t="6111" r="27500" b="6111"/>
          <a:stretch/>
        </p:blipFill>
        <p:spPr>
          <a:xfrm>
            <a:off x="7172910" y="-1725366"/>
            <a:ext cx="570919" cy="1113643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11" t="24424" r="21111" b="26648"/>
          <a:stretch/>
        </p:blipFill>
        <p:spPr>
          <a:xfrm>
            <a:off x="2760008" y="-1181964"/>
            <a:ext cx="200666" cy="169927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89" t="2222" r="7500" b="2222"/>
          <a:stretch/>
        </p:blipFill>
        <p:spPr>
          <a:xfrm>
            <a:off x="3110534" y="-1343610"/>
            <a:ext cx="875682" cy="1000780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78" b="12778"/>
          <a:stretch/>
        </p:blipFill>
        <p:spPr>
          <a:xfrm>
            <a:off x="5256243" y="895305"/>
            <a:ext cx="1036621" cy="771706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00" b="15000"/>
          <a:stretch/>
        </p:blipFill>
        <p:spPr>
          <a:xfrm>
            <a:off x="5466717" y="-1692535"/>
            <a:ext cx="1812628" cy="1268839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4905" y="-1558618"/>
            <a:ext cx="760985" cy="760985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9" t="8611" r="13889" b="8611"/>
          <a:stretch/>
        </p:blipFill>
        <p:spPr>
          <a:xfrm>
            <a:off x="2951488" y="-1668970"/>
            <a:ext cx="546624" cy="550317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477" t="8611" r="23528" b="78909"/>
          <a:stretch/>
        </p:blipFill>
        <p:spPr>
          <a:xfrm>
            <a:off x="7931151" y="682250"/>
            <a:ext cx="1269999" cy="726065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78" b="12778"/>
          <a:stretch/>
        </p:blipFill>
        <p:spPr>
          <a:xfrm>
            <a:off x="4529485" y="-2741513"/>
            <a:ext cx="1652191" cy="1229963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9864" y="1123052"/>
            <a:ext cx="477459" cy="477459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7329" y="4591835"/>
            <a:ext cx="563986" cy="563986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1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12" t="53056" r="13333" b="26944"/>
          <a:stretch/>
        </p:blipFill>
        <p:spPr>
          <a:xfrm>
            <a:off x="2894369" y="3854037"/>
            <a:ext cx="727743" cy="708077"/>
          </a:xfrm>
          <a:prstGeom prst="rect">
            <a:avLst/>
          </a:prstGeom>
        </p:spPr>
      </p:pic>
      <p:sp>
        <p:nvSpPr>
          <p:cNvPr id="24" name="자유형 23"/>
          <p:cNvSpPr/>
          <p:nvPr/>
        </p:nvSpPr>
        <p:spPr>
          <a:xfrm>
            <a:off x="2527069" y="1246909"/>
            <a:ext cx="6104704" cy="4089862"/>
          </a:xfrm>
          <a:custGeom>
            <a:avLst/>
            <a:gdLst>
              <a:gd name="connsiteX0" fmla="*/ 0 w 6104704"/>
              <a:gd name="connsiteY0" fmla="*/ 3790604 h 4089862"/>
              <a:gd name="connsiteX1" fmla="*/ 149629 w 6104704"/>
              <a:gd name="connsiteY1" fmla="*/ 3724102 h 4089862"/>
              <a:gd name="connsiteX2" fmla="*/ 216131 w 6104704"/>
              <a:gd name="connsiteY2" fmla="*/ 3690851 h 4089862"/>
              <a:gd name="connsiteX3" fmla="*/ 332509 w 6104704"/>
              <a:gd name="connsiteY3" fmla="*/ 3674226 h 4089862"/>
              <a:gd name="connsiteX4" fmla="*/ 315884 w 6104704"/>
              <a:gd name="connsiteY4" fmla="*/ 3358342 h 4089862"/>
              <a:gd name="connsiteX5" fmla="*/ 315884 w 6104704"/>
              <a:gd name="connsiteY5" fmla="*/ 2892829 h 4089862"/>
              <a:gd name="connsiteX6" fmla="*/ 482138 w 6104704"/>
              <a:gd name="connsiteY6" fmla="*/ 2809702 h 4089862"/>
              <a:gd name="connsiteX7" fmla="*/ 947651 w 6104704"/>
              <a:gd name="connsiteY7" fmla="*/ 2859578 h 4089862"/>
              <a:gd name="connsiteX8" fmla="*/ 1330036 w 6104704"/>
              <a:gd name="connsiteY8" fmla="*/ 2842953 h 4089862"/>
              <a:gd name="connsiteX9" fmla="*/ 1396538 w 6104704"/>
              <a:gd name="connsiteY9" fmla="*/ 2809702 h 4089862"/>
              <a:gd name="connsiteX10" fmla="*/ 1496291 w 6104704"/>
              <a:gd name="connsiteY10" fmla="*/ 2793076 h 4089862"/>
              <a:gd name="connsiteX11" fmla="*/ 1596044 w 6104704"/>
              <a:gd name="connsiteY11" fmla="*/ 2826327 h 4089862"/>
              <a:gd name="connsiteX12" fmla="*/ 1695796 w 6104704"/>
              <a:gd name="connsiteY12" fmla="*/ 2909455 h 4089862"/>
              <a:gd name="connsiteX13" fmla="*/ 1712422 w 6104704"/>
              <a:gd name="connsiteY13" fmla="*/ 2975956 h 4089862"/>
              <a:gd name="connsiteX14" fmla="*/ 1745673 w 6104704"/>
              <a:gd name="connsiteY14" fmla="*/ 3025833 h 4089862"/>
              <a:gd name="connsiteX15" fmla="*/ 1762298 w 6104704"/>
              <a:gd name="connsiteY15" fmla="*/ 3158836 h 4089862"/>
              <a:gd name="connsiteX16" fmla="*/ 1778924 w 6104704"/>
              <a:gd name="connsiteY16" fmla="*/ 3657600 h 4089862"/>
              <a:gd name="connsiteX17" fmla="*/ 1795549 w 6104704"/>
              <a:gd name="connsiteY17" fmla="*/ 3823855 h 4089862"/>
              <a:gd name="connsiteX18" fmla="*/ 1845426 w 6104704"/>
              <a:gd name="connsiteY18" fmla="*/ 3906982 h 4089862"/>
              <a:gd name="connsiteX19" fmla="*/ 1862051 w 6104704"/>
              <a:gd name="connsiteY19" fmla="*/ 3973484 h 4089862"/>
              <a:gd name="connsiteX20" fmla="*/ 1911927 w 6104704"/>
              <a:gd name="connsiteY20" fmla="*/ 4039986 h 4089862"/>
              <a:gd name="connsiteX21" fmla="*/ 2061556 w 6104704"/>
              <a:gd name="connsiteY21" fmla="*/ 4089862 h 4089862"/>
              <a:gd name="connsiteX22" fmla="*/ 2477193 w 6104704"/>
              <a:gd name="connsiteY22" fmla="*/ 4073236 h 4089862"/>
              <a:gd name="connsiteX23" fmla="*/ 2676698 w 6104704"/>
              <a:gd name="connsiteY23" fmla="*/ 4056611 h 4089862"/>
              <a:gd name="connsiteX24" fmla="*/ 2959331 w 6104704"/>
              <a:gd name="connsiteY24" fmla="*/ 4039986 h 4089862"/>
              <a:gd name="connsiteX25" fmla="*/ 3009207 w 6104704"/>
              <a:gd name="connsiteY25" fmla="*/ 4023360 h 4089862"/>
              <a:gd name="connsiteX26" fmla="*/ 3125586 w 6104704"/>
              <a:gd name="connsiteY26" fmla="*/ 3956858 h 4089862"/>
              <a:gd name="connsiteX27" fmla="*/ 3158836 w 6104704"/>
              <a:gd name="connsiteY27" fmla="*/ 3906982 h 4089862"/>
              <a:gd name="connsiteX28" fmla="*/ 3142211 w 6104704"/>
              <a:gd name="connsiteY28" fmla="*/ 2460567 h 4089862"/>
              <a:gd name="connsiteX29" fmla="*/ 3108960 w 6104704"/>
              <a:gd name="connsiteY29" fmla="*/ 2211186 h 4089862"/>
              <a:gd name="connsiteX30" fmla="*/ 3075709 w 6104704"/>
              <a:gd name="connsiteY30" fmla="*/ 1928553 h 4089862"/>
              <a:gd name="connsiteX31" fmla="*/ 3059084 w 6104704"/>
              <a:gd name="connsiteY31" fmla="*/ 1612669 h 4089862"/>
              <a:gd name="connsiteX32" fmla="*/ 3009207 w 6104704"/>
              <a:gd name="connsiteY32" fmla="*/ 1579418 h 4089862"/>
              <a:gd name="connsiteX33" fmla="*/ 2892829 w 6104704"/>
              <a:gd name="connsiteY33" fmla="*/ 1546167 h 4089862"/>
              <a:gd name="connsiteX34" fmla="*/ 2543695 w 6104704"/>
              <a:gd name="connsiteY34" fmla="*/ 1562793 h 4089862"/>
              <a:gd name="connsiteX35" fmla="*/ 2493818 w 6104704"/>
              <a:gd name="connsiteY35" fmla="*/ 1579418 h 4089862"/>
              <a:gd name="connsiteX36" fmla="*/ 2427316 w 6104704"/>
              <a:gd name="connsiteY36" fmla="*/ 1596044 h 4089862"/>
              <a:gd name="connsiteX37" fmla="*/ 1845426 w 6104704"/>
              <a:gd name="connsiteY37" fmla="*/ 1579418 h 4089862"/>
              <a:gd name="connsiteX38" fmla="*/ 1795549 w 6104704"/>
              <a:gd name="connsiteY38" fmla="*/ 1562793 h 4089862"/>
              <a:gd name="connsiteX39" fmla="*/ 1562793 w 6104704"/>
              <a:gd name="connsiteY39" fmla="*/ 1529542 h 4089862"/>
              <a:gd name="connsiteX40" fmla="*/ 1396538 w 6104704"/>
              <a:gd name="connsiteY40" fmla="*/ 1496291 h 4089862"/>
              <a:gd name="connsiteX41" fmla="*/ 1280160 w 6104704"/>
              <a:gd name="connsiteY41" fmla="*/ 1479666 h 4089862"/>
              <a:gd name="connsiteX42" fmla="*/ 831273 w 6104704"/>
              <a:gd name="connsiteY42" fmla="*/ 1446415 h 4089862"/>
              <a:gd name="connsiteX43" fmla="*/ 798022 w 6104704"/>
              <a:gd name="connsiteY43" fmla="*/ 1396538 h 4089862"/>
              <a:gd name="connsiteX44" fmla="*/ 764771 w 6104704"/>
              <a:gd name="connsiteY44" fmla="*/ 1296786 h 4089862"/>
              <a:gd name="connsiteX45" fmla="*/ 731520 w 6104704"/>
              <a:gd name="connsiteY45" fmla="*/ 1180407 h 4089862"/>
              <a:gd name="connsiteX46" fmla="*/ 714895 w 6104704"/>
              <a:gd name="connsiteY46" fmla="*/ 1130531 h 4089862"/>
              <a:gd name="connsiteX47" fmla="*/ 748146 w 6104704"/>
              <a:gd name="connsiteY47" fmla="*/ 631767 h 4089862"/>
              <a:gd name="connsiteX48" fmla="*/ 798022 w 6104704"/>
              <a:gd name="connsiteY48" fmla="*/ 615142 h 4089862"/>
              <a:gd name="connsiteX49" fmla="*/ 881149 w 6104704"/>
              <a:gd name="connsiteY49" fmla="*/ 598516 h 4089862"/>
              <a:gd name="connsiteX50" fmla="*/ 931026 w 6104704"/>
              <a:gd name="connsiteY50" fmla="*/ 581891 h 4089862"/>
              <a:gd name="connsiteX51" fmla="*/ 1828800 w 6104704"/>
              <a:gd name="connsiteY51" fmla="*/ 565266 h 4089862"/>
              <a:gd name="connsiteX52" fmla="*/ 2693324 w 6104704"/>
              <a:gd name="connsiteY52" fmla="*/ 565266 h 4089862"/>
              <a:gd name="connsiteX53" fmla="*/ 2759826 w 6104704"/>
              <a:gd name="connsiteY53" fmla="*/ 598516 h 4089862"/>
              <a:gd name="connsiteX54" fmla="*/ 2942706 w 6104704"/>
              <a:gd name="connsiteY54" fmla="*/ 615142 h 4089862"/>
              <a:gd name="connsiteX55" fmla="*/ 3258589 w 6104704"/>
              <a:gd name="connsiteY55" fmla="*/ 665018 h 4089862"/>
              <a:gd name="connsiteX56" fmla="*/ 4106487 w 6104704"/>
              <a:gd name="connsiteY56" fmla="*/ 714895 h 4089862"/>
              <a:gd name="connsiteX57" fmla="*/ 4272742 w 6104704"/>
              <a:gd name="connsiteY57" fmla="*/ 748146 h 4089862"/>
              <a:gd name="connsiteX58" fmla="*/ 4372495 w 6104704"/>
              <a:gd name="connsiteY58" fmla="*/ 764771 h 4089862"/>
              <a:gd name="connsiteX59" fmla="*/ 4405746 w 6104704"/>
              <a:gd name="connsiteY59" fmla="*/ 814647 h 4089862"/>
              <a:gd name="connsiteX60" fmla="*/ 4422371 w 6104704"/>
              <a:gd name="connsiteY60" fmla="*/ 1014153 h 4089862"/>
              <a:gd name="connsiteX61" fmla="*/ 4455622 w 6104704"/>
              <a:gd name="connsiteY61" fmla="*/ 1496291 h 4089862"/>
              <a:gd name="connsiteX62" fmla="*/ 4488873 w 6104704"/>
              <a:gd name="connsiteY62" fmla="*/ 1579418 h 4089862"/>
              <a:gd name="connsiteX63" fmla="*/ 4505498 w 6104704"/>
              <a:gd name="connsiteY63" fmla="*/ 1712422 h 4089862"/>
              <a:gd name="connsiteX64" fmla="*/ 4522124 w 6104704"/>
              <a:gd name="connsiteY64" fmla="*/ 1762298 h 4089862"/>
              <a:gd name="connsiteX65" fmla="*/ 4538749 w 6104704"/>
              <a:gd name="connsiteY65" fmla="*/ 1928553 h 4089862"/>
              <a:gd name="connsiteX66" fmla="*/ 4605251 w 6104704"/>
              <a:gd name="connsiteY66" fmla="*/ 2161309 h 4089862"/>
              <a:gd name="connsiteX67" fmla="*/ 4655127 w 6104704"/>
              <a:gd name="connsiteY67" fmla="*/ 2327564 h 4089862"/>
              <a:gd name="connsiteX68" fmla="*/ 4688378 w 6104704"/>
              <a:gd name="connsiteY68" fmla="*/ 2377440 h 4089862"/>
              <a:gd name="connsiteX69" fmla="*/ 6068291 w 6104704"/>
              <a:gd name="connsiteY69" fmla="*/ 2310938 h 4089862"/>
              <a:gd name="connsiteX70" fmla="*/ 6084916 w 6104704"/>
              <a:gd name="connsiteY70" fmla="*/ 2078182 h 4089862"/>
              <a:gd name="connsiteX71" fmla="*/ 6101542 w 6104704"/>
              <a:gd name="connsiteY71" fmla="*/ 1629295 h 4089862"/>
              <a:gd name="connsiteX72" fmla="*/ 6101542 w 6104704"/>
              <a:gd name="connsiteY72" fmla="*/ 0 h 4089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04704" h="4089862">
                <a:moveTo>
                  <a:pt x="0" y="3790604"/>
                </a:moveTo>
                <a:cubicBezTo>
                  <a:pt x="179597" y="3682844"/>
                  <a:pt x="-2583" y="3781181"/>
                  <a:pt x="149629" y="3724102"/>
                </a:cubicBezTo>
                <a:cubicBezTo>
                  <a:pt x="172835" y="3715400"/>
                  <a:pt x="192220" y="3697372"/>
                  <a:pt x="216131" y="3690851"/>
                </a:cubicBezTo>
                <a:cubicBezTo>
                  <a:pt x="253937" y="3680540"/>
                  <a:pt x="293716" y="3679768"/>
                  <a:pt x="332509" y="3674226"/>
                </a:cubicBezTo>
                <a:cubicBezTo>
                  <a:pt x="326967" y="3568931"/>
                  <a:pt x="323971" y="3463472"/>
                  <a:pt x="315884" y="3358342"/>
                </a:cubicBezTo>
                <a:cubicBezTo>
                  <a:pt x="303252" y="3194129"/>
                  <a:pt x="236527" y="3080401"/>
                  <a:pt x="315884" y="2892829"/>
                </a:cubicBezTo>
                <a:cubicBezTo>
                  <a:pt x="340026" y="2835767"/>
                  <a:pt x="482138" y="2809702"/>
                  <a:pt x="482138" y="2809702"/>
                </a:cubicBezTo>
                <a:cubicBezTo>
                  <a:pt x="881469" y="2846005"/>
                  <a:pt x="727141" y="2822827"/>
                  <a:pt x="947651" y="2859578"/>
                </a:cubicBezTo>
                <a:cubicBezTo>
                  <a:pt x="1075113" y="2854036"/>
                  <a:pt x="1203234" y="2857042"/>
                  <a:pt x="1330036" y="2842953"/>
                </a:cubicBezTo>
                <a:cubicBezTo>
                  <a:pt x="1354668" y="2840216"/>
                  <a:pt x="1372799" y="2816824"/>
                  <a:pt x="1396538" y="2809702"/>
                </a:cubicBezTo>
                <a:cubicBezTo>
                  <a:pt x="1428826" y="2800016"/>
                  <a:pt x="1463040" y="2798618"/>
                  <a:pt x="1496291" y="2793076"/>
                </a:cubicBezTo>
                <a:cubicBezTo>
                  <a:pt x="1529542" y="2804160"/>
                  <a:pt x="1564015" y="2812092"/>
                  <a:pt x="1596044" y="2826327"/>
                </a:cubicBezTo>
                <a:cubicBezTo>
                  <a:pt x="1637708" y="2844844"/>
                  <a:pt x="1664475" y="2878133"/>
                  <a:pt x="1695796" y="2909455"/>
                </a:cubicBezTo>
                <a:cubicBezTo>
                  <a:pt x="1701338" y="2931622"/>
                  <a:pt x="1703421" y="2954954"/>
                  <a:pt x="1712422" y="2975956"/>
                </a:cubicBezTo>
                <a:cubicBezTo>
                  <a:pt x="1720293" y="2994322"/>
                  <a:pt x="1740416" y="3006556"/>
                  <a:pt x="1745673" y="3025833"/>
                </a:cubicBezTo>
                <a:cubicBezTo>
                  <a:pt x="1757429" y="3068938"/>
                  <a:pt x="1756756" y="3114502"/>
                  <a:pt x="1762298" y="3158836"/>
                </a:cubicBezTo>
                <a:cubicBezTo>
                  <a:pt x="1767840" y="3325091"/>
                  <a:pt x="1770617" y="3491461"/>
                  <a:pt x="1778924" y="3657600"/>
                </a:cubicBezTo>
                <a:cubicBezTo>
                  <a:pt x="1781705" y="3713225"/>
                  <a:pt x="1781199" y="3770041"/>
                  <a:pt x="1795549" y="3823855"/>
                </a:cubicBezTo>
                <a:cubicBezTo>
                  <a:pt x="1803875" y="3855078"/>
                  <a:pt x="1828800" y="3879273"/>
                  <a:pt x="1845426" y="3906982"/>
                </a:cubicBezTo>
                <a:cubicBezTo>
                  <a:pt x="1850968" y="3929149"/>
                  <a:pt x="1851833" y="3953047"/>
                  <a:pt x="1862051" y="3973484"/>
                </a:cubicBezTo>
                <a:cubicBezTo>
                  <a:pt x="1874443" y="3998268"/>
                  <a:pt x="1890889" y="4021953"/>
                  <a:pt x="1911927" y="4039986"/>
                </a:cubicBezTo>
                <a:cubicBezTo>
                  <a:pt x="1953823" y="4075896"/>
                  <a:pt x="2011000" y="4079750"/>
                  <a:pt x="2061556" y="4089862"/>
                </a:cubicBezTo>
                <a:lnTo>
                  <a:pt x="2477193" y="4073236"/>
                </a:lnTo>
                <a:cubicBezTo>
                  <a:pt x="2543828" y="4069634"/>
                  <a:pt x="2610124" y="4061202"/>
                  <a:pt x="2676698" y="4056611"/>
                </a:cubicBezTo>
                <a:cubicBezTo>
                  <a:pt x="2770848" y="4050118"/>
                  <a:pt x="2865120" y="4045528"/>
                  <a:pt x="2959331" y="4039986"/>
                </a:cubicBezTo>
                <a:cubicBezTo>
                  <a:pt x="2975956" y="4034444"/>
                  <a:pt x="2993099" y="4030263"/>
                  <a:pt x="3009207" y="4023360"/>
                </a:cubicBezTo>
                <a:cubicBezTo>
                  <a:pt x="3068270" y="3998047"/>
                  <a:pt x="3075494" y="3990252"/>
                  <a:pt x="3125586" y="3956858"/>
                </a:cubicBezTo>
                <a:cubicBezTo>
                  <a:pt x="3136669" y="3940233"/>
                  <a:pt x="3158614" y="3926962"/>
                  <a:pt x="3158836" y="3906982"/>
                </a:cubicBezTo>
                <a:cubicBezTo>
                  <a:pt x="3164193" y="3424842"/>
                  <a:pt x="3152359" y="2942630"/>
                  <a:pt x="3142211" y="2460567"/>
                </a:cubicBezTo>
                <a:cubicBezTo>
                  <a:pt x="3141264" y="2415572"/>
                  <a:pt x="3113892" y="2260502"/>
                  <a:pt x="3108960" y="2211186"/>
                </a:cubicBezTo>
                <a:cubicBezTo>
                  <a:pt x="3081393" y="1935515"/>
                  <a:pt x="3112766" y="2076778"/>
                  <a:pt x="3075709" y="1928553"/>
                </a:cubicBezTo>
                <a:cubicBezTo>
                  <a:pt x="3070167" y="1823258"/>
                  <a:pt x="3078813" y="1716247"/>
                  <a:pt x="3059084" y="1612669"/>
                </a:cubicBezTo>
                <a:cubicBezTo>
                  <a:pt x="3055345" y="1593040"/>
                  <a:pt x="3027079" y="1588354"/>
                  <a:pt x="3009207" y="1579418"/>
                </a:cubicBezTo>
                <a:cubicBezTo>
                  <a:pt x="2985359" y="1567494"/>
                  <a:pt x="2914132" y="1551493"/>
                  <a:pt x="2892829" y="1546167"/>
                </a:cubicBezTo>
                <a:cubicBezTo>
                  <a:pt x="2776451" y="1551709"/>
                  <a:pt x="2659802" y="1553117"/>
                  <a:pt x="2543695" y="1562793"/>
                </a:cubicBezTo>
                <a:cubicBezTo>
                  <a:pt x="2526231" y="1564248"/>
                  <a:pt x="2510669" y="1574604"/>
                  <a:pt x="2493818" y="1579418"/>
                </a:cubicBezTo>
                <a:cubicBezTo>
                  <a:pt x="2471848" y="1585695"/>
                  <a:pt x="2449483" y="1590502"/>
                  <a:pt x="2427316" y="1596044"/>
                </a:cubicBezTo>
                <a:cubicBezTo>
                  <a:pt x="2233353" y="1590502"/>
                  <a:pt x="2039200" y="1589617"/>
                  <a:pt x="1845426" y="1579418"/>
                </a:cubicBezTo>
                <a:cubicBezTo>
                  <a:pt x="1827925" y="1578497"/>
                  <a:pt x="1812807" y="1565839"/>
                  <a:pt x="1795549" y="1562793"/>
                </a:cubicBezTo>
                <a:cubicBezTo>
                  <a:pt x="1718369" y="1549173"/>
                  <a:pt x="1639644" y="1544912"/>
                  <a:pt x="1562793" y="1529542"/>
                </a:cubicBezTo>
                <a:cubicBezTo>
                  <a:pt x="1507375" y="1518458"/>
                  <a:pt x="1452194" y="1506113"/>
                  <a:pt x="1396538" y="1496291"/>
                </a:cubicBezTo>
                <a:cubicBezTo>
                  <a:pt x="1357948" y="1489481"/>
                  <a:pt x="1319078" y="1484245"/>
                  <a:pt x="1280160" y="1479666"/>
                </a:cubicBezTo>
                <a:cubicBezTo>
                  <a:pt x="1098032" y="1458239"/>
                  <a:pt x="1037280" y="1458533"/>
                  <a:pt x="831273" y="1446415"/>
                </a:cubicBezTo>
                <a:cubicBezTo>
                  <a:pt x="820189" y="1429789"/>
                  <a:pt x="806137" y="1414797"/>
                  <a:pt x="798022" y="1396538"/>
                </a:cubicBezTo>
                <a:cubicBezTo>
                  <a:pt x="783787" y="1364510"/>
                  <a:pt x="775855" y="1330037"/>
                  <a:pt x="764771" y="1296786"/>
                </a:cubicBezTo>
                <a:cubicBezTo>
                  <a:pt x="724916" y="1177220"/>
                  <a:pt x="773264" y="1326510"/>
                  <a:pt x="731520" y="1180407"/>
                </a:cubicBezTo>
                <a:cubicBezTo>
                  <a:pt x="726706" y="1163557"/>
                  <a:pt x="720437" y="1147156"/>
                  <a:pt x="714895" y="1130531"/>
                </a:cubicBezTo>
                <a:cubicBezTo>
                  <a:pt x="725979" y="964276"/>
                  <a:pt x="721614" y="796265"/>
                  <a:pt x="748146" y="631767"/>
                </a:cubicBezTo>
                <a:cubicBezTo>
                  <a:pt x="750936" y="614466"/>
                  <a:pt x="781021" y="619392"/>
                  <a:pt x="798022" y="615142"/>
                </a:cubicBezTo>
                <a:cubicBezTo>
                  <a:pt x="825436" y="608288"/>
                  <a:pt x="853735" y="605370"/>
                  <a:pt x="881149" y="598516"/>
                </a:cubicBezTo>
                <a:cubicBezTo>
                  <a:pt x="898151" y="594266"/>
                  <a:pt x="913512" y="582506"/>
                  <a:pt x="931026" y="581891"/>
                </a:cubicBezTo>
                <a:cubicBezTo>
                  <a:pt x="1230151" y="571396"/>
                  <a:pt x="1529542" y="570808"/>
                  <a:pt x="1828800" y="565266"/>
                </a:cubicBezTo>
                <a:cubicBezTo>
                  <a:pt x="2181433" y="547634"/>
                  <a:pt x="2301525" y="532616"/>
                  <a:pt x="2693324" y="565266"/>
                </a:cubicBezTo>
                <a:cubicBezTo>
                  <a:pt x="2718022" y="567324"/>
                  <a:pt x="2735524" y="593656"/>
                  <a:pt x="2759826" y="598516"/>
                </a:cubicBezTo>
                <a:cubicBezTo>
                  <a:pt x="2819849" y="610520"/>
                  <a:pt x="2881831" y="608734"/>
                  <a:pt x="2942706" y="615142"/>
                </a:cubicBezTo>
                <a:cubicBezTo>
                  <a:pt x="3239462" y="646380"/>
                  <a:pt x="2889924" y="614168"/>
                  <a:pt x="3258589" y="665018"/>
                </a:cubicBezTo>
                <a:cubicBezTo>
                  <a:pt x="3619805" y="714841"/>
                  <a:pt x="3676076" y="701852"/>
                  <a:pt x="4106487" y="714895"/>
                </a:cubicBezTo>
                <a:lnTo>
                  <a:pt x="4272742" y="748146"/>
                </a:lnTo>
                <a:cubicBezTo>
                  <a:pt x="4305874" y="754358"/>
                  <a:pt x="4342344" y="749696"/>
                  <a:pt x="4372495" y="764771"/>
                </a:cubicBezTo>
                <a:cubicBezTo>
                  <a:pt x="4390367" y="773707"/>
                  <a:pt x="4394662" y="798022"/>
                  <a:pt x="4405746" y="814647"/>
                </a:cubicBezTo>
                <a:cubicBezTo>
                  <a:pt x="4411288" y="881149"/>
                  <a:pt x="4418334" y="947543"/>
                  <a:pt x="4422371" y="1014153"/>
                </a:cubicBezTo>
                <a:cubicBezTo>
                  <a:pt x="4423635" y="1035012"/>
                  <a:pt x="4431250" y="1390680"/>
                  <a:pt x="4455622" y="1496291"/>
                </a:cubicBezTo>
                <a:cubicBezTo>
                  <a:pt x="4462333" y="1525370"/>
                  <a:pt x="4477789" y="1551709"/>
                  <a:pt x="4488873" y="1579418"/>
                </a:cubicBezTo>
                <a:cubicBezTo>
                  <a:pt x="4494415" y="1623753"/>
                  <a:pt x="4497505" y="1668463"/>
                  <a:pt x="4505498" y="1712422"/>
                </a:cubicBezTo>
                <a:cubicBezTo>
                  <a:pt x="4508633" y="1729664"/>
                  <a:pt x="4519459" y="1744977"/>
                  <a:pt x="4522124" y="1762298"/>
                </a:cubicBezTo>
                <a:cubicBezTo>
                  <a:pt x="4530593" y="1817345"/>
                  <a:pt x="4529593" y="1873616"/>
                  <a:pt x="4538749" y="1928553"/>
                </a:cubicBezTo>
                <a:cubicBezTo>
                  <a:pt x="4569849" y="2115152"/>
                  <a:pt x="4565719" y="2003175"/>
                  <a:pt x="4605251" y="2161309"/>
                </a:cubicBezTo>
                <a:cubicBezTo>
                  <a:pt x="4614545" y="2198485"/>
                  <a:pt x="4638935" y="2303277"/>
                  <a:pt x="4655127" y="2327564"/>
                </a:cubicBezTo>
                <a:lnTo>
                  <a:pt x="4688378" y="2377440"/>
                </a:lnTo>
                <a:cubicBezTo>
                  <a:pt x="4869308" y="2372550"/>
                  <a:pt x="5957660" y="2350953"/>
                  <a:pt x="6068291" y="2310938"/>
                </a:cubicBezTo>
                <a:cubicBezTo>
                  <a:pt x="6141436" y="2284481"/>
                  <a:pt x="6081126" y="2155873"/>
                  <a:pt x="6084916" y="2078182"/>
                </a:cubicBezTo>
                <a:cubicBezTo>
                  <a:pt x="6092211" y="1928628"/>
                  <a:pt x="6100344" y="1779022"/>
                  <a:pt x="6101542" y="1629295"/>
                </a:cubicBezTo>
                <a:cubicBezTo>
                  <a:pt x="6105887" y="1086214"/>
                  <a:pt x="6101542" y="543098"/>
                  <a:pt x="6101542" y="0"/>
                </a:cubicBezTo>
              </a:path>
            </a:pathLst>
          </a:custGeom>
          <a:noFill/>
          <a:ln w="762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3661" y="4608225"/>
            <a:ext cx="563986" cy="563986"/>
          </a:xfrm>
          <a:prstGeom prst="rect">
            <a:avLst/>
          </a:prstGeom>
        </p:spPr>
      </p:pic>
      <p:pic>
        <p:nvPicPr>
          <p:cNvPr id="27" name="그림 26"/>
          <p:cNvPicPr preferRelativeResize="0">
            <a:picLocks/>
          </p:cNvPicPr>
          <p:nvPr/>
        </p:nvPicPr>
        <p:blipFill rotWithShape="1">
          <a:blip r:embed="rId1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12" t="53056" r="13333" b="26944"/>
          <a:stretch/>
        </p:blipFill>
        <p:spPr>
          <a:xfrm flipH="1">
            <a:off x="2894071" y="4115260"/>
            <a:ext cx="728696" cy="708077"/>
          </a:xfrm>
          <a:prstGeom prst="rect">
            <a:avLst/>
          </a:prstGeom>
        </p:spPr>
      </p:pic>
      <p:pic>
        <p:nvPicPr>
          <p:cNvPr id="28" name="그림 27"/>
          <p:cNvPicPr>
            <a:picLocks noChangeAspect="1"/>
          </p:cNvPicPr>
          <p:nvPr/>
        </p:nvPicPr>
        <p:blipFill rotWithShape="1">
          <a:blip r:embed="rId1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12" t="53056" r="13333" b="26944"/>
          <a:stretch/>
        </p:blipFill>
        <p:spPr>
          <a:xfrm>
            <a:off x="2894668" y="4293602"/>
            <a:ext cx="727743" cy="708077"/>
          </a:xfrm>
          <a:prstGeom prst="rect">
            <a:avLst/>
          </a:prstGeom>
        </p:spPr>
      </p:pic>
      <p:pic>
        <p:nvPicPr>
          <p:cNvPr id="29" name="그림 28"/>
          <p:cNvPicPr preferRelativeResize="0">
            <a:picLocks/>
          </p:cNvPicPr>
          <p:nvPr/>
        </p:nvPicPr>
        <p:blipFill rotWithShape="1">
          <a:blip r:embed="rId1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12" t="53056" r="13333" b="26944"/>
          <a:stretch/>
        </p:blipFill>
        <p:spPr>
          <a:xfrm flipH="1">
            <a:off x="2921192" y="4466864"/>
            <a:ext cx="728696" cy="708077"/>
          </a:xfrm>
          <a:prstGeom prst="rect">
            <a:avLst/>
          </a:prstGeom>
        </p:spPr>
      </p:pic>
      <p:pic>
        <p:nvPicPr>
          <p:cNvPr id="30" name="그림 29"/>
          <p:cNvPicPr>
            <a:picLocks noChangeAspect="1"/>
          </p:cNvPicPr>
          <p:nvPr/>
        </p:nvPicPr>
        <p:blipFill rotWithShape="1">
          <a:blip r:embed="rId1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12" t="53056" r="13333" b="26944"/>
          <a:stretch/>
        </p:blipFill>
        <p:spPr>
          <a:xfrm>
            <a:off x="2894668" y="4659681"/>
            <a:ext cx="727743" cy="708077"/>
          </a:xfrm>
          <a:prstGeom prst="rect">
            <a:avLst/>
          </a:prstGeom>
        </p:spPr>
      </p:pic>
      <p:pic>
        <p:nvPicPr>
          <p:cNvPr id="33" name="그림 32"/>
          <p:cNvPicPr>
            <a:picLocks noChangeAspect="1"/>
          </p:cNvPicPr>
          <p:nvPr/>
        </p:nvPicPr>
        <p:blipFill rotWithShape="1">
          <a:blip r:embed="rId2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12" t="53056" r="13333" b="26944"/>
          <a:stretch/>
        </p:blipFill>
        <p:spPr>
          <a:xfrm>
            <a:off x="2324758" y="2775675"/>
            <a:ext cx="427503" cy="415951"/>
          </a:xfrm>
          <a:prstGeom prst="rect">
            <a:avLst/>
          </a:prstGeom>
        </p:spPr>
      </p:pic>
      <p:pic>
        <p:nvPicPr>
          <p:cNvPr id="32" name="그림 31"/>
          <p:cNvPicPr>
            <a:picLocks noChangeAspect="1"/>
          </p:cNvPicPr>
          <p:nvPr/>
        </p:nvPicPr>
        <p:blipFill rotWithShape="1">
          <a:blip r:embed="rId2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22" t="28889" r="33889" b="29444"/>
          <a:stretch/>
        </p:blipFill>
        <p:spPr>
          <a:xfrm>
            <a:off x="2485983" y="2690401"/>
            <a:ext cx="467809" cy="501225"/>
          </a:xfrm>
          <a:prstGeom prst="rect">
            <a:avLst/>
          </a:prstGeom>
        </p:spPr>
      </p:pic>
      <p:pic>
        <p:nvPicPr>
          <p:cNvPr id="31" name="그림 30"/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00" b="15000"/>
          <a:stretch/>
        </p:blipFill>
        <p:spPr>
          <a:xfrm>
            <a:off x="2632741" y="2064533"/>
            <a:ext cx="1812628" cy="1268839"/>
          </a:xfrm>
          <a:prstGeom prst="rect">
            <a:avLst/>
          </a:prstGeom>
        </p:spPr>
      </p:pic>
      <p:pic>
        <p:nvPicPr>
          <p:cNvPr id="34" name="그림 33"/>
          <p:cNvPicPr>
            <a:picLocks noChangeAspect="1"/>
          </p:cNvPicPr>
          <p:nvPr/>
        </p:nvPicPr>
        <p:blipFill rotWithShape="1">
          <a:blip r:embed="rId2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12" t="53056" r="13333" b="26944"/>
          <a:stretch/>
        </p:blipFill>
        <p:spPr>
          <a:xfrm>
            <a:off x="2022755" y="2774821"/>
            <a:ext cx="427503" cy="415951"/>
          </a:xfrm>
          <a:prstGeom prst="rect">
            <a:avLst/>
          </a:prstGeom>
        </p:spPr>
      </p:pic>
      <p:pic>
        <p:nvPicPr>
          <p:cNvPr id="36" name="그림 35"/>
          <p:cNvPicPr preferRelativeResize="0">
            <a:picLocks/>
          </p:cNvPicPr>
          <p:nvPr/>
        </p:nvPicPr>
        <p:blipFill rotWithShape="1">
          <a:blip r:embed="rId2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12" t="53056" r="13333" b="26944"/>
          <a:stretch/>
        </p:blipFill>
        <p:spPr>
          <a:xfrm flipH="1">
            <a:off x="2150271" y="2774313"/>
            <a:ext cx="429464" cy="417313"/>
          </a:xfrm>
          <a:prstGeom prst="rect">
            <a:avLst/>
          </a:prstGeom>
        </p:spPr>
      </p:pic>
      <p:pic>
        <p:nvPicPr>
          <p:cNvPr id="37" name="그림 36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00" t="6111" r="27500" b="6111"/>
          <a:stretch/>
        </p:blipFill>
        <p:spPr>
          <a:xfrm>
            <a:off x="5007908" y="2091368"/>
            <a:ext cx="570919" cy="1113643"/>
          </a:xfrm>
          <a:prstGeom prst="rect">
            <a:avLst/>
          </a:prstGeom>
        </p:spPr>
      </p:pic>
      <p:pic>
        <p:nvPicPr>
          <p:cNvPr id="39" name="그림 38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89" t="2222" r="7500" b="2222"/>
          <a:stretch/>
        </p:blipFill>
        <p:spPr>
          <a:xfrm>
            <a:off x="4498373" y="-1600666"/>
            <a:ext cx="875682" cy="1000780"/>
          </a:xfrm>
          <a:prstGeom prst="rect">
            <a:avLst/>
          </a:prstGeom>
        </p:spPr>
      </p:pic>
      <p:pic>
        <p:nvPicPr>
          <p:cNvPr id="40" name="그림 39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00" t="6111" r="27500" b="6111"/>
          <a:stretch/>
        </p:blipFill>
        <p:spPr>
          <a:xfrm>
            <a:off x="1418709" y="4090693"/>
            <a:ext cx="570919" cy="1113643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497" y="4588316"/>
            <a:ext cx="563986" cy="563986"/>
          </a:xfrm>
          <a:prstGeom prst="rect">
            <a:avLst/>
          </a:prstGeom>
        </p:spPr>
      </p:pic>
      <p:pic>
        <p:nvPicPr>
          <p:cNvPr id="38" name="그림 37"/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181" y="4606001"/>
            <a:ext cx="798977" cy="830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1152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선생님께서 사용하시는 </a:t>
            </a:r>
            <a:r>
              <a:rPr lang="en-US" altLang="ko-KR" smtClean="0"/>
              <a:t>AI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smtClean="0"/>
              <a:t>[</a:t>
            </a:r>
            <a:r>
              <a:rPr lang="ko-KR" altLang="en-US" smtClean="0"/>
              <a:t>미드저니</a:t>
            </a:r>
            <a:r>
              <a:rPr lang="en-US" altLang="ko-KR" smtClean="0"/>
              <a:t>]</a:t>
            </a:r>
          </a:p>
          <a:p>
            <a:r>
              <a:rPr lang="ko-KR" altLang="en-US" b="1" smtClean="0"/>
              <a:t>창작 작업</a:t>
            </a:r>
            <a:r>
              <a:rPr lang="ko-KR" altLang="en-US" smtClean="0"/>
              <a:t>을 할 때 주로 사용</a:t>
            </a:r>
            <a:endParaRPr lang="en-US" altLang="ko-KR" smtClean="0"/>
          </a:p>
          <a:p>
            <a:r>
              <a:rPr lang="ko-KR" altLang="en-US" smtClean="0"/>
              <a:t>미드저니는 해당 이미지에서 수정이 안 되고</a:t>
            </a:r>
            <a:r>
              <a:rPr lang="en-US" altLang="ko-KR" smtClean="0"/>
              <a:t>, </a:t>
            </a:r>
            <a:r>
              <a:rPr lang="ko-KR" altLang="en-US" smtClean="0"/>
              <a:t>모든 이미지를 다 새로 처음부터 생성한다</a:t>
            </a:r>
            <a:r>
              <a:rPr lang="en-US" altLang="ko-KR" smtClean="0"/>
              <a:t>. </a:t>
            </a:r>
            <a:r>
              <a:rPr lang="ko-KR" altLang="en-US" smtClean="0"/>
              <a:t>따라서 창작 작업을 할 때 좋은 것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‘</a:t>
            </a:r>
            <a:r>
              <a:rPr lang="ko-KR" altLang="en-US" smtClean="0"/>
              <a:t>호수</a:t>
            </a:r>
            <a:r>
              <a:rPr lang="en-US" altLang="ko-KR" smtClean="0"/>
              <a:t>, </a:t>
            </a:r>
            <a:r>
              <a:rPr lang="ko-KR" altLang="en-US" smtClean="0"/>
              <a:t>태양</a:t>
            </a:r>
            <a:r>
              <a:rPr lang="en-US" altLang="ko-KR" smtClean="0"/>
              <a:t>, </a:t>
            </a:r>
            <a:r>
              <a:rPr lang="ko-KR" altLang="en-US" smtClean="0"/>
              <a:t>중국</a:t>
            </a:r>
            <a:r>
              <a:rPr lang="en-US" altLang="ko-KR" smtClean="0"/>
              <a:t>, </a:t>
            </a:r>
            <a:r>
              <a:rPr lang="ko-KR" altLang="en-US" smtClean="0"/>
              <a:t>깃발</a:t>
            </a:r>
            <a:r>
              <a:rPr lang="en-US" altLang="ko-KR" smtClean="0"/>
              <a:t>‘ </a:t>
            </a:r>
            <a:r>
              <a:rPr lang="ko-KR" altLang="en-US" smtClean="0"/>
              <a:t>이라고만 적었을 때 </a:t>
            </a:r>
            <a:endParaRPr lang="en-US" altLang="ko-KR" smtClean="0"/>
          </a:p>
          <a:p>
            <a:r>
              <a:rPr lang="ko-KR" altLang="en-US" smtClean="0"/>
              <a:t>미리 </a:t>
            </a:r>
            <a:r>
              <a:rPr lang="en-US" altLang="ko-KR" smtClean="0"/>
              <a:t>AI</a:t>
            </a:r>
            <a:r>
              <a:rPr lang="ko-KR" altLang="en-US" smtClean="0"/>
              <a:t>에게 학습시킨 내용을 포함해서 아래처럼 이미지 생성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133734"/>
            <a:ext cx="7640116" cy="172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4950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선생님께서 사용하시는 </a:t>
            </a:r>
            <a:r>
              <a:rPr lang="en-US" altLang="ko-KR" smtClean="0"/>
              <a:t>AI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smtClean="0"/>
              <a:t>[</a:t>
            </a:r>
            <a:r>
              <a:rPr lang="ko-KR" altLang="en-US" smtClean="0"/>
              <a:t>미드저니</a:t>
            </a:r>
            <a:r>
              <a:rPr lang="en-US" altLang="ko-KR" smtClean="0"/>
              <a:t>]</a:t>
            </a:r>
          </a:p>
          <a:p>
            <a:r>
              <a:rPr lang="ko-KR" altLang="en-US" smtClean="0"/>
              <a:t>미드저니는 이런 식으로 참조 이미지를 주고 그 이미지를 참조해서 생성해달라고 하면</a:t>
            </a:r>
            <a:r>
              <a:rPr lang="en-US" altLang="ko-KR" smtClean="0"/>
              <a:t>, </a:t>
            </a:r>
            <a:r>
              <a:rPr lang="ko-KR" altLang="en-US" smtClean="0"/>
              <a:t>그록보다 성능이 덜 좋다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미드저니도 영상 만들긴 하지만</a:t>
            </a:r>
            <a:r>
              <a:rPr lang="en-US" altLang="ko-KR" smtClean="0"/>
              <a:t>, </a:t>
            </a:r>
            <a:r>
              <a:rPr lang="ko-KR" altLang="en-US" smtClean="0"/>
              <a:t>랜덤성이 너무 강하다</a:t>
            </a:r>
            <a:r>
              <a:rPr lang="en-US" altLang="ko-KR" smtClean="0"/>
              <a:t>.</a:t>
            </a:r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96674"/>
            <a:ext cx="4194375" cy="60923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1785" y="4405424"/>
            <a:ext cx="7420215" cy="2452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8984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선생님께서 사용하시는 </a:t>
            </a:r>
            <a:r>
              <a:rPr lang="en-US" altLang="ko-KR" smtClean="0"/>
              <a:t>AI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smtClean="0"/>
              <a:t>[</a:t>
            </a:r>
            <a:r>
              <a:rPr lang="ko-KR" altLang="en-US" smtClean="0"/>
              <a:t>그록</a:t>
            </a:r>
            <a:r>
              <a:rPr lang="en-US" altLang="ko-KR" smtClean="0"/>
              <a:t>]</a:t>
            </a:r>
          </a:p>
          <a:p>
            <a:r>
              <a:rPr lang="ko-KR" altLang="en-US" smtClean="0"/>
              <a:t>그록은 매우 결과물을 빨리 준다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그록에 아까 미드저니와 같은 명령을 내리면 아래와 같은 결과물을 생성해준다</a:t>
            </a:r>
            <a:r>
              <a:rPr lang="en-US" altLang="ko-KR" smtClean="0"/>
              <a:t>.</a:t>
            </a:r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164" y="3804660"/>
            <a:ext cx="7527384" cy="3053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0652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선생님께서 사용하시는 </a:t>
            </a:r>
            <a:r>
              <a:rPr lang="en-US" altLang="ko-KR" smtClean="0"/>
              <a:t>AI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smtClean="0"/>
              <a:t>[</a:t>
            </a:r>
            <a:r>
              <a:rPr lang="ko-KR" altLang="en-US" smtClean="0"/>
              <a:t>그록</a:t>
            </a:r>
            <a:r>
              <a:rPr lang="en-US" altLang="ko-KR" smtClean="0"/>
              <a:t>]</a:t>
            </a:r>
          </a:p>
          <a:p>
            <a:r>
              <a:rPr lang="ko-KR" altLang="en-US" smtClean="0"/>
              <a:t>그러나 원하는 느낌의 이미지를 핀터레스트에서 찾아서</a:t>
            </a:r>
            <a:endParaRPr lang="en-US" altLang="ko-KR" smtClean="0"/>
          </a:p>
          <a:p>
            <a:r>
              <a:rPr lang="ko-KR" altLang="en-US" smtClean="0"/>
              <a:t>그 그림을 참조해서 이미지를 생성해달라고 하면</a:t>
            </a:r>
            <a:r>
              <a:rPr lang="en-US" altLang="ko-KR"/>
              <a:t/>
            </a:r>
            <a:br>
              <a:rPr lang="en-US" altLang="ko-KR"/>
            </a:br>
            <a:r>
              <a:rPr lang="ko-KR" altLang="en-US" smtClean="0"/>
              <a:t>퀄리티 좋은 그림을 생성할 수 있다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그리고 레이어를 나눌 수도 있다</a:t>
            </a:r>
            <a:r>
              <a:rPr lang="en-US" altLang="ko-KR" smtClean="0"/>
              <a:t>.</a:t>
            </a:r>
            <a:r>
              <a:rPr lang="ko-KR" altLang="en-US" smtClean="0"/>
              <a:t> </a:t>
            </a:r>
            <a:endParaRPr lang="en-US" altLang="ko-KR" smtClean="0"/>
          </a:p>
          <a:p>
            <a:r>
              <a:rPr lang="en-US" altLang="ko-KR" smtClean="0"/>
              <a:t>2D</a:t>
            </a:r>
            <a:r>
              <a:rPr lang="ko-KR" altLang="en-US" smtClean="0"/>
              <a:t>뿐만 아니라</a:t>
            </a:r>
            <a:r>
              <a:rPr lang="en-US" altLang="ko-KR" smtClean="0"/>
              <a:t>, </a:t>
            </a:r>
            <a:r>
              <a:rPr lang="ko-KR" altLang="en-US" smtClean="0"/>
              <a:t>영상 작업물도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좋다</a:t>
            </a:r>
            <a:r>
              <a:rPr lang="en-US" altLang="ko-KR" smtClean="0"/>
              <a:t>. </a:t>
            </a:r>
            <a:r>
              <a:rPr lang="ko-KR" altLang="en-US" smtClean="0"/>
              <a:t>그록이 영상은 제일 잘함</a:t>
            </a:r>
            <a:r>
              <a:rPr lang="en-US" altLang="ko-KR" smtClean="0"/>
              <a:t>.</a:t>
            </a:r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3262" y="3451192"/>
            <a:ext cx="2278738" cy="306629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3609" y="0"/>
            <a:ext cx="1678391" cy="294363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4097" y="4490397"/>
            <a:ext cx="3324077" cy="2178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1823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공짜로 쓸 수 있는 </a:t>
            </a:r>
            <a:r>
              <a:rPr lang="en-US" altLang="ko-KR" smtClean="0"/>
              <a:t>AI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스테이블 디퓨전</a:t>
            </a:r>
            <a:r>
              <a:rPr lang="en-US" altLang="ko-KR" smtClean="0"/>
              <a:t>]</a:t>
            </a:r>
            <a:r>
              <a:rPr lang="ko-KR" altLang="en-US" smtClean="0"/>
              <a:t>을 타고 들어가면</a:t>
            </a:r>
            <a:r>
              <a:rPr lang="en-US" altLang="ko-KR" smtClean="0"/>
              <a:t>, </a:t>
            </a:r>
            <a:r>
              <a:rPr lang="ko-KR" altLang="en-US" smtClean="0"/>
              <a:t>음지쪽으로 많이 발전한 </a:t>
            </a:r>
            <a:r>
              <a:rPr lang="en-US" altLang="ko-KR" smtClean="0"/>
              <a:t>AI </a:t>
            </a:r>
            <a:r>
              <a:rPr lang="ko-KR" altLang="en-US" smtClean="0"/>
              <a:t>사이트들을 발견할 수 있다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Civitai, PixVerse, seaart..ai</a:t>
            </a:r>
          </a:p>
          <a:p>
            <a:endParaRPr lang="en-US" altLang="ko-KR"/>
          </a:p>
          <a:p>
            <a:r>
              <a:rPr lang="en-US" altLang="ko-KR" smtClean="0"/>
              <a:t>‘</a:t>
            </a:r>
            <a:r>
              <a:rPr lang="ko-KR" altLang="en-US" smtClean="0"/>
              <a:t>핀터레스트</a:t>
            </a:r>
            <a:r>
              <a:rPr lang="en-US" altLang="ko-KR" smtClean="0"/>
              <a:t>, </a:t>
            </a:r>
            <a:r>
              <a:rPr lang="ko-KR" altLang="en-US" smtClean="0"/>
              <a:t>아트 스테이션</a:t>
            </a:r>
            <a:r>
              <a:rPr lang="en-US" altLang="ko-KR" smtClean="0"/>
              <a:t>’</a:t>
            </a:r>
            <a:r>
              <a:rPr lang="ko-KR" altLang="en-US" smtClean="0"/>
              <a:t>에서 원하는 이미지를 </a:t>
            </a:r>
            <a:r>
              <a:rPr lang="en-US" altLang="ko-KR" smtClean="0"/>
              <a:t>‘</a:t>
            </a:r>
            <a:r>
              <a:rPr lang="ko-KR" altLang="en-US" smtClean="0"/>
              <a:t>플로우</a:t>
            </a:r>
            <a:r>
              <a:rPr lang="en-US" altLang="ko-KR" smtClean="0"/>
              <a:t>‘ </a:t>
            </a:r>
            <a:r>
              <a:rPr lang="ko-KR" altLang="en-US" smtClean="0"/>
              <a:t>가져가서 변형해서 쓰면 좋다</a:t>
            </a:r>
            <a:r>
              <a:rPr lang="en-US" altLang="ko-KR" smtClean="0"/>
              <a:t>. Chatgpt</a:t>
            </a:r>
            <a:r>
              <a:rPr lang="ko-KR" altLang="en-US" smtClean="0"/>
              <a:t>는 저작권에 위배될 가능성이 있는 경우에는 제작해주진 않는다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66743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3D </a:t>
            </a:r>
            <a:r>
              <a:rPr lang="ko-KR" altLang="en-US" smtClean="0"/>
              <a:t>모델링 </a:t>
            </a:r>
            <a:r>
              <a:rPr lang="en-US" altLang="ko-KR" smtClean="0"/>
              <a:t>AI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배경이나 배경 구조물 </a:t>
            </a:r>
            <a:r>
              <a:rPr lang="en-US" altLang="ko-KR" smtClean="0"/>
              <a:t>: </a:t>
            </a:r>
            <a:r>
              <a:rPr lang="en-US" altLang="ko-KR" b="1" smtClean="0"/>
              <a:t>TRIPO</a:t>
            </a:r>
          </a:p>
          <a:p>
            <a:r>
              <a:rPr lang="ko-KR" altLang="en-US" smtClean="0"/>
              <a:t>캐릭터 </a:t>
            </a:r>
            <a:r>
              <a:rPr lang="en-US" altLang="ko-KR" smtClean="0"/>
              <a:t>: </a:t>
            </a:r>
            <a:r>
              <a:rPr lang="en-US" altLang="ko-KR" b="1" smtClean="0"/>
              <a:t>Meshy</a:t>
            </a:r>
            <a:endParaRPr lang="ko-KR" altLang="en-US" b="1"/>
          </a:p>
        </p:txBody>
      </p:sp>
    </p:spTree>
    <p:extLst>
      <p:ext uri="{BB962C8B-B14F-4D97-AF65-F5344CB8AC3E}">
        <p14:creationId xmlns:p14="http://schemas.microsoft.com/office/powerpoint/2010/main" val="21907770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일레븐랩스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성우 대사나 효과음을 만들기 좋다</a:t>
            </a:r>
            <a:r>
              <a:rPr lang="en-US" altLang="ko-KR" smtClean="0"/>
              <a:t>.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4882" y="2521385"/>
            <a:ext cx="5707118" cy="4336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355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411</Words>
  <Application>Microsoft Office PowerPoint</Application>
  <PresentationFormat>와이드스크린</PresentationFormat>
  <Paragraphs>73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3" baseType="lpstr">
      <vt:lpstr>맑은 고딕</vt:lpstr>
      <vt:lpstr>Arial</vt:lpstr>
      <vt:lpstr>Office 테마</vt:lpstr>
      <vt:lpstr>도구 사용 시</vt:lpstr>
      <vt:lpstr>게임 플레이 유튜브 영상</vt:lpstr>
      <vt:lpstr>그래픽 quality</vt:lpstr>
      <vt:lpstr>PowerPoint 프레젠테이션</vt:lpstr>
      <vt:lpstr>기능 =&gt; 약속</vt:lpstr>
      <vt:lpstr>PowerPoint 프레젠테이션</vt:lpstr>
      <vt:lpstr>[Hide &amp; Chick]</vt:lpstr>
      <vt:lpstr>요소</vt:lpstr>
      <vt:lpstr>PowerPoint 프레젠테이션</vt:lpstr>
      <vt:lpstr>공간</vt:lpstr>
      <vt:lpstr>시스템을 시각화하기 </vt:lpstr>
      <vt:lpstr>PowerPoint 프레젠테이션</vt:lpstr>
      <vt:lpstr>PowerPoint 프레젠테이션</vt:lpstr>
      <vt:lpstr>선생님께서 사용하시는 AI</vt:lpstr>
      <vt:lpstr>선생님께서 사용하시는 AI</vt:lpstr>
      <vt:lpstr>선생님께서 사용하시는 AI</vt:lpstr>
      <vt:lpstr>선생님께서 사용하시는 AI</vt:lpstr>
      <vt:lpstr>공짜로 쓸 수 있는 AI</vt:lpstr>
      <vt:lpstr>3D 모델링 AI</vt:lpstr>
      <vt:lpstr>일레븐랩스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도구 사용 시</dc:title>
  <dc:creator>FullName</dc:creator>
  <cp:lastModifiedBy>FullName</cp:lastModifiedBy>
  <cp:revision>11</cp:revision>
  <dcterms:created xsi:type="dcterms:W3CDTF">2026-08-28T04:57:49Z</dcterms:created>
  <dcterms:modified xsi:type="dcterms:W3CDTF">2026-08-28T06:53:00Z</dcterms:modified>
</cp:coreProperties>
</file>