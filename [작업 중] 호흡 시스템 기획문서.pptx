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82" r:id="rId3"/>
    <p:sldId id="290" r:id="rId4"/>
    <p:sldId id="258" r:id="rId5"/>
    <p:sldId id="259" r:id="rId6"/>
    <p:sldId id="286" r:id="rId7"/>
    <p:sldId id="288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3" r:id="rId31"/>
    <p:sldId id="284" r:id="rId32"/>
    <p:sldId id="289" r:id="rId3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3B5A"/>
    <a:srgbClr val="C9E8FB"/>
    <a:srgbClr val="46AFF0"/>
    <a:srgbClr val="F2EDFF"/>
    <a:srgbClr val="EAF7EE"/>
    <a:srgbClr val="2D8D50"/>
    <a:srgbClr val="F77D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8" d="100"/>
          <a:sy n="58" d="100"/>
        </p:scale>
        <p:origin x="78" y="1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01693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4936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997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8EF28-70DA-4FAA-8D38-6F013B029937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4AE0A-4E60-479B-BD80-027F87174D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724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13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5.jpeg"/><Relationship Id="rId12" Type="http://schemas.openxmlformats.org/officeDocument/2006/relationships/image" Target="../media/image10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jpe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microsoft.com/office/2007/relationships/hdphoto" Target="../media/hdphoto1.wdp"/><Relationship Id="rId9" Type="http://schemas.openxmlformats.org/officeDocument/2006/relationships/image" Target="../media/image7.png"/><Relationship Id="rId14" Type="http://schemas.openxmlformats.org/officeDocument/2006/relationships/image" Target="../media/image1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" y="121920"/>
            <a:ext cx="11887200" cy="656539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713232"/>
            <a:ext cx="11201400" cy="0"/>
          </a:xfrm>
          <a:prstGeom prst="line">
            <a:avLst/>
          </a:prstGeom>
          <a:noFill/>
          <a:ln w="12700">
            <a:solidFill>
              <a:srgbClr val="D7E0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109722"/>
            <a:ext cx="438912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 시스템 기획 문서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3521201"/>
            <a:ext cx="8757920" cy="339577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들이마시기·숨 참기·내쉬기를 직접 조절해 이동, 은신, 소음, 환경 대응을 연결하는 시스템 기획안</a:t>
            </a:r>
            <a:endParaRPr lang="en-US" sz="1500" dirty="0"/>
          </a:p>
        </p:txBody>
      </p:sp>
      <p:sp>
        <p:nvSpPr>
          <p:cNvPr id="14" name="Shape 1">
            <a:extLst>
              <a:ext uri="{FF2B5EF4-FFF2-40B4-BE49-F238E27FC236}">
                <a16:creationId xmlns:a16="http://schemas.microsoft.com/office/drawing/2014/main" id="{A0AC9961-F783-BF24-79C2-A497AFF8096C}"/>
              </a:ext>
            </a:extLst>
          </p:cNvPr>
          <p:cNvSpPr/>
          <p:nvPr/>
        </p:nvSpPr>
        <p:spPr>
          <a:xfrm>
            <a:off x="489204" y="6148832"/>
            <a:ext cx="11201400" cy="0"/>
          </a:xfrm>
          <a:prstGeom prst="line">
            <a:avLst/>
          </a:prstGeom>
          <a:noFill/>
          <a:ln w="12700">
            <a:solidFill>
              <a:srgbClr val="D7E0E8"/>
            </a:solidFill>
            <a:prstDash val="solid"/>
          </a:ln>
        </p:spPr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C291D65-BC30-AAD5-FA60-BFCA6C9134A9}"/>
              </a:ext>
            </a:extLst>
          </p:cNvPr>
          <p:cNvSpPr txBox="1"/>
          <p:nvPr/>
        </p:nvSpPr>
        <p:spPr>
          <a:xfrm>
            <a:off x="9855200" y="5788342"/>
            <a:ext cx="17589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000" dirty="0"/>
              <a:t>작성자 </a:t>
            </a:r>
            <a:r>
              <a:rPr lang="en-US" altLang="ko-KR" sz="1000" dirty="0"/>
              <a:t>: </a:t>
            </a:r>
            <a:r>
              <a:rPr lang="ko-KR" altLang="en-US" sz="1000" dirty="0"/>
              <a:t>윤수진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53063"/>
            <a:ext cx="7955279" cy="4297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>
              <a:lnSpc>
                <a:spcPct val="150000"/>
              </a:lnSpc>
            </a:pPr>
            <a:r>
              <a:rPr sz="2000" b="1" dirty="0" err="1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목차</a:t>
            </a:r>
            <a:endParaRPr sz="2000" b="1" dirty="0">
              <a:solidFill>
                <a:srgbClr val="23283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515688" y="853469"/>
            <a:ext cx="1841303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>
              <a:lnSpc>
                <a:spcPct val="150000"/>
              </a:lnSpc>
            </a:pPr>
            <a:r>
              <a:rPr sz="1000" b="1">
                <a:solidFill>
                  <a:srgbClr val="0043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16856" y="1146077"/>
            <a:ext cx="1735074" cy="2103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>
              <a:lnSpc>
                <a:spcPct val="150000"/>
              </a:lnSpc>
            </a:pPr>
            <a:r>
              <a:rPr sz="1000" b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1.1 시스템 목적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16856" y="1402109"/>
            <a:ext cx="1735074" cy="2103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>
              <a:lnSpc>
                <a:spcPct val="150000"/>
              </a:lnSpc>
            </a:pPr>
            <a:r>
              <a:rPr sz="1000" b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1.2 호흡 시스템 정의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16856" y="1658141"/>
            <a:ext cx="1735074" cy="2103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>
              <a:lnSpc>
                <a:spcPct val="150000"/>
              </a:lnSpc>
            </a:pPr>
            <a:r>
              <a:rPr sz="1000" b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1.3 핵심 플레이 경험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16856" y="1914173"/>
            <a:ext cx="1735074" cy="2103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>
              <a:lnSpc>
                <a:spcPct val="150000"/>
              </a:lnSpc>
            </a:pPr>
            <a:r>
              <a:rPr sz="1000" b="0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1.4 </a:t>
            </a:r>
            <a:r>
              <a:rPr sz="1000" b="0" dirty="0" err="1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적용</a:t>
            </a:r>
            <a:r>
              <a:rPr sz="1000" b="0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범위</a:t>
            </a:r>
            <a:endParaRPr sz="1000" b="0" dirty="0">
              <a:solidFill>
                <a:srgbClr val="23283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515688" y="2577538"/>
            <a:ext cx="1841303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>
              <a:lnSpc>
                <a:spcPct val="150000"/>
              </a:lnSpc>
            </a:pPr>
            <a:r>
              <a:rPr sz="1000" b="1">
                <a:solidFill>
                  <a:srgbClr val="0043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구조도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16856" y="2870146"/>
            <a:ext cx="1735074" cy="2103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>
              <a:lnSpc>
                <a:spcPct val="150000"/>
              </a:lnSpc>
            </a:pPr>
            <a:r>
              <a:rPr sz="1000" b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2.1 전체 시스템 구조도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16856" y="3126178"/>
            <a:ext cx="1735074" cy="2103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>
              <a:lnSpc>
                <a:spcPct val="150000"/>
              </a:lnSpc>
            </a:pPr>
            <a:r>
              <a:rPr sz="1000" b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2.2 시스템 볼륨 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16856" y="3382210"/>
            <a:ext cx="1735074" cy="2103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>
              <a:lnSpc>
                <a:spcPct val="150000"/>
              </a:lnSpc>
            </a:pPr>
            <a:r>
              <a:rPr sz="1000" b="0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2.3 </a:t>
            </a:r>
            <a:r>
              <a:rPr sz="1000" b="0" dirty="0" err="1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시스템</a:t>
            </a:r>
            <a:r>
              <a:rPr sz="1000" b="0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b="0" dirty="0" err="1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순환</a:t>
            </a:r>
            <a:r>
              <a:rPr sz="1000" b="0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b="0" dirty="0" err="1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구조</a:t>
            </a:r>
            <a:endParaRPr sz="1000" b="0" dirty="0">
              <a:solidFill>
                <a:srgbClr val="23283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515688" y="4031859"/>
            <a:ext cx="1841303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>
              <a:lnSpc>
                <a:spcPct val="150000"/>
              </a:lnSpc>
            </a:pPr>
            <a:r>
              <a:rPr sz="1000" b="1" dirty="0" err="1">
                <a:solidFill>
                  <a:srgbClr val="0043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</a:t>
            </a:r>
            <a:r>
              <a:rPr sz="1000" b="1" dirty="0">
                <a:solidFill>
                  <a:srgbClr val="0043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b="1" dirty="0" err="1">
                <a:solidFill>
                  <a:srgbClr val="0043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</a:t>
            </a:r>
            <a:r>
              <a:rPr sz="1000" b="1" dirty="0">
                <a:solidFill>
                  <a:srgbClr val="0043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b="1" dirty="0" err="1">
                <a:solidFill>
                  <a:srgbClr val="0043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구조</a:t>
            </a:r>
            <a:endParaRPr sz="1000" b="1" dirty="0">
              <a:solidFill>
                <a:srgbClr val="0043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716856" y="4324467"/>
            <a:ext cx="1735074" cy="2103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>
              <a:lnSpc>
                <a:spcPct val="150000"/>
              </a:lnSpc>
            </a:pPr>
            <a:r>
              <a:rPr sz="1000" b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3.1 호흡 값 정의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16856" y="4580499"/>
            <a:ext cx="1735074" cy="2103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>
              <a:lnSpc>
                <a:spcPct val="150000"/>
              </a:lnSpc>
            </a:pPr>
            <a:r>
              <a:rPr sz="1000" b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3.2 호흡 참조 대상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72100" y="849278"/>
            <a:ext cx="1841303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>
              <a:lnSpc>
                <a:spcPct val="150000"/>
              </a:lnSpc>
            </a:pPr>
            <a:r>
              <a:rPr sz="1000" b="1" dirty="0" err="1">
                <a:solidFill>
                  <a:srgbClr val="0043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</a:t>
            </a:r>
            <a:r>
              <a:rPr sz="1000" b="1" dirty="0">
                <a:solidFill>
                  <a:srgbClr val="0043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b="1" dirty="0" err="1">
                <a:solidFill>
                  <a:srgbClr val="0043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행동</a:t>
            </a:r>
            <a:r>
              <a:rPr sz="1000" b="1" dirty="0">
                <a:solidFill>
                  <a:srgbClr val="0043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b="1" dirty="0" err="1">
                <a:solidFill>
                  <a:srgbClr val="0043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규칙</a:t>
            </a:r>
            <a:endParaRPr sz="1000" b="1" dirty="0">
              <a:solidFill>
                <a:srgbClr val="0043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573268" y="1141886"/>
            <a:ext cx="1735074" cy="2103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>
              <a:lnSpc>
                <a:spcPct val="150000"/>
              </a:lnSpc>
            </a:pPr>
            <a:r>
              <a:rPr sz="1000" b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4.1 기본 행동 규칙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3268" y="1397918"/>
            <a:ext cx="1735074" cy="2103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>
              <a:lnSpc>
                <a:spcPct val="150000"/>
              </a:lnSpc>
            </a:pPr>
            <a:r>
              <a:rPr sz="1000" b="0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4.2 </a:t>
            </a:r>
            <a:r>
              <a:rPr lang="ko-KR" altLang="en-US" sz="1000" b="0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들이마시기</a:t>
            </a:r>
            <a:endParaRPr sz="1000" b="0" dirty="0">
              <a:solidFill>
                <a:srgbClr val="23283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372100" y="2581729"/>
            <a:ext cx="1841303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>
              <a:lnSpc>
                <a:spcPct val="150000"/>
              </a:lnSpc>
            </a:pPr>
            <a:r>
              <a:rPr sz="1000" b="1" dirty="0" err="1">
                <a:solidFill>
                  <a:srgbClr val="0043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환경</a:t>
            </a:r>
            <a:r>
              <a:rPr sz="1000" b="1" dirty="0">
                <a:solidFill>
                  <a:srgbClr val="0043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sz="1000" b="1" dirty="0" err="1">
                <a:solidFill>
                  <a:srgbClr val="0043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감지</a:t>
            </a:r>
            <a:r>
              <a:rPr sz="1000" b="1" dirty="0">
                <a:solidFill>
                  <a:srgbClr val="0043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b="1" dirty="0" err="1">
                <a:solidFill>
                  <a:srgbClr val="0043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규칙</a:t>
            </a:r>
            <a:endParaRPr sz="1000" b="1" dirty="0">
              <a:solidFill>
                <a:srgbClr val="0043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573267" y="2874337"/>
            <a:ext cx="1735074" cy="2103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>
              <a:lnSpc>
                <a:spcPct val="150000"/>
              </a:lnSpc>
            </a:pPr>
            <a:r>
              <a:rPr sz="1000" b="0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5.1 </a:t>
            </a:r>
            <a:r>
              <a:rPr sz="1000" b="0" dirty="0" err="1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공기</a:t>
            </a:r>
            <a:r>
              <a:rPr sz="1000" b="0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b="0" dirty="0" err="1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환경</a:t>
            </a:r>
            <a:endParaRPr sz="1000" b="0" dirty="0">
              <a:solidFill>
                <a:srgbClr val="23283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573267" y="3130369"/>
            <a:ext cx="1735074" cy="2103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>
              <a:lnSpc>
                <a:spcPct val="150000"/>
              </a:lnSpc>
            </a:pPr>
            <a:r>
              <a:rPr sz="1000" b="0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5.2 </a:t>
            </a:r>
            <a:r>
              <a:rPr lang="ko-KR" altLang="en-US" sz="1000" b="0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환경 소음</a:t>
            </a:r>
            <a:endParaRPr sz="1000" b="0" dirty="0">
              <a:solidFill>
                <a:srgbClr val="23283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372100" y="4027287"/>
            <a:ext cx="1841303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>
              <a:lnSpc>
                <a:spcPct val="150000"/>
              </a:lnSpc>
            </a:pPr>
            <a:r>
              <a:rPr sz="1000" b="1" dirty="0">
                <a:solidFill>
                  <a:srgbClr val="0043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적 </a:t>
            </a:r>
            <a:r>
              <a:rPr sz="1000" b="1" dirty="0" err="1">
                <a:solidFill>
                  <a:srgbClr val="0043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AI와</a:t>
            </a:r>
            <a:r>
              <a:rPr sz="1000" b="1" dirty="0">
                <a:solidFill>
                  <a:srgbClr val="0043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b="1" dirty="0" err="1">
                <a:solidFill>
                  <a:srgbClr val="0043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</a:t>
            </a:r>
            <a:endParaRPr sz="1000" b="1" dirty="0">
              <a:solidFill>
                <a:srgbClr val="0043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573267" y="4319895"/>
            <a:ext cx="1735074" cy="2103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>
              <a:lnSpc>
                <a:spcPct val="150000"/>
              </a:lnSpc>
            </a:pPr>
            <a:r>
              <a:rPr sz="1000" b="0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6.1 </a:t>
            </a:r>
            <a:r>
              <a:rPr sz="1000" b="0" dirty="0" err="1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적의</a:t>
            </a:r>
            <a:r>
              <a:rPr sz="1000" b="0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b="0" dirty="0" err="1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</a:t>
            </a:r>
            <a:r>
              <a:rPr sz="1000" b="0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b="0" dirty="0" err="1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감지</a:t>
            </a:r>
            <a:endParaRPr sz="1000" b="0" dirty="0">
              <a:solidFill>
                <a:srgbClr val="23283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573267" y="4575927"/>
            <a:ext cx="1735074" cy="2103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>
              <a:lnSpc>
                <a:spcPct val="150000"/>
              </a:lnSpc>
            </a:pPr>
            <a:r>
              <a:rPr sz="1000" b="0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6.2 </a:t>
            </a:r>
            <a:r>
              <a:rPr sz="1000" b="0" dirty="0" err="1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타입별</a:t>
            </a:r>
            <a:r>
              <a:rPr sz="1000" b="0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b="0" dirty="0" err="1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탐지</a:t>
            </a:r>
            <a:r>
              <a:rPr sz="1000" b="0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b="0" dirty="0" err="1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차이</a:t>
            </a:r>
            <a:endParaRPr sz="1000" b="0" dirty="0">
              <a:solidFill>
                <a:srgbClr val="23283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740072" y="858041"/>
            <a:ext cx="1841303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>
              <a:lnSpc>
                <a:spcPct val="150000"/>
              </a:lnSpc>
            </a:pPr>
            <a:r>
              <a:rPr sz="1000" b="1" dirty="0" err="1">
                <a:solidFill>
                  <a:srgbClr val="0043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플레이어와</a:t>
            </a:r>
            <a:r>
              <a:rPr sz="1000" b="1" dirty="0">
                <a:solidFill>
                  <a:srgbClr val="0043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b="1" dirty="0" err="1">
                <a:solidFill>
                  <a:srgbClr val="0043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</a:t>
            </a:r>
            <a:endParaRPr sz="1000" b="1" dirty="0">
              <a:solidFill>
                <a:srgbClr val="0043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941239" y="1150649"/>
            <a:ext cx="1735074" cy="2103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>
              <a:lnSpc>
                <a:spcPct val="150000"/>
              </a:lnSpc>
            </a:pPr>
            <a:r>
              <a:rPr sz="1000" b="0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7.1 </a:t>
            </a:r>
            <a:r>
              <a:rPr sz="1000" b="0" dirty="0" err="1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플레이어</a:t>
            </a:r>
            <a:r>
              <a:rPr sz="1000" b="0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b="0" dirty="0" err="1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조작</a:t>
            </a:r>
            <a:r>
              <a:rPr sz="1000" b="0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b="0" dirty="0" err="1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규칙</a:t>
            </a:r>
            <a:endParaRPr sz="1000" b="0" dirty="0">
              <a:solidFill>
                <a:srgbClr val="23283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941239" y="1406681"/>
            <a:ext cx="1735074" cy="2103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>
              <a:lnSpc>
                <a:spcPct val="150000"/>
              </a:lnSpc>
            </a:pPr>
            <a:r>
              <a:rPr sz="1000" b="0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7.2 </a:t>
            </a:r>
            <a:r>
              <a:rPr lang="ko-KR" altLang="en-US" sz="1000" b="0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이동과 호흡</a:t>
            </a:r>
            <a:endParaRPr sz="1000" b="0" dirty="0">
              <a:solidFill>
                <a:srgbClr val="23283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740072" y="2572966"/>
            <a:ext cx="1841303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>
              <a:lnSpc>
                <a:spcPct val="150000"/>
              </a:lnSpc>
            </a:pPr>
            <a:r>
              <a:rPr sz="1000" b="1" dirty="0" err="1">
                <a:solidFill>
                  <a:srgbClr val="0043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콘텐츠</a:t>
            </a:r>
            <a:r>
              <a:rPr sz="1000" b="1" dirty="0">
                <a:solidFill>
                  <a:srgbClr val="0043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b="1" dirty="0" err="1">
                <a:solidFill>
                  <a:srgbClr val="0043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연동</a:t>
            </a:r>
            <a:endParaRPr sz="1000" b="1" dirty="0">
              <a:solidFill>
                <a:srgbClr val="0043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941239" y="2865574"/>
            <a:ext cx="1735074" cy="2103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>
              <a:lnSpc>
                <a:spcPct val="150000"/>
              </a:lnSpc>
            </a:pPr>
            <a:r>
              <a:rPr sz="1000" b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8.1 은신/이동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41239" y="3121606"/>
            <a:ext cx="1735074" cy="2103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>
              <a:lnSpc>
                <a:spcPct val="150000"/>
              </a:lnSpc>
            </a:pPr>
            <a:r>
              <a:rPr sz="1000" b="0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8.2 </a:t>
            </a:r>
            <a:r>
              <a:rPr lang="ko-KR" altLang="en-US" sz="1000" b="0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환경 퍼즐</a:t>
            </a:r>
            <a:endParaRPr sz="1000" b="0" dirty="0">
              <a:solidFill>
                <a:srgbClr val="23283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740072" y="4027287"/>
            <a:ext cx="1841303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>
              <a:lnSpc>
                <a:spcPct val="150000"/>
              </a:lnSpc>
            </a:pPr>
            <a:r>
              <a:rPr sz="1000" b="1" dirty="0" err="1">
                <a:solidFill>
                  <a:srgbClr val="0043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플레이</a:t>
            </a:r>
            <a:r>
              <a:rPr sz="1000" b="1" dirty="0">
                <a:solidFill>
                  <a:srgbClr val="0043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b="1" dirty="0" err="1">
                <a:solidFill>
                  <a:srgbClr val="0043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화면</a:t>
            </a:r>
            <a:r>
              <a:rPr sz="1000" b="1" dirty="0">
                <a:solidFill>
                  <a:srgbClr val="0043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/ </a:t>
            </a:r>
            <a:r>
              <a:rPr sz="1000" b="1" dirty="0" err="1">
                <a:solidFill>
                  <a:srgbClr val="0043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리소스</a:t>
            </a:r>
            <a:r>
              <a:rPr sz="1000" b="1" dirty="0">
                <a:solidFill>
                  <a:srgbClr val="0043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/ </a:t>
            </a:r>
            <a:r>
              <a:rPr sz="1000" b="1" dirty="0" err="1">
                <a:solidFill>
                  <a:srgbClr val="0043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예외</a:t>
            </a:r>
            <a:endParaRPr sz="1000" b="1" dirty="0">
              <a:solidFill>
                <a:srgbClr val="0043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941239" y="4319895"/>
            <a:ext cx="1735074" cy="2103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>
              <a:lnSpc>
                <a:spcPct val="150000"/>
              </a:lnSpc>
            </a:pPr>
            <a:r>
              <a:rPr sz="1000" b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9. 플레이 화면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41239" y="4575927"/>
            <a:ext cx="1735074" cy="2103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>
              <a:lnSpc>
                <a:spcPct val="150000"/>
              </a:lnSpc>
            </a:pPr>
            <a:r>
              <a:rPr sz="1000" b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10. 리소스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41239" y="4831959"/>
            <a:ext cx="1735074" cy="2103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>
              <a:lnSpc>
                <a:spcPct val="150000"/>
              </a:lnSpc>
            </a:pPr>
            <a:r>
              <a:rPr sz="1000" b="0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11. </a:t>
            </a:r>
            <a:r>
              <a:rPr sz="1000" b="0" dirty="0" err="1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예외</a:t>
            </a:r>
            <a:r>
              <a:rPr sz="1000" b="0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b="0" dirty="0" err="1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사항</a:t>
            </a:r>
            <a:r>
              <a:rPr lang="en-US" sz="1000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/ </a:t>
            </a:r>
            <a:r>
              <a:rPr sz="1000" b="0" dirty="0" err="1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안전</a:t>
            </a:r>
            <a:r>
              <a:rPr sz="1000" b="0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b="0" dirty="0" err="1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장치</a:t>
            </a:r>
            <a:endParaRPr sz="1000" b="0" dirty="0">
              <a:solidFill>
                <a:srgbClr val="23283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61D4B987-6BA8-B896-BC13-482F5E48D0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2909072"/>
              </p:ext>
            </p:extLst>
          </p:nvPr>
        </p:nvGraphicFramePr>
        <p:xfrm>
          <a:off x="566928" y="5459640"/>
          <a:ext cx="11045952" cy="1162304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404872">
                  <a:extLst>
                    <a:ext uri="{9D8B030D-6E8A-4147-A177-3AD203B41FA5}">
                      <a16:colId xmlns:a16="http://schemas.microsoft.com/office/drawing/2014/main" val="4276484257"/>
                    </a:ext>
                  </a:extLst>
                </a:gridCol>
                <a:gridCol w="8641080">
                  <a:extLst>
                    <a:ext uri="{9D8B030D-6E8A-4147-A177-3AD203B41FA5}">
                      <a16:colId xmlns:a16="http://schemas.microsoft.com/office/drawing/2014/main" val="673008526"/>
                    </a:ext>
                  </a:extLst>
                </a:gridCol>
              </a:tblGrid>
              <a:tr h="279337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0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날짜</a:t>
                      </a:r>
                    </a:p>
                  </a:txBody>
                  <a:tcPr anchor="ctr">
                    <a:solidFill>
                      <a:srgbClr val="00437A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0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수정내용</a:t>
                      </a:r>
                    </a:p>
                  </a:txBody>
                  <a:tcPr anchor="ctr">
                    <a:solidFill>
                      <a:srgbClr val="0043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2138024"/>
                  </a:ext>
                </a:extLst>
              </a:tr>
              <a:tr h="279337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ko-KR" altLang="en-US" sz="10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ko-KR" altLang="en-US" sz="1000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0011685"/>
                  </a:ext>
                </a:extLst>
              </a:tr>
              <a:tr h="279337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ko-KR" altLang="en-US" sz="10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ko-KR" altLang="en-US" sz="1000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5174552"/>
                  </a:ext>
                </a:extLst>
              </a:tr>
              <a:tr h="279337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ko-KR" altLang="en-US" sz="100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ko-KR" altLang="en-US" sz="1000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3677235"/>
                  </a:ext>
                </a:extLst>
              </a:tr>
            </a:tbl>
          </a:graphicData>
        </a:graphic>
      </p:graphicFrame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7E83D50F-51D1-83AE-FB17-5CF439D6F431}"/>
              </a:ext>
            </a:extLst>
          </p:cNvPr>
          <p:cNvCxnSpPr>
            <a:cxnSpLocks/>
          </p:cNvCxnSpPr>
          <p:nvPr/>
        </p:nvCxnSpPr>
        <p:spPr>
          <a:xfrm>
            <a:off x="588264" y="671984"/>
            <a:ext cx="11015472" cy="0"/>
          </a:xfrm>
          <a:prstGeom prst="line">
            <a:avLst/>
          </a:prstGeom>
          <a:ln cap="rnd">
            <a:solidFill>
              <a:srgbClr val="0043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83210356-AF6D-4364-B011-E8793BBD1331}"/>
              </a:ext>
            </a:extLst>
          </p:cNvPr>
          <p:cNvSpPr txBox="1"/>
          <p:nvPr/>
        </p:nvSpPr>
        <p:spPr>
          <a:xfrm>
            <a:off x="1716855" y="3635452"/>
            <a:ext cx="1735074" cy="2103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>
              <a:lnSpc>
                <a:spcPct val="150000"/>
              </a:lnSpc>
            </a:pPr>
            <a:r>
              <a:rPr sz="1000" b="0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2.</a:t>
            </a:r>
            <a:r>
              <a:rPr lang="en-US" sz="1000" b="0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sz="1000" b="0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b="0" dirty="0" err="1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시스템</a:t>
            </a:r>
            <a:r>
              <a:rPr sz="1000" b="0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b="0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플로우 차트</a:t>
            </a:r>
            <a:endParaRPr sz="1000" b="0" dirty="0">
              <a:solidFill>
                <a:srgbClr val="23283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CD5253A-234E-4C1E-858D-1A457D312014}"/>
              </a:ext>
            </a:extLst>
          </p:cNvPr>
          <p:cNvSpPr txBox="1"/>
          <p:nvPr/>
        </p:nvSpPr>
        <p:spPr>
          <a:xfrm>
            <a:off x="5573267" y="1676429"/>
            <a:ext cx="1735074" cy="2103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>
              <a:lnSpc>
                <a:spcPct val="150000"/>
              </a:lnSpc>
            </a:pPr>
            <a:r>
              <a:rPr sz="1000" b="0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</a:t>
            </a:r>
            <a:r>
              <a:rPr lang="en-US" sz="1000" b="0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sz="1000" b="0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b="0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숨 참기</a:t>
            </a:r>
            <a:endParaRPr sz="1000" b="0" dirty="0">
              <a:solidFill>
                <a:srgbClr val="23283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A071872-5E52-4F86-A060-8D4665D30D1E}"/>
              </a:ext>
            </a:extLst>
          </p:cNvPr>
          <p:cNvSpPr txBox="1"/>
          <p:nvPr/>
        </p:nvSpPr>
        <p:spPr>
          <a:xfrm>
            <a:off x="5573267" y="1928650"/>
            <a:ext cx="1735074" cy="2103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>
              <a:lnSpc>
                <a:spcPct val="150000"/>
              </a:lnSpc>
            </a:pPr>
            <a:r>
              <a:rPr sz="1000" b="0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</a:t>
            </a:r>
            <a:r>
              <a:rPr lang="en-US" sz="1000" b="0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sz="1000" b="0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b="0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내쉬기</a:t>
            </a:r>
            <a:endParaRPr sz="1000" b="0" dirty="0">
              <a:solidFill>
                <a:srgbClr val="23283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70130DF-540C-4B06-8577-9EA570F402E7}"/>
              </a:ext>
            </a:extLst>
          </p:cNvPr>
          <p:cNvSpPr txBox="1"/>
          <p:nvPr/>
        </p:nvSpPr>
        <p:spPr>
          <a:xfrm>
            <a:off x="5573268" y="2189880"/>
            <a:ext cx="1735074" cy="2103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>
              <a:lnSpc>
                <a:spcPct val="150000"/>
              </a:lnSpc>
            </a:pPr>
            <a:r>
              <a:rPr sz="1000" b="0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</a:t>
            </a:r>
            <a:r>
              <a:rPr lang="en-US" sz="1000" b="0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r>
              <a:rPr sz="1000" b="0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b="0" dirty="0" err="1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한계</a:t>
            </a:r>
            <a:r>
              <a:rPr sz="1000" b="0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sz="1000" b="0" dirty="0" err="1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강제</a:t>
            </a:r>
            <a:r>
              <a:rPr lang="en-US" sz="1000" b="0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000" b="0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비상</a:t>
            </a:r>
            <a:r>
              <a:rPr sz="1000" b="0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b="0" dirty="0" err="1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</a:t>
            </a:r>
            <a:endParaRPr sz="1000" b="0" dirty="0">
              <a:solidFill>
                <a:srgbClr val="23283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CFA0ED6-68EC-4ED3-89B5-35B77F9078C1}"/>
              </a:ext>
            </a:extLst>
          </p:cNvPr>
          <p:cNvSpPr txBox="1"/>
          <p:nvPr/>
        </p:nvSpPr>
        <p:spPr>
          <a:xfrm>
            <a:off x="5573267" y="3384083"/>
            <a:ext cx="1735074" cy="2103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000" b="0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5.3 </a:t>
            </a:r>
            <a:r>
              <a:rPr lang="ko-KR" altLang="en-US" sz="1000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소음 판정</a:t>
            </a:r>
            <a:endParaRPr sz="1000" b="0" dirty="0">
              <a:solidFill>
                <a:srgbClr val="23283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0398768-67ED-4882-BADC-79CCD9B2A5E9}"/>
              </a:ext>
            </a:extLst>
          </p:cNvPr>
          <p:cNvSpPr txBox="1"/>
          <p:nvPr/>
        </p:nvSpPr>
        <p:spPr>
          <a:xfrm>
            <a:off x="5573267" y="3637118"/>
            <a:ext cx="1735074" cy="2103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000" b="0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5.4 </a:t>
            </a:r>
            <a:r>
              <a:rPr lang="ko-KR" altLang="en-US" sz="1000" b="0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안전 들숨 한계</a:t>
            </a:r>
            <a:endParaRPr sz="1000" b="0" dirty="0">
              <a:solidFill>
                <a:srgbClr val="23283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19246A3-DBA9-4A71-BFED-DF267BDED072}"/>
              </a:ext>
            </a:extLst>
          </p:cNvPr>
          <p:cNvSpPr txBox="1"/>
          <p:nvPr/>
        </p:nvSpPr>
        <p:spPr>
          <a:xfrm>
            <a:off x="1716855" y="4833038"/>
            <a:ext cx="1735074" cy="2103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000" b="0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3.3 </a:t>
            </a:r>
            <a:r>
              <a:rPr lang="ko-KR" altLang="en-US" sz="1000" b="0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 부채</a:t>
            </a:r>
            <a:endParaRPr sz="1000" b="0" dirty="0">
              <a:solidFill>
                <a:srgbClr val="23283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1F5C7C6-5EFA-4A28-9CE8-689B8DDA3F56}"/>
              </a:ext>
            </a:extLst>
          </p:cNvPr>
          <p:cNvSpPr txBox="1"/>
          <p:nvPr/>
        </p:nvSpPr>
        <p:spPr>
          <a:xfrm>
            <a:off x="1716856" y="5090594"/>
            <a:ext cx="1735074" cy="2103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000" b="0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3.4 </a:t>
            </a:r>
            <a:r>
              <a:rPr lang="ko-KR" altLang="en-US" sz="1000" b="0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소음 데이터</a:t>
            </a:r>
            <a:endParaRPr sz="1000" b="0" dirty="0">
              <a:solidFill>
                <a:srgbClr val="23283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EFF56CD-51E6-4B47-81C4-026A7F2733F4}"/>
              </a:ext>
            </a:extLst>
          </p:cNvPr>
          <p:cNvSpPr txBox="1"/>
          <p:nvPr/>
        </p:nvSpPr>
        <p:spPr>
          <a:xfrm>
            <a:off x="5573268" y="4833483"/>
            <a:ext cx="1735074" cy="2103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000" b="0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6.3 </a:t>
            </a:r>
            <a:r>
              <a:rPr lang="ko-KR" altLang="en-US" sz="1000" b="0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의심</a:t>
            </a:r>
            <a:r>
              <a:rPr lang="en-US" altLang="ko-KR" sz="1000" b="0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000" b="0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조사</a:t>
            </a:r>
            <a:r>
              <a:rPr lang="en-US" altLang="ko-KR" sz="1000" b="0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000" b="0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복귀</a:t>
            </a:r>
            <a:endParaRPr sz="1000" b="0" dirty="0">
              <a:solidFill>
                <a:srgbClr val="23283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243B258-7FAA-4936-A8E8-23B2565F13FD}"/>
              </a:ext>
            </a:extLst>
          </p:cNvPr>
          <p:cNvSpPr txBox="1"/>
          <p:nvPr/>
        </p:nvSpPr>
        <p:spPr>
          <a:xfrm>
            <a:off x="5573268" y="5089515"/>
            <a:ext cx="1735074" cy="2103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000" b="0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6.4 </a:t>
            </a:r>
            <a:r>
              <a:rPr lang="ko-KR" altLang="en-US" sz="1000" b="0" dirty="0" err="1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타입별</a:t>
            </a:r>
            <a:r>
              <a:rPr lang="ko-KR" altLang="en-US" sz="1000" b="0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감지 차이</a:t>
            </a:r>
            <a:endParaRPr sz="1000" b="0" dirty="0">
              <a:solidFill>
                <a:srgbClr val="23283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961BDC6-D2B5-4BA5-9247-656A8A165BED}"/>
              </a:ext>
            </a:extLst>
          </p:cNvPr>
          <p:cNvSpPr txBox="1"/>
          <p:nvPr/>
        </p:nvSpPr>
        <p:spPr>
          <a:xfrm>
            <a:off x="8941239" y="1658739"/>
            <a:ext cx="1735074" cy="2103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>
              <a:lnSpc>
                <a:spcPct val="150000"/>
              </a:lnSpc>
            </a:pPr>
            <a:r>
              <a:rPr sz="1000" b="0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7.</a:t>
            </a:r>
            <a:r>
              <a:rPr lang="en-US" sz="1000" b="0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sz="1000" b="0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b="0" dirty="0" err="1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</a:t>
            </a:r>
            <a:r>
              <a:rPr sz="1000" b="0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b="0" dirty="0" err="1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기술</a:t>
            </a:r>
            <a:r>
              <a:rPr sz="1000" b="0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b="0" dirty="0" err="1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확장</a:t>
            </a:r>
            <a:endParaRPr sz="1000" b="0" dirty="0">
              <a:solidFill>
                <a:srgbClr val="23283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FE1E44D-E33E-40D2-9B79-C02652440995}"/>
              </a:ext>
            </a:extLst>
          </p:cNvPr>
          <p:cNvSpPr txBox="1"/>
          <p:nvPr/>
        </p:nvSpPr>
        <p:spPr>
          <a:xfrm>
            <a:off x="8941239" y="1928650"/>
            <a:ext cx="2107062" cy="2103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000" b="0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7.4 </a:t>
            </a:r>
            <a:r>
              <a:rPr lang="ko-KR" altLang="en-US" sz="1000" b="0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들이마시기</a:t>
            </a:r>
            <a:r>
              <a:rPr lang="en-US" altLang="ko-KR" sz="1000" b="0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000" b="0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내쉬기 계열 능력</a:t>
            </a:r>
            <a:endParaRPr sz="1000" b="0" dirty="0">
              <a:solidFill>
                <a:srgbClr val="23283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00CA8F3-F27E-424C-A9F1-2ACF438045A7}"/>
              </a:ext>
            </a:extLst>
          </p:cNvPr>
          <p:cNvSpPr txBox="1"/>
          <p:nvPr/>
        </p:nvSpPr>
        <p:spPr>
          <a:xfrm>
            <a:off x="8941239" y="2189880"/>
            <a:ext cx="1735074" cy="2103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000" b="0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7.5 </a:t>
            </a:r>
            <a:r>
              <a:rPr lang="ko-KR" altLang="en-US" sz="1000" b="0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숨 참기 계열 능력</a:t>
            </a:r>
            <a:endParaRPr sz="1000" b="0" dirty="0">
              <a:solidFill>
                <a:srgbClr val="23283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9E14BA7-7042-4F15-8901-7471B85D3354}"/>
              </a:ext>
            </a:extLst>
          </p:cNvPr>
          <p:cNvSpPr txBox="1"/>
          <p:nvPr/>
        </p:nvSpPr>
        <p:spPr>
          <a:xfrm>
            <a:off x="8941239" y="3375679"/>
            <a:ext cx="1735074" cy="2103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>
              <a:lnSpc>
                <a:spcPct val="150000"/>
              </a:lnSpc>
            </a:pPr>
            <a:r>
              <a:rPr sz="1000" b="0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8.</a:t>
            </a:r>
            <a:r>
              <a:rPr lang="en-US" sz="1000" b="0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sz="1000" b="0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b="0" dirty="0" err="1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스토리</a:t>
            </a:r>
            <a:r>
              <a:rPr sz="1000" b="0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sz="1000" b="0" dirty="0" err="1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에피소드</a:t>
            </a:r>
            <a:endParaRPr sz="1000" b="0" dirty="0">
              <a:solidFill>
                <a:srgbClr val="23283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E696A88-8752-49BD-9EEC-7669B75FC1A7}"/>
              </a:ext>
            </a:extLst>
          </p:cNvPr>
          <p:cNvSpPr txBox="1"/>
          <p:nvPr/>
        </p:nvSpPr>
        <p:spPr>
          <a:xfrm>
            <a:off x="8941239" y="3637524"/>
            <a:ext cx="1735074" cy="2103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>
              <a:lnSpc>
                <a:spcPct val="150000"/>
              </a:lnSpc>
            </a:pPr>
            <a:r>
              <a:rPr sz="1000" b="0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8.</a:t>
            </a:r>
            <a:r>
              <a:rPr lang="en-US" sz="1000" b="0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sz="1000" b="0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b="0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성장</a:t>
            </a:r>
            <a:r>
              <a:rPr lang="en-US" altLang="ko-KR" sz="1000" b="0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000" b="0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능력 획득</a:t>
            </a:r>
            <a:endParaRPr sz="1000" b="0" dirty="0">
              <a:solidFill>
                <a:srgbClr val="23283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732131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" y="146304"/>
            <a:ext cx="11887200" cy="656539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11827"/>
            </a:solidFill>
            <a:prstDash val="solid"/>
          </a:ln>
        </p:spPr>
        <p:txBody>
          <a:bodyPr anchor="ctr"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502920" y="713232"/>
            <a:ext cx="11201400" cy="0"/>
          </a:xfrm>
          <a:prstGeom prst="line">
            <a:avLst/>
          </a:prstGeom>
          <a:noFill/>
          <a:ln w="12700">
            <a:solidFill>
              <a:srgbClr val="D7E0E8"/>
            </a:solidFill>
            <a:prstDash val="solid"/>
          </a:ln>
        </p:spPr>
        <p:txBody>
          <a:bodyPr anchor="ctr"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30352" y="32918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1.1 </a:t>
            </a:r>
            <a:r>
              <a:rPr lang="ko-KR" altLang="en-US" sz="2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목적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1078992"/>
            <a:ext cx="118872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altLang="en-US" sz="1500" b="1" dirty="0">
                <a:solidFill>
                  <a:srgbClr val="073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목적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58368" y="1463040"/>
            <a:ext cx="7319562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alt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호흡을 플레이어가 직접 조작하는 핵심 행동으로 만들고</a:t>
            </a:r>
            <a:r>
              <a:rPr lang="en-US" altLang="ko-KR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</a:t>
            </a:r>
            <a:r>
              <a:rPr lang="ko-KR" alt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이동</a:t>
            </a:r>
            <a:r>
              <a:rPr lang="en-US" altLang="ko-KR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</a:t>
            </a:r>
            <a:r>
              <a:rPr lang="ko-KR" alt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은신</a:t>
            </a:r>
            <a:r>
              <a:rPr lang="en-US" altLang="ko-KR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</a:t>
            </a:r>
            <a:r>
              <a:rPr lang="ko-KR" alt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소음</a:t>
            </a:r>
            <a:r>
              <a:rPr lang="en-US" altLang="ko-KR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</a:t>
            </a:r>
            <a:r>
              <a:rPr lang="ko-KR" alt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 대응</a:t>
            </a:r>
            <a:r>
              <a:rPr lang="en-US" altLang="ko-KR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</a:t>
            </a:r>
            <a:r>
              <a:rPr lang="ko-KR" alt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 </a:t>
            </a:r>
            <a:r>
              <a:rPr lang="en-US" altLang="ko-KR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</a:t>
            </a:r>
            <a:r>
              <a:rPr lang="ko-KR" alt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 하나의 규칙으로 연결한다</a:t>
            </a:r>
            <a:r>
              <a:rPr lang="en-US" altLang="ko-KR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58368" y="2458183"/>
            <a:ext cx="3383280" cy="987552"/>
          </a:xfrm>
          <a:prstGeom prst="roundRect">
            <a:avLst>
              <a:gd name="adj" fmla="val 7407"/>
            </a:avLst>
          </a:prstGeom>
          <a:noFill/>
          <a:ln w="10160">
            <a:solidFill>
              <a:srgbClr val="073B5A"/>
            </a:solidFill>
            <a:prstDash val="solid"/>
          </a:ln>
        </p:spPr>
        <p:txBody>
          <a:bodyPr anchor="ctr"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822960" y="2746218"/>
            <a:ext cx="3054096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ko-KR" alt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월드 규칙 통합</a:t>
            </a:r>
            <a:endParaRPr lang="en-US" altLang="ko-KR" sz="1000" dirty="0">
              <a:solidFill>
                <a:srgbClr val="111827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ko-KR" alt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</a:rPr>
              <a:t>호흡 상태가 환경</a:t>
            </a:r>
            <a:r>
              <a:rPr lang="en-US" altLang="ko-KR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·AI·</a:t>
            </a:r>
            <a:r>
              <a:rPr lang="ko-KR" alt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이동에 전달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370832" y="2458183"/>
            <a:ext cx="3383280" cy="987552"/>
          </a:xfrm>
          <a:prstGeom prst="roundRect">
            <a:avLst>
              <a:gd name="adj" fmla="val 7407"/>
            </a:avLst>
          </a:prstGeom>
          <a:solidFill>
            <a:srgbClr val="C9E8FB"/>
          </a:solidFill>
          <a:ln w="10160">
            <a:solidFill>
              <a:srgbClr val="073B5A"/>
            </a:solidFill>
            <a:prstDash val="solid"/>
          </a:ln>
        </p:spPr>
        <p:txBody>
          <a:bodyPr anchor="ctr"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535424" y="2746218"/>
            <a:ext cx="3054096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ko-KR" alt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전략적 판단</a:t>
            </a:r>
            <a:endParaRPr lang="en-US" altLang="ko-KR" sz="1000" dirty="0">
              <a:solidFill>
                <a:srgbClr val="111827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ko-KR" alt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</a:rPr>
              <a:t>언제</a:t>
            </a:r>
            <a:r>
              <a:rPr lang="en-US" altLang="ko-KR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</a:t>
            </a:r>
            <a:r>
              <a:rPr lang="ko-KR" alt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얼마나</a:t>
            </a:r>
            <a:r>
              <a:rPr lang="en-US" altLang="ko-KR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</a:t>
            </a:r>
            <a:r>
              <a:rPr lang="ko-KR" alt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어디서 숨 쉴지 선택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083296" y="2458183"/>
            <a:ext cx="3383280" cy="987552"/>
          </a:xfrm>
          <a:prstGeom prst="roundRect">
            <a:avLst>
              <a:gd name="adj" fmla="val 7407"/>
            </a:avLst>
          </a:prstGeom>
          <a:noFill/>
          <a:ln w="10160">
            <a:solidFill>
              <a:srgbClr val="073B5A"/>
            </a:solidFill>
            <a:prstDash val="solid"/>
          </a:ln>
        </p:spPr>
        <p:txBody>
          <a:bodyPr anchor="ctr"/>
          <a:lstStyle/>
          <a:p>
            <a:pPr>
              <a:lnSpc>
                <a:spcPct val="150000"/>
              </a:lnSpc>
            </a:pPr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8247888" y="2746218"/>
            <a:ext cx="3054096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ko-KR" alt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성장 확장</a:t>
            </a:r>
            <a:endParaRPr lang="en-US" altLang="ko-KR" sz="1000" dirty="0">
              <a:solidFill>
                <a:srgbClr val="111827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ko-KR" alt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</a:rPr>
              <a:t>동일 입력에 능력 의미 추가</a:t>
            </a:r>
            <a:endParaRPr lang="en-US" sz="1000" dirty="0"/>
          </a:p>
        </p:txBody>
      </p:sp>
      <p:sp>
        <p:nvSpPr>
          <p:cNvPr id="25" name="Text 4">
            <a:extLst>
              <a:ext uri="{FF2B5EF4-FFF2-40B4-BE49-F238E27FC236}">
                <a16:creationId xmlns:a16="http://schemas.microsoft.com/office/drawing/2014/main" id="{B6D3AF9E-875E-4858-BBA9-9E39BCF0DBEE}"/>
              </a:ext>
            </a:extLst>
          </p:cNvPr>
          <p:cNvSpPr/>
          <p:nvPr/>
        </p:nvSpPr>
        <p:spPr>
          <a:xfrm>
            <a:off x="658368" y="4128643"/>
            <a:ext cx="118872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altLang="en-US" sz="1500" b="1" dirty="0">
                <a:solidFill>
                  <a:srgbClr val="073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 목표</a:t>
            </a:r>
            <a:endParaRPr lang="en-US" sz="1500" dirty="0"/>
          </a:p>
        </p:txBody>
      </p:sp>
      <p:sp>
        <p:nvSpPr>
          <p:cNvPr id="26" name="Text 5">
            <a:extLst>
              <a:ext uri="{FF2B5EF4-FFF2-40B4-BE49-F238E27FC236}">
                <a16:creationId xmlns:a16="http://schemas.microsoft.com/office/drawing/2014/main" id="{85A08BA1-DF56-44F5-923A-9C66FB3C06C7}"/>
              </a:ext>
            </a:extLst>
          </p:cNvPr>
          <p:cNvSpPr/>
          <p:nvPr/>
        </p:nvSpPr>
        <p:spPr>
          <a:xfrm>
            <a:off x="658368" y="4512690"/>
            <a:ext cx="7319562" cy="88226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alt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숨 참기가 정답 버튼이 되지 않도록 호흡 회복과 소음 리스크를 연결한다</a:t>
            </a:r>
            <a:r>
              <a:rPr lang="en-US" altLang="ko-KR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ko-KR" alt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</a:rPr>
              <a:t>달리기</a:t>
            </a:r>
            <a:r>
              <a:rPr lang="en-US" altLang="ko-KR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</a:t>
            </a:r>
            <a:r>
              <a:rPr lang="ko-KR" alt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기어가기</a:t>
            </a:r>
            <a:r>
              <a:rPr lang="en-US" altLang="ko-KR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</a:t>
            </a:r>
            <a:r>
              <a:rPr lang="ko-KR" alt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 소음 등 다른 시스템이 호흡 조건을 계속 바꾸게 한다</a:t>
            </a:r>
            <a:r>
              <a:rPr lang="en-US" altLang="ko-KR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ko-KR" alt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</a:rPr>
              <a:t>세 능력은 버튼을 늘리기보다 기존 들숨</a:t>
            </a:r>
            <a:r>
              <a:rPr lang="en-US" altLang="ko-KR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</a:t>
            </a:r>
            <a:r>
              <a:rPr lang="ko-KR" alt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참기</a:t>
            </a:r>
            <a:r>
              <a:rPr lang="en-US" altLang="ko-KR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</a:t>
            </a:r>
            <a:r>
              <a:rPr lang="ko-KR" alt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날숨의 결과를 확장한다</a:t>
            </a:r>
            <a:r>
              <a:rPr lang="en-US" altLang="ko-KR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4574786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" y="146304"/>
            <a:ext cx="11887200" cy="656539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713232"/>
            <a:ext cx="11201400" cy="0"/>
          </a:xfrm>
          <a:prstGeom prst="line">
            <a:avLst/>
          </a:prstGeom>
          <a:noFill/>
          <a:ln w="12700">
            <a:solidFill>
              <a:srgbClr val="D7E0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32918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호흡 시스템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1078992"/>
            <a:ext cx="118872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58367" y="1463040"/>
            <a:ext cx="6141443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플레이어가 들이마시기·숨 참기·내쉬기를 직접 조절해 호흡량과 소음을 관리하는 핵심 플레이 시스템.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13232" y="2267712"/>
            <a:ext cx="1325880" cy="329184"/>
          </a:xfrm>
          <a:prstGeom prst="roundRect">
            <a:avLst>
              <a:gd name="adj" fmla="val 27778"/>
            </a:avLst>
          </a:prstGeom>
          <a:solidFill>
            <a:srgbClr val="EAF7EE"/>
          </a:solidFill>
          <a:ln w="7620">
            <a:solidFill>
              <a:srgbClr val="D7E0E8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3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들이마시기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84832" y="2432304"/>
            <a:ext cx="429768" cy="0"/>
          </a:xfrm>
          <a:prstGeom prst="line">
            <a:avLst/>
          </a:prstGeom>
          <a:noFill/>
          <a:ln w="1143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2633472" y="2267712"/>
            <a:ext cx="1325880" cy="329184"/>
          </a:xfrm>
          <a:prstGeom prst="roundRect">
            <a:avLst>
              <a:gd name="adj" fmla="val 27778"/>
            </a:avLst>
          </a:prstGeom>
          <a:solidFill>
            <a:srgbClr val="EAF3FF"/>
          </a:solidFill>
          <a:ln w="7620">
            <a:solidFill>
              <a:srgbClr val="D7E0E8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3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 확보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05072" y="2432304"/>
            <a:ext cx="429768" cy="0"/>
          </a:xfrm>
          <a:prstGeom prst="line">
            <a:avLst/>
          </a:prstGeom>
          <a:noFill/>
          <a:ln w="1143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4553712" y="2267712"/>
            <a:ext cx="1325880" cy="329184"/>
          </a:xfrm>
          <a:prstGeom prst="roundRect">
            <a:avLst>
              <a:gd name="adj" fmla="val 27778"/>
            </a:avLst>
          </a:prstGeom>
          <a:solidFill>
            <a:srgbClr val="F2EDFF"/>
          </a:solidFill>
          <a:ln w="7620">
            <a:solidFill>
              <a:srgbClr val="D7E0E8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3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숨 참기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25312" y="2432304"/>
            <a:ext cx="429768" cy="0"/>
          </a:xfrm>
          <a:prstGeom prst="line">
            <a:avLst/>
          </a:prstGeom>
          <a:noFill/>
          <a:ln w="1143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6473952" y="2267712"/>
            <a:ext cx="1325880" cy="329184"/>
          </a:xfrm>
          <a:prstGeom prst="roundRect">
            <a:avLst>
              <a:gd name="adj" fmla="val 27778"/>
            </a:avLst>
          </a:prstGeom>
          <a:solidFill>
            <a:srgbClr val="FFF6D8"/>
          </a:solidFill>
          <a:ln w="7620">
            <a:solidFill>
              <a:srgbClr val="D7E0E8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3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내쉬기/회복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58368" y="3127248"/>
            <a:ext cx="3383280" cy="987552"/>
          </a:xfrm>
          <a:prstGeom prst="roundRect">
            <a:avLst>
              <a:gd name="adj" fmla="val 7407"/>
            </a:avLst>
          </a:prstGeom>
          <a:solidFill>
            <a:srgbClr val="EAF3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246120"/>
            <a:ext cx="3054096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효과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2960" y="3602736"/>
            <a:ext cx="3054096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 상태가 이동·은신·소음·공기 환경·적 AI의 반응을 연쇄적으로 변화시킨다.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370832" y="3127248"/>
            <a:ext cx="3383280" cy="987552"/>
          </a:xfrm>
          <a:prstGeom prst="roundRect">
            <a:avLst>
              <a:gd name="adj" fmla="val 7407"/>
            </a:avLst>
          </a:prstGeom>
          <a:solidFill>
            <a:srgbClr val="EAF7EE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35424" y="3246120"/>
            <a:ext cx="3054096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재미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35424" y="3602736"/>
            <a:ext cx="3054096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적의 위치, 환경 소음, 이동 거리, 공기 상태를 보고 언제·얼마나·어디서 숨을 쉴지 판단한다.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083296" y="3127248"/>
            <a:ext cx="3383280" cy="987552"/>
          </a:xfrm>
          <a:prstGeom prst="roundRect">
            <a:avLst>
              <a:gd name="adj" fmla="val 7407"/>
            </a:avLst>
          </a:prstGeom>
          <a:solidFill>
            <a:srgbClr val="F2ED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47888" y="3246120"/>
            <a:ext cx="3054096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약속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247888" y="3602736"/>
            <a:ext cx="3054096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호흡은 단순 산소 게이지가 아니라 플레이어가 반복적으로 다루는 행동 시스템이다.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1520" y="5148072"/>
            <a:ext cx="10744200" cy="256032"/>
          </a:xfrm>
          <a:prstGeom prst="rect">
            <a:avLst/>
          </a:prstGeom>
          <a:solidFill>
            <a:srgbClr val="F4F7FA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3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질문: 언제 숨을 쉴 것인가? / 얼마나 들이마실 것인가? / 어디에서 숨을 회복할 것인가?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" y="146304"/>
            <a:ext cx="11887200" cy="656539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713232"/>
            <a:ext cx="11201400" cy="0"/>
          </a:xfrm>
          <a:prstGeom prst="line">
            <a:avLst/>
          </a:prstGeom>
          <a:noFill/>
          <a:ln w="12700">
            <a:solidFill>
              <a:srgbClr val="D7E0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32918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호흡 시스템 플레이 화면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76656" y="6254496"/>
            <a:ext cx="10835640" cy="201168"/>
          </a:xfrm>
          <a:prstGeom prst="rect">
            <a:avLst/>
          </a:prstGeom>
          <a:solidFill>
            <a:srgbClr val="F4F7FA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3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구성: 호흡 게이지 / 소음 표시 / 능력 아이콘 / 공기 환경 / 적 AI 시야 / 상호작용 오브젝트</a:t>
            </a:r>
            <a:endParaRPr lang="en-US" sz="1000" dirty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1672" y="941008"/>
            <a:ext cx="9036464" cy="508571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836" y="794093"/>
            <a:ext cx="5556664" cy="3127285"/>
          </a:xfrm>
          <a:prstGeom prst="rect">
            <a:avLst/>
          </a:prstGeom>
        </p:spPr>
      </p:pic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3381491"/>
              </p:ext>
            </p:extLst>
          </p:nvPr>
        </p:nvGraphicFramePr>
        <p:xfrm>
          <a:off x="6183419" y="794092"/>
          <a:ext cx="5807020" cy="5738042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693436">
                  <a:extLst>
                    <a:ext uri="{9D8B030D-6E8A-4147-A177-3AD203B41FA5}">
                      <a16:colId xmlns:a16="http://schemas.microsoft.com/office/drawing/2014/main" val="2544917600"/>
                    </a:ext>
                  </a:extLst>
                </a:gridCol>
                <a:gridCol w="1193190">
                  <a:extLst>
                    <a:ext uri="{9D8B030D-6E8A-4147-A177-3AD203B41FA5}">
                      <a16:colId xmlns:a16="http://schemas.microsoft.com/office/drawing/2014/main" val="476897612"/>
                    </a:ext>
                  </a:extLst>
                </a:gridCol>
                <a:gridCol w="1014961">
                  <a:extLst>
                    <a:ext uri="{9D8B030D-6E8A-4147-A177-3AD203B41FA5}">
                      <a16:colId xmlns:a16="http://schemas.microsoft.com/office/drawing/2014/main" val="3604146317"/>
                    </a:ext>
                  </a:extLst>
                </a:gridCol>
                <a:gridCol w="1356852">
                  <a:extLst>
                    <a:ext uri="{9D8B030D-6E8A-4147-A177-3AD203B41FA5}">
                      <a16:colId xmlns:a16="http://schemas.microsoft.com/office/drawing/2014/main" val="4273060456"/>
                    </a:ext>
                  </a:extLst>
                </a:gridCol>
                <a:gridCol w="1548581">
                  <a:extLst>
                    <a:ext uri="{9D8B030D-6E8A-4147-A177-3AD203B41FA5}">
                      <a16:colId xmlns:a16="http://schemas.microsoft.com/office/drawing/2014/main" val="4190489508"/>
                    </a:ext>
                  </a:extLst>
                </a:gridCol>
              </a:tblGrid>
              <a:tr h="55688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smtClean="0">
                          <a:solidFill>
                            <a:schemeClr val="bg1"/>
                          </a:solidFill>
                        </a:rPr>
                        <a:t>항목</a:t>
                      </a:r>
                      <a:endParaRPr lang="ko-KR" altLang="en-US" sz="10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5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>
                          <a:solidFill>
                            <a:schemeClr val="bg1"/>
                          </a:solidFill>
                        </a:rPr>
                        <a:t>모션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5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smtClean="0">
                          <a:solidFill>
                            <a:schemeClr val="bg1"/>
                          </a:solidFill>
                        </a:rPr>
                        <a:t>조작 </a:t>
                      </a:r>
                      <a:r>
                        <a:rPr lang="en-US" altLang="ko-KR" sz="1000" smtClean="0">
                          <a:solidFill>
                            <a:schemeClr val="bg1"/>
                          </a:solidFill>
                        </a:rPr>
                        <a:t>/</a:t>
                      </a: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smtClean="0">
                          <a:solidFill>
                            <a:schemeClr val="bg1"/>
                          </a:solidFill>
                        </a:rPr>
                        <a:t>게이지</a:t>
                      </a:r>
                      <a:endParaRPr lang="ko-KR" altLang="en-US" sz="10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5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smtClean="0">
                          <a:solidFill>
                            <a:schemeClr val="bg1"/>
                          </a:solidFill>
                        </a:rPr>
                        <a:t>핵심 규칙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5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smtClean="0">
                          <a:solidFill>
                            <a:schemeClr val="bg1"/>
                          </a:solidFill>
                        </a:rPr>
                        <a:t>플레이 </a:t>
                      </a:r>
                      <a:r>
                        <a:rPr lang="ko-KR" altLang="en-US" sz="1000" dirty="0">
                          <a:solidFill>
                            <a:schemeClr val="bg1"/>
                          </a:solidFill>
                        </a:rPr>
                        <a:t>영향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66970"/>
                  </a:ext>
                </a:extLst>
              </a:tr>
              <a:tr h="129529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smtClean="0"/>
                        <a:t>들이마시기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smtClean="0"/>
                        <a:t>            입력</a:t>
                      </a:r>
                      <a:endParaRPr lang="en-US" altLang="ko-KR" sz="1000" smtClean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1000" smtClean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smtClean="0"/>
                        <a:t>숨 참기 진입을</a:t>
                      </a:r>
                      <a:endParaRPr lang="en-US" altLang="ko-KR" sz="1000" smtClean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smtClean="0"/>
                        <a:t>위한</a:t>
                      </a:r>
                      <a:r>
                        <a:rPr lang="en-US" altLang="ko-KR" sz="1000" baseline="0" smtClean="0"/>
                        <a:t> </a:t>
                      </a:r>
                      <a:r>
                        <a:rPr lang="ko-KR" altLang="en-US" sz="1000" smtClean="0"/>
                        <a:t>선행 행동</a:t>
                      </a:r>
                      <a:endParaRPr lang="ko-KR" altLang="en-US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smtClean="0"/>
                        <a:t>짧은 </a:t>
                      </a:r>
                      <a:r>
                        <a:rPr lang="ko-KR" altLang="en-US" sz="1000" dirty="0"/>
                        <a:t>들숨 </a:t>
                      </a:r>
                      <a:r>
                        <a:rPr lang="ko-KR" altLang="en-US" sz="1000"/>
                        <a:t>소음 </a:t>
                      </a:r>
                      <a:r>
                        <a:rPr lang="ko-KR" altLang="en-US" sz="1000" smtClean="0"/>
                        <a:t>발생</a:t>
                      </a:r>
                      <a:endParaRPr lang="en-US" altLang="ko-KR" sz="1000" smtClean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smtClean="0"/>
                        <a:t>/ </a:t>
                      </a:r>
                      <a:r>
                        <a:rPr lang="ko-KR" altLang="en-US" sz="1000" smtClean="0"/>
                        <a:t>완료 후 숨 참기 가능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0700937"/>
                  </a:ext>
                </a:extLst>
              </a:tr>
              <a:tr h="129528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/>
                        <a:t>숨 참기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smtClean="0"/>
                        <a:t>            유지</a:t>
                      </a:r>
                      <a:endParaRPr lang="en-US" altLang="ko-KR" sz="1000" smtClean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1000" smtClean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smtClean="0"/>
                        <a:t>유지 중 호흡</a:t>
                      </a:r>
                      <a:endParaRPr lang="en-US" altLang="ko-KR" sz="1000" baseline="0" smtClean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smtClean="0"/>
                        <a:t>게이지</a:t>
                      </a:r>
                      <a:r>
                        <a:rPr lang="en-US" altLang="ko-KR" sz="1000" baseline="0" smtClean="0"/>
                        <a:t> </a:t>
                      </a:r>
                      <a:r>
                        <a:rPr lang="ko-KR" altLang="en-US" sz="1000" baseline="0" smtClean="0"/>
                        <a:t>천천히</a:t>
                      </a:r>
                      <a:r>
                        <a:rPr lang="ko-KR" altLang="en-US" sz="1000" smtClean="0"/>
                        <a:t> 감소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smtClean="0"/>
                        <a:t>호흡 </a:t>
                      </a:r>
                      <a:r>
                        <a:rPr lang="ko-KR" altLang="en-US" sz="1000" dirty="0"/>
                        <a:t>소음 억제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2937608"/>
                  </a:ext>
                </a:extLst>
              </a:tr>
              <a:tr h="129528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/>
                        <a:t>내뱉기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smtClean="0"/>
                        <a:t>       </a:t>
                      </a:r>
                      <a:r>
                        <a:rPr lang="ko-KR" altLang="en-US" sz="1000" baseline="0" smtClean="0"/>
                        <a:t> </a:t>
                      </a:r>
                      <a:r>
                        <a:rPr lang="ko-KR" altLang="en-US" sz="1000" smtClean="0"/>
                        <a:t>입력</a:t>
                      </a:r>
                      <a:endParaRPr lang="en-US" altLang="ko-KR" sz="1000" smtClean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1000" smtClean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smtClean="0"/>
                        <a:t>호흡 게이지 완전 소모 후 게이지 회복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smtClean="0"/>
                        <a:t>내쉬는 </a:t>
                      </a:r>
                      <a:r>
                        <a:rPr lang="ko-KR" altLang="en-US" sz="1000" dirty="0"/>
                        <a:t>동안 소음 발생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20317"/>
                  </a:ext>
                </a:extLst>
              </a:tr>
              <a:tr h="129528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/>
                        <a:t>한계</a:t>
                      </a:r>
                      <a:endParaRPr lang="en-US" altLang="ko-KR" sz="1000" b="1" dirty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/>
                        <a:t>도달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/>
                        <a:t>자동 </a:t>
                      </a:r>
                      <a:r>
                        <a:rPr lang="ko-KR" altLang="en-US" sz="1000" smtClean="0"/>
                        <a:t>발생</a:t>
                      </a:r>
                      <a:endParaRPr lang="en-US" altLang="ko-KR" sz="1000" smtClean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1000" smtClean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smtClean="0"/>
                        <a:t>게이지 </a:t>
                      </a:r>
                      <a:r>
                        <a:rPr lang="en-US" altLang="ko-KR" sz="1000" smtClean="0"/>
                        <a:t>0 </a:t>
                      </a:r>
                      <a:r>
                        <a:rPr lang="ko-KR" altLang="en-US" sz="1000" smtClean="0"/>
                        <a:t>도달 시</a:t>
                      </a:r>
                      <a:endParaRPr lang="en-US" altLang="ko-KR" sz="1000" smtClean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smtClean="0"/>
                        <a:t>강제 과호흡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smtClean="0"/>
                        <a:t>큰 </a:t>
                      </a:r>
                      <a:r>
                        <a:rPr lang="ko-KR" altLang="en-US" sz="1000" dirty="0"/>
                        <a:t>소음으로</a:t>
                      </a:r>
                      <a:endParaRPr lang="en-US" altLang="ko-KR" sz="1000" dirty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dirty="0"/>
                        <a:t>적 경계도 상승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3763898"/>
                  </a:ext>
                </a:extLst>
              </a:tr>
            </a:tbl>
          </a:graphicData>
        </a:graphic>
      </p:graphicFrame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84967" b="89565" l="40809" r="45410">
                        <a14:foregroundMark x1="41089" y1="86397" x2="44677" y2="88204"/>
                        <a14:foregroundMark x1="41208" y1="86929" x2="41208" y2="88098"/>
                        <a14:foregroundMark x1="41208" y1="88310" x2="44438" y2="882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0234" t="84392" r="54015" b="9860"/>
          <a:stretch/>
        </p:blipFill>
        <p:spPr>
          <a:xfrm>
            <a:off x="8069420" y="1588033"/>
            <a:ext cx="687211" cy="386556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85760" b="92136" l="65132" r="72010">
                        <a14:foregroundMark x1="65610" y1="86397" x2="67045" y2="88204"/>
                        <a14:foregroundMark x1="65730" y1="88310" x2="66866" y2="88310"/>
                        <a14:foregroundMark x1="67165" y1="86185" x2="67165" y2="88204"/>
                        <a14:foregroundMark x1="72010" y1="92136" x2="72010" y2="9213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837" t="85335" r="32144" b="10322"/>
          <a:stretch/>
        </p:blipFill>
        <p:spPr>
          <a:xfrm>
            <a:off x="8265980" y="4263725"/>
            <a:ext cx="355336" cy="287655"/>
          </a:xfrm>
          <a:prstGeom prst="rect">
            <a:avLst/>
          </a:prstGeom>
        </p:spPr>
      </p:pic>
      <p:graphicFrame>
        <p:nvGraphicFramePr>
          <p:cNvPr id="16" name="표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2292135"/>
              </p:ext>
            </p:extLst>
          </p:nvPr>
        </p:nvGraphicFramePr>
        <p:xfrm>
          <a:off x="348836" y="4057650"/>
          <a:ext cx="5556664" cy="2474483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867168">
                  <a:extLst>
                    <a:ext uri="{9D8B030D-6E8A-4147-A177-3AD203B41FA5}">
                      <a16:colId xmlns:a16="http://schemas.microsoft.com/office/drawing/2014/main" val="2544917600"/>
                    </a:ext>
                  </a:extLst>
                </a:gridCol>
                <a:gridCol w="2715061">
                  <a:extLst>
                    <a:ext uri="{9D8B030D-6E8A-4147-A177-3AD203B41FA5}">
                      <a16:colId xmlns:a16="http://schemas.microsoft.com/office/drawing/2014/main" val="476897612"/>
                    </a:ext>
                  </a:extLst>
                </a:gridCol>
                <a:gridCol w="1974435">
                  <a:extLst>
                    <a:ext uri="{9D8B030D-6E8A-4147-A177-3AD203B41FA5}">
                      <a16:colId xmlns:a16="http://schemas.microsoft.com/office/drawing/2014/main" val="4273060456"/>
                    </a:ext>
                  </a:extLst>
                </a:gridCol>
              </a:tblGrid>
              <a:tr h="45293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500">
                          <a:solidFill>
                            <a:schemeClr val="bg1"/>
                          </a:solidFill>
                        </a:rPr>
                        <a:t>항목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5A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500">
                          <a:solidFill>
                            <a:schemeClr val="bg1"/>
                          </a:solidFill>
                        </a:rPr>
                        <a:t>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5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4613229"/>
                  </a:ext>
                </a:extLst>
              </a:tr>
              <a:tr h="506638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/>
                        <a:t>한계 도달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/>
                        <a:t>화면 </a:t>
                      </a:r>
                      <a:r>
                        <a:rPr lang="ko-KR" altLang="en-US" sz="1000" smtClean="0"/>
                        <a:t>연출</a:t>
                      </a:r>
                      <a:endParaRPr lang="ko-KR" altLang="en-US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766970"/>
                  </a:ext>
                </a:extLst>
              </a:tr>
              <a:tr h="151491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smtClean="0"/>
                        <a:t>화면 적색 경고 </a:t>
                      </a:r>
                      <a:r>
                        <a:rPr lang="en-US" altLang="ko-KR" sz="1000" smtClean="0"/>
                        <a:t>/</a:t>
                      </a: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smtClean="0"/>
                        <a:t>캐릭터 과호흡 연출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0700937"/>
                  </a:ext>
                </a:extLst>
              </a:tr>
            </a:tbl>
          </a:graphicData>
        </a:graphic>
      </p:graphicFrame>
      <p:pic>
        <p:nvPicPr>
          <p:cNvPr id="18" name="그림 1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6614" y="3295215"/>
            <a:ext cx="825255" cy="287655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6613" y="4595114"/>
            <a:ext cx="825255" cy="287655"/>
          </a:xfrm>
          <a:prstGeom prst="rect">
            <a:avLst/>
          </a:prstGeom>
        </p:spPr>
      </p:pic>
      <p:pic>
        <p:nvPicPr>
          <p:cNvPr id="21" name="그림 20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6615" y="1999614"/>
            <a:ext cx="825255" cy="283357"/>
          </a:xfrm>
          <a:prstGeom prst="rect">
            <a:avLst/>
          </a:prstGeom>
        </p:spPr>
      </p:pic>
      <p:pic>
        <p:nvPicPr>
          <p:cNvPr id="22" name="그림 21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9995" y="2783854"/>
            <a:ext cx="792224" cy="989927"/>
          </a:xfrm>
          <a:prstGeom prst="rect">
            <a:avLst/>
          </a:prstGeom>
        </p:spPr>
      </p:pic>
      <p:pic>
        <p:nvPicPr>
          <p:cNvPr id="23" name="그림 22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4496" y="1517162"/>
            <a:ext cx="1083223" cy="989927"/>
          </a:xfrm>
          <a:prstGeom prst="rect">
            <a:avLst/>
          </a:prstGeom>
        </p:spPr>
      </p:pic>
      <p:pic>
        <p:nvPicPr>
          <p:cNvPr id="24" name="그림 23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9995" y="4089232"/>
            <a:ext cx="792224" cy="989927"/>
          </a:xfrm>
          <a:prstGeom prst="rect">
            <a:avLst/>
          </a:prstGeom>
        </p:spPr>
      </p:pic>
      <p:sp>
        <p:nvSpPr>
          <p:cNvPr id="17" name="Text 3"/>
          <p:cNvSpPr/>
          <p:nvPr/>
        </p:nvSpPr>
        <p:spPr>
          <a:xfrm>
            <a:off x="530352" y="32918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000" b="1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구성</a:t>
            </a:r>
            <a:r>
              <a:rPr lang="en-US" altLang="ko-KR" sz="2000" b="1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2000" b="1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요소</a:t>
            </a:r>
            <a:endParaRPr lang="en-US" sz="2000" dirty="0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13427E35-80C1-4829-9280-2EFAB9AF7604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5685" y="5900860"/>
            <a:ext cx="777164" cy="266845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1143" y="5394610"/>
            <a:ext cx="989927" cy="989927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579" y="5027295"/>
            <a:ext cx="2696746" cy="1505158"/>
          </a:xfrm>
          <a:prstGeom prst="rect">
            <a:avLst/>
          </a:prstGeom>
        </p:spPr>
      </p:pic>
      <p:pic>
        <p:nvPicPr>
          <p:cNvPr id="28" name="그림 27"/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84967" b="89565" l="40809" r="45410">
                        <a14:foregroundMark x1="41089" y1="86397" x2="44677" y2="88204"/>
                        <a14:foregroundMark x1="41208" y1="86929" x2="41208" y2="88098"/>
                        <a14:foregroundMark x1="41208" y1="88310" x2="44438" y2="882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0234" t="84392" r="54015" b="9860"/>
          <a:stretch/>
        </p:blipFill>
        <p:spPr>
          <a:xfrm>
            <a:off x="8069420" y="2899869"/>
            <a:ext cx="687211" cy="386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4124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5051103"/>
              </p:ext>
            </p:extLst>
          </p:nvPr>
        </p:nvGraphicFramePr>
        <p:xfrm>
          <a:off x="1276349" y="1022901"/>
          <a:ext cx="9638245" cy="5384172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927655">
                  <a:extLst>
                    <a:ext uri="{9D8B030D-6E8A-4147-A177-3AD203B41FA5}">
                      <a16:colId xmlns:a16="http://schemas.microsoft.com/office/drawing/2014/main" val="2544917600"/>
                    </a:ext>
                  </a:extLst>
                </a:gridCol>
                <a:gridCol w="1451765">
                  <a:extLst>
                    <a:ext uri="{9D8B030D-6E8A-4147-A177-3AD203B41FA5}">
                      <a16:colId xmlns:a16="http://schemas.microsoft.com/office/drawing/2014/main" val="476897612"/>
                    </a:ext>
                  </a:extLst>
                </a:gridCol>
                <a:gridCol w="1451765">
                  <a:extLst>
                    <a:ext uri="{9D8B030D-6E8A-4147-A177-3AD203B41FA5}">
                      <a16:colId xmlns:a16="http://schemas.microsoft.com/office/drawing/2014/main" val="3513873851"/>
                    </a:ext>
                  </a:extLst>
                </a:gridCol>
                <a:gridCol w="1451765">
                  <a:extLst>
                    <a:ext uri="{9D8B030D-6E8A-4147-A177-3AD203B41FA5}">
                      <a16:colId xmlns:a16="http://schemas.microsoft.com/office/drawing/2014/main" val="1955176012"/>
                    </a:ext>
                  </a:extLst>
                </a:gridCol>
                <a:gridCol w="1451765">
                  <a:extLst>
                    <a:ext uri="{9D8B030D-6E8A-4147-A177-3AD203B41FA5}">
                      <a16:colId xmlns:a16="http://schemas.microsoft.com/office/drawing/2014/main" val="4098507408"/>
                    </a:ext>
                  </a:extLst>
                </a:gridCol>
                <a:gridCol w="1451765">
                  <a:extLst>
                    <a:ext uri="{9D8B030D-6E8A-4147-A177-3AD203B41FA5}">
                      <a16:colId xmlns:a16="http://schemas.microsoft.com/office/drawing/2014/main" val="3657270368"/>
                    </a:ext>
                  </a:extLst>
                </a:gridCol>
                <a:gridCol w="1451765">
                  <a:extLst>
                    <a:ext uri="{9D8B030D-6E8A-4147-A177-3AD203B41FA5}">
                      <a16:colId xmlns:a16="http://schemas.microsoft.com/office/drawing/2014/main" val="3797739251"/>
                    </a:ext>
                  </a:extLst>
                </a:gridCol>
              </a:tblGrid>
              <a:tr h="53490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>
                          <a:solidFill>
                            <a:schemeClr val="bg1"/>
                          </a:solidFill>
                        </a:rPr>
                        <a:t>항목</a:t>
                      </a:r>
                    </a:p>
                  </a:txBody>
                  <a:tcPr marL="80959" marR="80959" marT="40479" marB="404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5A"/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300">
                          <a:solidFill>
                            <a:schemeClr val="bg1"/>
                          </a:solidFill>
                        </a:rPr>
                        <a:t>내용</a:t>
                      </a:r>
                    </a:p>
                  </a:txBody>
                  <a:tcPr marL="80959" marR="80959" marT="40479" marB="404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5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4613229"/>
                  </a:ext>
                </a:extLst>
              </a:tr>
              <a:tr h="433133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900"/>
                        <a:t>들이마시기</a:t>
                      </a:r>
                    </a:p>
                  </a:txBody>
                  <a:tcPr marL="80959" marR="80959" marT="40479" marB="404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900"/>
                        <a:t>흡인</a:t>
                      </a:r>
                    </a:p>
                  </a:txBody>
                  <a:tcPr marL="80959" marR="80959" marT="40479" marB="404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/>
                        <a:t>흡음</a:t>
                      </a:r>
                    </a:p>
                  </a:txBody>
                  <a:tcPr marL="80959" marR="80959" marT="40479" marB="404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/>
                        <a:t>흡기도약</a:t>
                      </a:r>
                    </a:p>
                  </a:txBody>
                  <a:tcPr marL="80959" marR="80959" marT="40479" marB="404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766970"/>
                  </a:ext>
                </a:extLst>
              </a:tr>
              <a:tr h="110475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/>
                    </a:p>
                  </a:txBody>
                  <a:tcPr marL="80959" marR="80959" marT="40479" marB="404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/>
                    </a:p>
                  </a:txBody>
                  <a:tcPr marL="80959" marR="80959" marT="40479" marB="404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/>
                    </a:p>
                  </a:txBody>
                  <a:tcPr marL="80959" marR="80959" marT="40479" marB="404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/>
                    </a:p>
                  </a:txBody>
                  <a:tcPr marL="80959" marR="80959" marT="40479" marB="404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/>
                    </a:p>
                  </a:txBody>
                  <a:tcPr marL="80959" marR="80959" marT="40479" marB="404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/>
                    </a:p>
                  </a:txBody>
                  <a:tcPr marL="80959" marR="80959" marT="40479" marB="404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3395711"/>
                  </a:ext>
                </a:extLst>
              </a:tr>
              <a:tr h="460718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900"/>
                        <a:t>숨 참기</a:t>
                      </a:r>
                    </a:p>
                  </a:txBody>
                  <a:tcPr marL="80959" marR="80959" marT="40479" marB="404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900"/>
                        <a:t>기척 소거</a:t>
                      </a:r>
                    </a:p>
                  </a:txBody>
                  <a:tcPr marL="80959" marR="80959" marT="40479" marB="404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900"/>
                        <a:t>공중 부유</a:t>
                      </a:r>
                    </a:p>
                  </a:txBody>
                  <a:tcPr marL="80959" marR="80959" marT="40479" marB="404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900"/>
                        <a:t>시간 정지</a:t>
                      </a:r>
                    </a:p>
                  </a:txBody>
                  <a:tcPr marL="80959" marR="80959" marT="40479" marB="404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984948"/>
                  </a:ext>
                </a:extLst>
              </a:tr>
              <a:tr h="117155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/>
                    </a:p>
                  </a:txBody>
                  <a:tcPr marL="80959" marR="80959" marT="40479" marB="404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/>
                    </a:p>
                  </a:txBody>
                  <a:tcPr marL="80959" marR="80959" marT="40479" marB="404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 marL="80959" marR="80959" marT="40479" marB="404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 marL="80959" marR="80959" marT="40479" marB="404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 marL="80959" marR="80959" marT="40479" marB="404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 marL="80959" marR="80959" marT="40479" marB="404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2937608"/>
                  </a:ext>
                </a:extLst>
              </a:tr>
              <a:tr h="50755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900"/>
                        <a:t>내쉬기</a:t>
                      </a:r>
                    </a:p>
                  </a:txBody>
                  <a:tcPr marL="80959" marR="80959" marT="40479" marB="404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900"/>
                        <a:t>공명</a:t>
                      </a:r>
                    </a:p>
                  </a:txBody>
                  <a:tcPr marL="80959" marR="80959" marT="40479" marB="404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900"/>
                        <a:t>잔기</a:t>
                      </a:r>
                    </a:p>
                  </a:txBody>
                  <a:tcPr marL="80959" marR="80959" marT="40479" marB="404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 marL="80959" marR="80959" marT="40479" marB="404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7161141"/>
                  </a:ext>
                </a:extLst>
              </a:tr>
              <a:tr h="117155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/>
                    </a:p>
                  </a:txBody>
                  <a:tcPr marL="80959" marR="80959" marT="40479" marB="404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/>
                    </a:p>
                  </a:txBody>
                  <a:tcPr marL="80959" marR="80959" marT="40479" marB="404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 marL="80959" marR="80959" marT="40479" marB="404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 marL="80959" marR="80959" marT="40479" marB="404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 marL="80959" marR="80959" marT="40479" marB="404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020317"/>
                  </a:ext>
                </a:extLst>
              </a:tr>
            </a:tbl>
          </a:graphicData>
        </a:graphic>
      </p:graphicFrame>
      <p:pic>
        <p:nvPicPr>
          <p:cNvPr id="44" name="그림 4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751" t="3110" r="22375" b="79758"/>
          <a:stretch/>
        </p:blipFill>
        <p:spPr>
          <a:xfrm>
            <a:off x="7052734" y="2096209"/>
            <a:ext cx="504825" cy="828676"/>
          </a:xfrm>
          <a:prstGeom prst="rect">
            <a:avLst/>
          </a:prstGeom>
        </p:spPr>
      </p:pic>
      <p:pic>
        <p:nvPicPr>
          <p:cNvPr id="45" name="그림 4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622" t="3110" r="15504" b="79758"/>
          <a:stretch/>
        </p:blipFill>
        <p:spPr>
          <a:xfrm>
            <a:off x="4147611" y="5409965"/>
            <a:ext cx="504825" cy="828676"/>
          </a:xfrm>
          <a:prstGeom prst="rect">
            <a:avLst/>
          </a:prstGeom>
        </p:spPr>
      </p:pic>
      <p:pic>
        <p:nvPicPr>
          <p:cNvPr id="46" name="그림 4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493" t="3110" r="8633" b="79758"/>
          <a:stretch/>
        </p:blipFill>
        <p:spPr>
          <a:xfrm>
            <a:off x="7052735" y="5409965"/>
            <a:ext cx="504825" cy="828676"/>
          </a:xfrm>
          <a:prstGeom prst="rect">
            <a:avLst/>
          </a:prstGeom>
        </p:spPr>
      </p:pic>
      <p:pic>
        <p:nvPicPr>
          <p:cNvPr id="47" name="그림 4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364" t="3110" r="1762" b="79758"/>
          <a:stretch/>
        </p:blipFill>
        <p:spPr>
          <a:xfrm>
            <a:off x="7052735" y="3714987"/>
            <a:ext cx="504825" cy="828676"/>
          </a:xfrm>
          <a:prstGeom prst="rect">
            <a:avLst/>
          </a:prstGeom>
        </p:spPr>
      </p:pic>
      <p:pic>
        <p:nvPicPr>
          <p:cNvPr id="48" name="그림 4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8" t="15319" r="70376" b="71340"/>
          <a:stretch/>
        </p:blipFill>
        <p:spPr>
          <a:xfrm>
            <a:off x="3906839" y="3941685"/>
            <a:ext cx="931862" cy="243838"/>
          </a:xfrm>
          <a:prstGeom prst="rect">
            <a:avLst/>
          </a:prstGeom>
        </p:spPr>
      </p:pic>
      <p:sp>
        <p:nvSpPr>
          <p:cNvPr id="49" name="Text 3"/>
          <p:cNvSpPr/>
          <p:nvPr/>
        </p:nvSpPr>
        <p:spPr>
          <a:xfrm>
            <a:off x="530352" y="32918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000" b="1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강화 호흡 화면 구성 요소</a:t>
            </a:r>
            <a:endParaRPr lang="en-US" sz="20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0022" y="2096209"/>
            <a:ext cx="724878" cy="905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7666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" y="146304"/>
            <a:ext cx="11887200" cy="656539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713232"/>
            <a:ext cx="11201400" cy="0"/>
          </a:xfrm>
          <a:prstGeom prst="line">
            <a:avLst/>
          </a:prstGeom>
          <a:noFill/>
          <a:ln w="12700">
            <a:solidFill>
              <a:srgbClr val="D7E0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6446520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호흡 시스템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30352" y="32918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1.1 시스템 볼륨 맵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669280" y="2926080"/>
            <a:ext cx="749808" cy="749808"/>
          </a:xfrm>
          <a:prstGeom prst="ellipse">
            <a:avLst/>
          </a:prstGeom>
          <a:solidFill>
            <a:srgbClr val="073B5A"/>
          </a:solidFill>
          <a:ln w="8890">
            <a:solidFill>
              <a:srgbClr val="D7E0E8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434840" y="1078992"/>
            <a:ext cx="530352" cy="530352"/>
          </a:xfrm>
          <a:prstGeom prst="ellipse">
            <a:avLst/>
          </a:prstGeom>
          <a:solidFill>
            <a:srgbClr val="EAF7EE"/>
          </a:solidFill>
          <a:ln w="8890">
            <a:solidFill>
              <a:srgbClr val="D7E0E8"/>
            </a:solidFill>
          </a:ln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3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들이마시기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623560" y="960120"/>
            <a:ext cx="530352" cy="530352"/>
          </a:xfrm>
          <a:prstGeom prst="ellipse">
            <a:avLst/>
          </a:prstGeom>
          <a:solidFill>
            <a:srgbClr val="F2EDFF"/>
          </a:solidFill>
          <a:ln w="8890">
            <a:solidFill>
              <a:srgbClr val="D7E0E8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3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숨 참기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12280" y="1078992"/>
            <a:ext cx="530352" cy="530352"/>
          </a:xfrm>
          <a:prstGeom prst="ellipse">
            <a:avLst/>
          </a:prstGeom>
          <a:solidFill>
            <a:srgbClr val="FFF6D8"/>
          </a:solidFill>
          <a:ln w="8890">
            <a:solidFill>
              <a:srgbClr val="D7E0E8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3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내쉬기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182112" y="2359152"/>
            <a:ext cx="566928" cy="566928"/>
          </a:xfrm>
          <a:prstGeom prst="ellipse">
            <a:avLst/>
          </a:prstGeom>
          <a:solidFill>
            <a:srgbClr val="EAF3FF"/>
          </a:solidFill>
          <a:ln w="8890">
            <a:solidFill>
              <a:srgbClr val="D7E0E8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3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 게이지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182112" y="4041648"/>
            <a:ext cx="566928" cy="566928"/>
          </a:xfrm>
          <a:prstGeom prst="ellipse">
            <a:avLst/>
          </a:prstGeom>
          <a:solidFill>
            <a:srgbClr val="FFF0E6"/>
          </a:solidFill>
          <a:ln w="8890">
            <a:solidFill>
              <a:srgbClr val="D7E0E8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3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 부채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50992" y="4892040"/>
            <a:ext cx="512064" cy="512064"/>
          </a:xfrm>
          <a:prstGeom prst="ellipse">
            <a:avLst/>
          </a:prstGeom>
          <a:solidFill>
            <a:srgbClr val="FDECEC"/>
          </a:solidFill>
          <a:ln w="8890">
            <a:solidFill>
              <a:srgbClr val="D7E0E8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3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소음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234440" y="2084832"/>
            <a:ext cx="502920" cy="502920"/>
          </a:xfrm>
          <a:prstGeom prst="ellipse">
            <a:avLst/>
          </a:prstGeom>
          <a:solidFill>
            <a:srgbClr val="F4F7FA"/>
          </a:solidFill>
          <a:ln w="8890">
            <a:solidFill>
              <a:srgbClr val="D7E0E8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3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이동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234440" y="3246120"/>
            <a:ext cx="502920" cy="502920"/>
          </a:xfrm>
          <a:prstGeom prst="ellipse">
            <a:avLst/>
          </a:prstGeom>
          <a:solidFill>
            <a:srgbClr val="F4F7FA"/>
          </a:solidFill>
          <a:ln w="8890">
            <a:solidFill>
              <a:srgbClr val="D7E0E8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3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은신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234440" y="4407408"/>
            <a:ext cx="502920" cy="502920"/>
          </a:xfrm>
          <a:prstGeom prst="ellipse">
            <a:avLst/>
          </a:prstGeom>
          <a:solidFill>
            <a:srgbClr val="F4F7FA"/>
          </a:solidFill>
          <a:ln w="8890">
            <a:solidFill>
              <a:srgbClr val="D7E0E8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3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 AI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352544" y="5623560"/>
            <a:ext cx="548640" cy="548640"/>
          </a:xfrm>
          <a:prstGeom prst="ellipse">
            <a:avLst/>
          </a:prstGeom>
          <a:solidFill>
            <a:srgbClr val="E7FAF8"/>
          </a:solidFill>
          <a:ln w="8890">
            <a:solidFill>
              <a:srgbClr val="D7E0E8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3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 소음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458200" y="1078992"/>
            <a:ext cx="548640" cy="548640"/>
          </a:xfrm>
          <a:prstGeom prst="ellipse">
            <a:avLst/>
          </a:prstGeom>
          <a:solidFill>
            <a:srgbClr val="E7FAF8"/>
          </a:solidFill>
          <a:ln w="8890">
            <a:solidFill>
              <a:srgbClr val="D7E0E8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3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공기 환경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838944" y="2240280"/>
            <a:ext cx="502920" cy="502920"/>
          </a:xfrm>
          <a:prstGeom prst="ellipse">
            <a:avLst/>
          </a:prstGeom>
          <a:solidFill>
            <a:srgbClr val="FDECEC"/>
          </a:solidFill>
          <a:ln w="8890">
            <a:solidFill>
              <a:srgbClr val="D7E0E8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3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재채기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838944" y="3685032"/>
            <a:ext cx="502920" cy="502920"/>
          </a:xfrm>
          <a:prstGeom prst="ellipse">
            <a:avLst/>
          </a:prstGeom>
          <a:solidFill>
            <a:srgbClr val="EAF7EE"/>
          </a:solidFill>
          <a:ln w="8890">
            <a:solidFill>
              <a:srgbClr val="D7E0E8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3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장비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458200" y="5230368"/>
            <a:ext cx="548640" cy="548640"/>
          </a:xfrm>
          <a:prstGeom prst="ellipse">
            <a:avLst/>
          </a:prstGeom>
          <a:solidFill>
            <a:srgbClr val="F2EDFF"/>
          </a:solidFill>
          <a:ln w="8890">
            <a:solidFill>
              <a:srgbClr val="D7E0E8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3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특수 능력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5800" y="6236208"/>
            <a:ext cx="10835640" cy="201168"/>
          </a:xfrm>
          <a:prstGeom prst="rect">
            <a:avLst/>
          </a:prstGeom>
          <a:solidFill>
            <a:srgbClr val="F4F7FA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3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핵심: 호흡 → 소음 → 적 AI처럼 단선으로 끝나지 않고, 이동·환경·능력이 다시 호흡 조건을 바꾼다.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" y="146304"/>
            <a:ext cx="11887200" cy="656539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713232"/>
            <a:ext cx="11201400" cy="0"/>
          </a:xfrm>
          <a:prstGeom prst="line">
            <a:avLst/>
          </a:prstGeom>
          <a:noFill/>
          <a:ln w="12700">
            <a:solidFill>
              <a:srgbClr val="D7E0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6446520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호흡 시스템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30352" y="32918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1.2 핵심 순환 구조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EAF7EE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536192"/>
            <a:ext cx="2185416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70000" lnSpcReduction="2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필요한 만큼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073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들이마심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96112" y="1892808"/>
            <a:ext cx="218541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호흡량 확보 / 환경 공기 흡입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794760" y="141732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F2ED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59352" y="1536192"/>
            <a:ext cx="2185416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숨을 참음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959352" y="1892808"/>
            <a:ext cx="218541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소음 억제 / 호흡 게이지 감소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858000" y="141732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EAF3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22592" y="1536192"/>
            <a:ext cx="2185416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행동 수행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022592" y="1892808"/>
            <a:ext cx="218541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이동·은신·능력 사용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58000" y="379476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FFF0E6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22592" y="3913632"/>
            <a:ext cx="2185416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부채 누적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022592" y="4270248"/>
            <a:ext cx="218541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긴장·격한 행동으로 회복 부담 증가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794760" y="379476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FFF6D8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59352" y="3913632"/>
            <a:ext cx="2185416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내쉬기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959352" y="4270248"/>
            <a:ext cx="218541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 회복 / 소음 발생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" y="379476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F4F7FA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6112" y="3913632"/>
            <a:ext cx="2185416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다시 판단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96112" y="4270248"/>
            <a:ext cx="218541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 AI·환경 소음·공기 상태 확인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73552" y="1892808"/>
            <a:ext cx="475488" cy="0"/>
          </a:xfrm>
          <a:prstGeom prst="line">
            <a:avLst/>
          </a:prstGeom>
          <a:noFill/>
          <a:ln w="1397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336792" y="1892808"/>
            <a:ext cx="475488" cy="0"/>
          </a:xfrm>
          <a:prstGeom prst="line">
            <a:avLst/>
          </a:prstGeom>
          <a:noFill/>
          <a:ln w="1397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400032" y="1892808"/>
            <a:ext cx="0" cy="2377440"/>
          </a:xfrm>
          <a:prstGeom prst="line">
            <a:avLst/>
          </a:prstGeom>
          <a:noFill/>
          <a:ln w="1397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400032" y="4270248"/>
            <a:ext cx="0" cy="0"/>
          </a:xfrm>
          <a:prstGeom prst="line">
            <a:avLst/>
          </a:prstGeom>
          <a:noFill/>
          <a:ln w="1397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336792" y="4270248"/>
            <a:ext cx="0" cy="0"/>
          </a:xfrm>
          <a:prstGeom prst="line">
            <a:avLst/>
          </a:prstGeom>
          <a:noFill/>
          <a:ln w="1397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3273552" y="4270248"/>
            <a:ext cx="0" cy="0"/>
          </a:xfrm>
          <a:prstGeom prst="line">
            <a:avLst/>
          </a:prstGeom>
          <a:noFill/>
          <a:ln w="1397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777240" y="6108192"/>
            <a:ext cx="10652760" cy="219456"/>
          </a:xfrm>
          <a:prstGeom prst="rect">
            <a:avLst/>
          </a:prstGeom>
          <a:solidFill>
            <a:srgbClr val="EAF3FF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3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 의도: 숨을 끝까지 참는 플레이보다, 한계 전에 일부 회복하고 다시 숨기는 판단이 숙련 플레이가 된다.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" y="146304"/>
            <a:ext cx="11887200" cy="656539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713232"/>
            <a:ext cx="11201400" cy="0"/>
          </a:xfrm>
          <a:prstGeom prst="line">
            <a:avLst/>
          </a:prstGeom>
          <a:noFill/>
          <a:ln w="12700">
            <a:solidFill>
              <a:srgbClr val="D7E0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6446520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시스템 규칙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30352" y="32918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시스템 규칙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85800" y="1078992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EAF3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197864"/>
            <a:ext cx="4791456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RULE 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50392" y="1554480"/>
            <a:ext cx="479145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호흡량은 플레이어가 직접 조절한다.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172200" y="1078992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EAF7EE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36792" y="1197864"/>
            <a:ext cx="4791456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RULE 02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336792" y="1554480"/>
            <a:ext cx="479145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숨 참기는 확보한 호흡을 소비한다.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85800" y="2496312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EAF3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2615184"/>
            <a:ext cx="4791456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RULE 03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50392" y="2971800"/>
            <a:ext cx="479145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내쉬기는 필요한 만큼만 회복할 수 있다.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72200" y="2496312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EAF7EE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36792" y="2615184"/>
            <a:ext cx="4791456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RULE 04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36792" y="2971800"/>
            <a:ext cx="479145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한계를 넘으면 강제 호흡이 발생한다.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5800" y="3913632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EAF3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392" y="4032504"/>
            <a:ext cx="4791456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RULE 05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50392" y="4389120"/>
            <a:ext cx="479145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 결과는 소음으로 월드에 전달된다.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72200" y="3913632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EAF7EE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36792" y="4032504"/>
            <a:ext cx="4791456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RULE 06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336792" y="4389120"/>
            <a:ext cx="479145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입력도 시작 상태에 따라 다른 결과가 된다.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1520" y="6080760"/>
            <a:ext cx="10744200" cy="237744"/>
          </a:xfrm>
          <a:prstGeom prst="rect">
            <a:avLst/>
          </a:prstGeom>
          <a:solidFill>
            <a:srgbClr val="F4F7FA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3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 페이지는 정상 처리 순서를 설명하고, 예외사항 페이지는 규칙끼리 충돌할 때 우선순위를 정의한다.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" y="146304"/>
            <a:ext cx="11887200" cy="656539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713232"/>
            <a:ext cx="11201400" cy="0"/>
          </a:xfrm>
          <a:prstGeom prst="line">
            <a:avLst/>
          </a:prstGeom>
          <a:noFill/>
          <a:ln w="12700">
            <a:solidFill>
              <a:srgbClr val="D7E0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6446520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시스템 규칙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30352" y="32918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3.1 기본 호흡 규칙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1207008"/>
            <a:ext cx="3246120" cy="2743200"/>
          </a:xfrm>
          <a:prstGeom prst="roundRect">
            <a:avLst>
              <a:gd name="adj" fmla="val 2667"/>
            </a:avLst>
          </a:prstGeom>
          <a:solidFill>
            <a:srgbClr val="EAF7EE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325880"/>
            <a:ext cx="2916936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들이마시기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96112" y="1682496"/>
            <a:ext cx="2916936" cy="21671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 게이지 충전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 시간만큼 확보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깊은 들숨일수록 준비 시간 증가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주변 공기를 함께 흡입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480560" y="1207008"/>
            <a:ext cx="3246120" cy="2743200"/>
          </a:xfrm>
          <a:prstGeom prst="roundRect">
            <a:avLst>
              <a:gd name="adj" fmla="val 2667"/>
            </a:avLst>
          </a:prstGeom>
          <a:solidFill>
            <a:srgbClr val="F2ED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45152" y="1325880"/>
            <a:ext cx="2916936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숨 참기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45152" y="1682496"/>
            <a:ext cx="2916936" cy="21671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 게이지 소비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 소음 억제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이동·격한 행동에 따라 소비량 변화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 도달 시 강제 해제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229600" y="1207008"/>
            <a:ext cx="3246120" cy="2743200"/>
          </a:xfrm>
          <a:prstGeom prst="roundRect">
            <a:avLst>
              <a:gd name="adj" fmla="val 2667"/>
            </a:avLst>
          </a:prstGeom>
          <a:solidFill>
            <a:srgbClr val="FFF6D8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94192" y="1325880"/>
            <a:ext cx="2916936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내쉬기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394192" y="1682496"/>
            <a:ext cx="2916936" cy="21671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 상태 회복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참은 정도에 따라 소음 발생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회복 도중 다시 숨 참기 가능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 소음으로 은폐 가능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68680" y="4892040"/>
            <a:ext cx="10378440" cy="384048"/>
          </a:xfrm>
          <a:prstGeom prst="rect">
            <a:avLst/>
          </a:prstGeom>
          <a:solidFill>
            <a:srgbClr val="F4F7FA"/>
          </a:solidFill>
          <a:ln w="10160">
            <a:solidFill>
              <a:srgbClr val="D7E0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73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필요한 만큼 들이마신다 → 필요한 순간만 참는다 → 안전한 순간에 필요한 만큼 회복한다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68680" y="5577840"/>
            <a:ext cx="10378440" cy="237744"/>
          </a:xfrm>
          <a:prstGeom prst="rect">
            <a:avLst/>
          </a:prstGeom>
          <a:solidFill>
            <a:srgbClr val="FDECEC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금지 규칙: 한 번 들이마시면 끝까지 채워야 하거나, 한 번 내쉬면 완전히 회복될 때까지 멈출 수 없는 구조로 만들지 않는다.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" y="146304"/>
            <a:ext cx="11887200" cy="656539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713232"/>
            <a:ext cx="11201400" cy="0"/>
          </a:xfrm>
          <a:prstGeom prst="line">
            <a:avLst/>
          </a:prstGeom>
          <a:noFill/>
          <a:ln w="12700">
            <a:solidFill>
              <a:srgbClr val="D7E0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6446520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시스템 규칙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30352" y="32918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3.2 호흡 게이지 / 한계 규칙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1078992"/>
            <a:ext cx="2011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73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 게이지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22960" y="1444752"/>
            <a:ext cx="10424160" cy="256032"/>
          </a:xfrm>
          <a:prstGeom prst="rect">
            <a:avLst/>
          </a:prstGeom>
          <a:solidFill>
            <a:srgbClr val="EEF2F7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444752"/>
            <a:ext cx="7955280" cy="256032"/>
          </a:xfrm>
          <a:prstGeom prst="rect">
            <a:avLst/>
          </a:prstGeom>
          <a:solidFill>
            <a:srgbClr val="70D7E8"/>
          </a:solidFill>
          <a:ln w="10160">
            <a:solidFill>
              <a:srgbClr val="70D7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755648"/>
            <a:ext cx="10058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고갈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136392" y="1755648"/>
            <a:ext cx="10058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한계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68112" y="1755648"/>
            <a:ext cx="10058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99832" y="1755648"/>
            <a:ext cx="10058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131552" y="1755648"/>
            <a:ext cx="10058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안정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22960" y="2240280"/>
            <a:ext cx="10424160" cy="2148840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2240280"/>
            <a:ext cx="2501798" cy="310896"/>
          </a:xfrm>
          <a:prstGeom prst="rect">
            <a:avLst/>
          </a:prstGeom>
          <a:solidFill>
            <a:srgbClr val="073B5A"/>
          </a:solidFill>
          <a:ln w="7620">
            <a:solidFill>
              <a:srgbClr val="073B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9536" y="2304288"/>
            <a:ext cx="242864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324758" y="2240280"/>
            <a:ext cx="2293315" cy="310896"/>
          </a:xfrm>
          <a:prstGeom prst="rect">
            <a:avLst/>
          </a:prstGeom>
          <a:solidFill>
            <a:srgbClr val="073B5A"/>
          </a:solidFill>
          <a:ln w="7620">
            <a:solidFill>
              <a:srgbClr val="073B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61334" y="2304288"/>
            <a:ext cx="2220163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범위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618074" y="2240280"/>
            <a:ext cx="5629046" cy="310896"/>
          </a:xfrm>
          <a:prstGeom prst="rect">
            <a:avLst/>
          </a:prstGeom>
          <a:solidFill>
            <a:srgbClr val="073B5A"/>
          </a:solidFill>
          <a:ln w="7620">
            <a:solidFill>
              <a:srgbClr val="073B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54650" y="2304288"/>
            <a:ext cx="555589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22960" y="2551176"/>
            <a:ext cx="2501798" cy="367589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7824" y="2606040"/>
            <a:ext cx="2392070" cy="27614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안정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324758" y="2551176"/>
            <a:ext cx="2293315" cy="367589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79622" y="2606040"/>
            <a:ext cx="2183587" cy="27614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76~100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618074" y="2551176"/>
            <a:ext cx="5629046" cy="367589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72938" y="2606040"/>
            <a:ext cx="5519318" cy="27614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정상 조작 가능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22960" y="2918765"/>
            <a:ext cx="2501798" cy="367589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77824" y="2973629"/>
            <a:ext cx="2392070" cy="27614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324758" y="2918765"/>
            <a:ext cx="2293315" cy="367589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79622" y="2973629"/>
            <a:ext cx="2183587" cy="27614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51~75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618074" y="2918765"/>
            <a:ext cx="5629046" cy="367589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72938" y="2973629"/>
            <a:ext cx="5519318" cy="27614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 압박 연출 약함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22960" y="3286354"/>
            <a:ext cx="2501798" cy="367589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77824" y="3341218"/>
            <a:ext cx="2392070" cy="27614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324758" y="3286354"/>
            <a:ext cx="2293315" cy="367589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79622" y="3341218"/>
            <a:ext cx="2183587" cy="27614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26~50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618074" y="3286354"/>
            <a:ext cx="5629046" cy="367589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72938" y="3341218"/>
            <a:ext cx="5519318" cy="27614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UI/캐릭터 피드백 강화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22960" y="3653942"/>
            <a:ext cx="2501798" cy="367589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77824" y="3708806"/>
            <a:ext cx="2392070" cy="27614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한계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324758" y="3653942"/>
            <a:ext cx="2293315" cy="367589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79622" y="3708806"/>
            <a:ext cx="2183587" cy="27614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1~25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618074" y="3653942"/>
            <a:ext cx="5629046" cy="367589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72938" y="3708806"/>
            <a:ext cx="5519318" cy="27614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강제 호흡 직전 경고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22960" y="4021531"/>
            <a:ext cx="2501798" cy="367589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77824" y="4076395"/>
            <a:ext cx="2392070" cy="27614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고갈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324758" y="4021531"/>
            <a:ext cx="2293315" cy="367589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379622" y="4076395"/>
            <a:ext cx="2183587" cy="27614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618074" y="4021531"/>
            <a:ext cx="5629046" cy="367589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672938" y="4076395"/>
            <a:ext cx="5519318" cy="27614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강제 호흡 / 재입력 잠금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822960" y="4882896"/>
            <a:ext cx="5029200" cy="91440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87552" y="5001768"/>
            <a:ext cx="4700016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강제 호흡 규칙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987552" y="5358384"/>
            <a:ext cx="4700016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 게이지가 0에 도달하면 플레이어 입력보다 시스템 규칙을 우선해 숨 참기를 강제로 종료한다. 큰 소음이 발생하며 짧은 시간 다시 숨을 참을 수 없다.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217920" y="4882896"/>
            <a:ext cx="5029200" cy="914400"/>
          </a:xfrm>
          <a:prstGeom prst="roundRect">
            <a:avLst>
              <a:gd name="adj" fmla="val 8000"/>
            </a:avLst>
          </a:prstGeom>
          <a:solidFill>
            <a:srgbClr val="EAF7EE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82512" y="5001768"/>
            <a:ext cx="4700016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부분 회복 규칙</a:t>
            </a:r>
            <a:endParaRPr lang="en-US" sz="1500" dirty="0"/>
          </a:p>
        </p:txBody>
      </p:sp>
      <p:sp>
        <p:nvSpPr>
          <p:cNvPr id="56" name="Text 54"/>
          <p:cNvSpPr/>
          <p:nvPr/>
        </p:nvSpPr>
        <p:spPr>
          <a:xfrm>
            <a:off x="6382512" y="5358384"/>
            <a:ext cx="4700016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숨을 풀면 회복이 시작되지만, 플레이어는 100%까지 기다리지 않고 필요한 지점에서 다시 숨을 참을 수 있다.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" y="146304"/>
            <a:ext cx="11887200" cy="656539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713232"/>
            <a:ext cx="11201400" cy="0"/>
          </a:xfrm>
          <a:prstGeom prst="line">
            <a:avLst/>
          </a:prstGeom>
          <a:noFill/>
          <a:ln w="12700">
            <a:solidFill>
              <a:srgbClr val="D7E0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6446520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시스템 규칙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30352" y="32918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3.3 들이마시기 규칙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EAF7EE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170432"/>
            <a:ext cx="4791456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분할 들숨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96112" y="1527048"/>
            <a:ext cx="479145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 시간에 비례해 원하는 만큼만 호흡 게이지를 채운다.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217920" y="1051560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EAF3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82512" y="1170432"/>
            <a:ext cx="4791456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깊은 들숨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382512" y="1527048"/>
            <a:ext cx="479145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호흡량은 늘어나지만 이동 준비가 느려지고 들숨 소음이 증가한다.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2468880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EAF7EE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2587752"/>
            <a:ext cx="4791456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비상 호흡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96112" y="2944368"/>
            <a:ext cx="479145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숨 참기 중 1회 작은 기척을 감수하고 짧게 호흡을 보충한다.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2468880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EAF3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82512" y="2587752"/>
            <a:ext cx="4791456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흡인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82512" y="2944368"/>
            <a:ext cx="479145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은신 중 가벼운 물체를 끌어와 탐색·퍼즐에 활용한다.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3886200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EAF7EE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" y="4005072"/>
            <a:ext cx="4791456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흡음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96112" y="4361688"/>
            <a:ext cx="479145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폭발 등 큰 소음을 빨아들여 몸 안에 저장하고 다른 장소에서 방출한다.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17920" y="3886200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EAF3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82512" y="4005072"/>
            <a:ext cx="4791456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흡기 도약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382512" y="4361688"/>
            <a:ext cx="479145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점프 직전 들이마시는 중이면 더 긴 수평 도약이 가능하다.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2960" y="6071616"/>
            <a:ext cx="10515600" cy="237744"/>
          </a:xfrm>
          <a:prstGeom prst="rect">
            <a:avLst/>
          </a:prstGeom>
          <a:solidFill>
            <a:srgbClr val="F4F7FA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3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원칙: 들이마시기는 현재 행동을 즉시 강하게 만드는 버프가 아니라, 다음 행동을 위한 준비 자원이다.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" y="146304"/>
            <a:ext cx="11887200" cy="656539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713232"/>
            <a:ext cx="11201400" cy="0"/>
          </a:xfrm>
          <a:prstGeom prst="line">
            <a:avLst/>
          </a:prstGeom>
          <a:noFill/>
          <a:ln w="12700">
            <a:solidFill>
              <a:srgbClr val="D7E0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6446520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시스템 규칙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30352" y="32918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3.4 숨 참기 규칙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1078992"/>
            <a:ext cx="3337560" cy="1097280"/>
          </a:xfrm>
          <a:prstGeom prst="roundRect">
            <a:avLst>
              <a:gd name="adj" fmla="val 6667"/>
            </a:avLst>
          </a:prstGeom>
          <a:solidFill>
            <a:srgbClr val="F2ED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197864"/>
            <a:ext cx="3008376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효과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96112" y="1554480"/>
            <a:ext cx="3008376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숨 참기 동안 호흡 소음을 제거한다. 단, 발소리·충돌음·물체 상호작용음은 별도로 남는다.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407408" y="1078992"/>
            <a:ext cx="3337560" cy="1097280"/>
          </a:xfrm>
          <a:prstGeom prst="roundRect">
            <a:avLst>
              <a:gd name="adj" fmla="val 6667"/>
            </a:avLst>
          </a:prstGeom>
          <a:solidFill>
            <a:srgbClr val="EAF3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197864"/>
            <a:ext cx="3008376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기척 소거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0" y="1554480"/>
            <a:ext cx="3008376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능력 획득 후 숨을 참는 동안 몸이 투명해진다. 시각 탐지는 피하지만 청각·흔적 탐지는 남는다.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083296" y="1078992"/>
            <a:ext cx="3337560" cy="1097280"/>
          </a:xfrm>
          <a:prstGeom prst="roundRect">
            <a:avLst>
              <a:gd name="adj" fmla="val 6667"/>
            </a:avLst>
          </a:prstGeom>
          <a:solidFill>
            <a:srgbClr val="FFF6D8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7888" y="1197864"/>
            <a:ext cx="3008376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 정지 계열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47888" y="1554480"/>
            <a:ext cx="3008376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최후반 능력. 숨을 극도로 억제해 짧은 시간 세계의 움직임을 멈춘다. 호흡 소모가 매우 크다.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2960" y="2816352"/>
            <a:ext cx="228600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시작 상태 판정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965960" y="3520440"/>
            <a:ext cx="1051560" cy="0"/>
          </a:xfrm>
          <a:prstGeom prst="line">
            <a:avLst/>
          </a:prstGeom>
          <a:noFill/>
          <a:ln w="15240">
            <a:solidFill>
              <a:srgbClr val="073B5A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977640" y="3520440"/>
            <a:ext cx="1005840" cy="0"/>
          </a:xfrm>
          <a:prstGeom prst="line">
            <a:avLst/>
          </a:prstGeom>
          <a:noFill/>
          <a:ln w="15240">
            <a:solidFill>
              <a:srgbClr val="073B5A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657600" y="3886200"/>
            <a:ext cx="0" cy="850392"/>
          </a:xfrm>
          <a:prstGeom prst="line">
            <a:avLst/>
          </a:prstGeom>
          <a:noFill/>
          <a:ln w="15240">
            <a:solidFill>
              <a:srgbClr val="073B5A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841248" y="3246120"/>
            <a:ext cx="1417320" cy="548640"/>
          </a:xfrm>
          <a:prstGeom prst="flowChartProcess">
            <a:avLst/>
          </a:prstGeom>
          <a:solidFill>
            <a:srgbClr val="F2EDFF"/>
          </a:solidFill>
          <a:ln w="13970">
            <a:solidFill>
              <a:srgbClr val="073B5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숨 참기 입력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971800" y="3154680"/>
            <a:ext cx="1234440" cy="713232"/>
          </a:xfrm>
          <a:prstGeom prst="flowChartDecision">
            <a:avLst/>
          </a:prstGeom>
          <a:solidFill>
            <a:srgbClr val="FFF0E6"/>
          </a:solidFill>
          <a:ln w="13970">
            <a:solidFill>
              <a:srgbClr val="B45309"/>
            </a:solidFill>
          </a:ln>
        </p:spPr>
        <p:txBody>
          <a:bodyPr wrap="square" lIns="635" tIns="635" rIns="635" bIns="635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발이 땅에서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떨어졌는가?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83480" y="3246120"/>
            <a:ext cx="1417320" cy="548640"/>
          </a:xfrm>
          <a:prstGeom prst="flowChartProcess">
            <a:avLst/>
          </a:prstGeom>
          <a:solidFill>
            <a:srgbClr val="EAF3FF"/>
          </a:solidFill>
          <a:ln w="13970">
            <a:solidFill>
              <a:srgbClr val="073B5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공중 부유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971800" y="4736592"/>
            <a:ext cx="1371600" cy="548640"/>
          </a:xfrm>
          <a:prstGeom prst="flowChartProcess">
            <a:avLst/>
          </a:prstGeom>
          <a:solidFill>
            <a:srgbClr val="F2EDFF"/>
          </a:solidFill>
          <a:ln w="13970">
            <a:solidFill>
              <a:srgbClr val="073B5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 숨 참기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720840" y="3273552"/>
            <a:ext cx="4315968" cy="457200"/>
          </a:xfrm>
          <a:prstGeom prst="rect">
            <a:avLst/>
          </a:prstGeom>
          <a:solidFill>
            <a:srgbClr val="F4F7FA"/>
          </a:solidFill>
          <a:ln w="10160">
            <a:solidFill>
              <a:srgbClr val="D7E0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3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숨 참기 입력도 시작 순간의 지상/공중 상태에 따라 결과가 달라진다.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720840" y="3931920"/>
            <a:ext cx="4315968" cy="658368"/>
          </a:xfrm>
          <a:prstGeom prst="rect">
            <a:avLst/>
          </a:prstGeom>
          <a:solidFill>
            <a:srgbClr val="EAF3FF"/>
          </a:solidFill>
          <a:ln w="10160">
            <a:solidFill>
              <a:srgbClr val="D7E0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공중 부유는 숨 참기를 시작한 순간 공중 상태였을 때만 발동하며, 이후 점프해서는 발동하지 않는다.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" y="146304"/>
            <a:ext cx="11887200" cy="656539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713232"/>
            <a:ext cx="11201400" cy="0"/>
          </a:xfrm>
          <a:prstGeom prst="line">
            <a:avLst/>
          </a:prstGeom>
          <a:noFill/>
          <a:ln w="12700">
            <a:solidFill>
              <a:srgbClr val="D7E0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6446520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시스템 규칙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30352" y="32918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3.5 내쉬기 / 공명 규칙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1078992"/>
            <a:ext cx="3383280" cy="1078992"/>
          </a:xfrm>
          <a:prstGeom prst="roundRect">
            <a:avLst>
              <a:gd name="adj" fmla="val 6780"/>
            </a:avLst>
          </a:prstGeom>
          <a:solidFill>
            <a:srgbClr val="FFF6D8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197864"/>
            <a:ext cx="3054096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분할 날숨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96112" y="1554480"/>
            <a:ext cx="3054096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 입력 시간에 따라 원하는 만큼만 회복한다. 짧게 회복하고 바로 다시 숨을 참을 수 있다.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89120" y="1078992"/>
            <a:ext cx="3383280" cy="1078992"/>
          </a:xfrm>
          <a:prstGeom prst="roundRect">
            <a:avLst>
              <a:gd name="adj" fmla="val 6780"/>
            </a:avLst>
          </a:prstGeom>
          <a:solidFill>
            <a:srgbClr val="FFF0E6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53712" y="1197864"/>
            <a:ext cx="3054096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거친 호흡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53712" y="1554480"/>
            <a:ext cx="3054096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오래 참거나 격한 행동을 한 뒤 내쉬면 단계별 소음이 발생한다.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046720" y="1078992"/>
            <a:ext cx="3383280" cy="1078992"/>
          </a:xfrm>
          <a:prstGeom prst="roundRect">
            <a:avLst>
              <a:gd name="adj" fmla="val 6780"/>
            </a:avLst>
          </a:prstGeom>
          <a:solidFill>
            <a:srgbClr val="E7FAF8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11312" y="1197864"/>
            <a:ext cx="3054096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 소음 은폐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11312" y="1554480"/>
            <a:ext cx="3054096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기계음·폭발·경보 등 큰 환경 소리와 겹치면 호흡 소음 탐지 반경이 감소한다.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2743200"/>
            <a:ext cx="3383280" cy="1207008"/>
          </a:xfrm>
          <a:prstGeom prst="roundRect">
            <a:avLst>
              <a:gd name="adj" fmla="val 6061"/>
            </a:avLst>
          </a:prstGeom>
          <a:solidFill>
            <a:srgbClr val="EAF7EE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" y="2862072"/>
            <a:ext cx="3054096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공명 호흡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96112" y="3218688"/>
            <a:ext cx="3054096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강하게 내쉬면 먼지·천·종이·유리 표면 등이 반응해 숨은 글자나 적 위치를 추론할 수 있다.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389120" y="2743200"/>
            <a:ext cx="3383280" cy="1207008"/>
          </a:xfrm>
          <a:prstGeom prst="roundRect">
            <a:avLst>
              <a:gd name="adj" fmla="val 6061"/>
            </a:avLst>
          </a:prstGeom>
          <a:solidFill>
            <a:srgbClr val="F2ED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53712" y="2862072"/>
            <a:ext cx="3054096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잔기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53712" y="3218688"/>
            <a:ext cx="3054096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날숨으로 기척을 남겨 감지형 적이 해당 위치를 플레이어로 오인하게 만든다.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046720" y="2743200"/>
            <a:ext cx="3383280" cy="1207008"/>
          </a:xfrm>
          <a:prstGeom prst="roundRect">
            <a:avLst>
              <a:gd name="adj" fmla="val 6061"/>
            </a:avLst>
          </a:prstGeom>
          <a:solidFill>
            <a:srgbClr val="FDECE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11312" y="2862072"/>
            <a:ext cx="3054096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소음 방출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211312" y="3218688"/>
            <a:ext cx="3054096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흡음으로 저장한 소음은 안전한 장소에서 내보내야 다음 호흡 행동을 정상 사용 가능하다.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2960" y="5925312"/>
            <a:ext cx="10515600" cy="237744"/>
          </a:xfrm>
          <a:prstGeom prst="rect">
            <a:avLst/>
          </a:prstGeom>
          <a:solidFill>
            <a:srgbClr val="F4F7FA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3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내쉬기의 성격: 회복 → 방출 → 공명 → 기만으로 확장된다.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" y="146304"/>
            <a:ext cx="11887200" cy="656539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713232"/>
            <a:ext cx="11201400" cy="0"/>
          </a:xfrm>
          <a:prstGeom prst="line">
            <a:avLst/>
          </a:prstGeom>
          <a:noFill/>
          <a:ln w="12700">
            <a:solidFill>
              <a:srgbClr val="D7E0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6446520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시스템 규칙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30352" y="32918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3.6 이동 연동 규칙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" y="1042416"/>
            <a:ext cx="5486400" cy="2194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042416"/>
            <a:ext cx="877824" cy="310896"/>
          </a:xfrm>
          <a:prstGeom prst="rect">
            <a:avLst/>
          </a:prstGeom>
          <a:solidFill>
            <a:srgbClr val="073B5A"/>
          </a:solidFill>
          <a:ln w="7620">
            <a:solidFill>
              <a:srgbClr val="073B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1106424"/>
            <a:ext cx="80467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행동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700784" y="1042416"/>
            <a:ext cx="1536192" cy="310896"/>
          </a:xfrm>
          <a:prstGeom prst="rect">
            <a:avLst/>
          </a:prstGeom>
          <a:solidFill>
            <a:srgbClr val="073B5A"/>
          </a:solidFill>
          <a:ln w="7620">
            <a:solidFill>
              <a:srgbClr val="073B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37360" y="1106424"/>
            <a:ext cx="14630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 소비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36976" y="1042416"/>
            <a:ext cx="1371600" cy="310896"/>
          </a:xfrm>
          <a:prstGeom prst="rect">
            <a:avLst/>
          </a:prstGeom>
          <a:solidFill>
            <a:srgbClr val="073B5A"/>
          </a:solidFill>
          <a:ln w="7620">
            <a:solidFill>
              <a:srgbClr val="073B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73552" y="1106424"/>
            <a:ext cx="129844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발소리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08576" y="1042416"/>
            <a:ext cx="1700784" cy="310896"/>
          </a:xfrm>
          <a:prstGeom prst="rect">
            <a:avLst/>
          </a:prstGeom>
          <a:solidFill>
            <a:srgbClr val="073B5A"/>
          </a:solidFill>
          <a:ln w="7620">
            <a:solidFill>
              <a:srgbClr val="073B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45152" y="1106424"/>
            <a:ext cx="162763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사용처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22960" y="1353312"/>
            <a:ext cx="877824" cy="470916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7824" y="1408176"/>
            <a:ext cx="768096" cy="3794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걷기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700784" y="1353312"/>
            <a:ext cx="1536192" cy="470916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55648" y="1408176"/>
            <a:ext cx="1426464" cy="3794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낮음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36976" y="1353312"/>
            <a:ext cx="1371600" cy="470916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1408176"/>
            <a:ext cx="1261872" cy="3794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보통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08576" y="1353312"/>
            <a:ext cx="1700784" cy="470916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1408176"/>
            <a:ext cx="1591056" cy="3794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이동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22960" y="1824228"/>
            <a:ext cx="877824" cy="470916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77824" y="1879092"/>
            <a:ext cx="768096" cy="3794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기어가기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700784" y="1824228"/>
            <a:ext cx="1536192" cy="470916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755648" y="1879092"/>
            <a:ext cx="1426464" cy="3794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낮음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36976" y="1824228"/>
            <a:ext cx="1371600" cy="470916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91840" y="1879092"/>
            <a:ext cx="1261872" cy="3794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낮음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08576" y="1824228"/>
            <a:ext cx="1700784" cy="470916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1879092"/>
            <a:ext cx="1591056" cy="3794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은신 안정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22960" y="2295144"/>
            <a:ext cx="877824" cy="470916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77824" y="2350008"/>
            <a:ext cx="768096" cy="3794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달리기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700784" y="2295144"/>
            <a:ext cx="1536192" cy="470916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755648" y="2350008"/>
            <a:ext cx="1426464" cy="3794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높음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36976" y="2295144"/>
            <a:ext cx="1371600" cy="470916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1840" y="2350008"/>
            <a:ext cx="1261872" cy="3794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높음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08576" y="2295144"/>
            <a:ext cx="1700784" cy="470916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63440" y="2350008"/>
            <a:ext cx="1591056" cy="3794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빠른 이동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22960" y="2766060"/>
            <a:ext cx="877824" cy="470916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77824" y="2820924"/>
            <a:ext cx="768096" cy="3794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전력질주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1700784" y="2766060"/>
            <a:ext cx="1536192" cy="470916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755648" y="2820924"/>
            <a:ext cx="1426464" cy="3794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매우 높음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236976" y="2766060"/>
            <a:ext cx="1371600" cy="470916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91840" y="2820924"/>
            <a:ext cx="1261872" cy="3794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매우 높음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608576" y="2766060"/>
            <a:ext cx="1700784" cy="470916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663440" y="2820924"/>
            <a:ext cx="1591056" cy="3794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 돌파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720840" y="1042416"/>
            <a:ext cx="4526280" cy="1051560"/>
          </a:xfrm>
          <a:prstGeom prst="roundRect">
            <a:avLst>
              <a:gd name="adj" fmla="val 6957"/>
            </a:avLst>
          </a:prstGeom>
          <a:solidFill>
            <a:srgbClr val="EAF7EE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885432" y="1161288"/>
            <a:ext cx="4197096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흡기 도약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6885432" y="1517904"/>
            <a:ext cx="4197096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점프 시작 시 들이마시는 중이면 일반 점프보다 수평 이동 거리가 증가한다. 준비 시간이 필요해 즉발 회피용으로는 부적합하다.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720840" y="2377440"/>
            <a:ext cx="4526280" cy="1051560"/>
          </a:xfrm>
          <a:prstGeom prst="roundRect">
            <a:avLst>
              <a:gd name="adj" fmla="val 6957"/>
            </a:avLst>
          </a:prstGeom>
          <a:solidFill>
            <a:srgbClr val="EAF3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85432" y="2496312"/>
            <a:ext cx="4197096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공중 부유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6885432" y="2852928"/>
            <a:ext cx="4197096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숨 참기 시작 시 공중 상태라면 호흡 게이지가 남아있는 동안 높이를 유지한다. 게이지가 0이면 즉시 낙하한다.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822960" y="3840480"/>
            <a:ext cx="5349240" cy="1097280"/>
          </a:xfrm>
          <a:prstGeom prst="roundRect">
            <a:avLst>
              <a:gd name="adj" fmla="val 6667"/>
            </a:avLst>
          </a:prstGeom>
          <a:solidFill>
            <a:srgbClr val="FFF0E6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87552" y="3959352"/>
            <a:ext cx="5020056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이동-은신 순환</a:t>
            </a:r>
            <a:endParaRPr lang="en-US" sz="1500" dirty="0"/>
          </a:p>
        </p:txBody>
      </p:sp>
      <p:sp>
        <p:nvSpPr>
          <p:cNvPr id="55" name="Text 53"/>
          <p:cNvSpPr/>
          <p:nvPr/>
        </p:nvSpPr>
        <p:spPr>
          <a:xfrm>
            <a:off x="987552" y="4315968"/>
            <a:ext cx="5020056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달리기는 빠르지만 호흡 부채와 발소리를 동시에 증가시켜 다음 은신 구간을 어렵게 만든다.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355080" y="3840480"/>
            <a:ext cx="4892040" cy="1097280"/>
          </a:xfrm>
          <a:prstGeom prst="roundRect">
            <a:avLst>
              <a:gd name="adj" fmla="val 6667"/>
            </a:avLst>
          </a:prstGeom>
          <a:solidFill>
            <a:srgbClr val="F2ED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519672" y="3959352"/>
            <a:ext cx="4562856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디자인 의도</a:t>
            </a:r>
            <a:endParaRPr lang="en-US" sz="1500" dirty="0"/>
          </a:p>
        </p:txBody>
      </p:sp>
      <p:sp>
        <p:nvSpPr>
          <p:cNvPr id="58" name="Text 56"/>
          <p:cNvSpPr/>
          <p:nvPr/>
        </p:nvSpPr>
        <p:spPr>
          <a:xfrm>
            <a:off x="6519672" y="4315968"/>
            <a:ext cx="4562856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호흡만 잘 관리하면 끝나는 게임이 아니라 걷기·뛰기·기어가기 선택까지 함께 판단하게 한다.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" y="146304"/>
            <a:ext cx="11887200" cy="656539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713232"/>
            <a:ext cx="11201400" cy="0"/>
          </a:xfrm>
          <a:prstGeom prst="line">
            <a:avLst/>
          </a:prstGeom>
          <a:noFill/>
          <a:ln w="12700">
            <a:solidFill>
              <a:srgbClr val="D7E0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6446520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시스템 규칙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30352" y="32918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3.7 소음 / 적 AI 규칙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1417320"/>
            <a:ext cx="1325880" cy="530352"/>
          </a:xfrm>
          <a:prstGeom prst="flowChartProcess">
            <a:avLst/>
          </a:prstGeom>
          <a:solidFill>
            <a:srgbClr val="EAF7EE"/>
          </a:solidFill>
          <a:ln w="13970">
            <a:solidFill>
              <a:srgbClr val="073B5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미탐지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40280" y="1682496"/>
            <a:ext cx="612648" cy="0"/>
          </a:xfrm>
          <a:prstGeom prst="line">
            <a:avLst/>
          </a:prstGeom>
          <a:noFill/>
          <a:ln w="1397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3017520" y="1417320"/>
            <a:ext cx="1325880" cy="530352"/>
          </a:xfrm>
          <a:prstGeom prst="flowChartProcess">
            <a:avLst/>
          </a:prstGeom>
          <a:solidFill>
            <a:srgbClr val="FFF6D8"/>
          </a:solidFill>
          <a:ln w="13970">
            <a:solidFill>
              <a:srgbClr val="073B5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소음 감지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89120" y="1682496"/>
            <a:ext cx="612648" cy="0"/>
          </a:xfrm>
          <a:prstGeom prst="line">
            <a:avLst/>
          </a:prstGeom>
          <a:noFill/>
          <a:ln w="1397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5166360" y="1417320"/>
            <a:ext cx="1325880" cy="530352"/>
          </a:xfrm>
          <a:prstGeom prst="flowChartDecision">
            <a:avLst/>
          </a:prstGeom>
          <a:solidFill>
            <a:srgbClr val="FFF0E6"/>
          </a:solidFill>
          <a:ln w="13970">
            <a:solidFill>
              <a:srgbClr val="073B5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의심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537960" y="1682496"/>
            <a:ext cx="612648" cy="0"/>
          </a:xfrm>
          <a:prstGeom prst="line">
            <a:avLst/>
          </a:prstGeom>
          <a:noFill/>
          <a:ln w="1397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7315200" y="1417320"/>
            <a:ext cx="1325880" cy="530352"/>
          </a:xfrm>
          <a:prstGeom prst="flowChartProcess">
            <a:avLst/>
          </a:prstGeom>
          <a:solidFill>
            <a:srgbClr val="EAF3FF"/>
          </a:solidFill>
          <a:ln w="13970">
            <a:solidFill>
              <a:srgbClr val="073B5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위치 조사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686800" y="1682496"/>
            <a:ext cx="612648" cy="0"/>
          </a:xfrm>
          <a:prstGeom prst="line">
            <a:avLst/>
          </a:prstGeom>
          <a:noFill/>
          <a:ln w="1397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9464040" y="1417320"/>
            <a:ext cx="1325880" cy="530352"/>
          </a:xfrm>
          <a:prstGeom prst="flowChartProcess">
            <a:avLst/>
          </a:prstGeom>
          <a:solidFill>
            <a:srgbClr val="FDECEC"/>
          </a:solidFill>
          <a:ln w="13970">
            <a:solidFill>
              <a:srgbClr val="073B5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발견/추격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22960" y="2514600"/>
            <a:ext cx="10424160" cy="2148840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2514600"/>
            <a:ext cx="2501798" cy="310896"/>
          </a:xfrm>
          <a:prstGeom prst="rect">
            <a:avLst/>
          </a:prstGeom>
          <a:solidFill>
            <a:srgbClr val="073B5A"/>
          </a:solidFill>
          <a:ln w="7620">
            <a:solidFill>
              <a:srgbClr val="073B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9536" y="2578608"/>
            <a:ext cx="242864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소음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324758" y="2514600"/>
            <a:ext cx="2293315" cy="310896"/>
          </a:xfrm>
          <a:prstGeom prst="rect">
            <a:avLst/>
          </a:prstGeom>
          <a:solidFill>
            <a:srgbClr val="073B5A"/>
          </a:solidFill>
          <a:ln w="7620">
            <a:solidFill>
              <a:srgbClr val="073B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61334" y="2578608"/>
            <a:ext cx="2220163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예시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618074" y="2514600"/>
            <a:ext cx="5629046" cy="310896"/>
          </a:xfrm>
          <a:prstGeom prst="rect">
            <a:avLst/>
          </a:prstGeom>
          <a:solidFill>
            <a:srgbClr val="073B5A"/>
          </a:solidFill>
          <a:ln w="7620">
            <a:solidFill>
              <a:srgbClr val="073B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54650" y="2578608"/>
            <a:ext cx="555589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영향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22960" y="2825496"/>
            <a:ext cx="2501798" cy="367589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7824" y="2880360"/>
            <a:ext cx="2392070" cy="27614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매우 작음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24758" y="2825496"/>
            <a:ext cx="2293315" cy="367589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79622" y="2880360"/>
            <a:ext cx="2183587" cy="27614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짧은 들숨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618074" y="2825496"/>
            <a:ext cx="5629046" cy="367589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72938" y="2880360"/>
            <a:ext cx="5519318" cy="27614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근거리 의심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22960" y="3193085"/>
            <a:ext cx="2501798" cy="367589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77824" y="3247949"/>
            <a:ext cx="2392070" cy="27614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작음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324758" y="3193085"/>
            <a:ext cx="2293315" cy="367589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79622" y="3247949"/>
            <a:ext cx="2183587" cy="27614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조절 날숨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618074" y="3193085"/>
            <a:ext cx="5629046" cy="367589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72938" y="3247949"/>
            <a:ext cx="5519318" cy="27614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낮은 의심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22960" y="3560674"/>
            <a:ext cx="2501798" cy="367589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77824" y="3615538"/>
            <a:ext cx="2392070" cy="27614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보통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324758" y="3560674"/>
            <a:ext cx="2293315" cy="367589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79622" y="3615538"/>
            <a:ext cx="2183587" cy="27614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달리기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618074" y="3560674"/>
            <a:ext cx="5629046" cy="367589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72938" y="3615538"/>
            <a:ext cx="5519318" cy="27614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주변 조사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22960" y="3928262"/>
            <a:ext cx="2501798" cy="367589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77824" y="3983126"/>
            <a:ext cx="2392070" cy="27614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큼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324758" y="3928262"/>
            <a:ext cx="2293315" cy="367589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79622" y="3983126"/>
            <a:ext cx="2183587" cy="27614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거친 호흡/재채기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618074" y="3928262"/>
            <a:ext cx="5629046" cy="367589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672938" y="3983126"/>
            <a:ext cx="5519318" cy="27614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높은 의심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22960" y="4295851"/>
            <a:ext cx="2501798" cy="367589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77824" y="4350715"/>
            <a:ext cx="2392070" cy="27614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매우 큼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324758" y="4295851"/>
            <a:ext cx="2293315" cy="367589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379622" y="4350715"/>
            <a:ext cx="2183587" cy="27614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폭발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618074" y="4295851"/>
            <a:ext cx="5629046" cy="367589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672938" y="4350715"/>
            <a:ext cx="5519318" cy="27614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광범위 반응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822960" y="5102352"/>
            <a:ext cx="5074920" cy="841248"/>
          </a:xfrm>
          <a:prstGeom prst="roundRect">
            <a:avLst>
              <a:gd name="adj" fmla="val 8696"/>
            </a:avLst>
          </a:prstGeom>
          <a:solidFill>
            <a:srgbClr val="EAF3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87552" y="5221224"/>
            <a:ext cx="4745736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어그로 해소 규칙</a:t>
            </a:r>
            <a:endParaRPr lang="en-US" sz="1500" dirty="0"/>
          </a:p>
        </p:txBody>
      </p:sp>
      <p:sp>
        <p:nvSpPr>
          <p:cNvPr id="54" name="Text 52"/>
          <p:cNvSpPr/>
          <p:nvPr/>
        </p:nvSpPr>
        <p:spPr>
          <a:xfrm>
            <a:off x="987552" y="5577840"/>
            <a:ext cx="4745736" cy="2651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플레이어가 거친 호흡으로 의심을 만들었더라도 다시 숨을 참아 추가 기척을 제거하면 시간이 지나며 의심이 감소한다.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172200" y="5102352"/>
            <a:ext cx="5074920" cy="841248"/>
          </a:xfrm>
          <a:prstGeom prst="roundRect">
            <a:avLst>
              <a:gd name="adj" fmla="val 8696"/>
            </a:avLst>
          </a:prstGeom>
          <a:solidFill>
            <a:srgbClr val="F2ED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36792" y="5221224"/>
            <a:ext cx="4745736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흡음 연동</a:t>
            </a:r>
            <a:endParaRPr lang="en-US" sz="1500" dirty="0"/>
          </a:p>
        </p:txBody>
      </p:sp>
      <p:sp>
        <p:nvSpPr>
          <p:cNvPr id="57" name="Text 55"/>
          <p:cNvSpPr/>
          <p:nvPr/>
        </p:nvSpPr>
        <p:spPr>
          <a:xfrm>
            <a:off x="6336792" y="5577840"/>
            <a:ext cx="4745736" cy="2651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흡음은 큰 소리를 삭제하지 않고 플레이어 몸 안에 저장한다. 저장 중에는 호흡 행동을 잠가 위험을 미래로 이동시킨다.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" y="146304"/>
            <a:ext cx="11887200" cy="656539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713232"/>
            <a:ext cx="11201400" cy="0"/>
          </a:xfrm>
          <a:prstGeom prst="line">
            <a:avLst/>
          </a:prstGeom>
          <a:noFill/>
          <a:ln w="12700">
            <a:solidFill>
              <a:srgbClr val="D7E0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6446520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시스템 규칙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30352" y="32918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3.8 공기 환경 / 재채기 규칙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" y="1051560"/>
            <a:ext cx="5623560" cy="2743200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051560"/>
            <a:ext cx="1349654" cy="310896"/>
          </a:xfrm>
          <a:prstGeom prst="rect">
            <a:avLst/>
          </a:prstGeom>
          <a:solidFill>
            <a:srgbClr val="073B5A"/>
          </a:solidFill>
          <a:ln w="7620">
            <a:solidFill>
              <a:srgbClr val="073B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1115568"/>
            <a:ext cx="127650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72614" y="1051560"/>
            <a:ext cx="1237183" cy="310896"/>
          </a:xfrm>
          <a:prstGeom prst="rect">
            <a:avLst/>
          </a:prstGeom>
          <a:solidFill>
            <a:srgbClr val="073B5A"/>
          </a:solidFill>
          <a:ln w="7620">
            <a:solidFill>
              <a:srgbClr val="073B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09190" y="1115568"/>
            <a:ext cx="1164031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들이마시기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09798" y="1051560"/>
            <a:ext cx="3036722" cy="310896"/>
          </a:xfrm>
          <a:prstGeom prst="rect">
            <a:avLst/>
          </a:prstGeom>
          <a:solidFill>
            <a:srgbClr val="073B5A"/>
          </a:solidFill>
          <a:ln w="7620">
            <a:solidFill>
              <a:srgbClr val="073B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46374" y="1115568"/>
            <a:ext cx="296357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22960" y="1362456"/>
            <a:ext cx="1349654" cy="405384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" y="1417320"/>
            <a:ext cx="1239926" cy="313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깨끗한 공기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172614" y="1362456"/>
            <a:ext cx="1237183" cy="405384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27478" y="1417320"/>
            <a:ext cx="1127455" cy="313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정상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409798" y="1362456"/>
            <a:ext cx="3036722" cy="405384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64662" y="1417320"/>
            <a:ext cx="2926994" cy="313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22960" y="1767840"/>
            <a:ext cx="1349654" cy="405384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7824" y="1822704"/>
            <a:ext cx="1239926" cy="313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먼지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172614" y="1767840"/>
            <a:ext cx="1237183" cy="405384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27478" y="1822704"/>
            <a:ext cx="1127455" cy="313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 한계 감소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409798" y="1767840"/>
            <a:ext cx="3036722" cy="405384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64662" y="1822704"/>
            <a:ext cx="2926994" cy="313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기침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22960" y="2173224"/>
            <a:ext cx="1349654" cy="405384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7824" y="2228088"/>
            <a:ext cx="1239926" cy="313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꽃가루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172614" y="2173224"/>
            <a:ext cx="1237183" cy="405384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27478" y="2228088"/>
            <a:ext cx="1127455" cy="313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 한계 감소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409798" y="2173224"/>
            <a:ext cx="3036722" cy="405384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64662" y="2228088"/>
            <a:ext cx="2926994" cy="313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재채기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22960" y="2578608"/>
            <a:ext cx="1349654" cy="405384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77824" y="2633472"/>
            <a:ext cx="1239926" cy="313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연기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172614" y="2578608"/>
            <a:ext cx="1237183" cy="405384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27478" y="2633472"/>
            <a:ext cx="1127455" cy="313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크게 제한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409798" y="2578608"/>
            <a:ext cx="3036722" cy="405384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64662" y="2633472"/>
            <a:ext cx="2926994" cy="313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기침/시야 저하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22960" y="2983992"/>
            <a:ext cx="1349654" cy="405384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77824" y="3038856"/>
            <a:ext cx="1239926" cy="313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독가스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172614" y="2983992"/>
            <a:ext cx="1237183" cy="405384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227478" y="3038856"/>
            <a:ext cx="1127455" cy="313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불가에 가까움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409798" y="2983992"/>
            <a:ext cx="3036722" cy="405384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64662" y="3038856"/>
            <a:ext cx="2926994" cy="313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피해/상태이상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822960" y="3389376"/>
            <a:ext cx="1349654" cy="405384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77824" y="3444240"/>
            <a:ext cx="1239926" cy="313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수중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172614" y="3389376"/>
            <a:ext cx="1237183" cy="405384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227478" y="3444240"/>
            <a:ext cx="1127455" cy="313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들이마시기 불가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409798" y="3389376"/>
            <a:ext cx="3036722" cy="405384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464662" y="3444240"/>
            <a:ext cx="2926994" cy="313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보유 호흡만 사용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858000" y="1143000"/>
            <a:ext cx="18288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73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깨끗한 공간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858000" y="1481328"/>
            <a:ext cx="4114800" cy="256032"/>
          </a:xfrm>
          <a:prstGeom prst="rect">
            <a:avLst/>
          </a:prstGeom>
          <a:solidFill>
            <a:srgbClr val="E6F7E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235440" y="1810512"/>
            <a:ext cx="16459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 한계 100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858000" y="2359152"/>
            <a:ext cx="18288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73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꽃가루 공간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858000" y="2697480"/>
            <a:ext cx="4114800" cy="256032"/>
          </a:xfrm>
          <a:prstGeom prst="rect">
            <a:avLst/>
          </a:prstGeom>
          <a:solidFill>
            <a:srgbClr val="FFF2B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979408" y="2633472"/>
            <a:ext cx="0" cy="384048"/>
          </a:xfrm>
          <a:prstGeom prst="line">
            <a:avLst/>
          </a:prstGeom>
          <a:noFill/>
          <a:ln w="25400">
            <a:solidFill>
              <a:srgbClr val="B4530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183880" y="3035808"/>
            <a:ext cx="14630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 한계 60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812280" y="3657600"/>
            <a:ext cx="4343400" cy="1188720"/>
          </a:xfrm>
          <a:prstGeom prst="roundRect">
            <a:avLst>
              <a:gd name="adj" fmla="val 6154"/>
            </a:avLst>
          </a:prstGeom>
          <a:solidFill>
            <a:srgbClr val="FDECE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976872" y="3776472"/>
            <a:ext cx="4014216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재채기 처리</a:t>
            </a:r>
            <a:endParaRPr lang="en-US" sz="1500" dirty="0"/>
          </a:p>
        </p:txBody>
      </p:sp>
      <p:sp>
        <p:nvSpPr>
          <p:cNvPr id="58" name="Text 56"/>
          <p:cNvSpPr/>
          <p:nvPr/>
        </p:nvSpPr>
        <p:spPr>
          <a:xfrm>
            <a:off x="6976872" y="4133088"/>
            <a:ext cx="4014216" cy="6126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 한계를 넘겨 계속 들이마시면 UI 흔들림과 캐릭터 전조가 발생하고, 지속 시 재채기 소음으로 적 AI가 반응한다.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" y="146304"/>
            <a:ext cx="11887200" cy="656539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713232"/>
            <a:ext cx="11201400" cy="0"/>
          </a:xfrm>
          <a:prstGeom prst="line">
            <a:avLst/>
          </a:prstGeom>
          <a:noFill/>
          <a:ln w="12700">
            <a:solidFill>
              <a:srgbClr val="D7E0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6446520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시스템 규칙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30352" y="32918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3.9 특수 능력 공통 규칙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" y="1115568"/>
            <a:ext cx="3383280" cy="1920240"/>
          </a:xfrm>
          <a:prstGeom prst="roundRect">
            <a:avLst>
              <a:gd name="adj" fmla="val 3810"/>
            </a:avLst>
          </a:prstGeom>
          <a:solidFill>
            <a:srgbClr val="EAF7EE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234440"/>
            <a:ext cx="3054096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들이마시기 — 준비 / 회수 / 저장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87552" y="1591056"/>
            <a:ext cx="3054096" cy="1344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비상 호흡, 흡인, 흡음, 흡기 도약. 무언가를 받아들이고 다음 행동을 준비한다.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70832" y="1115568"/>
            <a:ext cx="3383280" cy="1920240"/>
          </a:xfrm>
          <a:prstGeom prst="roundRect">
            <a:avLst>
              <a:gd name="adj" fmla="val 3810"/>
            </a:avLst>
          </a:prstGeom>
          <a:solidFill>
            <a:srgbClr val="F2ED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35424" y="1234440"/>
            <a:ext cx="3054096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숨 참기 — 은폐 / 유지 / 정지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35424" y="1591056"/>
            <a:ext cx="3054096" cy="1344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기척 소거, 공중 부유, 시간 정지. 자신을 드러내지 않거나 현재 상태를 유지한다.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918704" y="1115568"/>
            <a:ext cx="3383280" cy="1920240"/>
          </a:xfrm>
          <a:prstGeom prst="roundRect">
            <a:avLst>
              <a:gd name="adj" fmla="val 3810"/>
            </a:avLst>
          </a:prstGeom>
          <a:solidFill>
            <a:srgbClr val="FFF6D8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83296" y="1234440"/>
            <a:ext cx="3054096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내쉬기 — 방출 / 공명 / 기만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083296" y="1591056"/>
            <a:ext cx="3054096" cy="1344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공명 호흡, 환경 탐지, 잔기. 바깥으로 영향을 주거나 적의 판단을 조작한다.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2960" y="3675888"/>
            <a:ext cx="182880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성장 원칙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960" y="4041648"/>
            <a:ext cx="10424160" cy="713232"/>
          </a:xfrm>
          <a:prstGeom prst="rect">
            <a:avLst/>
          </a:prstGeom>
          <a:solidFill>
            <a:srgbClr val="F4F7FA"/>
          </a:solidFill>
          <a:ln w="10160">
            <a:solidFill>
              <a:srgbClr val="D7E0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능력 획득은 조작 복잡도를 늘리는 것이 아니라, 이미 익힌 호흡 행동에 새로운 의미를 부여한다. 능력이 강해질수록 적 AI·공기 환경·레벨 구조도 함께 확장해 난이도 곡선을 유지한다.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68680" y="5321808"/>
            <a:ext cx="10332720" cy="219456"/>
          </a:xfrm>
          <a:prstGeom prst="rect">
            <a:avLst/>
          </a:prstGeom>
          <a:solidFill>
            <a:srgbClr val="EAF3FF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3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초반: 기본 호흡 → 중반: 기척 소거/공명/흡음 → 후반: 잔기/공중 부유/시간 정지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" y="146304"/>
            <a:ext cx="11887200" cy="656539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713232"/>
            <a:ext cx="11201400" cy="0"/>
          </a:xfrm>
          <a:prstGeom prst="line">
            <a:avLst/>
          </a:prstGeom>
          <a:noFill/>
          <a:ln w="12700">
            <a:solidFill>
              <a:srgbClr val="D7E0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6446520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시스템 규칙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30352" y="32918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3.10 흡음 규칙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1325880" cy="658368"/>
          </a:xfrm>
          <a:prstGeom prst="flowChartInputOutput">
            <a:avLst/>
          </a:prstGeom>
          <a:solidFill>
            <a:srgbClr val="EAF7EE"/>
          </a:solidFill>
          <a:ln w="13970">
            <a:solidFill>
              <a:srgbClr val="073B5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소음 발생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폭발·문 파괴·장치 작동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103120" y="1609344"/>
            <a:ext cx="457200" cy="0"/>
          </a:xfrm>
          <a:prstGeom prst="line">
            <a:avLst/>
          </a:prstGeom>
          <a:noFill/>
          <a:ln w="1397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2606040" y="1280160"/>
            <a:ext cx="1325880" cy="658368"/>
          </a:xfrm>
          <a:prstGeom prst="flowChartProcess">
            <a:avLst/>
          </a:prstGeom>
          <a:solidFill>
            <a:srgbClr val="EAF3FF"/>
          </a:solidFill>
          <a:ln w="13970">
            <a:solidFill>
              <a:srgbClr val="073B5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동시에 들숨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발생 타이밍에 흡음 입력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977640" y="1609344"/>
            <a:ext cx="457200" cy="0"/>
          </a:xfrm>
          <a:prstGeom prst="line">
            <a:avLst/>
          </a:prstGeom>
          <a:noFill/>
          <a:ln w="1397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4480560" y="1280160"/>
            <a:ext cx="1325880" cy="658368"/>
          </a:xfrm>
          <a:prstGeom prst="flowChartProcess">
            <a:avLst/>
          </a:prstGeom>
          <a:solidFill>
            <a:srgbClr val="EAF3FF"/>
          </a:solidFill>
          <a:ln w="13970">
            <a:solidFill>
              <a:srgbClr val="073B5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소음 저장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AI에 소음 전달 차단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852160" y="1609344"/>
            <a:ext cx="457200" cy="0"/>
          </a:xfrm>
          <a:prstGeom prst="line">
            <a:avLst/>
          </a:prstGeom>
          <a:noFill/>
          <a:ln w="1397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6355080" y="1280160"/>
            <a:ext cx="1325880" cy="658368"/>
          </a:xfrm>
          <a:prstGeom prst="flowChartProcess">
            <a:avLst/>
          </a:prstGeom>
          <a:solidFill>
            <a:srgbClr val="EAF3FF"/>
          </a:solidFill>
          <a:ln w="13970">
            <a:solidFill>
              <a:srgbClr val="073B5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 잠금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머금은 동안 일반 호흡 불가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726680" y="1609344"/>
            <a:ext cx="457200" cy="0"/>
          </a:xfrm>
          <a:prstGeom prst="line">
            <a:avLst/>
          </a:prstGeom>
          <a:noFill/>
          <a:ln w="1397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8229600" y="1280160"/>
            <a:ext cx="1325880" cy="658368"/>
          </a:xfrm>
          <a:prstGeom prst="flowChartProcess">
            <a:avLst/>
          </a:prstGeom>
          <a:solidFill>
            <a:srgbClr val="EAF3FF"/>
          </a:solidFill>
          <a:ln w="13970">
            <a:solidFill>
              <a:srgbClr val="073B5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안전지대 이동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소음 방출 위치 선택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601200" y="1609344"/>
            <a:ext cx="457200" cy="0"/>
          </a:xfrm>
          <a:prstGeom prst="line">
            <a:avLst/>
          </a:prstGeom>
          <a:noFill/>
          <a:ln w="1397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10104120" y="1280160"/>
            <a:ext cx="1325880" cy="658368"/>
          </a:xfrm>
          <a:prstGeom prst="flowChartInputOutput">
            <a:avLst/>
          </a:prstGeom>
          <a:solidFill>
            <a:srgbClr val="EAF7EE"/>
          </a:solidFill>
          <a:ln w="13970">
            <a:solidFill>
              <a:srgbClr val="073B5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소음 방출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 기능 정상화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22960" y="3017520"/>
            <a:ext cx="5166360" cy="1133856"/>
          </a:xfrm>
          <a:prstGeom prst="roundRect">
            <a:avLst>
              <a:gd name="adj" fmla="val 6452"/>
            </a:avLst>
          </a:prstGeom>
          <a:solidFill>
            <a:srgbClr val="F2ED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7552" y="3136392"/>
            <a:ext cx="4837176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 이동 설계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87552" y="3493008"/>
            <a:ext cx="4837176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흡음은 폭발 소음으로 적이 몰려오는 문제를 즉시 해결하지만, 저장한 소음을 버릴 때까지 호흡 행동을 사용할 수 없게 만들어 다음 구간의 난이도를 높인다.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36208" y="3017520"/>
            <a:ext cx="5010912" cy="1133856"/>
          </a:xfrm>
          <a:prstGeom prst="roundRect">
            <a:avLst>
              <a:gd name="adj" fmla="val 6452"/>
            </a:avLst>
          </a:prstGeom>
          <a:solidFill>
            <a:srgbClr val="FFF6D8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3136392"/>
            <a:ext cx="4681728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플레이 질문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00800" y="3493008"/>
            <a:ext cx="4681728" cy="557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소음을 어디까지 운반할 것인가? 안전한 방에서 버릴 것인가, 아니면 적을 유인하기 위해 일부러 다른 곳에서 방출할 것인가?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68680" y="5669280"/>
            <a:ext cx="10378440" cy="256032"/>
          </a:xfrm>
          <a:prstGeom prst="rect">
            <a:avLst/>
          </a:prstGeom>
          <a:solidFill>
            <a:srgbClr val="F4F7FA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3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철학: 위험을 없애는 것이 아니라 다른 시간과 장소로 이동시킨다.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" y="146304"/>
            <a:ext cx="11887200" cy="656539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713232"/>
            <a:ext cx="11201400" cy="0"/>
          </a:xfrm>
          <a:prstGeom prst="line">
            <a:avLst/>
          </a:prstGeom>
          <a:noFill/>
          <a:ln w="12700">
            <a:solidFill>
              <a:srgbClr val="D7E0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6446520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시스템 규칙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30352" y="32918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3.11 상태 판정형 능력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" y="1051560"/>
            <a:ext cx="4983480" cy="960120"/>
          </a:xfrm>
          <a:prstGeom prst="roundRect">
            <a:avLst>
              <a:gd name="adj" fmla="val 7619"/>
            </a:avLst>
          </a:prstGeom>
          <a:solidFill>
            <a:srgbClr val="EAF7EE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170432"/>
            <a:ext cx="4654296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흡기 도약 판정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87552" y="1527048"/>
            <a:ext cx="465429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점프 시작 시 들이마시는 중인가? YES면 수평 이동 거리 증가. NO면 일반 점프.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263640" y="1051560"/>
            <a:ext cx="4983480" cy="960120"/>
          </a:xfrm>
          <a:prstGeom prst="roundRect">
            <a:avLst>
              <a:gd name="adj" fmla="val 7619"/>
            </a:avLst>
          </a:prstGeom>
          <a:solidFill>
            <a:srgbClr val="EAF3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28232" y="1170432"/>
            <a:ext cx="4654296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공중 부유 판정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28232" y="1527048"/>
            <a:ext cx="465429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숨 참기 시작 시 발이 땅에서 떨어져 있는가? YES면 숨 참는 동안 공중에 머문다.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463040" y="2770632"/>
            <a:ext cx="960120" cy="0"/>
          </a:xfrm>
          <a:prstGeom prst="line">
            <a:avLst/>
          </a:prstGeom>
          <a:noFill/>
          <a:ln w="15240">
            <a:solidFill>
              <a:srgbClr val="073B5A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429000" y="2770632"/>
            <a:ext cx="1005840" cy="0"/>
          </a:xfrm>
          <a:prstGeom prst="line">
            <a:avLst/>
          </a:prstGeom>
          <a:noFill/>
          <a:ln w="15240">
            <a:solidFill>
              <a:srgbClr val="073B5A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822960" y="2487168"/>
            <a:ext cx="1234440" cy="566928"/>
          </a:xfrm>
          <a:prstGeom prst="flowChartProcess">
            <a:avLst/>
          </a:prstGeom>
          <a:solidFill>
            <a:srgbClr val="F4F7FA"/>
          </a:solidFill>
          <a:ln w="13970">
            <a:solidFill>
              <a:srgbClr val="073B5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점프 입력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377440" y="2395728"/>
            <a:ext cx="1188720" cy="731520"/>
          </a:xfrm>
          <a:prstGeom prst="flowChartDecision">
            <a:avLst/>
          </a:prstGeom>
          <a:solidFill>
            <a:srgbClr val="FFF0E6"/>
          </a:solidFill>
          <a:ln w="13970">
            <a:solidFill>
              <a:srgbClr val="B45309"/>
            </a:solidFill>
          </a:ln>
        </p:spPr>
        <p:txBody>
          <a:bodyPr wrap="square" lIns="635" tIns="635" rIns="635" bIns="635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들이마시는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중인가?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407408" y="2487168"/>
            <a:ext cx="1234440" cy="566928"/>
          </a:xfrm>
          <a:prstGeom prst="flowChartProcess">
            <a:avLst/>
          </a:prstGeom>
          <a:solidFill>
            <a:srgbClr val="EAF7EE"/>
          </a:solidFill>
          <a:ln w="13970">
            <a:solidFill>
              <a:srgbClr val="073B5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흡기 도약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53512" y="3127248"/>
            <a:ext cx="0" cy="786384"/>
          </a:xfrm>
          <a:prstGeom prst="line">
            <a:avLst/>
          </a:prstGeom>
          <a:noFill/>
          <a:ln w="15240">
            <a:solidFill>
              <a:srgbClr val="073B5A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2286000" y="3913632"/>
            <a:ext cx="1325880" cy="566928"/>
          </a:xfrm>
          <a:prstGeom prst="flowChartProcess">
            <a:avLst/>
          </a:prstGeom>
          <a:solidFill>
            <a:srgbClr val="F4F7FA"/>
          </a:solidFill>
          <a:ln w="13970">
            <a:solidFill>
              <a:srgbClr val="073B5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 점프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49440" y="2770632"/>
            <a:ext cx="960120" cy="0"/>
          </a:xfrm>
          <a:prstGeom prst="line">
            <a:avLst/>
          </a:prstGeom>
          <a:noFill/>
          <a:ln w="15240">
            <a:solidFill>
              <a:srgbClr val="073B5A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915400" y="2770632"/>
            <a:ext cx="1005840" cy="0"/>
          </a:xfrm>
          <a:prstGeom prst="line">
            <a:avLst/>
          </a:prstGeom>
          <a:noFill/>
          <a:ln w="15240">
            <a:solidFill>
              <a:srgbClr val="073B5A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6309360" y="2487168"/>
            <a:ext cx="1234440" cy="566928"/>
          </a:xfrm>
          <a:prstGeom prst="flowChartProcess">
            <a:avLst/>
          </a:prstGeom>
          <a:solidFill>
            <a:srgbClr val="F2EDFF"/>
          </a:solidFill>
          <a:ln w="13970">
            <a:solidFill>
              <a:srgbClr val="073B5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숨 참기 입력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863840" y="2395728"/>
            <a:ext cx="1188720" cy="731520"/>
          </a:xfrm>
          <a:prstGeom prst="flowChartDecision">
            <a:avLst/>
          </a:prstGeom>
          <a:solidFill>
            <a:srgbClr val="FFF0E6"/>
          </a:solidFill>
          <a:ln w="13970">
            <a:solidFill>
              <a:srgbClr val="B45309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공중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상태인가?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893808" y="2487168"/>
            <a:ext cx="1234440" cy="566928"/>
          </a:xfrm>
          <a:prstGeom prst="flowChartProcess">
            <a:avLst/>
          </a:prstGeom>
          <a:solidFill>
            <a:srgbClr val="EAF3FF"/>
          </a:solidFill>
          <a:ln w="13970">
            <a:solidFill>
              <a:srgbClr val="073B5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공중 부유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439912" y="3127248"/>
            <a:ext cx="0" cy="786384"/>
          </a:xfrm>
          <a:prstGeom prst="line">
            <a:avLst/>
          </a:prstGeom>
          <a:noFill/>
          <a:ln w="15240">
            <a:solidFill>
              <a:srgbClr val="073B5A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7772400" y="3913632"/>
            <a:ext cx="1325880" cy="566928"/>
          </a:xfrm>
          <a:prstGeom prst="flowChartProcess">
            <a:avLst/>
          </a:prstGeom>
          <a:solidFill>
            <a:srgbClr val="F2EDFF"/>
          </a:solidFill>
          <a:ln w="13970">
            <a:solidFill>
              <a:srgbClr val="073B5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 숨 참기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68680" y="5705856"/>
            <a:ext cx="10378440" cy="256032"/>
          </a:xfrm>
          <a:prstGeom prst="rect">
            <a:avLst/>
          </a:prstGeom>
          <a:solidFill>
            <a:srgbClr val="F4F7FA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3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강조점: 같은 입력이 아니라 “입력 시점의 상태”를 읽어 서로 다른 플레이를 만든다.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" y="146304"/>
            <a:ext cx="11887200" cy="656539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713232"/>
            <a:ext cx="11201400" cy="0"/>
          </a:xfrm>
          <a:prstGeom prst="line">
            <a:avLst/>
          </a:prstGeom>
          <a:noFill/>
          <a:ln w="12700">
            <a:solidFill>
              <a:srgbClr val="D7E0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6446520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시스템 구조도 / 순서도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30352" y="32918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순서도 작성 규칙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43000" y="1508760"/>
            <a:ext cx="2194560" cy="731520"/>
          </a:xfrm>
          <a:prstGeom prst="flowChartProcess">
            <a:avLst/>
          </a:prstGeom>
          <a:solidFill>
            <a:srgbClr val="EAF3FF"/>
          </a:solidFill>
          <a:ln w="13970">
            <a:solidFill>
              <a:srgbClr val="073B5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직사각형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/ 수행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983480" y="1408176"/>
            <a:ext cx="1920240" cy="914400"/>
          </a:xfrm>
          <a:prstGeom prst="flowChartDecision">
            <a:avLst/>
          </a:prstGeom>
          <a:solidFill>
            <a:srgbClr val="FFF0E6"/>
          </a:solidFill>
          <a:ln w="13970">
            <a:solidFill>
              <a:srgbClr val="B45309"/>
            </a:solidFill>
          </a:ln>
        </p:spPr>
        <p:txBody>
          <a:bodyPr wrap="square" lIns="635" tIns="635" rIns="635" bIns="635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마름모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 확인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75320" y="1508760"/>
            <a:ext cx="2377440" cy="731520"/>
          </a:xfrm>
          <a:prstGeom prst="flowChartInputOutput">
            <a:avLst/>
          </a:prstGeom>
          <a:solidFill>
            <a:srgbClr val="EAF7EE"/>
          </a:solidFill>
          <a:ln w="13970">
            <a:solidFill>
              <a:srgbClr val="15803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물고기형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 / 리소스 호출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3154680"/>
            <a:ext cx="3246120" cy="1097280"/>
          </a:xfrm>
          <a:prstGeom prst="roundRect">
            <a:avLst>
              <a:gd name="adj" fmla="val 6667"/>
            </a:avLst>
          </a:prstGeom>
          <a:solidFill>
            <a:srgbClr val="EAF3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3273552"/>
            <a:ext cx="2916936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/ 수행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87552" y="3630168"/>
            <a:ext cx="2916936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 게이지 충전, 숨 참기 유지, 호흡 부채 증가처럼 시스템이 실행하는 일을 적는다.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480560" y="3154680"/>
            <a:ext cx="3246120" cy="1097280"/>
          </a:xfrm>
          <a:prstGeom prst="roundRect">
            <a:avLst>
              <a:gd name="adj" fmla="val 6667"/>
            </a:avLst>
          </a:prstGeom>
          <a:solidFill>
            <a:srgbClr val="FFF0E6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45152" y="3273552"/>
            <a:ext cx="2916936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 확인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45152" y="3630168"/>
            <a:ext cx="2916936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게이지가 0인가? 적이 들었는가? 안전 한계를 넘었는가?처럼 Yes/No로 갈리는 질문을 적는다.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138160" y="3154680"/>
            <a:ext cx="3246120" cy="1097280"/>
          </a:xfrm>
          <a:prstGeom prst="roundRect">
            <a:avLst>
              <a:gd name="adj" fmla="val 6667"/>
            </a:avLst>
          </a:prstGeom>
          <a:solidFill>
            <a:srgbClr val="EAF7EE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02752" y="3273552"/>
            <a:ext cx="2916936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 / 호출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302752" y="3630168"/>
            <a:ext cx="2916936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 SFX, 재채기 애니메이션, HUD 경고, 적 AI 반응처럼 리소스 호출과 결과 출력을 적는다.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68680" y="5715000"/>
            <a:ext cx="10378440" cy="256032"/>
          </a:xfrm>
          <a:prstGeom prst="rect">
            <a:avLst/>
          </a:prstGeom>
          <a:solidFill>
            <a:srgbClr val="F4F7FA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3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순서도는 정상 처리 흐름과 조건 분기를 보여주고, 예외사항은 별도 안전장치 페이지에서 우선순위를 정리한다.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" y="146304"/>
            <a:ext cx="11887200" cy="656539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713232"/>
            <a:ext cx="11201400" cy="0"/>
          </a:xfrm>
          <a:prstGeom prst="line">
            <a:avLst/>
          </a:prstGeom>
          <a:noFill/>
          <a:ln w="12700">
            <a:solidFill>
              <a:srgbClr val="D7E0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6446520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시스템 구조도 / 순서도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30352" y="32918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4.1 순서도: 기본 호흡 순환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508760" y="1298448"/>
            <a:ext cx="731520" cy="0"/>
          </a:xfrm>
          <a:prstGeom prst="line">
            <a:avLst/>
          </a:prstGeom>
          <a:noFill/>
          <a:ln w="15240">
            <a:solidFill>
              <a:srgbClr val="073B5A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493008" y="1298448"/>
            <a:ext cx="713232" cy="0"/>
          </a:xfrm>
          <a:prstGeom prst="line">
            <a:avLst/>
          </a:prstGeom>
          <a:noFill/>
          <a:ln w="15240">
            <a:solidFill>
              <a:srgbClr val="073B5A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394960" y="1298448"/>
            <a:ext cx="685800" cy="0"/>
          </a:xfrm>
          <a:prstGeom prst="line">
            <a:avLst/>
          </a:prstGeom>
          <a:noFill/>
          <a:ln w="15240">
            <a:solidFill>
              <a:srgbClr val="073B5A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269480" y="1298448"/>
            <a:ext cx="704088" cy="0"/>
          </a:xfrm>
          <a:prstGeom prst="line">
            <a:avLst/>
          </a:prstGeom>
          <a:noFill/>
          <a:ln w="15240">
            <a:solidFill>
              <a:srgbClr val="073B5A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9198864" y="1298448"/>
            <a:ext cx="676656" cy="0"/>
          </a:xfrm>
          <a:prstGeom prst="line">
            <a:avLst/>
          </a:prstGeom>
          <a:noFill/>
          <a:ln w="15240">
            <a:solidFill>
              <a:srgbClr val="073B5A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749040" y="2907792"/>
            <a:ext cx="0" cy="749808"/>
          </a:xfrm>
          <a:prstGeom prst="line">
            <a:avLst/>
          </a:prstGeom>
          <a:noFill/>
          <a:ln w="15240">
            <a:solidFill>
              <a:srgbClr val="073B5A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663440" y="4005072"/>
            <a:ext cx="914400" cy="0"/>
          </a:xfrm>
          <a:prstGeom prst="line">
            <a:avLst/>
          </a:prstGeom>
          <a:noFill/>
          <a:ln w="15240">
            <a:solidFill>
              <a:srgbClr val="073B5A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812280" y="4005072"/>
            <a:ext cx="886968" cy="0"/>
          </a:xfrm>
          <a:prstGeom prst="line">
            <a:avLst/>
          </a:prstGeom>
          <a:noFill/>
          <a:ln w="15240">
            <a:solidFill>
              <a:srgbClr val="073B5A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887968" y="4005072"/>
            <a:ext cx="896112" cy="0"/>
          </a:xfrm>
          <a:prstGeom prst="line">
            <a:avLst/>
          </a:prstGeom>
          <a:noFill/>
          <a:ln w="15240">
            <a:solidFill>
              <a:srgbClr val="073B5A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10442448" y="1847088"/>
            <a:ext cx="0" cy="1490472"/>
          </a:xfrm>
          <a:prstGeom prst="line">
            <a:avLst/>
          </a:prstGeom>
          <a:noFill/>
          <a:ln w="15240">
            <a:solidFill>
              <a:srgbClr val="073B5A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508760" y="5285232"/>
            <a:ext cx="731520" cy="0"/>
          </a:xfrm>
          <a:prstGeom prst="line">
            <a:avLst/>
          </a:prstGeom>
          <a:noFill/>
          <a:ln w="15240">
            <a:solidFill>
              <a:srgbClr val="073B5A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520440" y="5285232"/>
            <a:ext cx="640080" cy="0"/>
          </a:xfrm>
          <a:prstGeom prst="line">
            <a:avLst/>
          </a:prstGeom>
          <a:noFill/>
          <a:ln w="15240">
            <a:solidFill>
              <a:srgbClr val="073B5A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685800" y="960120"/>
            <a:ext cx="1188720" cy="658368"/>
          </a:xfrm>
          <a:prstGeom prst="flowChartInputOutput">
            <a:avLst/>
          </a:prstGeom>
          <a:solidFill>
            <a:srgbClr val="EAF7EE"/>
          </a:solidFill>
          <a:ln w="13970">
            <a:solidFill>
              <a:srgbClr val="15803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 입력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감지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240280" y="960120"/>
            <a:ext cx="1353312" cy="658368"/>
          </a:xfrm>
          <a:prstGeom prst="flowChartProcess">
            <a:avLst/>
          </a:prstGeom>
          <a:solidFill>
            <a:srgbClr val="EAF3FF"/>
          </a:solidFill>
          <a:ln w="13970">
            <a:solidFill>
              <a:srgbClr val="073B5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들이마시기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게이지 충전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224528" y="868680"/>
            <a:ext cx="1234440" cy="822960"/>
          </a:xfrm>
          <a:prstGeom prst="flowChartDecision">
            <a:avLst/>
          </a:prstGeom>
          <a:solidFill>
            <a:srgbClr val="FFF0E6"/>
          </a:solidFill>
          <a:ln w="13970">
            <a:solidFill>
              <a:srgbClr val="B45309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숨 참기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시작?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080760" y="960120"/>
            <a:ext cx="1298448" cy="658368"/>
          </a:xfrm>
          <a:prstGeom prst="flowChartProcess">
            <a:avLst/>
          </a:prstGeom>
          <a:solidFill>
            <a:srgbClr val="F2EDFF"/>
          </a:solidFill>
          <a:ln w="13970">
            <a:solidFill>
              <a:srgbClr val="073B5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숨 참기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게이지 소모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973568" y="868680"/>
            <a:ext cx="1234440" cy="822960"/>
          </a:xfrm>
          <a:prstGeom prst="flowChartDecision">
            <a:avLst/>
          </a:prstGeom>
          <a:solidFill>
            <a:srgbClr val="FFF0E6"/>
          </a:solidFill>
          <a:ln w="13970">
            <a:solidFill>
              <a:srgbClr val="B45309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게이지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0인가?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875520" y="960120"/>
            <a:ext cx="1298448" cy="658368"/>
          </a:xfrm>
          <a:prstGeom prst="flowChartInputOutput">
            <a:avLst/>
          </a:prstGeom>
          <a:solidFill>
            <a:srgbClr val="EAF7EE"/>
          </a:solidFill>
          <a:ln w="13970">
            <a:solidFill>
              <a:srgbClr val="15803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강제 호흡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SFX/애니 호출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090672" y="3611880"/>
            <a:ext cx="1298448" cy="768096"/>
          </a:xfrm>
          <a:prstGeom prst="flowChartDecision">
            <a:avLst/>
          </a:prstGeom>
          <a:solidFill>
            <a:srgbClr val="FFF0E6"/>
          </a:solidFill>
          <a:ln w="13970">
            <a:solidFill>
              <a:srgbClr val="B45309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숨 해제?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40680" y="3675888"/>
            <a:ext cx="1353312" cy="658368"/>
          </a:xfrm>
          <a:prstGeom prst="flowChartProcess">
            <a:avLst/>
          </a:prstGeom>
          <a:solidFill>
            <a:srgbClr val="FFF6D8"/>
          </a:solidFill>
          <a:ln w="13970">
            <a:solidFill>
              <a:srgbClr val="073B5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내쉬기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부분 회복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662672" y="3611880"/>
            <a:ext cx="1298448" cy="768096"/>
          </a:xfrm>
          <a:prstGeom prst="flowChartDecision">
            <a:avLst/>
          </a:prstGeom>
          <a:solidFill>
            <a:srgbClr val="FFF0E6"/>
          </a:solidFill>
          <a:ln w="13970">
            <a:solidFill>
              <a:srgbClr val="B45309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다시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참기?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710928" y="3675888"/>
            <a:ext cx="1353312" cy="658368"/>
          </a:xfrm>
          <a:prstGeom prst="flowChartProcess">
            <a:avLst/>
          </a:prstGeom>
          <a:solidFill>
            <a:srgbClr val="EAF3FF"/>
          </a:solidFill>
          <a:ln w="13970">
            <a:solidFill>
              <a:srgbClr val="073B5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회복 유지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85800" y="4956048"/>
            <a:ext cx="1188720" cy="658368"/>
          </a:xfrm>
          <a:prstGeom prst="flowChartInputOutput">
            <a:avLst/>
          </a:prstGeom>
          <a:solidFill>
            <a:srgbClr val="EAF7EE"/>
          </a:solidFill>
          <a:ln w="13970">
            <a:solidFill>
              <a:srgbClr val="15803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 HUD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240280" y="4956048"/>
            <a:ext cx="1353312" cy="658368"/>
          </a:xfrm>
          <a:prstGeom prst="flowChartInputOutput">
            <a:avLst/>
          </a:prstGeom>
          <a:solidFill>
            <a:srgbClr val="EAF7EE"/>
          </a:solidFill>
          <a:ln w="13970">
            <a:solidFill>
              <a:srgbClr val="15803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소음 단계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160520" y="4956048"/>
            <a:ext cx="1353312" cy="658368"/>
          </a:xfrm>
          <a:prstGeom prst="flowChartProcess">
            <a:avLst/>
          </a:prstGeom>
          <a:solidFill>
            <a:srgbClr val="EAF3FF"/>
          </a:solidFill>
          <a:ln w="13970">
            <a:solidFill>
              <a:srgbClr val="073B5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판단으로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복귀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" y="146304"/>
            <a:ext cx="11887200" cy="656539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713232"/>
            <a:ext cx="11201400" cy="0"/>
          </a:xfrm>
          <a:prstGeom prst="line">
            <a:avLst/>
          </a:prstGeom>
          <a:noFill/>
          <a:ln w="12700">
            <a:solidFill>
              <a:srgbClr val="D7E0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6446520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시스템 구조도 / 순서도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30352" y="32918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4.2 순서도: 소음 감지와 적 AI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783080" y="1261872"/>
            <a:ext cx="822960" cy="0"/>
          </a:xfrm>
          <a:prstGeom prst="line">
            <a:avLst/>
          </a:prstGeom>
          <a:noFill/>
          <a:ln w="15240">
            <a:solidFill>
              <a:srgbClr val="073B5A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794760" y="1261872"/>
            <a:ext cx="777240" cy="0"/>
          </a:xfrm>
          <a:prstGeom prst="line">
            <a:avLst/>
          </a:prstGeom>
          <a:noFill/>
          <a:ln w="15240">
            <a:solidFill>
              <a:srgbClr val="073B5A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852160" y="1261872"/>
            <a:ext cx="777240" cy="0"/>
          </a:xfrm>
          <a:prstGeom prst="line">
            <a:avLst/>
          </a:prstGeom>
          <a:noFill/>
          <a:ln w="15240">
            <a:solidFill>
              <a:srgbClr val="073B5A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818120" y="1261872"/>
            <a:ext cx="731520" cy="0"/>
          </a:xfrm>
          <a:prstGeom prst="line">
            <a:avLst/>
          </a:prstGeom>
          <a:noFill/>
          <a:ln w="15240">
            <a:solidFill>
              <a:srgbClr val="073B5A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9829800" y="1261872"/>
            <a:ext cx="731520" cy="0"/>
          </a:xfrm>
          <a:prstGeom prst="line">
            <a:avLst/>
          </a:prstGeom>
          <a:noFill/>
          <a:ln w="15240">
            <a:solidFill>
              <a:srgbClr val="073B5A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532120" y="1965960"/>
            <a:ext cx="0" cy="822960"/>
          </a:xfrm>
          <a:prstGeom prst="line">
            <a:avLst/>
          </a:prstGeom>
          <a:noFill/>
          <a:ln w="15240">
            <a:solidFill>
              <a:srgbClr val="073B5A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532120" y="3429000"/>
            <a:ext cx="0" cy="777240"/>
          </a:xfrm>
          <a:prstGeom prst="line">
            <a:avLst/>
          </a:prstGeom>
          <a:noFill/>
          <a:ln w="15240">
            <a:solidFill>
              <a:srgbClr val="073B5A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537960" y="4526280"/>
            <a:ext cx="868680" cy="0"/>
          </a:xfrm>
          <a:prstGeom prst="line">
            <a:avLst/>
          </a:prstGeom>
          <a:noFill/>
          <a:ln w="15240">
            <a:solidFill>
              <a:srgbClr val="073B5A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553712" y="4526280"/>
            <a:ext cx="0" cy="0"/>
          </a:xfrm>
          <a:prstGeom prst="line">
            <a:avLst/>
          </a:prstGeom>
          <a:noFill/>
          <a:ln w="15240">
            <a:solidFill>
              <a:srgbClr val="073B5A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685800" y="950976"/>
            <a:ext cx="1234440" cy="621792"/>
          </a:xfrm>
          <a:prstGeom prst="flowChartInputOutput">
            <a:avLst/>
          </a:prstGeom>
          <a:solidFill>
            <a:srgbClr val="EAF7EE"/>
          </a:solidFill>
          <a:ln w="13970">
            <a:solidFill>
              <a:srgbClr val="15803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소음 출력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606040" y="859536"/>
            <a:ext cx="1234440" cy="804672"/>
          </a:xfrm>
          <a:prstGeom prst="flowChartDecision">
            <a:avLst/>
          </a:prstGeom>
          <a:solidFill>
            <a:srgbClr val="FFF0E6"/>
          </a:solidFill>
          <a:ln w="13970">
            <a:solidFill>
              <a:srgbClr val="B45309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 청각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범위인가?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0" y="950976"/>
            <a:ext cx="1325880" cy="621792"/>
          </a:xfrm>
          <a:prstGeom prst="flowChartProcess">
            <a:avLst/>
          </a:prstGeom>
          <a:solidFill>
            <a:srgbClr val="FFF6D8"/>
          </a:solidFill>
          <a:ln w="13970">
            <a:solidFill>
              <a:srgbClr val="073B5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의심도 증가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629400" y="950976"/>
            <a:ext cx="1325880" cy="621792"/>
          </a:xfrm>
          <a:prstGeom prst="flowChartProcess">
            <a:avLst/>
          </a:prstGeom>
          <a:solidFill>
            <a:srgbClr val="EAF3FF"/>
          </a:solidFill>
          <a:ln w="13970">
            <a:solidFill>
              <a:srgbClr val="073B5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 위치 조사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549640" y="859536"/>
            <a:ext cx="1298448" cy="804672"/>
          </a:xfrm>
          <a:prstGeom prst="flowChartDecision">
            <a:avLst/>
          </a:prstGeom>
          <a:solidFill>
            <a:srgbClr val="FFF0E6"/>
          </a:solidFill>
          <a:ln w="13970">
            <a:solidFill>
              <a:srgbClr val="B45309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추가 기척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있는가?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561320" y="950976"/>
            <a:ext cx="1234440" cy="621792"/>
          </a:xfrm>
          <a:prstGeom prst="flowChartInputOutput">
            <a:avLst/>
          </a:prstGeom>
          <a:solidFill>
            <a:srgbClr val="EAF7EE"/>
          </a:solidFill>
          <a:ln w="13970">
            <a:solidFill>
              <a:srgbClr val="15803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발견/추격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64608" y="2816352"/>
            <a:ext cx="1353312" cy="621792"/>
          </a:xfrm>
          <a:prstGeom prst="flowChartProcess">
            <a:avLst/>
          </a:prstGeom>
          <a:solidFill>
            <a:srgbClr val="F2EDFF"/>
          </a:solidFill>
          <a:ln w="13970">
            <a:solidFill>
              <a:srgbClr val="073B5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플레이어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숨 참기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64608" y="4224528"/>
            <a:ext cx="1353312" cy="621792"/>
          </a:xfrm>
          <a:prstGeom prst="flowChartProcess">
            <a:avLst/>
          </a:prstGeom>
          <a:solidFill>
            <a:srgbClr val="EAF3FF"/>
          </a:solidFill>
          <a:ln w="13970">
            <a:solidFill>
              <a:srgbClr val="073B5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의심도 감소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406640" y="4224528"/>
            <a:ext cx="1353312" cy="621792"/>
          </a:xfrm>
          <a:prstGeom prst="flowChartInputOutput">
            <a:avLst/>
          </a:prstGeom>
          <a:solidFill>
            <a:srgbClr val="EAF7EE"/>
          </a:solidFill>
          <a:ln w="13970">
            <a:solidFill>
              <a:srgbClr val="15803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순찰 복귀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331720" y="4224528"/>
            <a:ext cx="1353312" cy="621792"/>
          </a:xfrm>
          <a:prstGeom prst="flowChartInputOutput">
            <a:avLst/>
          </a:prstGeom>
          <a:solidFill>
            <a:srgbClr val="EAF7EE"/>
          </a:solidFill>
          <a:ln w="13970">
            <a:solidFill>
              <a:srgbClr val="15803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변화 없음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22960" y="5833872"/>
            <a:ext cx="10515600" cy="256032"/>
          </a:xfrm>
          <a:prstGeom prst="rect">
            <a:avLst/>
          </a:prstGeom>
          <a:solidFill>
            <a:srgbClr val="F4F7FA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3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핵심: 거친 호흡으로 어그로를 끌었더라도, 다시 숨을 참아 추가 기척을 끊으면 의심을 해소할 수 있다.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" y="146304"/>
            <a:ext cx="11887200" cy="656539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713232"/>
            <a:ext cx="11201400" cy="0"/>
          </a:xfrm>
          <a:prstGeom prst="line">
            <a:avLst/>
          </a:prstGeom>
          <a:noFill/>
          <a:ln w="12700">
            <a:solidFill>
              <a:srgbClr val="D7E0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6446520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시스템 구조도 / 순서도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30352" y="32918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4.3 순서도: 공기 환경과 재채기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783080" y="1298448"/>
            <a:ext cx="822960" cy="0"/>
          </a:xfrm>
          <a:prstGeom prst="line">
            <a:avLst/>
          </a:prstGeom>
          <a:noFill/>
          <a:ln w="15240">
            <a:solidFill>
              <a:srgbClr val="073B5A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886200" y="1298448"/>
            <a:ext cx="777240" cy="0"/>
          </a:xfrm>
          <a:prstGeom prst="line">
            <a:avLst/>
          </a:prstGeom>
          <a:noFill/>
          <a:ln w="15240">
            <a:solidFill>
              <a:srgbClr val="073B5A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961888" y="1298448"/>
            <a:ext cx="731520" cy="0"/>
          </a:xfrm>
          <a:prstGeom prst="line">
            <a:avLst/>
          </a:prstGeom>
          <a:noFill/>
          <a:ln w="15240">
            <a:solidFill>
              <a:srgbClr val="073B5A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001000" y="1298448"/>
            <a:ext cx="731520" cy="0"/>
          </a:xfrm>
          <a:prstGeom prst="line">
            <a:avLst/>
          </a:prstGeom>
          <a:noFill/>
          <a:ln w="15240">
            <a:solidFill>
              <a:srgbClr val="073B5A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0040112" y="1298448"/>
            <a:ext cx="457200" cy="0"/>
          </a:xfrm>
          <a:prstGeom prst="line">
            <a:avLst/>
          </a:prstGeom>
          <a:noFill/>
          <a:ln w="15240">
            <a:solidFill>
              <a:srgbClr val="073B5A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342632" y="1975104"/>
            <a:ext cx="0" cy="905256"/>
          </a:xfrm>
          <a:prstGeom prst="line">
            <a:avLst/>
          </a:prstGeom>
          <a:noFill/>
          <a:ln w="15240">
            <a:solidFill>
              <a:srgbClr val="073B5A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342632" y="3611880"/>
            <a:ext cx="0" cy="822960"/>
          </a:xfrm>
          <a:prstGeom prst="line">
            <a:avLst/>
          </a:prstGeom>
          <a:noFill/>
          <a:ln w="15240">
            <a:solidFill>
              <a:srgbClr val="073B5A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217920" y="4736592"/>
            <a:ext cx="0" cy="0"/>
          </a:xfrm>
          <a:prstGeom prst="line">
            <a:avLst/>
          </a:prstGeom>
          <a:noFill/>
          <a:ln w="15240">
            <a:solidFill>
              <a:srgbClr val="073B5A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685800" y="969264"/>
            <a:ext cx="1234440" cy="640080"/>
          </a:xfrm>
          <a:prstGeom prst="flowChartProcess">
            <a:avLst/>
          </a:prstGeom>
          <a:solidFill>
            <a:srgbClr val="EAF3FF"/>
          </a:solidFill>
          <a:ln w="13970">
            <a:solidFill>
              <a:srgbClr val="073B5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들이마시기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시작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606040" y="969264"/>
            <a:ext cx="1325880" cy="640080"/>
          </a:xfrm>
          <a:prstGeom prst="flowChartInputOutput">
            <a:avLst/>
          </a:prstGeom>
          <a:solidFill>
            <a:srgbClr val="EAF7EE"/>
          </a:solidFill>
          <a:ln w="13970">
            <a:solidFill>
              <a:srgbClr val="15803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공기 환경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호출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63440" y="877824"/>
            <a:ext cx="1353312" cy="822960"/>
          </a:xfrm>
          <a:prstGeom prst="flowChartDecision">
            <a:avLst/>
          </a:prstGeom>
          <a:solidFill>
            <a:srgbClr val="FFF0E6"/>
          </a:solidFill>
          <a:ln w="13970">
            <a:solidFill>
              <a:srgbClr val="B45309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 한계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초과?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693408" y="969264"/>
            <a:ext cx="1353312" cy="640080"/>
          </a:xfrm>
          <a:prstGeom prst="flowChartProcess">
            <a:avLst/>
          </a:prstGeom>
          <a:solidFill>
            <a:srgbClr val="FFF6D8"/>
          </a:solidFill>
          <a:ln w="13970">
            <a:solidFill>
              <a:srgbClr val="073B5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자극도 증가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732520" y="877824"/>
            <a:ext cx="1353312" cy="822960"/>
          </a:xfrm>
          <a:prstGeom prst="flowChartDecision">
            <a:avLst/>
          </a:prstGeom>
          <a:solidFill>
            <a:srgbClr val="FFF0E6"/>
          </a:solidFill>
          <a:ln w="13970">
            <a:solidFill>
              <a:srgbClr val="B45309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자극도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한계?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378440" y="969264"/>
            <a:ext cx="1353312" cy="640080"/>
          </a:xfrm>
          <a:prstGeom prst="flowChartInputOutput">
            <a:avLst/>
          </a:prstGeom>
          <a:solidFill>
            <a:srgbClr val="EAF7EE"/>
          </a:solidFill>
          <a:ln w="13970">
            <a:solidFill>
              <a:srgbClr val="15803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재채기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SFX/애니 호출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656832" y="2889504"/>
            <a:ext cx="1371600" cy="640080"/>
          </a:xfrm>
          <a:prstGeom prst="flowChartInputOutput">
            <a:avLst/>
          </a:prstGeom>
          <a:solidFill>
            <a:srgbClr val="EAF7EE"/>
          </a:solidFill>
          <a:ln w="13970">
            <a:solidFill>
              <a:srgbClr val="15803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UI 흔들림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전조 출력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656832" y="4443984"/>
            <a:ext cx="1371600" cy="640080"/>
          </a:xfrm>
          <a:prstGeom prst="flowChartProcess">
            <a:avLst/>
          </a:prstGeom>
          <a:solidFill>
            <a:srgbClr val="FDECEC"/>
          </a:solidFill>
          <a:ln w="13970">
            <a:solidFill>
              <a:srgbClr val="073B5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소음 발생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전달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703320" y="4443984"/>
            <a:ext cx="1371600" cy="640080"/>
          </a:xfrm>
          <a:prstGeom prst="flowChartProcess">
            <a:avLst/>
          </a:prstGeom>
          <a:solidFill>
            <a:srgbClr val="EAF3FF"/>
          </a:solidFill>
          <a:ln w="13970">
            <a:solidFill>
              <a:srgbClr val="073B5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정상 충전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" y="146304"/>
            <a:ext cx="11887200" cy="656539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713232"/>
            <a:ext cx="11201400" cy="0"/>
          </a:xfrm>
          <a:prstGeom prst="line">
            <a:avLst/>
          </a:prstGeom>
          <a:noFill/>
          <a:ln w="12700">
            <a:solidFill>
              <a:srgbClr val="D7E0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6446520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시스템 구조도 / 순서도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30352" y="32918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4.4 순서도: 흡음과 소음 저장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691640" y="1234440"/>
            <a:ext cx="777240" cy="0"/>
          </a:xfrm>
          <a:prstGeom prst="line">
            <a:avLst/>
          </a:prstGeom>
          <a:noFill/>
          <a:ln w="15240">
            <a:solidFill>
              <a:srgbClr val="073B5A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749040" y="1234440"/>
            <a:ext cx="777240" cy="0"/>
          </a:xfrm>
          <a:prstGeom prst="line">
            <a:avLst/>
          </a:prstGeom>
          <a:noFill/>
          <a:ln w="15240">
            <a:solidFill>
              <a:srgbClr val="073B5A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806440" y="1234440"/>
            <a:ext cx="758952" cy="0"/>
          </a:xfrm>
          <a:prstGeom prst="line">
            <a:avLst/>
          </a:prstGeom>
          <a:noFill/>
          <a:ln w="15240">
            <a:solidFill>
              <a:srgbClr val="073B5A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845552" y="1234440"/>
            <a:ext cx="768096" cy="0"/>
          </a:xfrm>
          <a:prstGeom prst="line">
            <a:avLst/>
          </a:prstGeom>
          <a:noFill/>
          <a:ln w="15240">
            <a:solidFill>
              <a:srgbClr val="073B5A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9893808" y="1234440"/>
            <a:ext cx="420624" cy="0"/>
          </a:xfrm>
          <a:prstGeom prst="line">
            <a:avLst/>
          </a:prstGeom>
          <a:noFill/>
          <a:ln w="15240">
            <a:solidFill>
              <a:srgbClr val="073B5A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223760" y="1938528"/>
            <a:ext cx="0" cy="914400"/>
          </a:xfrm>
          <a:prstGeom prst="line">
            <a:avLst/>
          </a:prstGeom>
          <a:noFill/>
          <a:ln w="15240">
            <a:solidFill>
              <a:srgbClr val="073B5A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223760" y="3584448"/>
            <a:ext cx="0" cy="850392"/>
          </a:xfrm>
          <a:prstGeom prst="line">
            <a:avLst/>
          </a:prstGeom>
          <a:noFill/>
          <a:ln w="15240">
            <a:solidFill>
              <a:srgbClr val="073B5A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172200" y="4736592"/>
            <a:ext cx="0" cy="0"/>
          </a:xfrm>
          <a:prstGeom prst="line">
            <a:avLst/>
          </a:prstGeom>
          <a:noFill/>
          <a:ln w="15240">
            <a:solidFill>
              <a:srgbClr val="073B5A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767328" y="4736592"/>
            <a:ext cx="0" cy="0"/>
          </a:xfrm>
          <a:prstGeom prst="line">
            <a:avLst/>
          </a:prstGeom>
          <a:noFill/>
          <a:ln w="15240">
            <a:solidFill>
              <a:srgbClr val="073B5A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594360" y="914400"/>
            <a:ext cx="1261872" cy="640080"/>
          </a:xfrm>
          <a:prstGeom prst="flowChartInputOutput">
            <a:avLst/>
          </a:prstGeom>
          <a:solidFill>
            <a:srgbClr val="EAF7EE"/>
          </a:solidFill>
          <a:ln w="13970">
            <a:solidFill>
              <a:srgbClr val="15803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폭발 소음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발생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468880" y="822960"/>
            <a:ext cx="1353312" cy="822960"/>
          </a:xfrm>
          <a:prstGeom prst="flowChartDecision">
            <a:avLst/>
          </a:prstGeom>
          <a:solidFill>
            <a:srgbClr val="FFF0E6"/>
          </a:solidFill>
          <a:ln w="13970">
            <a:solidFill>
              <a:srgbClr val="B45309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동시에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들이마심?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26280" y="914400"/>
            <a:ext cx="1353312" cy="640080"/>
          </a:xfrm>
          <a:prstGeom prst="flowChartProcess">
            <a:avLst/>
          </a:prstGeom>
          <a:solidFill>
            <a:srgbClr val="EAF3FF"/>
          </a:solidFill>
          <a:ln w="13970">
            <a:solidFill>
              <a:srgbClr val="073B5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소음 흡수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565392" y="914400"/>
            <a:ext cx="1371600" cy="640080"/>
          </a:xfrm>
          <a:prstGeom prst="flowChartProcess">
            <a:avLst/>
          </a:prstGeom>
          <a:solidFill>
            <a:srgbClr val="F2EDFF"/>
          </a:solidFill>
          <a:ln w="13970">
            <a:solidFill>
              <a:srgbClr val="073B5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소음 저장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 잠금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613648" y="822960"/>
            <a:ext cx="1353312" cy="822960"/>
          </a:xfrm>
          <a:prstGeom prst="flowChartDecision">
            <a:avLst/>
          </a:prstGeom>
          <a:solidFill>
            <a:srgbClr val="FFF0E6"/>
          </a:solidFill>
          <a:ln w="13970">
            <a:solidFill>
              <a:srgbClr val="B45309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방출 위치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안전?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222992" y="914400"/>
            <a:ext cx="1371600" cy="640080"/>
          </a:xfrm>
          <a:prstGeom prst="flowChartInputOutput">
            <a:avLst/>
          </a:prstGeom>
          <a:solidFill>
            <a:srgbClr val="EAF7EE"/>
          </a:solidFill>
          <a:ln w="13970">
            <a:solidFill>
              <a:srgbClr val="15803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소음 방출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 복구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565392" y="2852928"/>
            <a:ext cx="1371600" cy="640080"/>
          </a:xfrm>
          <a:prstGeom prst="flowChartProcess">
            <a:avLst/>
          </a:prstGeom>
          <a:solidFill>
            <a:srgbClr val="FDECEC"/>
          </a:solidFill>
          <a:ln w="13970">
            <a:solidFill>
              <a:srgbClr val="073B5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 폭발음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전달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565392" y="4434840"/>
            <a:ext cx="1371600" cy="640080"/>
          </a:xfrm>
          <a:prstGeom prst="flowChartInputOutput">
            <a:avLst/>
          </a:prstGeom>
          <a:solidFill>
            <a:srgbClr val="EAF7EE"/>
          </a:solidFill>
          <a:ln w="13970">
            <a:solidFill>
              <a:srgbClr val="15803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 조사/집결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703320" y="4434840"/>
            <a:ext cx="1371600" cy="640080"/>
          </a:xfrm>
          <a:prstGeom prst="flowChartProcess">
            <a:avLst/>
          </a:prstGeom>
          <a:solidFill>
            <a:srgbClr val="EAF3FF"/>
          </a:solidFill>
          <a:ln w="13970">
            <a:solidFill>
              <a:srgbClr val="073B5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안전지대로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이동 유지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234440" y="4434840"/>
            <a:ext cx="1371600" cy="640080"/>
          </a:xfrm>
          <a:prstGeom prst="flowChartInputOutput">
            <a:avLst/>
          </a:prstGeom>
          <a:solidFill>
            <a:srgbClr val="EAF7EE"/>
          </a:solidFill>
          <a:ln w="13970">
            <a:solidFill>
              <a:srgbClr val="15803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 HUD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잠금 표시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22960" y="5833872"/>
            <a:ext cx="10515600" cy="256032"/>
          </a:xfrm>
          <a:prstGeom prst="rect">
            <a:avLst/>
          </a:prstGeom>
          <a:solidFill>
            <a:srgbClr val="F4F7FA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3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흡음 상태에서는 숨 참기·내쉬기·들이마시기 기능을 사용하지 못해, 안전 방출 지점 선택이 핵심 플레이가 된다.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" y="146304"/>
            <a:ext cx="11887200" cy="656539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713232"/>
            <a:ext cx="11201400" cy="0"/>
          </a:xfrm>
          <a:prstGeom prst="line">
            <a:avLst/>
          </a:prstGeom>
          <a:noFill/>
          <a:ln w="12700">
            <a:solidFill>
              <a:srgbClr val="D7E0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6446520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시스템 구조도 / 순서도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30352" y="32918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4.5 시스템 구조도(Unity)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85800" y="1024128"/>
            <a:ext cx="10881360" cy="3017520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024128"/>
            <a:ext cx="2611526" cy="310896"/>
          </a:xfrm>
          <a:prstGeom prst="rect">
            <a:avLst/>
          </a:prstGeom>
          <a:solidFill>
            <a:srgbClr val="073B5A"/>
          </a:solidFill>
          <a:ln w="7620">
            <a:solidFill>
              <a:srgbClr val="073B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2376" y="1088136"/>
            <a:ext cx="253837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모듈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7326" y="1024128"/>
            <a:ext cx="2393899" cy="310896"/>
          </a:xfrm>
          <a:prstGeom prst="rect">
            <a:avLst/>
          </a:prstGeom>
          <a:solidFill>
            <a:srgbClr val="073B5A"/>
          </a:solidFill>
          <a:ln w="7620">
            <a:solidFill>
              <a:srgbClr val="073B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3902" y="1088136"/>
            <a:ext cx="2320747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역할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691226" y="1024128"/>
            <a:ext cx="5875934" cy="310896"/>
          </a:xfrm>
          <a:prstGeom prst="rect">
            <a:avLst/>
          </a:prstGeom>
          <a:solidFill>
            <a:srgbClr val="073B5A"/>
          </a:solidFill>
          <a:ln w="7620">
            <a:solidFill>
              <a:srgbClr val="073B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27802" y="1088136"/>
            <a:ext cx="580278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연결 대상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5800" y="1335024"/>
            <a:ext cx="2611526" cy="451104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0664" y="1389888"/>
            <a:ext cx="2501798" cy="3596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BreathController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97326" y="1335024"/>
            <a:ext cx="2393899" cy="451104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52190" y="1389888"/>
            <a:ext cx="2284171" cy="3596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 게이지·한계·강제 호흡 처리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91226" y="1335024"/>
            <a:ext cx="5875934" cy="451104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46090" y="1389888"/>
            <a:ext cx="5766206" cy="3596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PlayerInput / Movement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5800" y="1786128"/>
            <a:ext cx="2611526" cy="451104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0664" y="1840992"/>
            <a:ext cx="2501798" cy="3596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NoiseController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97326" y="1786128"/>
            <a:ext cx="2393899" cy="451104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52190" y="1840992"/>
            <a:ext cx="2284171" cy="3596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호흡·이동·폭발 소음 계산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691226" y="1786128"/>
            <a:ext cx="5875934" cy="451104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46090" y="1840992"/>
            <a:ext cx="5766206" cy="3596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EnemyAI / Resource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85800" y="2237232"/>
            <a:ext cx="2611526" cy="451104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0664" y="2292096"/>
            <a:ext cx="2501798" cy="3596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EnvironmentAirZone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97326" y="2237232"/>
            <a:ext cx="2393899" cy="451104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52190" y="2292096"/>
            <a:ext cx="2284171" cy="3596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먼지·꽃가루·연기·독가스 안전 한계 제공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691226" y="2237232"/>
            <a:ext cx="5875934" cy="451104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46090" y="2292096"/>
            <a:ext cx="5766206" cy="3596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Breath / UI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85800" y="2688336"/>
            <a:ext cx="2611526" cy="451104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0664" y="2743200"/>
            <a:ext cx="2501798" cy="3596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AbilityController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97326" y="2688336"/>
            <a:ext cx="2393899" cy="451104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52190" y="2743200"/>
            <a:ext cx="2284171" cy="3596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흡음·흡인·기척 소거·공중 부유 판정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691226" y="2688336"/>
            <a:ext cx="5875934" cy="451104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46090" y="2743200"/>
            <a:ext cx="5766206" cy="3596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Breath / Movement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85800" y="3139440"/>
            <a:ext cx="2611526" cy="451104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0664" y="3194304"/>
            <a:ext cx="2501798" cy="3596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EnemyAIController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97326" y="3139440"/>
            <a:ext cx="2393899" cy="451104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52190" y="3194304"/>
            <a:ext cx="2284171" cy="3596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청각 범위·의심·조사·추격 상태 전환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691226" y="3139440"/>
            <a:ext cx="5875934" cy="451104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46090" y="3194304"/>
            <a:ext cx="5766206" cy="3596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Noise / Stealth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85800" y="3590544"/>
            <a:ext cx="2611526" cy="451104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0664" y="3645408"/>
            <a:ext cx="2501798" cy="3596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ResourceManager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297326" y="3590544"/>
            <a:ext cx="2393899" cy="451104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352190" y="3645408"/>
            <a:ext cx="2284171" cy="3596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SFX·VFX·애니메이션·HUD 호출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691226" y="3590544"/>
            <a:ext cx="5875934" cy="451104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46090" y="3645408"/>
            <a:ext cx="5766206" cy="3596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모듈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822960" y="4498848"/>
            <a:ext cx="18288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73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흐름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914400" y="4892040"/>
            <a:ext cx="914400" cy="310896"/>
          </a:xfrm>
          <a:prstGeom prst="roundRect">
            <a:avLst>
              <a:gd name="adj" fmla="val 29412"/>
            </a:avLst>
          </a:prstGeom>
          <a:solidFill>
            <a:srgbClr val="EAF3FF"/>
          </a:solidFill>
          <a:ln w="7620">
            <a:solidFill>
              <a:srgbClr val="D7E0E8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3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1865376" y="5047488"/>
            <a:ext cx="877824" cy="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52" name="Text 50"/>
          <p:cNvSpPr/>
          <p:nvPr/>
        </p:nvSpPr>
        <p:spPr>
          <a:xfrm>
            <a:off x="2743200" y="4892040"/>
            <a:ext cx="1234440" cy="310896"/>
          </a:xfrm>
          <a:prstGeom prst="roundRect">
            <a:avLst>
              <a:gd name="adj" fmla="val 29412"/>
            </a:avLst>
          </a:prstGeom>
          <a:solidFill>
            <a:srgbClr val="EAF7EE"/>
          </a:solidFill>
          <a:ln w="7620">
            <a:solidFill>
              <a:srgbClr val="D7E0E8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3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 상태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023360" y="5047488"/>
            <a:ext cx="877824" cy="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54" name="Text 52"/>
          <p:cNvSpPr/>
          <p:nvPr/>
        </p:nvSpPr>
        <p:spPr>
          <a:xfrm>
            <a:off x="4901184" y="4892040"/>
            <a:ext cx="1234440" cy="310896"/>
          </a:xfrm>
          <a:prstGeom prst="roundRect">
            <a:avLst>
              <a:gd name="adj" fmla="val 29412"/>
            </a:avLst>
          </a:prstGeom>
          <a:solidFill>
            <a:srgbClr val="FFF6D8"/>
          </a:solidFill>
          <a:ln w="7620">
            <a:solidFill>
              <a:srgbClr val="D7E0E8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3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소음 계산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181344" y="5047488"/>
            <a:ext cx="877824" cy="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56" name="Text 54"/>
          <p:cNvSpPr/>
          <p:nvPr/>
        </p:nvSpPr>
        <p:spPr>
          <a:xfrm>
            <a:off x="7059168" y="4892040"/>
            <a:ext cx="914400" cy="310896"/>
          </a:xfrm>
          <a:prstGeom prst="roundRect">
            <a:avLst>
              <a:gd name="adj" fmla="val 29412"/>
            </a:avLst>
          </a:prstGeom>
          <a:solidFill>
            <a:srgbClr val="F2EDFF"/>
          </a:solidFill>
          <a:ln w="7620">
            <a:solidFill>
              <a:srgbClr val="D7E0E8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3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 AI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8010144" y="5047488"/>
            <a:ext cx="877824" cy="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58" name="Text 56"/>
          <p:cNvSpPr/>
          <p:nvPr/>
        </p:nvSpPr>
        <p:spPr>
          <a:xfrm>
            <a:off x="8887968" y="4892040"/>
            <a:ext cx="1417320" cy="310896"/>
          </a:xfrm>
          <a:prstGeom prst="roundRect">
            <a:avLst>
              <a:gd name="adj" fmla="val 29412"/>
            </a:avLst>
          </a:prstGeom>
          <a:solidFill>
            <a:srgbClr val="F4F7FA"/>
          </a:solidFill>
          <a:ln w="7620">
            <a:solidFill>
              <a:srgbClr val="D7E0E8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3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리소스 출력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822960" y="5797296"/>
            <a:ext cx="10515600" cy="256032"/>
          </a:xfrm>
          <a:prstGeom prst="rect">
            <a:avLst/>
          </a:prstGeom>
          <a:solidFill>
            <a:srgbClr val="F4F7FA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3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기준: 호흡 시스템은 단일 컨트롤러가 모든 것을 직접 처리하지 않고, 상태값을 다른 모듈이 참조하는 구조로 분리한다.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" y="146304"/>
            <a:ext cx="11887200" cy="656539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713232"/>
            <a:ext cx="11201400" cy="0"/>
          </a:xfrm>
          <a:prstGeom prst="line">
            <a:avLst/>
          </a:prstGeom>
          <a:noFill/>
          <a:ln w="12700">
            <a:solidFill>
              <a:srgbClr val="D7E0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6446520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리소스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30352" y="32918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리소스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85800" y="1033272"/>
            <a:ext cx="10881360" cy="3749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033272"/>
            <a:ext cx="1741018" cy="310896"/>
          </a:xfrm>
          <a:prstGeom prst="rect">
            <a:avLst/>
          </a:prstGeom>
          <a:solidFill>
            <a:srgbClr val="073B5A"/>
          </a:solidFill>
          <a:ln w="7620">
            <a:solidFill>
              <a:srgbClr val="073B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2376" y="1097280"/>
            <a:ext cx="166786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분류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26818" y="1033272"/>
            <a:ext cx="3046781" cy="310896"/>
          </a:xfrm>
          <a:prstGeom prst="rect">
            <a:avLst/>
          </a:prstGeom>
          <a:solidFill>
            <a:srgbClr val="073B5A"/>
          </a:solidFill>
          <a:ln w="7620">
            <a:solidFill>
              <a:srgbClr val="073B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3394" y="1097280"/>
            <a:ext cx="2973629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리소스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73598" y="1033272"/>
            <a:ext cx="2720340" cy="310896"/>
          </a:xfrm>
          <a:prstGeom prst="rect">
            <a:avLst/>
          </a:prstGeom>
          <a:solidFill>
            <a:srgbClr val="073B5A"/>
          </a:solidFill>
          <a:ln w="7620">
            <a:solidFill>
              <a:srgbClr val="073B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10174" y="1097280"/>
            <a:ext cx="264718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 시점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193938" y="1033272"/>
            <a:ext cx="3373222" cy="310896"/>
          </a:xfrm>
          <a:prstGeom prst="rect">
            <a:avLst/>
          </a:prstGeom>
          <a:solidFill>
            <a:srgbClr val="073B5A"/>
          </a:solidFill>
          <a:ln w="7620">
            <a:solidFill>
              <a:srgbClr val="073B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30514" y="1097280"/>
            <a:ext cx="330007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5800" y="1344168"/>
            <a:ext cx="1741018" cy="573024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0664" y="1399032"/>
            <a:ext cx="1631290" cy="4815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UI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426818" y="1344168"/>
            <a:ext cx="3046781" cy="573024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81682" y="1399032"/>
            <a:ext cx="2937053" cy="4815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 게이지 / 안전 한계선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73598" y="1344168"/>
            <a:ext cx="2720340" cy="573024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28462" y="1399032"/>
            <a:ext cx="2610612" cy="4815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들이마시기·숨 참기·환경 진입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93938" y="1344168"/>
            <a:ext cx="3373222" cy="573024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48802" y="1399032"/>
            <a:ext cx="3263494" cy="4815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호흡량과 위험을 즉시 전달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5800" y="1917192"/>
            <a:ext cx="1741018" cy="573024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0664" y="1972056"/>
            <a:ext cx="1631290" cy="4815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UI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426818" y="1917192"/>
            <a:ext cx="3046781" cy="573024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81682" y="1972056"/>
            <a:ext cx="2937053" cy="4815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소음 게이지 / 의심 표시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73598" y="1917192"/>
            <a:ext cx="2720340" cy="573024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28462" y="1972056"/>
            <a:ext cx="2610612" cy="4815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내쉬기·재채기·이동 소음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193938" y="1917192"/>
            <a:ext cx="3373222" cy="573024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48802" y="1972056"/>
            <a:ext cx="3263494" cy="4815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반응 예측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85800" y="2490216"/>
            <a:ext cx="1741018" cy="573024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0664" y="2545080"/>
            <a:ext cx="1631290" cy="4815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SFX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426818" y="2490216"/>
            <a:ext cx="3046781" cy="573024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81682" y="2545080"/>
            <a:ext cx="2937053" cy="4815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짧은 들숨 / 거친 호흡 / 재채기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473598" y="2490216"/>
            <a:ext cx="2720340" cy="573024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28462" y="2545080"/>
            <a:ext cx="2610612" cy="4815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 단계 변화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193938" y="2490216"/>
            <a:ext cx="3373222" cy="573024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48802" y="2545080"/>
            <a:ext cx="3263494" cy="4815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소음 단계 구분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85800" y="3063240"/>
            <a:ext cx="1741018" cy="573024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0664" y="3118104"/>
            <a:ext cx="1631290" cy="4815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VFX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426818" y="3063240"/>
            <a:ext cx="3046781" cy="573024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481682" y="3118104"/>
            <a:ext cx="2937053" cy="4815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먼지·꽃가루·연기 입자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473598" y="3063240"/>
            <a:ext cx="2720340" cy="573024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528462" y="3118104"/>
            <a:ext cx="2610612" cy="4815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공기 환경 구역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193938" y="3063240"/>
            <a:ext cx="3373222" cy="573024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248802" y="3118104"/>
            <a:ext cx="3263494" cy="4815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들이마시기 위험 표시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85800" y="3636264"/>
            <a:ext cx="1741018" cy="573024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0664" y="3691128"/>
            <a:ext cx="1631290" cy="4815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애니메이션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426818" y="3636264"/>
            <a:ext cx="3046781" cy="573024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481682" y="3691128"/>
            <a:ext cx="2937053" cy="4815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숨 참기 / 헐떡임 / 흡음 / 공명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473598" y="3636264"/>
            <a:ext cx="2720340" cy="573024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528462" y="3691128"/>
            <a:ext cx="2610612" cy="4815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능력 사용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8193938" y="3636264"/>
            <a:ext cx="3373222" cy="573024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248802" y="3691128"/>
            <a:ext cx="3263494" cy="4815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플레이 피드백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85800" y="4209288"/>
            <a:ext cx="1741018" cy="573024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40664" y="4264152"/>
            <a:ext cx="1631290" cy="4815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2426818" y="4209288"/>
            <a:ext cx="3046781" cy="573024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481682" y="4264152"/>
            <a:ext cx="2937053" cy="4815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환경별 안전 한계 / 적 청각 범위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5473598" y="4209288"/>
            <a:ext cx="2720340" cy="573024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528462" y="4264152"/>
            <a:ext cx="2610612" cy="4815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레벨·AI 밸런싱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8193938" y="4209288"/>
            <a:ext cx="3373222" cy="573024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248802" y="4264152"/>
            <a:ext cx="3263494" cy="4815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난이도 조정 기준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822960" y="5724144"/>
            <a:ext cx="10515600" cy="256032"/>
          </a:xfrm>
          <a:prstGeom prst="rect">
            <a:avLst/>
          </a:prstGeom>
          <a:solidFill>
            <a:srgbClr val="F4F7FA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3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리소스 작성 기준: 언제 보이는가와 어떤 규칙을 전달하는가를 함께 적어 제작 우선순위를 정한다.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" y="146304"/>
            <a:ext cx="11887200" cy="656539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713232"/>
            <a:ext cx="11201400" cy="0"/>
          </a:xfrm>
          <a:prstGeom prst="line">
            <a:avLst/>
          </a:prstGeom>
          <a:noFill/>
          <a:ln w="12700">
            <a:solidFill>
              <a:srgbClr val="D7E0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6446520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예외사항 안전장치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30352" y="32918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예외사항 안전장치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10881360" cy="3749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051560"/>
            <a:ext cx="2611526" cy="310896"/>
          </a:xfrm>
          <a:prstGeom prst="rect">
            <a:avLst/>
          </a:prstGeom>
          <a:solidFill>
            <a:srgbClr val="073B5A"/>
          </a:solidFill>
          <a:ln w="7620">
            <a:solidFill>
              <a:srgbClr val="073B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2376" y="1115568"/>
            <a:ext cx="253837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예외 상황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7326" y="1051560"/>
            <a:ext cx="2393899" cy="310896"/>
          </a:xfrm>
          <a:prstGeom prst="rect">
            <a:avLst/>
          </a:prstGeom>
          <a:solidFill>
            <a:srgbClr val="073B5A"/>
          </a:solidFill>
          <a:ln w="7620">
            <a:solidFill>
              <a:srgbClr val="073B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3902" y="1115568"/>
            <a:ext cx="2320747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691226" y="1051560"/>
            <a:ext cx="5875934" cy="310896"/>
          </a:xfrm>
          <a:prstGeom prst="rect">
            <a:avLst/>
          </a:prstGeom>
          <a:solidFill>
            <a:srgbClr val="073B5A"/>
          </a:solidFill>
          <a:ln w="7620">
            <a:solidFill>
              <a:srgbClr val="073B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27802" y="1115568"/>
            <a:ext cx="580278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 장치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5800" y="1362456"/>
            <a:ext cx="2611526" cy="573024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0664" y="1417320"/>
            <a:ext cx="2501798" cy="4815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흡음 중 추가 흡음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97326" y="1362456"/>
            <a:ext cx="2393899" cy="573024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52190" y="1417320"/>
            <a:ext cx="2284171" cy="4815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소음 저장 중 호흡 잠금과 충돌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91226" y="1362456"/>
            <a:ext cx="5875934" cy="573024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46090" y="1417320"/>
            <a:ext cx="5766206" cy="4815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추가 흡음 불가 / HUD 경고 출력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5800" y="1935480"/>
            <a:ext cx="2611526" cy="573024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0664" y="1990344"/>
            <a:ext cx="2501798" cy="4815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공중 부유 중 게이지 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97326" y="1935480"/>
            <a:ext cx="2393899" cy="573024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52190" y="1990344"/>
            <a:ext cx="2284171" cy="4815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공중 정지 유지 불가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691226" y="1935480"/>
            <a:ext cx="5875934" cy="573024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46090" y="1990344"/>
            <a:ext cx="5766206" cy="4815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강제 호흡 후 즉시 낙하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85800" y="2508504"/>
            <a:ext cx="2611526" cy="573024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0664" y="2563368"/>
            <a:ext cx="2501798" cy="4815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재채기 직전 수중 진입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97326" y="2508504"/>
            <a:ext cx="2393899" cy="573024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52190" y="2563368"/>
            <a:ext cx="2284171" cy="4815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 리소스와 환경 규칙 충돌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691226" y="2508504"/>
            <a:ext cx="5875934" cy="573024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46090" y="2563368"/>
            <a:ext cx="5766206" cy="4815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재채기 취소 / 기침 상태로 전환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85800" y="3081528"/>
            <a:ext cx="2611526" cy="573024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0664" y="3136392"/>
            <a:ext cx="2501798" cy="4815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투명화 중 충돌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97326" y="3081528"/>
            <a:ext cx="2393899" cy="573024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52190" y="3136392"/>
            <a:ext cx="2284171" cy="4815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시각 은신과 물리 흔적 충돌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691226" y="3081528"/>
            <a:ext cx="5875934" cy="573024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46090" y="3136392"/>
            <a:ext cx="5766206" cy="4815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충돌음은 발생 / 적 AI 의심 증가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85800" y="3654552"/>
            <a:ext cx="2611526" cy="573024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0664" y="3709416"/>
            <a:ext cx="2501798" cy="4815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비상 호흡 연속 사용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97326" y="3654552"/>
            <a:ext cx="2393899" cy="573024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52190" y="3709416"/>
            <a:ext cx="2284171" cy="4815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무한 숨 참기 가능성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691226" y="3654552"/>
            <a:ext cx="5875934" cy="573024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46090" y="3709416"/>
            <a:ext cx="5766206" cy="4815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사이클 1회 제한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85800" y="4227576"/>
            <a:ext cx="2611526" cy="573024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0664" y="4282440"/>
            <a:ext cx="2501798" cy="4815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필수 구간 소음 방출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297326" y="4227576"/>
            <a:ext cx="2393899" cy="573024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352190" y="4282440"/>
            <a:ext cx="2284171" cy="4815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진행 불가능 위치에서 적 과다 유입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691226" y="4227576"/>
            <a:ext cx="5875934" cy="573024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46090" y="4282440"/>
            <a:ext cx="5766206" cy="4815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방출 위치 제한 / 안전 구역 배치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822960" y="5742432"/>
            <a:ext cx="10515600" cy="256032"/>
          </a:xfrm>
          <a:prstGeom prst="rect">
            <a:avLst/>
          </a:prstGeom>
          <a:solidFill>
            <a:srgbClr val="F4F7FA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3B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작성 원칙: 예외사항은 규칙을 약하게 만드는 장치가 아니라, 규칙 충돌로 플레이가 망가지지 않게 하는 처리 약속이다.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6">
            <a:extLst>
              <a:ext uri="{FF2B5EF4-FFF2-40B4-BE49-F238E27FC236}">
                <a16:creationId xmlns:a16="http://schemas.microsoft.com/office/drawing/2014/main" id="{5241EF64-F13C-49B6-90AD-B7077847D28D}"/>
              </a:ext>
            </a:extLst>
          </p:cNvPr>
          <p:cNvSpPr/>
          <p:nvPr/>
        </p:nvSpPr>
        <p:spPr>
          <a:xfrm>
            <a:off x="-1222414" y="1142812"/>
            <a:ext cx="758952" cy="0"/>
          </a:xfrm>
          <a:prstGeom prst="line">
            <a:avLst/>
          </a:prstGeom>
          <a:noFill/>
          <a:ln w="19050">
            <a:solidFill>
              <a:srgbClr val="073B5A"/>
            </a:solidFill>
            <a:prstDash val="solid"/>
            <a:headEnd type="none"/>
            <a:tailEnd type="triangle"/>
          </a:ln>
        </p:spPr>
      </p:sp>
      <p:sp>
        <p:nvSpPr>
          <p:cNvPr id="8" name="Text 16">
            <a:extLst>
              <a:ext uri="{FF2B5EF4-FFF2-40B4-BE49-F238E27FC236}">
                <a16:creationId xmlns:a16="http://schemas.microsoft.com/office/drawing/2014/main" id="{D2034FDF-E141-45BF-9316-4802F9EDD5B1}"/>
              </a:ext>
            </a:extLst>
          </p:cNvPr>
          <p:cNvSpPr/>
          <p:nvPr/>
        </p:nvSpPr>
        <p:spPr>
          <a:xfrm>
            <a:off x="-2827026" y="1359781"/>
            <a:ext cx="1371600" cy="640080"/>
          </a:xfrm>
          <a:prstGeom prst="flowChartProcess">
            <a:avLst/>
          </a:prstGeom>
          <a:solidFill>
            <a:srgbClr val="F2EDFF"/>
          </a:solidFill>
          <a:ln w="13970">
            <a:solidFill>
              <a:srgbClr val="073B5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소음 저장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indent="0" algn="ctr">
              <a:buNone/>
            </a:pPr>
            <a:r>
              <a:rPr 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호흡 잠금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 15">
            <a:extLst>
              <a:ext uri="{FF2B5EF4-FFF2-40B4-BE49-F238E27FC236}">
                <a16:creationId xmlns:a16="http://schemas.microsoft.com/office/drawing/2014/main" id="{8E32EC34-3881-4C43-9A2D-C7CA0B7F612D}"/>
              </a:ext>
            </a:extLst>
          </p:cNvPr>
          <p:cNvSpPr/>
          <p:nvPr/>
        </p:nvSpPr>
        <p:spPr>
          <a:xfrm>
            <a:off x="-2817882" y="502732"/>
            <a:ext cx="1353312" cy="640080"/>
          </a:xfrm>
          <a:prstGeom prst="flowChartProcess">
            <a:avLst/>
          </a:prstGeom>
          <a:solidFill>
            <a:srgbClr val="FFF6D8"/>
          </a:solidFill>
          <a:ln w="13970">
            <a:solidFill>
              <a:srgbClr val="073B5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자극도 증가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Text 15">
            <a:extLst>
              <a:ext uri="{FF2B5EF4-FFF2-40B4-BE49-F238E27FC236}">
                <a16:creationId xmlns:a16="http://schemas.microsoft.com/office/drawing/2014/main" id="{C68718AE-2CAC-4DB8-80C3-12DA6D51ACA2}"/>
              </a:ext>
            </a:extLst>
          </p:cNvPr>
          <p:cNvSpPr/>
          <p:nvPr/>
        </p:nvSpPr>
        <p:spPr>
          <a:xfrm>
            <a:off x="551790" y="1402295"/>
            <a:ext cx="953863" cy="640080"/>
          </a:xfrm>
          <a:prstGeom prst="flowChartProcess">
            <a:avLst/>
          </a:prstGeom>
          <a:solidFill>
            <a:srgbClr val="EAF3FF"/>
          </a:solidFill>
          <a:ln w="13970">
            <a:solidFill>
              <a:srgbClr val="073B5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플레이 시작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  <a:cs typeface="맑은 고딕" pitchFamily="34" charset="-120"/>
            </a:endParaRPr>
          </a:p>
          <a:p>
            <a:pPr marL="0" indent="0" algn="ctr">
              <a:buNone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호흡 조작 가능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Text 15">
            <a:extLst>
              <a:ext uri="{FF2B5EF4-FFF2-40B4-BE49-F238E27FC236}">
                <a16:creationId xmlns:a16="http://schemas.microsoft.com/office/drawing/2014/main" id="{8B1038B4-9D7A-4BAB-9706-EBC4A1614C05}"/>
              </a:ext>
            </a:extLst>
          </p:cNvPr>
          <p:cNvSpPr/>
          <p:nvPr/>
        </p:nvSpPr>
        <p:spPr>
          <a:xfrm>
            <a:off x="1812742" y="1402295"/>
            <a:ext cx="953863" cy="640080"/>
          </a:xfrm>
          <a:prstGeom prst="flowChartProcess">
            <a:avLst/>
          </a:prstGeom>
          <a:solidFill>
            <a:srgbClr val="EAF3FF"/>
          </a:solidFill>
          <a:ln w="13970">
            <a:solidFill>
              <a:srgbClr val="073B5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들이마시기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  <a:cs typeface="맑은 고딕" pitchFamily="34" charset="-120"/>
            </a:endParaRPr>
          </a:p>
          <a:p>
            <a:pPr marL="0" indent="0" algn="ctr">
              <a:buNone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입력 시작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순서도: 문서 13">
            <a:extLst>
              <a:ext uri="{FF2B5EF4-FFF2-40B4-BE49-F238E27FC236}">
                <a16:creationId xmlns:a16="http://schemas.microsoft.com/office/drawing/2014/main" id="{9DFFB465-53BE-400A-AFB0-BB9177DDD8DB}"/>
              </a:ext>
            </a:extLst>
          </p:cNvPr>
          <p:cNvSpPr/>
          <p:nvPr/>
        </p:nvSpPr>
        <p:spPr>
          <a:xfrm>
            <a:off x="3073694" y="1391065"/>
            <a:ext cx="1353312" cy="651309"/>
          </a:xfrm>
          <a:prstGeom prst="flowChartDocument">
            <a:avLst/>
          </a:prstGeom>
          <a:solidFill>
            <a:srgbClr val="EAF7EE"/>
          </a:solidFill>
          <a:ln>
            <a:solidFill>
              <a:srgbClr val="2D8D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현재 공기 환경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 호흡</a:t>
            </a:r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DE29DBF1-AB43-41FD-AF05-32F729BCDB27}"/>
              </a:ext>
            </a:extLst>
          </p:cNvPr>
          <p:cNvSpPr/>
          <p:nvPr/>
        </p:nvSpPr>
        <p:spPr>
          <a:xfrm>
            <a:off x="4734095" y="1305240"/>
            <a:ext cx="1353312" cy="822960"/>
          </a:xfrm>
          <a:prstGeom prst="flowChartDecision">
            <a:avLst/>
          </a:prstGeom>
          <a:solidFill>
            <a:srgbClr val="FFF0E6"/>
          </a:solidFill>
          <a:ln w="13970">
            <a:solidFill>
              <a:srgbClr val="B45309"/>
            </a:solidFill>
          </a:ln>
        </p:spPr>
        <p:txBody>
          <a:bodyPr wrap="square" lIns="635" tIns="635" rIns="635" bIns="635" rtlCol="0" anchor="ctr">
            <a:normAutofit fontScale="92500"/>
          </a:bodyPr>
          <a:lstStyle/>
          <a:p>
            <a:pPr marL="0" indent="0" algn="ctr">
              <a:buNone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현재 공기가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  <a:cs typeface="맑은 고딕" pitchFamily="34" charset="-120"/>
            </a:endParaRPr>
          </a:p>
          <a:p>
            <a:pPr marL="0" indent="0" algn="ctr">
              <a:buNone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정상적인가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31E5922A-92FA-4C37-8A7E-F3AA5B68B4B2}"/>
              </a:ext>
            </a:extLst>
          </p:cNvPr>
          <p:cNvSpPr/>
          <p:nvPr/>
        </p:nvSpPr>
        <p:spPr>
          <a:xfrm>
            <a:off x="6394496" y="1402295"/>
            <a:ext cx="2549011" cy="640080"/>
          </a:xfrm>
          <a:prstGeom prst="flowChartProcess">
            <a:avLst/>
          </a:prstGeom>
          <a:solidFill>
            <a:srgbClr val="EAF3FF"/>
          </a:solidFill>
          <a:ln w="13970">
            <a:solidFill>
              <a:srgbClr val="073B5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algn="ctr">
              <a:buNone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입력 시간만큼 호흡 게이지 충전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  <a:cs typeface="맑은 고딕" pitchFamily="34" charset="-120"/>
            </a:endParaRPr>
          </a:p>
          <a:p>
            <a:pPr marL="25200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원하는 지점에서 중단 가능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5200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깊게 들이마실수록 더 많은 호흡 확보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순서도: 문서 16">
            <a:extLst>
              <a:ext uri="{FF2B5EF4-FFF2-40B4-BE49-F238E27FC236}">
                <a16:creationId xmlns:a16="http://schemas.microsoft.com/office/drawing/2014/main" id="{3398CC3A-571C-43C7-AE08-17EA41084A6C}"/>
              </a:ext>
            </a:extLst>
          </p:cNvPr>
          <p:cNvSpPr/>
          <p:nvPr/>
        </p:nvSpPr>
        <p:spPr>
          <a:xfrm>
            <a:off x="9250596" y="1402295"/>
            <a:ext cx="1353312" cy="651309"/>
          </a:xfrm>
          <a:prstGeom prst="flowChartDocument">
            <a:avLst/>
          </a:prstGeom>
          <a:solidFill>
            <a:srgbClr val="EAF7EE"/>
          </a:solidFill>
          <a:ln>
            <a:solidFill>
              <a:srgbClr val="2D8D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 게이지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들숨 연출 출력</a:t>
            </a:r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1C50F085-F534-4C0D-8F80-99FC82F386D6}"/>
              </a:ext>
            </a:extLst>
          </p:cNvPr>
          <p:cNvSpPr/>
          <p:nvPr/>
        </p:nvSpPr>
        <p:spPr>
          <a:xfrm>
            <a:off x="10910997" y="1385449"/>
            <a:ext cx="953863" cy="640080"/>
          </a:xfrm>
          <a:prstGeom prst="flowChartProcess">
            <a:avLst/>
          </a:prstGeom>
          <a:solidFill>
            <a:srgbClr val="EAF3FF"/>
          </a:solidFill>
          <a:ln w="13970">
            <a:solidFill>
              <a:srgbClr val="073B5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숨 참기 입력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  <a:cs typeface="맑은 고딕" pitchFamily="34" charset="-120"/>
            </a:endParaRPr>
          </a:p>
          <a:p>
            <a:pPr marL="0" indent="0" algn="ctr">
              <a:buNone/>
            </a:pPr>
            <a:r>
              <a:rPr 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상태 진입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Shape 6">
            <a:extLst>
              <a:ext uri="{FF2B5EF4-FFF2-40B4-BE49-F238E27FC236}">
                <a16:creationId xmlns:a16="http://schemas.microsoft.com/office/drawing/2014/main" id="{700089FC-D991-47BF-97C6-DEB4C7FDB14D}"/>
              </a:ext>
            </a:extLst>
          </p:cNvPr>
          <p:cNvSpPr/>
          <p:nvPr/>
        </p:nvSpPr>
        <p:spPr>
          <a:xfrm>
            <a:off x="1505653" y="1719127"/>
            <a:ext cx="307089" cy="0"/>
          </a:xfrm>
          <a:prstGeom prst="line">
            <a:avLst/>
          </a:prstGeom>
          <a:noFill/>
          <a:ln w="19050">
            <a:solidFill>
              <a:srgbClr val="073B5A"/>
            </a:solidFill>
            <a:prstDash val="solid"/>
            <a:headEnd type="none"/>
            <a:tailEnd type="triangle"/>
          </a:ln>
        </p:spPr>
      </p:sp>
      <p:sp>
        <p:nvSpPr>
          <p:cNvPr id="20" name="Shape 6">
            <a:extLst>
              <a:ext uri="{FF2B5EF4-FFF2-40B4-BE49-F238E27FC236}">
                <a16:creationId xmlns:a16="http://schemas.microsoft.com/office/drawing/2014/main" id="{6A7BE872-DC81-4857-A533-3F9E391F0ABD}"/>
              </a:ext>
            </a:extLst>
          </p:cNvPr>
          <p:cNvSpPr/>
          <p:nvPr/>
        </p:nvSpPr>
        <p:spPr>
          <a:xfrm>
            <a:off x="2766605" y="1743190"/>
            <a:ext cx="307089" cy="0"/>
          </a:xfrm>
          <a:prstGeom prst="line">
            <a:avLst/>
          </a:prstGeom>
          <a:noFill/>
          <a:ln w="19050">
            <a:solidFill>
              <a:srgbClr val="073B5A"/>
            </a:solidFill>
            <a:prstDash val="solid"/>
            <a:headEnd type="none"/>
            <a:tailEnd type="triangle"/>
          </a:ln>
        </p:spPr>
      </p:sp>
      <p:sp>
        <p:nvSpPr>
          <p:cNvPr id="21" name="Shape 6">
            <a:extLst>
              <a:ext uri="{FF2B5EF4-FFF2-40B4-BE49-F238E27FC236}">
                <a16:creationId xmlns:a16="http://schemas.microsoft.com/office/drawing/2014/main" id="{45A62CEB-3995-4753-9777-0630776C1956}"/>
              </a:ext>
            </a:extLst>
          </p:cNvPr>
          <p:cNvSpPr/>
          <p:nvPr/>
        </p:nvSpPr>
        <p:spPr>
          <a:xfrm>
            <a:off x="4427006" y="1743190"/>
            <a:ext cx="307089" cy="0"/>
          </a:xfrm>
          <a:prstGeom prst="line">
            <a:avLst/>
          </a:prstGeom>
          <a:noFill/>
          <a:ln w="19050">
            <a:solidFill>
              <a:srgbClr val="073B5A"/>
            </a:solidFill>
            <a:prstDash val="solid"/>
            <a:headEnd type="none"/>
            <a:tailEnd type="triangle"/>
          </a:ln>
        </p:spPr>
      </p:sp>
      <p:sp>
        <p:nvSpPr>
          <p:cNvPr id="22" name="Shape 6">
            <a:extLst>
              <a:ext uri="{FF2B5EF4-FFF2-40B4-BE49-F238E27FC236}">
                <a16:creationId xmlns:a16="http://schemas.microsoft.com/office/drawing/2014/main" id="{4EE9BA0A-7E39-4C4F-A2ED-FD905F4B7D79}"/>
              </a:ext>
            </a:extLst>
          </p:cNvPr>
          <p:cNvSpPr/>
          <p:nvPr/>
        </p:nvSpPr>
        <p:spPr>
          <a:xfrm>
            <a:off x="6103406" y="1743190"/>
            <a:ext cx="307089" cy="0"/>
          </a:xfrm>
          <a:prstGeom prst="line">
            <a:avLst/>
          </a:prstGeom>
          <a:noFill/>
          <a:ln w="19050">
            <a:solidFill>
              <a:srgbClr val="46AFF0"/>
            </a:solidFill>
            <a:prstDash val="solid"/>
            <a:headEnd type="none"/>
            <a:tailEnd type="triangle"/>
          </a:ln>
        </p:spPr>
      </p:sp>
      <p:sp>
        <p:nvSpPr>
          <p:cNvPr id="23" name="Shape 6">
            <a:extLst>
              <a:ext uri="{FF2B5EF4-FFF2-40B4-BE49-F238E27FC236}">
                <a16:creationId xmlns:a16="http://schemas.microsoft.com/office/drawing/2014/main" id="{C1C63BAF-83C6-42DD-8C08-4DA8E2DBF459}"/>
              </a:ext>
            </a:extLst>
          </p:cNvPr>
          <p:cNvSpPr/>
          <p:nvPr/>
        </p:nvSpPr>
        <p:spPr>
          <a:xfrm>
            <a:off x="8943507" y="1743190"/>
            <a:ext cx="307089" cy="0"/>
          </a:xfrm>
          <a:prstGeom prst="line">
            <a:avLst/>
          </a:prstGeom>
          <a:noFill/>
          <a:ln w="19050">
            <a:solidFill>
              <a:srgbClr val="073B5A"/>
            </a:solidFill>
            <a:prstDash val="solid"/>
            <a:headEnd type="none"/>
            <a:tailEnd type="triangle"/>
          </a:ln>
        </p:spPr>
      </p:sp>
      <p:sp>
        <p:nvSpPr>
          <p:cNvPr id="24" name="Shape 6">
            <a:extLst>
              <a:ext uri="{FF2B5EF4-FFF2-40B4-BE49-F238E27FC236}">
                <a16:creationId xmlns:a16="http://schemas.microsoft.com/office/drawing/2014/main" id="{CB013F1A-4D28-4886-83F5-96669CADB501}"/>
              </a:ext>
            </a:extLst>
          </p:cNvPr>
          <p:cNvSpPr/>
          <p:nvPr/>
        </p:nvSpPr>
        <p:spPr>
          <a:xfrm>
            <a:off x="10603908" y="1743190"/>
            <a:ext cx="307089" cy="0"/>
          </a:xfrm>
          <a:prstGeom prst="line">
            <a:avLst/>
          </a:prstGeom>
          <a:noFill/>
          <a:ln w="19050">
            <a:solidFill>
              <a:srgbClr val="073B5A"/>
            </a:solidFill>
            <a:prstDash val="solid"/>
            <a:headEnd type="none"/>
            <a:tailEnd type="triangle"/>
          </a:ln>
        </p:spPr>
      </p:sp>
      <p:sp>
        <p:nvSpPr>
          <p:cNvPr id="25" name="Text 15">
            <a:extLst>
              <a:ext uri="{FF2B5EF4-FFF2-40B4-BE49-F238E27FC236}">
                <a16:creationId xmlns:a16="http://schemas.microsoft.com/office/drawing/2014/main" id="{691E7701-0B8D-472F-8E04-86601B2D36A4}"/>
              </a:ext>
            </a:extLst>
          </p:cNvPr>
          <p:cNvSpPr/>
          <p:nvPr/>
        </p:nvSpPr>
        <p:spPr>
          <a:xfrm>
            <a:off x="9315849" y="2302657"/>
            <a:ext cx="2549011" cy="640080"/>
          </a:xfrm>
          <a:prstGeom prst="flowChartProcess">
            <a:avLst/>
          </a:prstGeom>
          <a:solidFill>
            <a:srgbClr val="EAF3FF"/>
          </a:solidFill>
          <a:ln w="13970">
            <a:solidFill>
              <a:srgbClr val="073B5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algn="ctr">
              <a:buNone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호흡 소음 억제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+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호흡 게이지 지속 소모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  <a:cs typeface="맑은 고딕" pitchFamily="34" charset="-120"/>
            </a:endParaRPr>
          </a:p>
          <a:p>
            <a:pPr marL="25200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이동 행동에 따라 소비 속도 변화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80550" algn="ctr"/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걷기 </a:t>
            </a: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&lt; </a:t>
            </a: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달리기 </a:t>
            </a: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&lt; </a:t>
            </a: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전력질주</a:t>
            </a:r>
            <a:endParaRPr lang="en-US" sz="1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Text 15">
            <a:extLst>
              <a:ext uri="{FF2B5EF4-FFF2-40B4-BE49-F238E27FC236}">
                <a16:creationId xmlns:a16="http://schemas.microsoft.com/office/drawing/2014/main" id="{E343BBFD-31C5-484B-8D1F-2CFDE6C66995}"/>
              </a:ext>
            </a:extLst>
          </p:cNvPr>
          <p:cNvSpPr/>
          <p:nvPr/>
        </p:nvSpPr>
        <p:spPr>
          <a:xfrm>
            <a:off x="3306044" y="2426466"/>
            <a:ext cx="2549011" cy="873494"/>
          </a:xfrm>
          <a:prstGeom prst="flowChartProcess">
            <a:avLst/>
          </a:prstGeom>
          <a:solidFill>
            <a:srgbClr val="EAF3FF"/>
          </a:solidFill>
          <a:ln w="13970">
            <a:solidFill>
              <a:srgbClr val="073B5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algn="ctr">
              <a:buNone/>
            </a:pPr>
            <a:r>
              <a:rPr lang="ko-KR" altLang="en-US" sz="10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환경별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 들숨 규칙 적용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  <a:cs typeface="맑은 고딕" pitchFamily="34" charset="-120"/>
            </a:endParaRPr>
          </a:p>
          <a:p>
            <a:pPr marL="25200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먼지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기침 위험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5200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꽃가루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재채기 위험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5200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연기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호흡 방해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5200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독가스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피해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상태이상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Text 15">
            <a:extLst>
              <a:ext uri="{FF2B5EF4-FFF2-40B4-BE49-F238E27FC236}">
                <a16:creationId xmlns:a16="http://schemas.microsoft.com/office/drawing/2014/main" id="{CF473451-5242-4FF2-ADFD-E9E479E35493}"/>
              </a:ext>
            </a:extLst>
          </p:cNvPr>
          <p:cNvSpPr/>
          <p:nvPr/>
        </p:nvSpPr>
        <p:spPr>
          <a:xfrm>
            <a:off x="551790" y="2804576"/>
            <a:ext cx="953863" cy="640080"/>
          </a:xfrm>
          <a:prstGeom prst="flowChartProcess">
            <a:avLst/>
          </a:prstGeom>
          <a:solidFill>
            <a:srgbClr val="EAF3FF"/>
          </a:solidFill>
          <a:ln w="13970">
            <a:solidFill>
              <a:srgbClr val="073B5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000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다시 호흡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  <a:cs typeface="맑은 고딕" pitchFamily="34" charset="-120"/>
            </a:endParaRPr>
          </a:p>
          <a:p>
            <a:pPr marL="0" indent="0" algn="ctr">
              <a:buNone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조작 가능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Text 14">
            <a:extLst>
              <a:ext uri="{FF2B5EF4-FFF2-40B4-BE49-F238E27FC236}">
                <a16:creationId xmlns:a16="http://schemas.microsoft.com/office/drawing/2014/main" id="{2B60D64B-0B81-4198-98B9-7922F2D9B706}"/>
              </a:ext>
            </a:extLst>
          </p:cNvPr>
          <p:cNvSpPr/>
          <p:nvPr/>
        </p:nvSpPr>
        <p:spPr>
          <a:xfrm>
            <a:off x="350707" y="4206858"/>
            <a:ext cx="1353312" cy="822960"/>
          </a:xfrm>
          <a:prstGeom prst="flowChartDecision">
            <a:avLst/>
          </a:prstGeom>
          <a:solidFill>
            <a:srgbClr val="FFF0E6"/>
          </a:solidFill>
          <a:ln w="13970">
            <a:solidFill>
              <a:srgbClr val="B45309"/>
            </a:solidFill>
          </a:ln>
        </p:spPr>
        <p:txBody>
          <a:bodyPr wrap="square" lIns="635" tIns="635" rIns="635" bIns="635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발생 소음이 적 탐지 기준 이상인가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?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순서도: 문서 28">
            <a:extLst>
              <a:ext uri="{FF2B5EF4-FFF2-40B4-BE49-F238E27FC236}">
                <a16:creationId xmlns:a16="http://schemas.microsoft.com/office/drawing/2014/main" id="{6C96223A-A7EE-4F49-B3FD-5A1C049019FC}"/>
              </a:ext>
            </a:extLst>
          </p:cNvPr>
          <p:cNvSpPr/>
          <p:nvPr/>
        </p:nvSpPr>
        <p:spPr>
          <a:xfrm>
            <a:off x="2019465" y="4292683"/>
            <a:ext cx="1353312" cy="651309"/>
          </a:xfrm>
          <a:prstGeom prst="flowChartDocument">
            <a:avLst/>
          </a:prstGeom>
          <a:solidFill>
            <a:srgbClr val="EAF7EE"/>
          </a:solidFill>
          <a:ln>
            <a:solidFill>
              <a:srgbClr val="2D8D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현재 공기 환경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 호흡</a:t>
            </a:r>
          </a:p>
        </p:txBody>
      </p:sp>
      <p:sp>
        <p:nvSpPr>
          <p:cNvPr id="30" name="Shape 6">
            <a:extLst>
              <a:ext uri="{FF2B5EF4-FFF2-40B4-BE49-F238E27FC236}">
                <a16:creationId xmlns:a16="http://schemas.microsoft.com/office/drawing/2014/main" id="{97B59143-1B92-489D-9472-0E39957B60D5}"/>
              </a:ext>
            </a:extLst>
          </p:cNvPr>
          <p:cNvSpPr/>
          <p:nvPr/>
        </p:nvSpPr>
        <p:spPr>
          <a:xfrm>
            <a:off x="1712376" y="4596680"/>
            <a:ext cx="307089" cy="0"/>
          </a:xfrm>
          <a:prstGeom prst="line">
            <a:avLst/>
          </a:prstGeom>
          <a:noFill/>
          <a:ln w="19050">
            <a:solidFill>
              <a:srgbClr val="073B5A"/>
            </a:solidFill>
            <a:prstDash val="solid"/>
            <a:headEnd type="triangle"/>
            <a:tailEnd type="none"/>
          </a:ln>
        </p:spPr>
      </p:sp>
      <p:sp>
        <p:nvSpPr>
          <p:cNvPr id="31" name="Text 15">
            <a:extLst>
              <a:ext uri="{FF2B5EF4-FFF2-40B4-BE49-F238E27FC236}">
                <a16:creationId xmlns:a16="http://schemas.microsoft.com/office/drawing/2014/main" id="{9B4B99C6-5400-4F95-8A20-6BAAE2B3B62C}"/>
              </a:ext>
            </a:extLst>
          </p:cNvPr>
          <p:cNvSpPr/>
          <p:nvPr/>
        </p:nvSpPr>
        <p:spPr>
          <a:xfrm>
            <a:off x="3679866" y="4185200"/>
            <a:ext cx="2549011" cy="822960"/>
          </a:xfrm>
          <a:prstGeom prst="flowChartProcess">
            <a:avLst/>
          </a:prstGeom>
          <a:solidFill>
            <a:srgbClr val="EAF3FF"/>
          </a:solidFill>
          <a:ln w="13970">
            <a:solidFill>
              <a:srgbClr val="073B5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algn="ctr">
              <a:buNone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현재 상태에 따라 호흡 소음 계산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  <a:cs typeface="맑은 고딕" pitchFamily="34" charset="-120"/>
            </a:endParaRPr>
          </a:p>
          <a:p>
            <a:pPr marL="25200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짧은 날숨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작은 소음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5200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거친 날숨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큰 소음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5200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강제 호흡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매우 큰 소음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Text 15">
            <a:extLst>
              <a:ext uri="{FF2B5EF4-FFF2-40B4-BE49-F238E27FC236}">
                <a16:creationId xmlns:a16="http://schemas.microsoft.com/office/drawing/2014/main" id="{76D4E237-7DBD-425C-B8AA-70E2A766D0B9}"/>
              </a:ext>
            </a:extLst>
          </p:cNvPr>
          <p:cNvSpPr/>
          <p:nvPr/>
        </p:nvSpPr>
        <p:spPr>
          <a:xfrm>
            <a:off x="6519849" y="4275437"/>
            <a:ext cx="2549011" cy="640080"/>
          </a:xfrm>
          <a:prstGeom prst="flowChartProcess">
            <a:avLst/>
          </a:prstGeom>
          <a:solidFill>
            <a:srgbClr val="EAF3FF"/>
          </a:solidFill>
          <a:ln w="13970">
            <a:solidFill>
              <a:srgbClr val="073B5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algn="ctr">
              <a:buNone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내쉬기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/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호흡 회복 시작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  <a:cs typeface="맑은 고딕" pitchFamily="34" charset="-120"/>
            </a:endParaRPr>
          </a:p>
          <a:p>
            <a:pPr marL="25200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필요한 양만 회복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5200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회복 도중 다시 숨 참기 가능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" name="Text 14">
            <a:extLst>
              <a:ext uri="{FF2B5EF4-FFF2-40B4-BE49-F238E27FC236}">
                <a16:creationId xmlns:a16="http://schemas.microsoft.com/office/drawing/2014/main" id="{8536016A-0020-4AEB-BFE9-E61A855E2703}"/>
              </a:ext>
            </a:extLst>
          </p:cNvPr>
          <p:cNvSpPr/>
          <p:nvPr/>
        </p:nvSpPr>
        <p:spPr>
          <a:xfrm>
            <a:off x="9797690" y="3253838"/>
            <a:ext cx="1585328" cy="822960"/>
          </a:xfrm>
          <a:prstGeom prst="flowChartDecision">
            <a:avLst/>
          </a:prstGeom>
          <a:solidFill>
            <a:srgbClr val="FFF0E6"/>
          </a:solidFill>
          <a:ln w="13970">
            <a:solidFill>
              <a:srgbClr val="B45309"/>
            </a:solidFill>
          </a:ln>
        </p:spPr>
        <p:txBody>
          <a:bodyPr wrap="square" lIns="635" tIns="635" rIns="635" bIns="635" rtlCol="0" anchor="ctr">
            <a:normAutofit fontScale="92500"/>
          </a:bodyPr>
          <a:lstStyle/>
          <a:p>
            <a:pPr marL="0" indent="0" algn="ctr">
              <a:buNone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호흡 게이지가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  <a:cs typeface="맑은 고딕" pitchFamily="34" charset="-120"/>
            </a:endParaRPr>
          </a:p>
          <a:p>
            <a:pPr marL="0" indent="0" algn="ctr">
              <a:buNone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남았는가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?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Text 15">
            <a:extLst>
              <a:ext uri="{FF2B5EF4-FFF2-40B4-BE49-F238E27FC236}">
                <a16:creationId xmlns:a16="http://schemas.microsoft.com/office/drawing/2014/main" id="{5E9A1B7B-1987-401B-A4A5-07E40790C836}"/>
              </a:ext>
            </a:extLst>
          </p:cNvPr>
          <p:cNvSpPr/>
          <p:nvPr/>
        </p:nvSpPr>
        <p:spPr>
          <a:xfrm>
            <a:off x="8536738" y="3345278"/>
            <a:ext cx="953863" cy="640080"/>
          </a:xfrm>
          <a:prstGeom prst="flowChartProcess">
            <a:avLst/>
          </a:prstGeom>
          <a:solidFill>
            <a:srgbClr val="EAF3FF"/>
          </a:solidFill>
          <a:ln w="13970">
            <a:solidFill>
              <a:srgbClr val="073B5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숨 참기 상태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  <a:cs typeface="맑은 고딕" pitchFamily="34" charset="-120"/>
            </a:endParaRPr>
          </a:p>
          <a:p>
            <a:pPr marL="0" indent="0" algn="ctr">
              <a:buNone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계속 유지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Shape 6">
            <a:extLst>
              <a:ext uri="{FF2B5EF4-FFF2-40B4-BE49-F238E27FC236}">
                <a16:creationId xmlns:a16="http://schemas.microsoft.com/office/drawing/2014/main" id="{BF00F6F5-F2DC-47C8-BF17-5C5EAF47133F}"/>
              </a:ext>
            </a:extLst>
          </p:cNvPr>
          <p:cNvSpPr/>
          <p:nvPr/>
        </p:nvSpPr>
        <p:spPr>
          <a:xfrm>
            <a:off x="9490601" y="3665318"/>
            <a:ext cx="307089" cy="0"/>
          </a:xfrm>
          <a:prstGeom prst="line">
            <a:avLst/>
          </a:prstGeom>
          <a:noFill/>
          <a:ln w="15240">
            <a:solidFill>
              <a:srgbClr val="46AFF0"/>
            </a:solidFill>
            <a:prstDash val="solid"/>
            <a:headEnd type="triangle"/>
            <a:tailEnd type="none"/>
          </a:ln>
        </p:spPr>
      </p:sp>
      <p:sp>
        <p:nvSpPr>
          <p:cNvPr id="37" name="Text 15">
            <a:extLst>
              <a:ext uri="{FF2B5EF4-FFF2-40B4-BE49-F238E27FC236}">
                <a16:creationId xmlns:a16="http://schemas.microsoft.com/office/drawing/2014/main" id="{A5C4E96C-237C-4FA6-A9F3-CEFC0A213D01}"/>
              </a:ext>
            </a:extLst>
          </p:cNvPr>
          <p:cNvSpPr/>
          <p:nvPr/>
        </p:nvSpPr>
        <p:spPr>
          <a:xfrm>
            <a:off x="6654167" y="3345278"/>
            <a:ext cx="1573002" cy="640080"/>
          </a:xfrm>
          <a:prstGeom prst="flowChartProcess">
            <a:avLst/>
          </a:prstGeom>
          <a:solidFill>
            <a:srgbClr val="EAF3FF"/>
          </a:solidFill>
          <a:ln w="13970">
            <a:solidFill>
              <a:srgbClr val="073B5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플레이어가 숨 참기 해제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  <a:cs typeface="맑은 고딕" pitchFamily="34" charset="-120"/>
            </a:endParaRPr>
          </a:p>
          <a:p>
            <a:pPr marL="0" indent="0" algn="ctr">
              <a:buNone/>
            </a:pPr>
            <a:r>
              <a:rPr 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내쉬기 시작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Shape 6">
            <a:extLst>
              <a:ext uri="{FF2B5EF4-FFF2-40B4-BE49-F238E27FC236}">
                <a16:creationId xmlns:a16="http://schemas.microsoft.com/office/drawing/2014/main" id="{5A389B70-09D1-4E56-8E6C-1ACF0FADA6CA}"/>
              </a:ext>
            </a:extLst>
          </p:cNvPr>
          <p:cNvSpPr/>
          <p:nvPr/>
        </p:nvSpPr>
        <p:spPr>
          <a:xfrm>
            <a:off x="8229649" y="3665318"/>
            <a:ext cx="307089" cy="0"/>
          </a:xfrm>
          <a:prstGeom prst="line">
            <a:avLst/>
          </a:prstGeom>
          <a:noFill/>
          <a:ln w="19050">
            <a:solidFill>
              <a:srgbClr val="073B5A"/>
            </a:solidFill>
            <a:prstDash val="solid"/>
            <a:headEnd type="triangle"/>
            <a:tailEnd type="none"/>
          </a:ln>
        </p:spPr>
      </p:sp>
      <p:sp>
        <p:nvSpPr>
          <p:cNvPr id="39" name="Shape 6">
            <a:extLst>
              <a:ext uri="{FF2B5EF4-FFF2-40B4-BE49-F238E27FC236}">
                <a16:creationId xmlns:a16="http://schemas.microsoft.com/office/drawing/2014/main" id="{893A7A2B-09DF-49A5-B48F-6ACDAF7EF640}"/>
              </a:ext>
            </a:extLst>
          </p:cNvPr>
          <p:cNvSpPr/>
          <p:nvPr/>
        </p:nvSpPr>
        <p:spPr>
          <a:xfrm rot="5400000">
            <a:off x="-1198887" y="1693916"/>
            <a:ext cx="307089" cy="0"/>
          </a:xfrm>
          <a:prstGeom prst="line">
            <a:avLst/>
          </a:prstGeom>
          <a:noFill/>
          <a:ln w="19050">
            <a:solidFill>
              <a:srgbClr val="073B5A"/>
            </a:solidFill>
            <a:prstDash val="solid"/>
            <a:headEnd type="none"/>
            <a:tailEnd type="triangle"/>
          </a:ln>
        </p:spPr>
      </p:sp>
      <p:sp>
        <p:nvSpPr>
          <p:cNvPr id="40" name="Shape 6">
            <a:extLst>
              <a:ext uri="{FF2B5EF4-FFF2-40B4-BE49-F238E27FC236}">
                <a16:creationId xmlns:a16="http://schemas.microsoft.com/office/drawing/2014/main" id="{623C263A-2B29-428E-8C78-68F258CBFF8E}"/>
              </a:ext>
            </a:extLst>
          </p:cNvPr>
          <p:cNvSpPr/>
          <p:nvPr/>
        </p:nvSpPr>
        <p:spPr>
          <a:xfrm rot="16200000">
            <a:off x="-788804" y="1673805"/>
            <a:ext cx="307089" cy="0"/>
          </a:xfrm>
          <a:prstGeom prst="line">
            <a:avLst/>
          </a:prstGeom>
          <a:noFill/>
          <a:ln w="19050">
            <a:solidFill>
              <a:srgbClr val="073B5A"/>
            </a:solidFill>
            <a:prstDash val="solid"/>
            <a:headEnd type="none"/>
            <a:tailEnd type="triangle"/>
          </a:ln>
        </p:spPr>
      </p:sp>
      <p:sp>
        <p:nvSpPr>
          <p:cNvPr id="42" name="Shape 6">
            <a:extLst>
              <a:ext uri="{FF2B5EF4-FFF2-40B4-BE49-F238E27FC236}">
                <a16:creationId xmlns:a16="http://schemas.microsoft.com/office/drawing/2014/main" id="{586DE14C-09A1-472C-9F9C-6821173FA1BB}"/>
              </a:ext>
            </a:extLst>
          </p:cNvPr>
          <p:cNvSpPr/>
          <p:nvPr/>
        </p:nvSpPr>
        <p:spPr>
          <a:xfrm rot="5400000">
            <a:off x="10450364" y="3096282"/>
            <a:ext cx="307089" cy="0"/>
          </a:xfrm>
          <a:prstGeom prst="line">
            <a:avLst/>
          </a:prstGeom>
          <a:noFill/>
          <a:ln w="19050">
            <a:solidFill>
              <a:srgbClr val="073B5A"/>
            </a:solidFill>
            <a:prstDash val="solid"/>
            <a:headEnd type="none"/>
            <a:tailEnd type="triangle"/>
          </a:ln>
        </p:spPr>
      </p:sp>
      <p:cxnSp>
        <p:nvCxnSpPr>
          <p:cNvPr id="44" name="연결선: 꺾임 43">
            <a:extLst>
              <a:ext uri="{FF2B5EF4-FFF2-40B4-BE49-F238E27FC236}">
                <a16:creationId xmlns:a16="http://schemas.microsoft.com/office/drawing/2014/main" id="{C78D19A6-14E3-452D-B988-F145B2142F2E}"/>
              </a:ext>
            </a:extLst>
          </p:cNvPr>
          <p:cNvCxnSpPr>
            <a:cxnSpLocks/>
            <a:stCxn id="18" idx="2"/>
            <a:endCxn id="25" idx="0"/>
          </p:cNvCxnSpPr>
          <p:nvPr/>
        </p:nvCxnSpPr>
        <p:spPr>
          <a:xfrm rot="5400000">
            <a:off x="10850578" y="1765306"/>
            <a:ext cx="277128" cy="797574"/>
          </a:xfrm>
          <a:prstGeom prst="bentConnector3">
            <a:avLst/>
          </a:prstGeom>
          <a:ln w="19050">
            <a:solidFill>
              <a:srgbClr val="073B5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Shape 6">
            <a:extLst>
              <a:ext uri="{FF2B5EF4-FFF2-40B4-BE49-F238E27FC236}">
                <a16:creationId xmlns:a16="http://schemas.microsoft.com/office/drawing/2014/main" id="{ABDB6EBE-E62A-4E1B-BCCE-88A317E5B907}"/>
              </a:ext>
            </a:extLst>
          </p:cNvPr>
          <p:cNvSpPr/>
          <p:nvPr/>
        </p:nvSpPr>
        <p:spPr>
          <a:xfrm rot="5400000">
            <a:off x="7336862" y="4139139"/>
            <a:ext cx="307089" cy="0"/>
          </a:xfrm>
          <a:prstGeom prst="line">
            <a:avLst/>
          </a:prstGeom>
          <a:noFill/>
          <a:ln w="19050">
            <a:solidFill>
              <a:srgbClr val="073B5A"/>
            </a:solidFill>
            <a:prstDash val="solid"/>
            <a:headEnd type="none"/>
            <a:tailEnd type="triangle"/>
          </a:ln>
        </p:spPr>
      </p:sp>
      <p:sp>
        <p:nvSpPr>
          <p:cNvPr id="47" name="Shape 6">
            <a:extLst>
              <a:ext uri="{FF2B5EF4-FFF2-40B4-BE49-F238E27FC236}">
                <a16:creationId xmlns:a16="http://schemas.microsoft.com/office/drawing/2014/main" id="{EADA1255-E5EB-4DCC-962E-51B29A2B98D0}"/>
              </a:ext>
            </a:extLst>
          </p:cNvPr>
          <p:cNvSpPr/>
          <p:nvPr/>
        </p:nvSpPr>
        <p:spPr>
          <a:xfrm>
            <a:off x="3372777" y="4562591"/>
            <a:ext cx="307089" cy="0"/>
          </a:xfrm>
          <a:prstGeom prst="line">
            <a:avLst/>
          </a:prstGeom>
          <a:noFill/>
          <a:ln w="19050">
            <a:solidFill>
              <a:srgbClr val="073B5A"/>
            </a:solidFill>
            <a:prstDash val="solid"/>
            <a:headEnd type="triangle"/>
            <a:tailEnd type="none"/>
          </a:ln>
        </p:spPr>
      </p:sp>
      <p:sp>
        <p:nvSpPr>
          <p:cNvPr id="48" name="Shape 6">
            <a:extLst>
              <a:ext uri="{FF2B5EF4-FFF2-40B4-BE49-F238E27FC236}">
                <a16:creationId xmlns:a16="http://schemas.microsoft.com/office/drawing/2014/main" id="{02F30AB4-EAA9-4A47-9286-51317EBA448E}"/>
              </a:ext>
            </a:extLst>
          </p:cNvPr>
          <p:cNvSpPr/>
          <p:nvPr/>
        </p:nvSpPr>
        <p:spPr>
          <a:xfrm>
            <a:off x="6212760" y="4596680"/>
            <a:ext cx="307089" cy="0"/>
          </a:xfrm>
          <a:prstGeom prst="line">
            <a:avLst/>
          </a:prstGeom>
          <a:noFill/>
          <a:ln w="19050">
            <a:solidFill>
              <a:srgbClr val="073B5A"/>
            </a:solidFill>
            <a:prstDash val="solid"/>
            <a:headEnd type="triangle"/>
            <a:tailEnd type="none"/>
          </a:ln>
        </p:spPr>
      </p:sp>
      <p:cxnSp>
        <p:nvCxnSpPr>
          <p:cNvPr id="49" name="연결선: 꺾임 48">
            <a:extLst>
              <a:ext uri="{FF2B5EF4-FFF2-40B4-BE49-F238E27FC236}">
                <a16:creationId xmlns:a16="http://schemas.microsoft.com/office/drawing/2014/main" id="{0432ED95-867C-48C3-AE5C-331BF2331E0D}"/>
              </a:ext>
            </a:extLst>
          </p:cNvPr>
          <p:cNvCxnSpPr>
            <a:cxnSpLocks/>
            <a:stCxn id="27" idx="0"/>
            <a:endCxn id="13" idx="2"/>
          </p:cNvCxnSpPr>
          <p:nvPr/>
        </p:nvCxnSpPr>
        <p:spPr>
          <a:xfrm rot="5400000" flipH="1" flipV="1">
            <a:off x="1278098" y="1793000"/>
            <a:ext cx="762201" cy="1260952"/>
          </a:xfrm>
          <a:prstGeom prst="bentConnector3">
            <a:avLst>
              <a:gd name="adj1" fmla="val 50000"/>
            </a:avLst>
          </a:prstGeom>
          <a:ln w="19050">
            <a:solidFill>
              <a:srgbClr val="073B5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Shape 6">
            <a:extLst>
              <a:ext uri="{FF2B5EF4-FFF2-40B4-BE49-F238E27FC236}">
                <a16:creationId xmlns:a16="http://schemas.microsoft.com/office/drawing/2014/main" id="{92E27C08-81F9-4767-83FE-432AF82440B0}"/>
              </a:ext>
            </a:extLst>
          </p:cNvPr>
          <p:cNvSpPr/>
          <p:nvPr/>
        </p:nvSpPr>
        <p:spPr>
          <a:xfrm rot="16200000">
            <a:off x="657090" y="3814928"/>
            <a:ext cx="740545" cy="0"/>
          </a:xfrm>
          <a:prstGeom prst="line">
            <a:avLst/>
          </a:prstGeom>
          <a:noFill/>
          <a:ln w="19050">
            <a:solidFill>
              <a:srgbClr val="F77D7D"/>
            </a:solidFill>
            <a:prstDash val="solid"/>
            <a:headEnd type="none"/>
            <a:tailEnd type="triangle"/>
          </a:ln>
        </p:spPr>
      </p:sp>
      <p:cxnSp>
        <p:nvCxnSpPr>
          <p:cNvPr id="53" name="연결선: 꺾임 52">
            <a:extLst>
              <a:ext uri="{FF2B5EF4-FFF2-40B4-BE49-F238E27FC236}">
                <a16:creationId xmlns:a16="http://schemas.microsoft.com/office/drawing/2014/main" id="{F514C508-C098-4DB1-B19A-8141EF7A334C}"/>
              </a:ext>
            </a:extLst>
          </p:cNvPr>
          <p:cNvCxnSpPr>
            <a:cxnSpLocks/>
            <a:stCxn id="34" idx="3"/>
            <a:endCxn id="70" idx="3"/>
          </p:cNvCxnSpPr>
          <p:nvPr/>
        </p:nvCxnSpPr>
        <p:spPr>
          <a:xfrm flipH="1">
            <a:off x="11258167" y="3665318"/>
            <a:ext cx="124851" cy="1997766"/>
          </a:xfrm>
          <a:prstGeom prst="bentConnector3">
            <a:avLst>
              <a:gd name="adj1" fmla="val -183098"/>
            </a:avLst>
          </a:prstGeom>
          <a:ln w="19050">
            <a:solidFill>
              <a:srgbClr val="F77D7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Shape 6">
            <a:extLst>
              <a:ext uri="{FF2B5EF4-FFF2-40B4-BE49-F238E27FC236}">
                <a16:creationId xmlns:a16="http://schemas.microsoft.com/office/drawing/2014/main" id="{190F58C8-8E11-4109-B248-69E6C05206E5}"/>
              </a:ext>
            </a:extLst>
          </p:cNvPr>
          <p:cNvSpPr/>
          <p:nvPr/>
        </p:nvSpPr>
        <p:spPr>
          <a:xfrm rot="5400000">
            <a:off x="875177" y="5183363"/>
            <a:ext cx="307089" cy="0"/>
          </a:xfrm>
          <a:prstGeom prst="line">
            <a:avLst/>
          </a:prstGeom>
          <a:noFill/>
          <a:ln w="19050">
            <a:solidFill>
              <a:srgbClr val="46AFF0"/>
            </a:solidFill>
            <a:prstDash val="solid"/>
            <a:headEnd type="none"/>
            <a:tailEnd type="triangle"/>
          </a:ln>
        </p:spPr>
      </p:sp>
      <p:sp>
        <p:nvSpPr>
          <p:cNvPr id="59" name="Text 15">
            <a:extLst>
              <a:ext uri="{FF2B5EF4-FFF2-40B4-BE49-F238E27FC236}">
                <a16:creationId xmlns:a16="http://schemas.microsoft.com/office/drawing/2014/main" id="{64B7CAD1-7773-46EE-80A9-2B2DBF5D5849}"/>
              </a:ext>
            </a:extLst>
          </p:cNvPr>
          <p:cNvSpPr/>
          <p:nvPr/>
        </p:nvSpPr>
        <p:spPr>
          <a:xfrm>
            <a:off x="551790" y="5336908"/>
            <a:ext cx="953863" cy="640080"/>
          </a:xfrm>
          <a:prstGeom prst="flowChartProcess">
            <a:avLst/>
          </a:prstGeom>
          <a:solidFill>
            <a:srgbClr val="EAF3FF"/>
          </a:solidFill>
          <a:ln w="13970">
            <a:solidFill>
              <a:srgbClr val="073B5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적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AI</a:t>
            </a:r>
          </a:p>
          <a:p>
            <a:pPr marL="0" indent="0" algn="ctr">
              <a:buNone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의심도 상승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0" name="Text 15">
            <a:extLst>
              <a:ext uri="{FF2B5EF4-FFF2-40B4-BE49-F238E27FC236}">
                <a16:creationId xmlns:a16="http://schemas.microsoft.com/office/drawing/2014/main" id="{72D56F33-E1A9-48CD-94B9-25D38A8103BF}"/>
              </a:ext>
            </a:extLst>
          </p:cNvPr>
          <p:cNvSpPr/>
          <p:nvPr/>
        </p:nvSpPr>
        <p:spPr>
          <a:xfrm>
            <a:off x="1812743" y="5336908"/>
            <a:ext cx="953863" cy="640080"/>
          </a:xfrm>
          <a:prstGeom prst="flowChartProcess">
            <a:avLst/>
          </a:prstGeom>
          <a:solidFill>
            <a:srgbClr val="EAF3FF"/>
          </a:solidFill>
          <a:ln w="13970">
            <a:solidFill>
              <a:srgbClr val="073B5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소리 발생 위치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  <a:cs typeface="맑은 고딕" pitchFamily="34" charset="-120"/>
            </a:endParaRPr>
          </a:p>
          <a:p>
            <a:pPr marL="0" indent="0" algn="ctr">
              <a:buNone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조사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1" name="Text 15">
            <a:extLst>
              <a:ext uri="{FF2B5EF4-FFF2-40B4-BE49-F238E27FC236}">
                <a16:creationId xmlns:a16="http://schemas.microsoft.com/office/drawing/2014/main" id="{81350679-FEEB-4CCD-BC6E-B3726D4587D6}"/>
              </a:ext>
            </a:extLst>
          </p:cNvPr>
          <p:cNvSpPr/>
          <p:nvPr/>
        </p:nvSpPr>
        <p:spPr>
          <a:xfrm>
            <a:off x="3073693" y="5336908"/>
            <a:ext cx="1796230" cy="640080"/>
          </a:xfrm>
          <a:prstGeom prst="flowChartProcess">
            <a:avLst/>
          </a:prstGeom>
          <a:solidFill>
            <a:srgbClr val="EAF3FF"/>
          </a:solidFill>
          <a:ln w="13970">
            <a:solidFill>
              <a:srgbClr val="073B5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플레이어가 다시 숨을 죽이면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  <a:cs typeface="맑은 고딕" pitchFamily="34" charset="-120"/>
            </a:endParaRPr>
          </a:p>
          <a:p>
            <a:pPr marL="0" indent="0" algn="ctr">
              <a:buNone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추가 위치 정보 제공 중단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2" name="Text 15">
            <a:extLst>
              <a:ext uri="{FF2B5EF4-FFF2-40B4-BE49-F238E27FC236}">
                <a16:creationId xmlns:a16="http://schemas.microsoft.com/office/drawing/2014/main" id="{AA40B3A4-7C07-49D9-908E-42359E9D7458}"/>
              </a:ext>
            </a:extLst>
          </p:cNvPr>
          <p:cNvSpPr/>
          <p:nvPr/>
        </p:nvSpPr>
        <p:spPr>
          <a:xfrm>
            <a:off x="5177012" y="5336908"/>
            <a:ext cx="953863" cy="640080"/>
          </a:xfrm>
          <a:prstGeom prst="flowChartProcess">
            <a:avLst/>
          </a:prstGeom>
          <a:solidFill>
            <a:srgbClr val="EAF3FF"/>
          </a:solidFill>
          <a:ln w="13970">
            <a:solidFill>
              <a:srgbClr val="073B5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시간 경과 →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  <a:cs typeface="맑은 고딕" pitchFamily="34" charset="-120"/>
            </a:endParaRPr>
          </a:p>
          <a:p>
            <a:pPr marL="0" indent="0" algn="ctr">
              <a:buNone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의심도 감소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3" name="Shape 6">
            <a:extLst>
              <a:ext uri="{FF2B5EF4-FFF2-40B4-BE49-F238E27FC236}">
                <a16:creationId xmlns:a16="http://schemas.microsoft.com/office/drawing/2014/main" id="{DE36CB81-08A6-4B6D-96F9-C17FBFA0B411}"/>
              </a:ext>
            </a:extLst>
          </p:cNvPr>
          <p:cNvSpPr/>
          <p:nvPr/>
        </p:nvSpPr>
        <p:spPr>
          <a:xfrm>
            <a:off x="1505652" y="5648927"/>
            <a:ext cx="307089" cy="0"/>
          </a:xfrm>
          <a:prstGeom prst="line">
            <a:avLst/>
          </a:prstGeom>
          <a:noFill/>
          <a:ln w="19050">
            <a:solidFill>
              <a:srgbClr val="073B5A"/>
            </a:solidFill>
            <a:prstDash val="solid"/>
            <a:headEnd type="none"/>
            <a:tailEnd type="triangle"/>
          </a:ln>
        </p:spPr>
      </p:sp>
      <p:sp>
        <p:nvSpPr>
          <p:cNvPr id="64" name="Shape 6">
            <a:extLst>
              <a:ext uri="{FF2B5EF4-FFF2-40B4-BE49-F238E27FC236}">
                <a16:creationId xmlns:a16="http://schemas.microsoft.com/office/drawing/2014/main" id="{349C4CEF-06A4-4E0B-888C-DB73D6339183}"/>
              </a:ext>
            </a:extLst>
          </p:cNvPr>
          <p:cNvSpPr/>
          <p:nvPr/>
        </p:nvSpPr>
        <p:spPr>
          <a:xfrm>
            <a:off x="2766606" y="5656948"/>
            <a:ext cx="307089" cy="0"/>
          </a:xfrm>
          <a:prstGeom prst="line">
            <a:avLst/>
          </a:prstGeom>
          <a:noFill/>
          <a:ln w="19050">
            <a:solidFill>
              <a:srgbClr val="073B5A"/>
            </a:solidFill>
            <a:prstDash val="solid"/>
            <a:headEnd type="none"/>
            <a:tailEnd type="triangle"/>
          </a:ln>
        </p:spPr>
      </p:sp>
      <p:sp>
        <p:nvSpPr>
          <p:cNvPr id="65" name="Shape 6">
            <a:extLst>
              <a:ext uri="{FF2B5EF4-FFF2-40B4-BE49-F238E27FC236}">
                <a16:creationId xmlns:a16="http://schemas.microsoft.com/office/drawing/2014/main" id="{969F79C1-8286-43A1-AD40-2613EBBE7C85}"/>
              </a:ext>
            </a:extLst>
          </p:cNvPr>
          <p:cNvSpPr/>
          <p:nvPr/>
        </p:nvSpPr>
        <p:spPr>
          <a:xfrm>
            <a:off x="4869923" y="5648927"/>
            <a:ext cx="307089" cy="0"/>
          </a:xfrm>
          <a:prstGeom prst="line">
            <a:avLst/>
          </a:prstGeom>
          <a:noFill/>
          <a:ln w="19050">
            <a:solidFill>
              <a:srgbClr val="073B5A"/>
            </a:solidFill>
            <a:prstDash val="solid"/>
            <a:headEnd type="none"/>
            <a:tailEnd type="triangle"/>
          </a:ln>
        </p:spPr>
      </p:sp>
      <p:sp>
        <p:nvSpPr>
          <p:cNvPr id="66" name="Text 15">
            <a:extLst>
              <a:ext uri="{FF2B5EF4-FFF2-40B4-BE49-F238E27FC236}">
                <a16:creationId xmlns:a16="http://schemas.microsoft.com/office/drawing/2014/main" id="{8D74BBE4-AA54-4D83-90FB-CE930C1B010B}"/>
              </a:ext>
            </a:extLst>
          </p:cNvPr>
          <p:cNvSpPr/>
          <p:nvPr/>
        </p:nvSpPr>
        <p:spPr>
          <a:xfrm>
            <a:off x="6437964" y="5345731"/>
            <a:ext cx="953863" cy="640080"/>
          </a:xfrm>
          <a:prstGeom prst="flowChartProcess">
            <a:avLst/>
          </a:prstGeom>
          <a:solidFill>
            <a:srgbClr val="EAF3FF"/>
          </a:solidFill>
          <a:ln w="13970">
            <a:solidFill>
              <a:srgbClr val="073B5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다시 호흡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  <a:cs typeface="맑은 고딕" pitchFamily="34" charset="-120"/>
            </a:endParaRPr>
          </a:p>
          <a:p>
            <a:pPr marL="0" indent="0" algn="ctr">
              <a:buNone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조작 가능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7" name="Shape 6">
            <a:extLst>
              <a:ext uri="{FF2B5EF4-FFF2-40B4-BE49-F238E27FC236}">
                <a16:creationId xmlns:a16="http://schemas.microsoft.com/office/drawing/2014/main" id="{4CE42B01-95B7-4347-B1A8-BEE01134E59A}"/>
              </a:ext>
            </a:extLst>
          </p:cNvPr>
          <p:cNvSpPr/>
          <p:nvPr/>
        </p:nvSpPr>
        <p:spPr>
          <a:xfrm>
            <a:off x="6130875" y="5656948"/>
            <a:ext cx="307089" cy="0"/>
          </a:xfrm>
          <a:prstGeom prst="line">
            <a:avLst/>
          </a:prstGeom>
          <a:noFill/>
          <a:ln w="19050">
            <a:solidFill>
              <a:srgbClr val="073B5A"/>
            </a:solidFill>
            <a:prstDash val="solid"/>
            <a:headEnd type="none"/>
            <a:tailEnd type="triangle"/>
          </a:ln>
        </p:spPr>
      </p:sp>
      <p:sp>
        <p:nvSpPr>
          <p:cNvPr id="68" name="Text 15">
            <a:extLst>
              <a:ext uri="{FF2B5EF4-FFF2-40B4-BE49-F238E27FC236}">
                <a16:creationId xmlns:a16="http://schemas.microsoft.com/office/drawing/2014/main" id="{4AC35524-5492-4366-A07D-2CAB52729E86}"/>
              </a:ext>
            </a:extLst>
          </p:cNvPr>
          <p:cNvSpPr/>
          <p:nvPr/>
        </p:nvSpPr>
        <p:spPr>
          <a:xfrm>
            <a:off x="9797690" y="4360403"/>
            <a:ext cx="1585328" cy="640080"/>
          </a:xfrm>
          <a:prstGeom prst="flowChartProcess">
            <a:avLst/>
          </a:prstGeom>
          <a:solidFill>
            <a:srgbClr val="EAF3FF"/>
          </a:solidFill>
          <a:ln w="13970">
            <a:solidFill>
              <a:srgbClr val="073B5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algn="ctr">
              <a:buNone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강제 호흡 실행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  <a:cs typeface="맑은 고딕" pitchFamily="34" charset="-120"/>
            </a:endParaRPr>
          </a:p>
          <a:p>
            <a:pPr marL="25200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숨 참기 강제 해제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5200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재입력 일시 제한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9" name="Shape 6">
            <a:extLst>
              <a:ext uri="{FF2B5EF4-FFF2-40B4-BE49-F238E27FC236}">
                <a16:creationId xmlns:a16="http://schemas.microsoft.com/office/drawing/2014/main" id="{5B5A6BB1-C3AA-4FC9-BB69-B502080F028F}"/>
              </a:ext>
            </a:extLst>
          </p:cNvPr>
          <p:cNvSpPr/>
          <p:nvPr/>
        </p:nvSpPr>
        <p:spPr>
          <a:xfrm rot="5400000">
            <a:off x="10427967" y="4206858"/>
            <a:ext cx="307089" cy="0"/>
          </a:xfrm>
          <a:prstGeom prst="line">
            <a:avLst/>
          </a:prstGeom>
          <a:noFill/>
          <a:ln w="19050">
            <a:solidFill>
              <a:srgbClr val="073B5A"/>
            </a:solidFill>
            <a:prstDash val="solid"/>
            <a:headEnd type="none"/>
            <a:tailEnd type="triangle"/>
          </a:ln>
        </p:spPr>
      </p:sp>
      <p:sp>
        <p:nvSpPr>
          <p:cNvPr id="70" name="순서도: 문서 69">
            <a:extLst>
              <a:ext uri="{FF2B5EF4-FFF2-40B4-BE49-F238E27FC236}">
                <a16:creationId xmlns:a16="http://schemas.microsoft.com/office/drawing/2014/main" id="{26FB901B-C51B-42E9-98F6-CC959B68C9E5}"/>
              </a:ext>
            </a:extLst>
          </p:cNvPr>
          <p:cNvSpPr/>
          <p:nvPr/>
        </p:nvSpPr>
        <p:spPr>
          <a:xfrm>
            <a:off x="9904855" y="5337429"/>
            <a:ext cx="1353312" cy="651309"/>
          </a:xfrm>
          <a:prstGeom prst="flowChartDocument">
            <a:avLst/>
          </a:prstGeom>
          <a:solidFill>
            <a:srgbClr val="EAF7EE"/>
          </a:solidFill>
          <a:ln>
            <a:solidFill>
              <a:srgbClr val="2D8D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큰 호흡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SFX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연출 출력</a:t>
            </a:r>
          </a:p>
        </p:txBody>
      </p:sp>
      <p:sp>
        <p:nvSpPr>
          <p:cNvPr id="71" name="Text 15">
            <a:extLst>
              <a:ext uri="{FF2B5EF4-FFF2-40B4-BE49-F238E27FC236}">
                <a16:creationId xmlns:a16="http://schemas.microsoft.com/office/drawing/2014/main" id="{60AF6EFF-CD4A-4A1D-AAA0-49437DC1AC43}"/>
              </a:ext>
            </a:extLst>
          </p:cNvPr>
          <p:cNvSpPr/>
          <p:nvPr/>
        </p:nvSpPr>
        <p:spPr>
          <a:xfrm>
            <a:off x="8643902" y="5345731"/>
            <a:ext cx="953863" cy="640080"/>
          </a:xfrm>
          <a:prstGeom prst="flowChartProcess">
            <a:avLst/>
          </a:prstGeom>
          <a:solidFill>
            <a:srgbClr val="EAF3FF"/>
          </a:solidFill>
          <a:ln w="13970">
            <a:solidFill>
              <a:srgbClr val="073B5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큰 소음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  <a:cs typeface="맑은 고딕" pitchFamily="34" charset="-120"/>
            </a:endParaRPr>
          </a:p>
          <a:p>
            <a:pPr marL="0" indent="0" algn="ctr">
              <a:buNone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데이터 발생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2" name="Shape 6">
            <a:extLst>
              <a:ext uri="{FF2B5EF4-FFF2-40B4-BE49-F238E27FC236}">
                <a16:creationId xmlns:a16="http://schemas.microsoft.com/office/drawing/2014/main" id="{B8B59802-072E-4002-8979-798D86EC85B2}"/>
              </a:ext>
            </a:extLst>
          </p:cNvPr>
          <p:cNvSpPr/>
          <p:nvPr/>
        </p:nvSpPr>
        <p:spPr>
          <a:xfrm>
            <a:off x="9597765" y="5661078"/>
            <a:ext cx="307089" cy="0"/>
          </a:xfrm>
          <a:prstGeom prst="line">
            <a:avLst/>
          </a:prstGeom>
          <a:noFill/>
          <a:ln w="19050">
            <a:solidFill>
              <a:srgbClr val="073B5A"/>
            </a:solidFill>
            <a:prstDash val="solid"/>
            <a:headEnd type="triangle"/>
            <a:tailEnd type="none"/>
          </a:ln>
        </p:spPr>
      </p:sp>
      <p:sp>
        <p:nvSpPr>
          <p:cNvPr id="73" name="Shape 6">
            <a:extLst>
              <a:ext uri="{FF2B5EF4-FFF2-40B4-BE49-F238E27FC236}">
                <a16:creationId xmlns:a16="http://schemas.microsoft.com/office/drawing/2014/main" id="{DADA43EA-E186-4737-B023-A63C17BA84FF}"/>
              </a:ext>
            </a:extLst>
          </p:cNvPr>
          <p:cNvSpPr/>
          <p:nvPr/>
        </p:nvSpPr>
        <p:spPr>
          <a:xfrm>
            <a:off x="7391827" y="5648927"/>
            <a:ext cx="1252075" cy="0"/>
          </a:xfrm>
          <a:prstGeom prst="line">
            <a:avLst/>
          </a:prstGeom>
          <a:noFill/>
          <a:ln w="19050">
            <a:solidFill>
              <a:srgbClr val="073B5A"/>
            </a:solidFill>
            <a:prstDash val="solid"/>
            <a:headEnd type="triangle"/>
            <a:tailEnd type="none"/>
          </a:ln>
        </p:spPr>
      </p:sp>
      <p:sp>
        <p:nvSpPr>
          <p:cNvPr id="74" name="Shape 6">
            <a:extLst>
              <a:ext uri="{FF2B5EF4-FFF2-40B4-BE49-F238E27FC236}">
                <a16:creationId xmlns:a16="http://schemas.microsoft.com/office/drawing/2014/main" id="{05A1395C-C191-49CF-A152-DCDD15AFE73F}"/>
              </a:ext>
            </a:extLst>
          </p:cNvPr>
          <p:cNvSpPr/>
          <p:nvPr/>
        </p:nvSpPr>
        <p:spPr>
          <a:xfrm rot="5400000">
            <a:off x="10411924" y="5168956"/>
            <a:ext cx="307089" cy="0"/>
          </a:xfrm>
          <a:prstGeom prst="line">
            <a:avLst/>
          </a:prstGeom>
          <a:noFill/>
          <a:ln w="19050">
            <a:solidFill>
              <a:srgbClr val="073B5A"/>
            </a:solidFill>
            <a:prstDash val="solid"/>
            <a:headEnd type="none"/>
            <a:tailEnd type="triangle"/>
          </a:ln>
        </p:spPr>
      </p:sp>
      <p:cxnSp>
        <p:nvCxnSpPr>
          <p:cNvPr id="77" name="연결선: 꺾임 76">
            <a:extLst>
              <a:ext uri="{FF2B5EF4-FFF2-40B4-BE49-F238E27FC236}">
                <a16:creationId xmlns:a16="http://schemas.microsoft.com/office/drawing/2014/main" id="{0BDFAC01-B266-4988-8B7F-065080061884}"/>
              </a:ext>
            </a:extLst>
          </p:cNvPr>
          <p:cNvCxnSpPr>
            <a:cxnSpLocks/>
            <a:stCxn id="26" idx="3"/>
            <a:endCxn id="16" idx="2"/>
          </p:cNvCxnSpPr>
          <p:nvPr/>
        </p:nvCxnSpPr>
        <p:spPr>
          <a:xfrm flipV="1">
            <a:off x="5855055" y="2042375"/>
            <a:ext cx="1813947" cy="820838"/>
          </a:xfrm>
          <a:prstGeom prst="bentConnector2">
            <a:avLst/>
          </a:prstGeom>
          <a:ln w="19050">
            <a:solidFill>
              <a:srgbClr val="073B5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연결선: 꺾임 80">
            <a:extLst>
              <a:ext uri="{FF2B5EF4-FFF2-40B4-BE49-F238E27FC236}">
                <a16:creationId xmlns:a16="http://schemas.microsoft.com/office/drawing/2014/main" id="{56FFD956-4696-4FAD-A995-F2AC2388E763}"/>
              </a:ext>
            </a:extLst>
          </p:cNvPr>
          <p:cNvCxnSpPr>
            <a:cxnSpLocks/>
            <a:stCxn id="15" idx="2"/>
            <a:endCxn id="26" idx="0"/>
          </p:cNvCxnSpPr>
          <p:nvPr/>
        </p:nvCxnSpPr>
        <p:spPr>
          <a:xfrm rot="5400000">
            <a:off x="4846518" y="1862233"/>
            <a:ext cx="298266" cy="830201"/>
          </a:xfrm>
          <a:prstGeom prst="bentConnector3">
            <a:avLst>
              <a:gd name="adj1" fmla="val 50000"/>
            </a:avLst>
          </a:prstGeom>
          <a:ln w="19050">
            <a:solidFill>
              <a:srgbClr val="F77D7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Shape 1">
            <a:extLst>
              <a:ext uri="{FF2B5EF4-FFF2-40B4-BE49-F238E27FC236}">
                <a16:creationId xmlns:a16="http://schemas.microsoft.com/office/drawing/2014/main" id="{FC38E21A-DBA4-47D4-94C6-19F8AFE45F6A}"/>
              </a:ext>
            </a:extLst>
          </p:cNvPr>
          <p:cNvSpPr/>
          <p:nvPr/>
        </p:nvSpPr>
        <p:spPr>
          <a:xfrm>
            <a:off x="502920" y="713232"/>
            <a:ext cx="11201400" cy="0"/>
          </a:xfrm>
          <a:prstGeom prst="line">
            <a:avLst/>
          </a:prstGeom>
          <a:noFill/>
          <a:ln w="12700">
            <a:solidFill>
              <a:srgbClr val="D7E0E8"/>
            </a:solidFill>
            <a:prstDash val="solid"/>
          </a:ln>
        </p:spPr>
      </p:sp>
      <p:sp>
        <p:nvSpPr>
          <p:cNvPr id="85" name="Text 3">
            <a:extLst>
              <a:ext uri="{FF2B5EF4-FFF2-40B4-BE49-F238E27FC236}">
                <a16:creationId xmlns:a16="http://schemas.microsoft.com/office/drawing/2014/main" id="{99B599FB-1E52-484C-A702-7A6ED4B60348}"/>
              </a:ext>
            </a:extLst>
          </p:cNvPr>
          <p:cNvSpPr/>
          <p:nvPr/>
        </p:nvSpPr>
        <p:spPr>
          <a:xfrm>
            <a:off x="530352" y="32918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 </a:t>
            </a:r>
            <a:r>
              <a:rPr lang="ko-KR" altLang="en-US" sz="2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 시스템 플로우 차트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7914535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15">
            <a:extLst>
              <a:ext uri="{FF2B5EF4-FFF2-40B4-BE49-F238E27FC236}">
                <a16:creationId xmlns:a16="http://schemas.microsoft.com/office/drawing/2014/main" id="{C68718AE-2CAC-4DB8-80C3-12DA6D51ACA2}"/>
              </a:ext>
            </a:extLst>
          </p:cNvPr>
          <p:cNvSpPr/>
          <p:nvPr/>
        </p:nvSpPr>
        <p:spPr>
          <a:xfrm>
            <a:off x="2422647" y="1075850"/>
            <a:ext cx="953863" cy="328262"/>
          </a:xfrm>
          <a:prstGeom prst="flowChartProcess">
            <a:avLst/>
          </a:prstGeom>
          <a:solidFill>
            <a:srgbClr val="EAF7EE"/>
          </a:solidFill>
          <a:ln w="13970">
            <a:solidFill>
              <a:srgbClr val="2D8D5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들이마시기</a:t>
            </a:r>
            <a:endParaRPr lang="en-US" sz="1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4" name="Shape 1">
            <a:extLst>
              <a:ext uri="{FF2B5EF4-FFF2-40B4-BE49-F238E27FC236}">
                <a16:creationId xmlns:a16="http://schemas.microsoft.com/office/drawing/2014/main" id="{FC38E21A-DBA4-47D4-94C6-19F8AFE45F6A}"/>
              </a:ext>
            </a:extLst>
          </p:cNvPr>
          <p:cNvSpPr/>
          <p:nvPr/>
        </p:nvSpPr>
        <p:spPr>
          <a:xfrm>
            <a:off x="502920" y="713232"/>
            <a:ext cx="11201400" cy="0"/>
          </a:xfrm>
          <a:prstGeom prst="line">
            <a:avLst/>
          </a:prstGeom>
          <a:noFill/>
          <a:ln w="12700">
            <a:solidFill>
              <a:srgbClr val="D7E0E8"/>
            </a:solidFill>
            <a:prstDash val="solid"/>
          </a:ln>
        </p:spPr>
      </p:sp>
      <p:sp>
        <p:nvSpPr>
          <p:cNvPr id="85" name="Text 3">
            <a:extLst>
              <a:ext uri="{FF2B5EF4-FFF2-40B4-BE49-F238E27FC236}">
                <a16:creationId xmlns:a16="http://schemas.microsoft.com/office/drawing/2014/main" id="{99B599FB-1E52-484C-A702-7A6ED4B60348}"/>
              </a:ext>
            </a:extLst>
          </p:cNvPr>
          <p:cNvSpPr/>
          <p:nvPr/>
        </p:nvSpPr>
        <p:spPr>
          <a:xfrm>
            <a:off x="530352" y="32918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 </a:t>
            </a:r>
            <a:r>
              <a:rPr lang="ko-KR" altLang="en-US" sz="2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 시스템 </a:t>
            </a:r>
            <a:r>
              <a:rPr lang="ko-KR" altLang="en-US" sz="2000" b="1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플로우 차트 </a:t>
            </a:r>
            <a:r>
              <a:rPr lang="en-US" altLang="ko-KR" sz="2000" b="1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– </a:t>
            </a:r>
            <a:r>
              <a:rPr lang="ko-KR" altLang="en-US" sz="2000" b="1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능력 확장 규칙 </a:t>
            </a:r>
            <a:r>
              <a:rPr lang="en-US" altLang="ko-KR" sz="2000" b="1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&amp; </a:t>
            </a:r>
            <a:endParaRPr lang="en-US" sz="2000" dirty="0"/>
          </a:p>
        </p:txBody>
      </p:sp>
      <p:sp>
        <p:nvSpPr>
          <p:cNvPr id="75" name="Text 3">
            <a:extLst>
              <a:ext uri="{FF2B5EF4-FFF2-40B4-BE49-F238E27FC236}">
                <a16:creationId xmlns:a16="http://schemas.microsoft.com/office/drawing/2014/main" id="{AB578D99-CD9C-4D2B-9D94-68E0545C9797}"/>
              </a:ext>
            </a:extLst>
          </p:cNvPr>
          <p:cNvSpPr/>
          <p:nvPr/>
        </p:nvSpPr>
        <p:spPr>
          <a:xfrm>
            <a:off x="440596" y="1023313"/>
            <a:ext cx="14500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5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능력 확장 규칙</a:t>
            </a:r>
            <a:endParaRPr lang="en-US" sz="1500" dirty="0"/>
          </a:p>
        </p:txBody>
      </p:sp>
      <p:sp>
        <p:nvSpPr>
          <p:cNvPr id="76" name="Text 15">
            <a:extLst>
              <a:ext uri="{FF2B5EF4-FFF2-40B4-BE49-F238E27FC236}">
                <a16:creationId xmlns:a16="http://schemas.microsoft.com/office/drawing/2014/main" id="{84960C82-C11E-4336-B632-FDA7A91C89CF}"/>
              </a:ext>
            </a:extLst>
          </p:cNvPr>
          <p:cNvSpPr/>
          <p:nvPr/>
        </p:nvSpPr>
        <p:spPr>
          <a:xfrm>
            <a:off x="1277480" y="1721206"/>
            <a:ext cx="953862" cy="931925"/>
          </a:xfrm>
          <a:prstGeom prst="flowChartProcess">
            <a:avLst/>
          </a:prstGeom>
          <a:solidFill>
            <a:srgbClr val="EAF7EE"/>
          </a:solidFill>
          <a:ln w="13970">
            <a:solidFill>
              <a:srgbClr val="2D8D5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lnSpc>
                <a:spcPct val="200000"/>
              </a:lnSpc>
              <a:buNone/>
            </a:pP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흡인</a:t>
            </a:r>
            <a:endParaRPr lang="en-US" altLang="ko-KR" sz="1000" b="1" dirty="0">
              <a:latin typeface="맑은 고딕" panose="020B0503020000020004" pitchFamily="50" charset="-127"/>
              <a:ea typeface="맑은 고딕" panose="020B0503020000020004" pitchFamily="50" charset="-127"/>
              <a:cs typeface="맑은 고딕" pitchFamily="34" charset="-120"/>
            </a:endParaRPr>
          </a:p>
          <a:p>
            <a:pPr marL="0" indent="0" algn="ctr">
              <a:buNone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주변 오브젝트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indent="0" algn="ctr">
              <a:buNone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회수 </a:t>
            </a:r>
            <a:r>
              <a:rPr 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탐색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8" name="Text 15">
            <a:extLst>
              <a:ext uri="{FF2B5EF4-FFF2-40B4-BE49-F238E27FC236}">
                <a16:creationId xmlns:a16="http://schemas.microsoft.com/office/drawing/2014/main" id="{5645A360-8183-453E-A96D-298E1F0C152E}"/>
              </a:ext>
            </a:extLst>
          </p:cNvPr>
          <p:cNvSpPr/>
          <p:nvPr/>
        </p:nvSpPr>
        <p:spPr>
          <a:xfrm>
            <a:off x="2422648" y="1716126"/>
            <a:ext cx="953862" cy="931925"/>
          </a:xfrm>
          <a:prstGeom prst="flowChartProcess">
            <a:avLst/>
          </a:prstGeom>
          <a:solidFill>
            <a:srgbClr val="EAF7EE"/>
          </a:solidFill>
          <a:ln w="13970">
            <a:solidFill>
              <a:srgbClr val="2D8D5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lnSpc>
                <a:spcPct val="200000"/>
              </a:lnSpc>
              <a:buNone/>
            </a:pP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흡음</a:t>
            </a:r>
            <a:endParaRPr lang="en-US" altLang="ko-KR" sz="1000" b="1" dirty="0">
              <a:latin typeface="맑은 고딕" panose="020B0503020000020004" pitchFamily="50" charset="-127"/>
              <a:ea typeface="맑은 고딕" panose="020B0503020000020004" pitchFamily="50" charset="-127"/>
              <a:cs typeface="맑은 고딕" pitchFamily="34" charset="-120"/>
            </a:endParaRPr>
          </a:p>
          <a:p>
            <a:pPr marL="0" indent="0" algn="ctr">
              <a:buNone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소음 저장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indent="0" algn="ctr">
              <a:buNone/>
            </a:pPr>
            <a:r>
              <a:rPr 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이후 방출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0" name="Text 15">
            <a:extLst>
              <a:ext uri="{FF2B5EF4-FFF2-40B4-BE49-F238E27FC236}">
                <a16:creationId xmlns:a16="http://schemas.microsoft.com/office/drawing/2014/main" id="{329B70C3-948E-44DA-BEC8-8331AAA321AA}"/>
              </a:ext>
            </a:extLst>
          </p:cNvPr>
          <p:cNvSpPr/>
          <p:nvPr/>
        </p:nvSpPr>
        <p:spPr>
          <a:xfrm>
            <a:off x="3567816" y="1715005"/>
            <a:ext cx="953862" cy="931925"/>
          </a:xfrm>
          <a:prstGeom prst="flowChartProcess">
            <a:avLst/>
          </a:prstGeom>
          <a:solidFill>
            <a:srgbClr val="EAF7EE"/>
          </a:solidFill>
          <a:ln w="13970">
            <a:solidFill>
              <a:srgbClr val="2D8D5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lnSpc>
                <a:spcPct val="200000"/>
              </a:lnSpc>
              <a:buNone/>
            </a:pP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흡기 도약</a:t>
            </a:r>
            <a:endParaRPr lang="en-US" altLang="ko-KR" sz="1000" b="1" dirty="0">
              <a:latin typeface="맑은 고딕" panose="020B0503020000020004" pitchFamily="50" charset="-127"/>
              <a:ea typeface="맑은 고딕" panose="020B0503020000020004" pitchFamily="50" charset="-127"/>
              <a:cs typeface="맑은 고딕" pitchFamily="34" charset="-120"/>
            </a:endParaRPr>
          </a:p>
          <a:p>
            <a:pPr marL="0" indent="0" algn="ctr">
              <a:buNone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도약 거리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indent="0" algn="ctr">
              <a:buNone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증가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2" name="Text 15">
            <a:extLst>
              <a:ext uri="{FF2B5EF4-FFF2-40B4-BE49-F238E27FC236}">
                <a16:creationId xmlns:a16="http://schemas.microsoft.com/office/drawing/2014/main" id="{3BF76F57-E390-48D1-833F-EC53B899BE3F}"/>
              </a:ext>
            </a:extLst>
          </p:cNvPr>
          <p:cNvSpPr/>
          <p:nvPr/>
        </p:nvSpPr>
        <p:spPr>
          <a:xfrm>
            <a:off x="2422647" y="2952049"/>
            <a:ext cx="953863" cy="328262"/>
          </a:xfrm>
          <a:prstGeom prst="flowChartProcess">
            <a:avLst/>
          </a:prstGeom>
          <a:solidFill>
            <a:srgbClr val="EAF3FF"/>
          </a:solidFill>
          <a:ln w="13970">
            <a:solidFill>
              <a:srgbClr val="073B5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숨 참기</a:t>
            </a:r>
            <a:endParaRPr lang="en-US" sz="1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3" name="Text 15">
            <a:extLst>
              <a:ext uri="{FF2B5EF4-FFF2-40B4-BE49-F238E27FC236}">
                <a16:creationId xmlns:a16="http://schemas.microsoft.com/office/drawing/2014/main" id="{98A81813-AEF4-44FA-BBB1-B415468C5EE3}"/>
              </a:ext>
            </a:extLst>
          </p:cNvPr>
          <p:cNvSpPr/>
          <p:nvPr/>
        </p:nvSpPr>
        <p:spPr>
          <a:xfrm>
            <a:off x="1277480" y="3597405"/>
            <a:ext cx="953862" cy="931925"/>
          </a:xfrm>
          <a:prstGeom prst="flowChartProcess">
            <a:avLst/>
          </a:prstGeom>
          <a:solidFill>
            <a:srgbClr val="EAF3FF"/>
          </a:solidFill>
          <a:ln w="13970">
            <a:solidFill>
              <a:srgbClr val="073B5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lnSpc>
                <a:spcPct val="200000"/>
              </a:lnSpc>
              <a:buNone/>
            </a:pP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기척 소거</a:t>
            </a:r>
            <a:endParaRPr lang="en-US" altLang="ko-KR" sz="1000" b="1" dirty="0">
              <a:latin typeface="맑은 고딕" panose="020B0503020000020004" pitchFamily="50" charset="-127"/>
              <a:ea typeface="맑은 고딕" panose="020B0503020000020004" pitchFamily="50" charset="-127"/>
              <a:cs typeface="맑은 고딕" pitchFamily="34" charset="-120"/>
            </a:endParaRPr>
          </a:p>
          <a:p>
            <a:pPr marL="0" indent="0" algn="ctr">
              <a:buNone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투명화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6" name="Text 15">
            <a:extLst>
              <a:ext uri="{FF2B5EF4-FFF2-40B4-BE49-F238E27FC236}">
                <a16:creationId xmlns:a16="http://schemas.microsoft.com/office/drawing/2014/main" id="{DCA1D4CE-E26E-49BA-9C38-3C9291880BC1}"/>
              </a:ext>
            </a:extLst>
          </p:cNvPr>
          <p:cNvSpPr/>
          <p:nvPr/>
        </p:nvSpPr>
        <p:spPr>
          <a:xfrm>
            <a:off x="2422648" y="3592325"/>
            <a:ext cx="953862" cy="931925"/>
          </a:xfrm>
          <a:prstGeom prst="flowChartProcess">
            <a:avLst/>
          </a:prstGeom>
          <a:solidFill>
            <a:srgbClr val="EAF3FF"/>
          </a:solidFill>
          <a:ln w="13970">
            <a:solidFill>
              <a:srgbClr val="073B5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lnSpc>
                <a:spcPct val="200000"/>
              </a:lnSpc>
              <a:buNone/>
            </a:pP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공중 부유</a:t>
            </a:r>
            <a:endParaRPr lang="en-US" altLang="ko-KR" sz="1000" b="1" dirty="0">
              <a:latin typeface="맑은 고딕" panose="020B0503020000020004" pitchFamily="50" charset="-127"/>
              <a:ea typeface="맑은 고딕" panose="020B0503020000020004" pitchFamily="50" charset="-127"/>
              <a:cs typeface="맑은 고딕" pitchFamily="34" charset="-120"/>
            </a:endParaRPr>
          </a:p>
          <a:p>
            <a:pPr marL="0" indent="0" algn="ctr">
              <a:buNone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공중 상태에서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indent="0" algn="ctr">
              <a:buNone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시작 시 위치 유지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8" name="Text 15">
            <a:extLst>
              <a:ext uri="{FF2B5EF4-FFF2-40B4-BE49-F238E27FC236}">
                <a16:creationId xmlns:a16="http://schemas.microsoft.com/office/drawing/2014/main" id="{CFD9D103-9251-4C14-A111-08459E850044}"/>
              </a:ext>
            </a:extLst>
          </p:cNvPr>
          <p:cNvSpPr/>
          <p:nvPr/>
        </p:nvSpPr>
        <p:spPr>
          <a:xfrm>
            <a:off x="3567816" y="3591204"/>
            <a:ext cx="953862" cy="931925"/>
          </a:xfrm>
          <a:prstGeom prst="flowChartProcess">
            <a:avLst/>
          </a:prstGeom>
          <a:solidFill>
            <a:srgbClr val="EAF3FF"/>
          </a:solidFill>
          <a:ln w="13970">
            <a:solidFill>
              <a:srgbClr val="073B5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lnSpc>
                <a:spcPct val="200000"/>
              </a:lnSpc>
              <a:buNone/>
            </a:pP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시간 정지</a:t>
            </a:r>
            <a:endParaRPr lang="en-US" altLang="ko-KR" sz="1000" b="1" dirty="0">
              <a:latin typeface="맑은 고딕" panose="020B0503020000020004" pitchFamily="50" charset="-127"/>
              <a:ea typeface="맑은 고딕" panose="020B0503020000020004" pitchFamily="50" charset="-127"/>
              <a:cs typeface="맑은 고딕" pitchFamily="34" charset="-120"/>
            </a:endParaRPr>
          </a:p>
          <a:p>
            <a:pPr marL="0" indent="0" algn="ctr">
              <a:buNone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후반 능력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0" name="Text 15">
            <a:extLst>
              <a:ext uri="{FF2B5EF4-FFF2-40B4-BE49-F238E27FC236}">
                <a16:creationId xmlns:a16="http://schemas.microsoft.com/office/drawing/2014/main" id="{2089435A-2FE6-4924-BD82-8D4AD7B2E9C2}"/>
              </a:ext>
            </a:extLst>
          </p:cNvPr>
          <p:cNvSpPr/>
          <p:nvPr/>
        </p:nvSpPr>
        <p:spPr>
          <a:xfrm>
            <a:off x="2422647" y="4825139"/>
            <a:ext cx="953863" cy="328262"/>
          </a:xfrm>
          <a:prstGeom prst="flowChartProcess">
            <a:avLst/>
          </a:prstGeom>
          <a:solidFill>
            <a:srgbClr val="F2EDFF"/>
          </a:solidFill>
          <a:ln w="13970">
            <a:solidFill>
              <a:srgbClr val="073B5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내쉬기</a:t>
            </a:r>
            <a:endParaRPr lang="en-US" sz="1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1" name="Text 15">
            <a:extLst>
              <a:ext uri="{FF2B5EF4-FFF2-40B4-BE49-F238E27FC236}">
                <a16:creationId xmlns:a16="http://schemas.microsoft.com/office/drawing/2014/main" id="{B871C17E-3277-44E6-BCD0-1C96A76BF59F}"/>
              </a:ext>
            </a:extLst>
          </p:cNvPr>
          <p:cNvSpPr/>
          <p:nvPr/>
        </p:nvSpPr>
        <p:spPr>
          <a:xfrm>
            <a:off x="1848980" y="5470495"/>
            <a:ext cx="953862" cy="931925"/>
          </a:xfrm>
          <a:prstGeom prst="flowChartProcess">
            <a:avLst/>
          </a:prstGeom>
          <a:solidFill>
            <a:srgbClr val="F2EDFF"/>
          </a:solidFill>
          <a:ln w="13970">
            <a:solidFill>
              <a:srgbClr val="073B5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lnSpc>
                <a:spcPct val="200000"/>
              </a:lnSpc>
              <a:buNone/>
            </a:pP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공명</a:t>
            </a:r>
            <a:endParaRPr lang="en-US" altLang="ko-KR" sz="1000" b="1" dirty="0">
              <a:latin typeface="맑은 고딕" panose="020B0503020000020004" pitchFamily="50" charset="-127"/>
              <a:ea typeface="맑은 고딕" panose="020B0503020000020004" pitchFamily="50" charset="-127"/>
              <a:cs typeface="맑은 고딕" pitchFamily="34" charset="-120"/>
            </a:endParaRPr>
          </a:p>
          <a:p>
            <a:pPr marL="0" indent="0" algn="ctr">
              <a:buNone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공기 파동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indent="0" algn="ctr">
              <a:buNone/>
            </a:pPr>
            <a:r>
              <a:rPr 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환경 탐색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2" name="Text 15">
            <a:extLst>
              <a:ext uri="{FF2B5EF4-FFF2-40B4-BE49-F238E27FC236}">
                <a16:creationId xmlns:a16="http://schemas.microsoft.com/office/drawing/2014/main" id="{7FF7FDAE-1D60-4A0C-B6B4-818FA56FA358}"/>
              </a:ext>
            </a:extLst>
          </p:cNvPr>
          <p:cNvSpPr/>
          <p:nvPr/>
        </p:nvSpPr>
        <p:spPr>
          <a:xfrm>
            <a:off x="2994148" y="5465415"/>
            <a:ext cx="953862" cy="931925"/>
          </a:xfrm>
          <a:prstGeom prst="flowChartProcess">
            <a:avLst/>
          </a:prstGeom>
          <a:solidFill>
            <a:srgbClr val="F2EDFF"/>
          </a:solidFill>
          <a:ln w="13970">
            <a:solidFill>
              <a:srgbClr val="073B5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lnSpc>
                <a:spcPct val="200000"/>
              </a:lnSpc>
              <a:buNone/>
            </a:pP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잔기</a:t>
            </a:r>
            <a:endParaRPr lang="en-US" altLang="ko-KR" sz="1000" b="1" dirty="0">
              <a:latin typeface="맑은 고딕" panose="020B0503020000020004" pitchFamily="50" charset="-127"/>
              <a:ea typeface="맑은 고딕" panose="020B0503020000020004" pitchFamily="50" charset="-127"/>
              <a:cs typeface="맑은 고딕" pitchFamily="34" charset="-120"/>
            </a:endParaRPr>
          </a:p>
          <a:p>
            <a:pPr marL="0" indent="0" algn="ctr">
              <a:buNone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가짜 기척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indent="0" algn="ctr">
              <a:buNone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생성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95" name="연결선: 꺾임 94">
            <a:extLst>
              <a:ext uri="{FF2B5EF4-FFF2-40B4-BE49-F238E27FC236}">
                <a16:creationId xmlns:a16="http://schemas.microsoft.com/office/drawing/2014/main" id="{C27549D1-E0E8-4AB7-B8FA-2F32FC4F9481}"/>
              </a:ext>
            </a:extLst>
          </p:cNvPr>
          <p:cNvCxnSpPr>
            <a:cxnSpLocks/>
            <a:stCxn id="12" idx="2"/>
            <a:endCxn id="76" idx="0"/>
          </p:cNvCxnSpPr>
          <p:nvPr/>
        </p:nvCxnSpPr>
        <p:spPr>
          <a:xfrm rot="5400000">
            <a:off x="2168448" y="990075"/>
            <a:ext cx="317094" cy="1145168"/>
          </a:xfrm>
          <a:prstGeom prst="bentConnector3">
            <a:avLst>
              <a:gd name="adj1" fmla="val 50000"/>
            </a:avLst>
          </a:prstGeom>
          <a:ln w="19050">
            <a:solidFill>
              <a:srgbClr val="073B5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연결선: 꺾임 95">
            <a:extLst>
              <a:ext uri="{FF2B5EF4-FFF2-40B4-BE49-F238E27FC236}">
                <a16:creationId xmlns:a16="http://schemas.microsoft.com/office/drawing/2014/main" id="{8EE41EE1-F79C-40A3-9859-25D5CD91E428}"/>
              </a:ext>
            </a:extLst>
          </p:cNvPr>
          <p:cNvCxnSpPr>
            <a:cxnSpLocks/>
            <a:stCxn id="12" idx="2"/>
            <a:endCxn id="80" idx="0"/>
          </p:cNvCxnSpPr>
          <p:nvPr/>
        </p:nvCxnSpPr>
        <p:spPr>
          <a:xfrm rot="16200000" flipH="1">
            <a:off x="3316717" y="986974"/>
            <a:ext cx="310893" cy="1145168"/>
          </a:xfrm>
          <a:prstGeom prst="bentConnector3">
            <a:avLst>
              <a:gd name="adj1" fmla="val 51021"/>
            </a:avLst>
          </a:prstGeom>
          <a:ln w="19050">
            <a:solidFill>
              <a:srgbClr val="073B5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연결선: 꺾임 96">
            <a:extLst>
              <a:ext uri="{FF2B5EF4-FFF2-40B4-BE49-F238E27FC236}">
                <a16:creationId xmlns:a16="http://schemas.microsoft.com/office/drawing/2014/main" id="{1912BA9E-98B1-4E67-B712-FE8B26EFC881}"/>
              </a:ext>
            </a:extLst>
          </p:cNvPr>
          <p:cNvCxnSpPr>
            <a:cxnSpLocks/>
            <a:stCxn id="82" idx="2"/>
            <a:endCxn id="88" idx="0"/>
          </p:cNvCxnSpPr>
          <p:nvPr/>
        </p:nvCxnSpPr>
        <p:spPr>
          <a:xfrm rot="16200000" flipH="1">
            <a:off x="3316717" y="2863173"/>
            <a:ext cx="310893" cy="1145168"/>
          </a:xfrm>
          <a:prstGeom prst="bentConnector3">
            <a:avLst>
              <a:gd name="adj1" fmla="val 50000"/>
            </a:avLst>
          </a:prstGeom>
          <a:ln w="19050">
            <a:solidFill>
              <a:srgbClr val="073B5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연결선: 꺾임 97">
            <a:extLst>
              <a:ext uri="{FF2B5EF4-FFF2-40B4-BE49-F238E27FC236}">
                <a16:creationId xmlns:a16="http://schemas.microsoft.com/office/drawing/2014/main" id="{2936AE79-9825-47E7-A405-B5020E57C037}"/>
              </a:ext>
            </a:extLst>
          </p:cNvPr>
          <p:cNvCxnSpPr>
            <a:cxnSpLocks/>
            <a:stCxn id="82" idx="2"/>
            <a:endCxn id="83" idx="0"/>
          </p:cNvCxnSpPr>
          <p:nvPr/>
        </p:nvCxnSpPr>
        <p:spPr>
          <a:xfrm rot="5400000">
            <a:off x="2168448" y="2866274"/>
            <a:ext cx="317094" cy="1145168"/>
          </a:xfrm>
          <a:prstGeom prst="bentConnector3">
            <a:avLst>
              <a:gd name="adj1" fmla="val 50000"/>
            </a:avLst>
          </a:prstGeom>
          <a:ln w="19050">
            <a:solidFill>
              <a:srgbClr val="073B5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연결선: 꺾임 98">
            <a:extLst>
              <a:ext uri="{FF2B5EF4-FFF2-40B4-BE49-F238E27FC236}">
                <a16:creationId xmlns:a16="http://schemas.microsoft.com/office/drawing/2014/main" id="{8F50D6D7-8941-4971-970B-FE85613F57B3}"/>
              </a:ext>
            </a:extLst>
          </p:cNvPr>
          <p:cNvCxnSpPr>
            <a:cxnSpLocks/>
            <a:stCxn id="90" idx="2"/>
            <a:endCxn id="91" idx="0"/>
          </p:cNvCxnSpPr>
          <p:nvPr/>
        </p:nvCxnSpPr>
        <p:spPr>
          <a:xfrm rot="5400000">
            <a:off x="2454198" y="5025114"/>
            <a:ext cx="317094" cy="573668"/>
          </a:xfrm>
          <a:prstGeom prst="bentConnector3">
            <a:avLst>
              <a:gd name="adj1" fmla="val 50000"/>
            </a:avLst>
          </a:prstGeom>
          <a:ln w="19050">
            <a:solidFill>
              <a:srgbClr val="073B5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연결선: 꺾임 99">
            <a:extLst>
              <a:ext uri="{FF2B5EF4-FFF2-40B4-BE49-F238E27FC236}">
                <a16:creationId xmlns:a16="http://schemas.microsoft.com/office/drawing/2014/main" id="{8B7FDE5B-B727-496E-A772-B8DD4AEEA178}"/>
              </a:ext>
            </a:extLst>
          </p:cNvPr>
          <p:cNvCxnSpPr>
            <a:cxnSpLocks/>
            <a:stCxn id="90" idx="2"/>
            <a:endCxn id="92" idx="0"/>
          </p:cNvCxnSpPr>
          <p:nvPr/>
        </p:nvCxnSpPr>
        <p:spPr>
          <a:xfrm rot="16200000" flipH="1">
            <a:off x="3029322" y="5023658"/>
            <a:ext cx="312014" cy="571500"/>
          </a:xfrm>
          <a:prstGeom prst="bentConnector3">
            <a:avLst>
              <a:gd name="adj1" fmla="val 50000"/>
            </a:avLst>
          </a:prstGeom>
          <a:ln w="19050">
            <a:solidFill>
              <a:srgbClr val="073B5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/>
          <p:cNvCxnSpPr>
            <a:stCxn id="12" idx="2"/>
            <a:endCxn id="78" idx="0"/>
          </p:cNvCxnSpPr>
          <p:nvPr/>
        </p:nvCxnSpPr>
        <p:spPr>
          <a:xfrm>
            <a:off x="2899579" y="1404112"/>
            <a:ext cx="0" cy="312014"/>
          </a:xfrm>
          <a:prstGeom prst="straightConnector1">
            <a:avLst/>
          </a:prstGeom>
          <a:ln w="19050">
            <a:solidFill>
              <a:srgbClr val="073B5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/>
          <p:cNvCxnSpPr>
            <a:stCxn id="82" idx="2"/>
            <a:endCxn id="86" idx="0"/>
          </p:cNvCxnSpPr>
          <p:nvPr/>
        </p:nvCxnSpPr>
        <p:spPr>
          <a:xfrm>
            <a:off x="2899579" y="3280311"/>
            <a:ext cx="0" cy="312014"/>
          </a:xfrm>
          <a:prstGeom prst="straightConnector1">
            <a:avLst/>
          </a:prstGeom>
          <a:ln w="19050">
            <a:solidFill>
              <a:srgbClr val="073B5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Shape 1">
            <a:extLst>
              <a:ext uri="{FF2B5EF4-FFF2-40B4-BE49-F238E27FC236}">
                <a16:creationId xmlns:a16="http://schemas.microsoft.com/office/drawing/2014/main" id="{FC38E21A-DBA4-47D4-94C6-19F8AFE45F6A}"/>
              </a:ext>
            </a:extLst>
          </p:cNvPr>
          <p:cNvSpPr/>
          <p:nvPr/>
        </p:nvSpPr>
        <p:spPr>
          <a:xfrm rot="5400000">
            <a:off x="3375927" y="3550981"/>
            <a:ext cx="5055335" cy="0"/>
          </a:xfrm>
          <a:prstGeom prst="line">
            <a:avLst/>
          </a:prstGeom>
          <a:noFill/>
          <a:ln w="12700">
            <a:solidFill>
              <a:srgbClr val="D7E0E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1332047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" name="꺾인 연결선 53"/>
          <p:cNvCxnSpPr>
            <a:stCxn id="20" idx="3"/>
            <a:endCxn id="27" idx="1"/>
          </p:cNvCxnSpPr>
          <p:nvPr/>
        </p:nvCxnSpPr>
        <p:spPr>
          <a:xfrm flipV="1">
            <a:off x="2706128" y="1110061"/>
            <a:ext cx="370729" cy="719050"/>
          </a:xfrm>
          <a:prstGeom prst="bentConnector3">
            <a:avLst>
              <a:gd name="adj1" fmla="val 50000"/>
            </a:avLst>
          </a:prstGeom>
          <a:ln>
            <a:solidFill>
              <a:srgbClr val="073B5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14">
            <a:extLst>
              <a:ext uri="{FF2B5EF4-FFF2-40B4-BE49-F238E27FC236}">
                <a16:creationId xmlns:a16="http://schemas.microsoft.com/office/drawing/2014/main" id="{DE29DBF1-AB43-41FD-AF05-32F729BCDB27}"/>
              </a:ext>
            </a:extLst>
          </p:cNvPr>
          <p:cNvSpPr/>
          <p:nvPr/>
        </p:nvSpPr>
        <p:spPr>
          <a:xfrm>
            <a:off x="1528994" y="813731"/>
            <a:ext cx="1353312" cy="592659"/>
          </a:xfrm>
          <a:prstGeom prst="flowChartDecision">
            <a:avLst/>
          </a:prstGeom>
          <a:solidFill>
            <a:srgbClr val="FFF0E6"/>
          </a:solidFill>
          <a:ln w="13970">
            <a:solidFill>
              <a:srgbClr val="B45309"/>
            </a:solidFill>
          </a:ln>
        </p:spPr>
        <p:txBody>
          <a:bodyPr wrap="square" lIns="635" tIns="635" rIns="635" bIns="635" rtlCol="0" anchor="ctr">
            <a:normAutofit fontScale="92500"/>
          </a:bodyPr>
          <a:lstStyle/>
          <a:p>
            <a:pPr marL="0" indent="0" algn="ctr">
              <a:buNone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현재 공기가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  <a:cs typeface="맑은 고딕" pitchFamily="34" charset="-120"/>
            </a:endParaRPr>
          </a:p>
          <a:p>
            <a:pPr marL="0" indent="0" algn="ctr">
              <a:buNone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정상적인가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 15">
            <a:extLst>
              <a:ext uri="{FF2B5EF4-FFF2-40B4-BE49-F238E27FC236}">
                <a16:creationId xmlns:a16="http://schemas.microsoft.com/office/drawing/2014/main" id="{C68718AE-2CAC-4DB8-80C3-12DA6D51ACA2}"/>
              </a:ext>
            </a:extLst>
          </p:cNvPr>
          <p:cNvSpPr/>
          <p:nvPr/>
        </p:nvSpPr>
        <p:spPr>
          <a:xfrm>
            <a:off x="377131" y="879582"/>
            <a:ext cx="953863" cy="460957"/>
          </a:xfrm>
          <a:prstGeom prst="flowChartProcess">
            <a:avLst/>
          </a:prstGeom>
          <a:solidFill>
            <a:srgbClr val="EAF3FF"/>
          </a:solidFill>
          <a:ln w="13970">
            <a:solidFill>
              <a:srgbClr val="073B5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000" b="1">
                <a:latin typeface="맑은 고딕" panose="020B0503020000020004" pitchFamily="50" charset="-127"/>
                <a:ea typeface="맑은 고딕" panose="020B0503020000020004" pitchFamily="50" charset="-127"/>
              </a:rPr>
              <a:t>들이마시기</a:t>
            </a:r>
            <a:endParaRPr lang="en-US" altLang="ko-KR" sz="10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indent="0" algn="ctr">
              <a:buNone/>
            </a:pPr>
            <a:r>
              <a:rPr lang="ko-KR" altLang="en-US" sz="1000">
                <a:latin typeface="맑은 고딕" panose="020B0503020000020004" pitchFamily="50" charset="-127"/>
                <a:ea typeface="맑은 고딕" panose="020B0503020000020004" pitchFamily="50" charset="-127"/>
              </a:rPr>
              <a:t>사용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0" name="직선 화살표 연결선 9"/>
          <p:cNvCxnSpPr>
            <a:stCxn id="6" idx="3"/>
            <a:endCxn id="27" idx="1"/>
          </p:cNvCxnSpPr>
          <p:nvPr/>
        </p:nvCxnSpPr>
        <p:spPr>
          <a:xfrm>
            <a:off x="2882306" y="1110061"/>
            <a:ext cx="194551" cy="0"/>
          </a:xfrm>
          <a:prstGeom prst="straightConnector1">
            <a:avLst/>
          </a:prstGeom>
          <a:ln>
            <a:solidFill>
              <a:srgbClr val="61A5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/>
          <p:cNvCxnSpPr>
            <a:stCxn id="8" idx="3"/>
            <a:endCxn id="6" idx="1"/>
          </p:cNvCxnSpPr>
          <p:nvPr/>
        </p:nvCxnSpPr>
        <p:spPr>
          <a:xfrm>
            <a:off x="1330994" y="1110061"/>
            <a:ext cx="198000" cy="0"/>
          </a:xfrm>
          <a:prstGeom prst="straightConnector1">
            <a:avLst/>
          </a:prstGeom>
          <a:ln>
            <a:solidFill>
              <a:srgbClr val="073B5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15">
            <a:extLst>
              <a:ext uri="{FF2B5EF4-FFF2-40B4-BE49-F238E27FC236}">
                <a16:creationId xmlns:a16="http://schemas.microsoft.com/office/drawing/2014/main" id="{C68718AE-2CAC-4DB8-80C3-12DA6D51ACA2}"/>
              </a:ext>
            </a:extLst>
          </p:cNvPr>
          <p:cNvSpPr/>
          <p:nvPr/>
        </p:nvSpPr>
        <p:spPr>
          <a:xfrm>
            <a:off x="1752265" y="1598632"/>
            <a:ext cx="953863" cy="460957"/>
          </a:xfrm>
          <a:prstGeom prst="flowChartProcess">
            <a:avLst/>
          </a:prstGeom>
          <a:solidFill>
            <a:srgbClr val="EAF3FF"/>
          </a:solidFill>
          <a:ln w="13970">
            <a:solidFill>
              <a:srgbClr val="073B5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000">
                <a:latin typeface="맑은 고딕" panose="020B0503020000020004" pitchFamily="50" charset="-127"/>
                <a:ea typeface="맑은 고딕" panose="020B0503020000020004" pitchFamily="50" charset="-127"/>
              </a:rPr>
              <a:t>호흡 게이지</a:t>
            </a:r>
            <a:endParaRPr lang="en-US" altLang="ko-KR" sz="10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indent="0" algn="ctr">
              <a:buNone/>
            </a:pPr>
            <a:r>
              <a:rPr lang="ko-KR" altLang="en-US" sz="1000">
                <a:latin typeface="맑은 고딕" panose="020B0503020000020004" pitchFamily="50" charset="-127"/>
                <a:ea typeface="맑은 고딕" panose="020B0503020000020004" pitchFamily="50" charset="-127"/>
              </a:rPr>
              <a:t>한도 제한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Text 14">
            <a:extLst>
              <a:ext uri="{FF2B5EF4-FFF2-40B4-BE49-F238E27FC236}">
                <a16:creationId xmlns:a16="http://schemas.microsoft.com/office/drawing/2014/main" id="{DE29DBF1-AB43-41FD-AF05-32F729BCDB27}"/>
              </a:ext>
            </a:extLst>
          </p:cNvPr>
          <p:cNvSpPr/>
          <p:nvPr/>
        </p:nvSpPr>
        <p:spPr>
          <a:xfrm>
            <a:off x="3076857" y="813731"/>
            <a:ext cx="1353312" cy="592659"/>
          </a:xfrm>
          <a:prstGeom prst="flowChartDecision">
            <a:avLst/>
          </a:prstGeom>
          <a:solidFill>
            <a:srgbClr val="FFF0E6"/>
          </a:solidFill>
          <a:ln w="13970">
            <a:solidFill>
              <a:srgbClr val="B45309"/>
            </a:solidFill>
          </a:ln>
        </p:spPr>
        <p:txBody>
          <a:bodyPr wrap="square" lIns="635" tIns="635" rIns="635" bIns="635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ko-KR" altLang="en-US" sz="1000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들이마시기</a:t>
            </a:r>
            <a:r>
              <a:rPr lang="en-US" altLang="ko-KR" sz="1000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 </a:t>
            </a:r>
            <a:r>
              <a:rPr lang="ko-KR" altLang="en-US" sz="1000">
                <a:latin typeface="맑은 고딕" panose="020B0503020000020004" pitchFamily="50" charset="-127"/>
                <a:ea typeface="맑은 고딕" panose="020B0503020000020004" pitchFamily="50" charset="-127"/>
              </a:rPr>
              <a:t>키를 계속 누르고 있는가</a:t>
            </a:r>
            <a:r>
              <a:rPr lang="en-US" altLang="ko-KR" sz="100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Text 15">
            <a:extLst>
              <a:ext uri="{FF2B5EF4-FFF2-40B4-BE49-F238E27FC236}">
                <a16:creationId xmlns:a16="http://schemas.microsoft.com/office/drawing/2014/main" id="{C68718AE-2CAC-4DB8-80C3-12DA6D51ACA2}"/>
              </a:ext>
            </a:extLst>
          </p:cNvPr>
          <p:cNvSpPr/>
          <p:nvPr/>
        </p:nvSpPr>
        <p:spPr>
          <a:xfrm>
            <a:off x="4624720" y="883966"/>
            <a:ext cx="953863" cy="460957"/>
          </a:xfrm>
          <a:prstGeom prst="flowChartProcess">
            <a:avLst/>
          </a:prstGeom>
          <a:solidFill>
            <a:srgbClr val="EAF3FF"/>
          </a:solidFill>
          <a:ln w="13970">
            <a:solidFill>
              <a:srgbClr val="073B5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000">
                <a:latin typeface="맑은 고딕" panose="020B0503020000020004" pitchFamily="50" charset="-127"/>
                <a:ea typeface="맑은 고딕" panose="020B0503020000020004" pitchFamily="50" charset="-127"/>
              </a:rPr>
              <a:t>호흡 게이지</a:t>
            </a:r>
            <a:endParaRPr lang="en-US" altLang="ko-KR" sz="10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indent="0" algn="ctr">
              <a:buNone/>
            </a:pPr>
            <a:r>
              <a:rPr lang="ko-KR" altLang="en-US" sz="1000">
                <a:latin typeface="맑은 고딕" panose="020B0503020000020004" pitchFamily="50" charset="-127"/>
                <a:ea typeface="맑은 고딕" panose="020B0503020000020004" pitchFamily="50" charset="-127"/>
              </a:rPr>
              <a:t>상승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33" name="직선 화살표 연결선 32"/>
          <p:cNvCxnSpPr>
            <a:stCxn id="27" idx="3"/>
            <a:endCxn id="32" idx="1"/>
          </p:cNvCxnSpPr>
          <p:nvPr/>
        </p:nvCxnSpPr>
        <p:spPr>
          <a:xfrm>
            <a:off x="4430169" y="1110061"/>
            <a:ext cx="194551" cy="4384"/>
          </a:xfrm>
          <a:prstGeom prst="straightConnector1">
            <a:avLst/>
          </a:prstGeom>
          <a:ln>
            <a:solidFill>
              <a:srgbClr val="61A5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/>
          <p:cNvCxnSpPr/>
          <p:nvPr/>
        </p:nvCxnSpPr>
        <p:spPr>
          <a:xfrm>
            <a:off x="2210463" y="1406390"/>
            <a:ext cx="0" cy="192420"/>
          </a:xfrm>
          <a:prstGeom prst="straightConnector1">
            <a:avLst/>
          </a:prstGeom>
          <a:ln>
            <a:solidFill>
              <a:srgbClr val="E4867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 15">
            <a:extLst>
              <a:ext uri="{FF2B5EF4-FFF2-40B4-BE49-F238E27FC236}">
                <a16:creationId xmlns:a16="http://schemas.microsoft.com/office/drawing/2014/main" id="{C68718AE-2CAC-4DB8-80C3-12DA6D51ACA2}"/>
              </a:ext>
            </a:extLst>
          </p:cNvPr>
          <p:cNvSpPr/>
          <p:nvPr/>
        </p:nvSpPr>
        <p:spPr>
          <a:xfrm>
            <a:off x="1928443" y="2457247"/>
            <a:ext cx="953863" cy="460957"/>
          </a:xfrm>
          <a:prstGeom prst="flowChartProcess">
            <a:avLst/>
          </a:prstGeom>
          <a:solidFill>
            <a:srgbClr val="EAF3FF"/>
          </a:solidFill>
          <a:ln w="13970">
            <a:solidFill>
              <a:srgbClr val="073B5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000">
                <a:latin typeface="맑은 고딕" panose="020B0503020000020004" pitchFamily="50" charset="-127"/>
                <a:ea typeface="맑은 고딕" panose="020B0503020000020004" pitchFamily="50" charset="-127"/>
              </a:rPr>
              <a:t>자동 내뱉기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Text 14">
            <a:extLst>
              <a:ext uri="{FF2B5EF4-FFF2-40B4-BE49-F238E27FC236}">
                <a16:creationId xmlns:a16="http://schemas.microsoft.com/office/drawing/2014/main" id="{DE29DBF1-AB43-41FD-AF05-32F729BCDB27}"/>
              </a:ext>
            </a:extLst>
          </p:cNvPr>
          <p:cNvSpPr/>
          <p:nvPr/>
        </p:nvSpPr>
        <p:spPr>
          <a:xfrm>
            <a:off x="3076857" y="1598810"/>
            <a:ext cx="1353312" cy="592659"/>
          </a:xfrm>
          <a:prstGeom prst="flowChartDecision">
            <a:avLst/>
          </a:prstGeom>
          <a:solidFill>
            <a:srgbClr val="FFF0E6"/>
          </a:solidFill>
          <a:ln w="13970">
            <a:solidFill>
              <a:srgbClr val="B45309"/>
            </a:solidFill>
          </a:ln>
        </p:spPr>
        <p:txBody>
          <a:bodyPr wrap="square" lIns="635" tIns="635" rIns="635" bIns="635" rtlCol="0" anchor="ctr">
            <a:normAutofit fontScale="92500"/>
          </a:bodyPr>
          <a:lstStyle/>
          <a:p>
            <a:pPr marL="0" indent="0" algn="ctr">
              <a:buNone/>
            </a:pPr>
            <a:r>
              <a:rPr lang="ko-KR" altLang="en-US" sz="1000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숨 참기 키를 눌렀는가</a:t>
            </a:r>
            <a:r>
              <a:rPr lang="en-US" altLang="ko-KR" sz="1000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?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" name="Text 14">
            <a:extLst>
              <a:ext uri="{FF2B5EF4-FFF2-40B4-BE49-F238E27FC236}">
                <a16:creationId xmlns:a16="http://schemas.microsoft.com/office/drawing/2014/main" id="{DE29DBF1-AB43-41FD-AF05-32F729BCDB27}"/>
              </a:ext>
            </a:extLst>
          </p:cNvPr>
          <p:cNvSpPr/>
          <p:nvPr/>
        </p:nvSpPr>
        <p:spPr>
          <a:xfrm>
            <a:off x="3076857" y="2388574"/>
            <a:ext cx="1353312" cy="592659"/>
          </a:xfrm>
          <a:prstGeom prst="flowChartDecision">
            <a:avLst/>
          </a:prstGeom>
          <a:solidFill>
            <a:srgbClr val="FFF0E6"/>
          </a:solidFill>
          <a:ln w="13970">
            <a:solidFill>
              <a:srgbClr val="B45309"/>
            </a:solidFill>
          </a:ln>
        </p:spPr>
        <p:txBody>
          <a:bodyPr wrap="square" lIns="635" tIns="635" rIns="635" bIns="635" rtlCol="0" anchor="ctr">
            <a:normAutofit fontScale="92500"/>
          </a:bodyPr>
          <a:lstStyle/>
          <a:p>
            <a:pPr marL="0" indent="0" algn="ctr">
              <a:buNone/>
            </a:pPr>
            <a:r>
              <a:rPr lang="ko-KR" altLang="en-US" sz="1000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내뱉기 키를 눌렀는가</a:t>
            </a:r>
            <a:r>
              <a:rPr lang="en-US" altLang="ko-KR" sz="1000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?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47" name="직선 화살표 연결선 46"/>
          <p:cNvCxnSpPr>
            <a:stCxn id="43" idx="2"/>
            <a:endCxn id="44" idx="0"/>
          </p:cNvCxnSpPr>
          <p:nvPr/>
        </p:nvCxnSpPr>
        <p:spPr>
          <a:xfrm>
            <a:off x="3753513" y="2191469"/>
            <a:ext cx="0" cy="197105"/>
          </a:xfrm>
          <a:prstGeom prst="straightConnector1">
            <a:avLst/>
          </a:prstGeom>
          <a:ln>
            <a:solidFill>
              <a:srgbClr val="E4867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/>
          <p:cNvCxnSpPr>
            <a:stCxn id="44" idx="1"/>
            <a:endCxn id="42" idx="3"/>
          </p:cNvCxnSpPr>
          <p:nvPr/>
        </p:nvCxnSpPr>
        <p:spPr>
          <a:xfrm flipH="1">
            <a:off x="2882306" y="2684904"/>
            <a:ext cx="194551" cy="2822"/>
          </a:xfrm>
          <a:prstGeom prst="straightConnector1">
            <a:avLst/>
          </a:prstGeom>
          <a:ln>
            <a:solidFill>
              <a:srgbClr val="E4867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화살표 연결선 56"/>
          <p:cNvCxnSpPr>
            <a:stCxn id="43" idx="3"/>
            <a:endCxn id="58" idx="1"/>
          </p:cNvCxnSpPr>
          <p:nvPr/>
        </p:nvCxnSpPr>
        <p:spPr>
          <a:xfrm flipV="1">
            <a:off x="4430169" y="1894342"/>
            <a:ext cx="194551" cy="798"/>
          </a:xfrm>
          <a:prstGeom prst="straightConnector1">
            <a:avLst/>
          </a:prstGeom>
          <a:ln>
            <a:solidFill>
              <a:srgbClr val="61A5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 15">
            <a:extLst>
              <a:ext uri="{FF2B5EF4-FFF2-40B4-BE49-F238E27FC236}">
                <a16:creationId xmlns:a16="http://schemas.microsoft.com/office/drawing/2014/main" id="{C68718AE-2CAC-4DB8-80C3-12DA6D51ACA2}"/>
              </a:ext>
            </a:extLst>
          </p:cNvPr>
          <p:cNvSpPr/>
          <p:nvPr/>
        </p:nvSpPr>
        <p:spPr>
          <a:xfrm>
            <a:off x="4624720" y="1663863"/>
            <a:ext cx="953863" cy="460957"/>
          </a:xfrm>
          <a:prstGeom prst="flowChartProcess">
            <a:avLst/>
          </a:prstGeom>
          <a:solidFill>
            <a:srgbClr val="EAF3FF"/>
          </a:solidFill>
          <a:ln w="13970">
            <a:solidFill>
              <a:srgbClr val="073B5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000">
                <a:latin typeface="맑은 고딕" panose="020B0503020000020004" pitchFamily="50" charset="-127"/>
                <a:ea typeface="맑은 고딕" panose="020B0503020000020004" pitchFamily="50" charset="-127"/>
              </a:rPr>
              <a:t>숨 참기 게이지 상승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1" name="Text 15">
            <a:extLst>
              <a:ext uri="{FF2B5EF4-FFF2-40B4-BE49-F238E27FC236}">
                <a16:creationId xmlns:a16="http://schemas.microsoft.com/office/drawing/2014/main" id="{C68718AE-2CAC-4DB8-80C3-12DA6D51ACA2}"/>
              </a:ext>
            </a:extLst>
          </p:cNvPr>
          <p:cNvSpPr/>
          <p:nvPr/>
        </p:nvSpPr>
        <p:spPr>
          <a:xfrm>
            <a:off x="4624862" y="2457247"/>
            <a:ext cx="953863" cy="460957"/>
          </a:xfrm>
          <a:prstGeom prst="flowChartProcess">
            <a:avLst/>
          </a:prstGeom>
          <a:solidFill>
            <a:srgbClr val="EAF3FF"/>
          </a:solidFill>
          <a:ln w="13970">
            <a:solidFill>
              <a:srgbClr val="073B5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000">
                <a:latin typeface="맑은 고딕" panose="020B0503020000020004" pitchFamily="50" charset="-127"/>
                <a:ea typeface="맑은 고딕" panose="020B0503020000020004" pitchFamily="50" charset="-127"/>
              </a:rPr>
              <a:t>내뱉기 효과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62" name="직선 화살표 연결선 61"/>
          <p:cNvCxnSpPr>
            <a:stCxn id="44" idx="3"/>
            <a:endCxn id="61" idx="1"/>
          </p:cNvCxnSpPr>
          <p:nvPr/>
        </p:nvCxnSpPr>
        <p:spPr>
          <a:xfrm>
            <a:off x="4430169" y="2684904"/>
            <a:ext cx="194693" cy="2822"/>
          </a:xfrm>
          <a:prstGeom prst="straightConnector1">
            <a:avLst/>
          </a:prstGeom>
          <a:ln>
            <a:solidFill>
              <a:srgbClr val="61A5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화살표 연결선 65"/>
          <p:cNvCxnSpPr>
            <a:stCxn id="58" idx="3"/>
            <a:endCxn id="95" idx="1"/>
          </p:cNvCxnSpPr>
          <p:nvPr/>
        </p:nvCxnSpPr>
        <p:spPr>
          <a:xfrm>
            <a:off x="5578583" y="1894342"/>
            <a:ext cx="191630" cy="798"/>
          </a:xfrm>
          <a:prstGeom prst="straightConnector1">
            <a:avLst/>
          </a:prstGeom>
          <a:ln>
            <a:solidFill>
              <a:srgbClr val="073B5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 14">
            <a:extLst>
              <a:ext uri="{FF2B5EF4-FFF2-40B4-BE49-F238E27FC236}">
                <a16:creationId xmlns:a16="http://schemas.microsoft.com/office/drawing/2014/main" id="{DE29DBF1-AB43-41FD-AF05-32F729BCDB27}"/>
              </a:ext>
            </a:extLst>
          </p:cNvPr>
          <p:cNvSpPr/>
          <p:nvPr/>
        </p:nvSpPr>
        <p:spPr>
          <a:xfrm>
            <a:off x="8109352" y="1598010"/>
            <a:ext cx="1353312" cy="592659"/>
          </a:xfrm>
          <a:prstGeom prst="flowChartDecision">
            <a:avLst/>
          </a:prstGeom>
          <a:solidFill>
            <a:srgbClr val="FFF0E6"/>
          </a:solidFill>
          <a:ln w="13970">
            <a:solidFill>
              <a:srgbClr val="B45309"/>
            </a:solidFill>
          </a:ln>
        </p:spPr>
        <p:txBody>
          <a:bodyPr wrap="square" lIns="635" tIns="635" rIns="635" bIns="635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ko-KR" altLang="en-US" sz="1000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숨 참기 키를 계속 누르고 있는가</a:t>
            </a:r>
            <a:r>
              <a:rPr lang="en-US" altLang="ko-KR" sz="1000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?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72" name="직선 화살표 연결선 71"/>
          <p:cNvCxnSpPr>
            <a:stCxn id="73" idx="3"/>
            <a:endCxn id="70" idx="1"/>
          </p:cNvCxnSpPr>
          <p:nvPr/>
        </p:nvCxnSpPr>
        <p:spPr>
          <a:xfrm flipV="1">
            <a:off x="7917894" y="1894340"/>
            <a:ext cx="191458" cy="1"/>
          </a:xfrm>
          <a:prstGeom prst="straightConnector1">
            <a:avLst/>
          </a:prstGeom>
          <a:ln>
            <a:solidFill>
              <a:srgbClr val="073B5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 15">
            <a:extLst>
              <a:ext uri="{FF2B5EF4-FFF2-40B4-BE49-F238E27FC236}">
                <a16:creationId xmlns:a16="http://schemas.microsoft.com/office/drawing/2014/main" id="{C68718AE-2CAC-4DB8-80C3-12DA6D51ACA2}"/>
              </a:ext>
            </a:extLst>
          </p:cNvPr>
          <p:cNvSpPr/>
          <p:nvPr/>
        </p:nvSpPr>
        <p:spPr>
          <a:xfrm>
            <a:off x="6964031" y="1663862"/>
            <a:ext cx="953863" cy="460957"/>
          </a:xfrm>
          <a:prstGeom prst="flowChartProcess">
            <a:avLst/>
          </a:prstGeom>
          <a:solidFill>
            <a:srgbClr val="EAF3FF"/>
          </a:solidFill>
          <a:ln w="13970">
            <a:solidFill>
              <a:srgbClr val="073B5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000">
                <a:latin typeface="맑은 고딕" panose="020B0503020000020004" pitchFamily="50" charset="-127"/>
                <a:ea typeface="맑은 고딕" panose="020B0503020000020004" pitchFamily="50" charset="-127"/>
              </a:rPr>
              <a:t>숨 참기 한계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4" name="직선 화살표 연결선 83"/>
          <p:cNvCxnSpPr>
            <a:stCxn id="70" idx="3"/>
            <a:endCxn id="85" idx="1"/>
          </p:cNvCxnSpPr>
          <p:nvPr/>
        </p:nvCxnSpPr>
        <p:spPr>
          <a:xfrm flipV="1">
            <a:off x="9462664" y="1894339"/>
            <a:ext cx="191458" cy="1"/>
          </a:xfrm>
          <a:prstGeom prst="straightConnector1">
            <a:avLst/>
          </a:prstGeom>
          <a:ln>
            <a:solidFill>
              <a:srgbClr val="61A5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 15">
            <a:extLst>
              <a:ext uri="{FF2B5EF4-FFF2-40B4-BE49-F238E27FC236}">
                <a16:creationId xmlns:a16="http://schemas.microsoft.com/office/drawing/2014/main" id="{C68718AE-2CAC-4DB8-80C3-12DA6D51ACA2}"/>
              </a:ext>
            </a:extLst>
          </p:cNvPr>
          <p:cNvSpPr/>
          <p:nvPr/>
        </p:nvSpPr>
        <p:spPr>
          <a:xfrm>
            <a:off x="9654122" y="1663860"/>
            <a:ext cx="953863" cy="460957"/>
          </a:xfrm>
          <a:prstGeom prst="flowChartProcess">
            <a:avLst/>
          </a:prstGeom>
          <a:solidFill>
            <a:srgbClr val="EAF3FF"/>
          </a:solidFill>
          <a:ln w="13970">
            <a:solidFill>
              <a:srgbClr val="073B5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000">
                <a:latin typeface="맑은 고딕" panose="020B0503020000020004" pitchFamily="50" charset="-127"/>
                <a:ea typeface="맑은 고딕" panose="020B0503020000020004" pitchFamily="50" charset="-127"/>
              </a:rPr>
              <a:t>한계 내뱉기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9" name="직선 화살표 연결선 88"/>
          <p:cNvCxnSpPr>
            <a:stCxn id="85" idx="3"/>
            <a:endCxn id="92" idx="1"/>
          </p:cNvCxnSpPr>
          <p:nvPr/>
        </p:nvCxnSpPr>
        <p:spPr>
          <a:xfrm flipV="1">
            <a:off x="10607985" y="1892414"/>
            <a:ext cx="191458" cy="1925"/>
          </a:xfrm>
          <a:prstGeom prst="straightConnector1">
            <a:avLst/>
          </a:prstGeom>
          <a:ln>
            <a:solidFill>
              <a:srgbClr val="073B5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순서도: 문서 91">
            <a:extLst>
              <a:ext uri="{FF2B5EF4-FFF2-40B4-BE49-F238E27FC236}">
                <a16:creationId xmlns:a16="http://schemas.microsoft.com/office/drawing/2014/main" id="{9DFFB465-53BE-400A-AFB0-BB9177DDD8DB}"/>
              </a:ext>
            </a:extLst>
          </p:cNvPr>
          <p:cNvSpPr/>
          <p:nvPr/>
        </p:nvSpPr>
        <p:spPr>
          <a:xfrm>
            <a:off x="10799443" y="1661935"/>
            <a:ext cx="1002188" cy="460957"/>
          </a:xfrm>
          <a:prstGeom prst="flowChartDocument">
            <a:avLst/>
          </a:prstGeom>
          <a:solidFill>
            <a:srgbClr val="EAF7EE"/>
          </a:solidFill>
          <a:ln>
            <a:solidFill>
              <a:srgbClr val="2D8D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아주 큰 소음 </a:t>
            </a:r>
            <a:r>
              <a:rPr lang="en-US" altLang="ko-KR" sz="1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</a:p>
          <a:p>
            <a:pPr algn="ctr"/>
            <a:r>
              <a:rPr lang="ko-KR" altLang="en-US" sz="1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헐떡이는 모션</a:t>
            </a:r>
            <a:endParaRPr lang="ko-KR" altLang="en-US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5" name="순서도: 문서 94">
            <a:extLst>
              <a:ext uri="{FF2B5EF4-FFF2-40B4-BE49-F238E27FC236}">
                <a16:creationId xmlns:a16="http://schemas.microsoft.com/office/drawing/2014/main" id="{9DFFB465-53BE-400A-AFB0-BB9177DDD8DB}"/>
              </a:ext>
            </a:extLst>
          </p:cNvPr>
          <p:cNvSpPr/>
          <p:nvPr/>
        </p:nvSpPr>
        <p:spPr>
          <a:xfrm>
            <a:off x="5770213" y="1664661"/>
            <a:ext cx="1002188" cy="460957"/>
          </a:xfrm>
          <a:prstGeom prst="flowChartDocument">
            <a:avLst/>
          </a:prstGeom>
          <a:solidFill>
            <a:srgbClr val="EAF7EE"/>
          </a:solidFill>
          <a:ln>
            <a:solidFill>
              <a:srgbClr val="2D8D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숨 참는 모션</a:t>
            </a:r>
            <a:endParaRPr lang="ko-KR" altLang="en-US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00" name="직선 화살표 연결선 99"/>
          <p:cNvCxnSpPr>
            <a:stCxn id="95" idx="3"/>
            <a:endCxn id="73" idx="1"/>
          </p:cNvCxnSpPr>
          <p:nvPr/>
        </p:nvCxnSpPr>
        <p:spPr>
          <a:xfrm flipV="1">
            <a:off x="6772401" y="1894341"/>
            <a:ext cx="191630" cy="799"/>
          </a:xfrm>
          <a:prstGeom prst="straightConnector1">
            <a:avLst/>
          </a:prstGeom>
          <a:ln>
            <a:solidFill>
              <a:srgbClr val="073B5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순서도: 문서 102">
            <a:extLst>
              <a:ext uri="{FF2B5EF4-FFF2-40B4-BE49-F238E27FC236}">
                <a16:creationId xmlns:a16="http://schemas.microsoft.com/office/drawing/2014/main" id="{9DFFB465-53BE-400A-AFB0-BB9177DDD8DB}"/>
              </a:ext>
            </a:extLst>
          </p:cNvPr>
          <p:cNvSpPr/>
          <p:nvPr/>
        </p:nvSpPr>
        <p:spPr>
          <a:xfrm>
            <a:off x="5770213" y="883966"/>
            <a:ext cx="1306828" cy="460957"/>
          </a:xfrm>
          <a:prstGeom prst="flowChartDocument">
            <a:avLst/>
          </a:prstGeom>
          <a:solidFill>
            <a:srgbClr val="EAF7EE"/>
          </a:solidFill>
          <a:ln>
            <a:solidFill>
              <a:srgbClr val="2D8D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들이마시는 모션 </a:t>
            </a:r>
            <a:r>
              <a:rPr lang="en-US" altLang="ko-KR" sz="1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1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들이마시는 소리</a:t>
            </a:r>
            <a:endParaRPr lang="ko-KR" altLang="en-US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04" name="직선 화살표 연결선 103"/>
          <p:cNvCxnSpPr>
            <a:stCxn id="32" idx="3"/>
            <a:endCxn id="103" idx="1"/>
          </p:cNvCxnSpPr>
          <p:nvPr/>
        </p:nvCxnSpPr>
        <p:spPr>
          <a:xfrm>
            <a:off x="5578583" y="1114445"/>
            <a:ext cx="191630" cy="0"/>
          </a:xfrm>
          <a:prstGeom prst="straightConnector1">
            <a:avLst/>
          </a:prstGeom>
          <a:ln>
            <a:solidFill>
              <a:srgbClr val="073B5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꺾인 연결선 108"/>
          <p:cNvCxnSpPr>
            <a:stCxn id="70" idx="2"/>
            <a:endCxn id="44" idx="0"/>
          </p:cNvCxnSpPr>
          <p:nvPr/>
        </p:nvCxnSpPr>
        <p:spPr>
          <a:xfrm rot="5400000">
            <a:off x="6170809" y="-226626"/>
            <a:ext cx="197905" cy="5032495"/>
          </a:xfrm>
          <a:prstGeom prst="bentConnector3">
            <a:avLst>
              <a:gd name="adj1" fmla="val 30749"/>
            </a:avLst>
          </a:prstGeom>
          <a:ln>
            <a:solidFill>
              <a:srgbClr val="E4867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순서도: 문서 112">
            <a:extLst>
              <a:ext uri="{FF2B5EF4-FFF2-40B4-BE49-F238E27FC236}">
                <a16:creationId xmlns:a16="http://schemas.microsoft.com/office/drawing/2014/main" id="{9DFFB465-53BE-400A-AFB0-BB9177DDD8DB}"/>
              </a:ext>
            </a:extLst>
          </p:cNvPr>
          <p:cNvSpPr/>
          <p:nvPr/>
        </p:nvSpPr>
        <p:spPr>
          <a:xfrm>
            <a:off x="3252419" y="3088203"/>
            <a:ext cx="1002188" cy="460957"/>
          </a:xfrm>
          <a:prstGeom prst="flowChartDocument">
            <a:avLst/>
          </a:prstGeom>
          <a:solidFill>
            <a:srgbClr val="EAF7EE"/>
          </a:solidFill>
          <a:ln>
            <a:solidFill>
              <a:srgbClr val="2D8D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큰 소음 </a:t>
            </a:r>
            <a:r>
              <a:rPr lang="en-US" altLang="ko-KR" sz="1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</a:p>
          <a:p>
            <a:pPr algn="ctr"/>
            <a:r>
              <a:rPr lang="ko-KR" altLang="en-US" sz="1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내뱉는 모션</a:t>
            </a:r>
            <a:endParaRPr lang="ko-KR" altLang="en-US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14" name="꺾인 연결선 113"/>
          <p:cNvCxnSpPr>
            <a:stCxn id="42" idx="2"/>
            <a:endCxn id="113" idx="1"/>
          </p:cNvCxnSpPr>
          <p:nvPr/>
        </p:nvCxnSpPr>
        <p:spPr>
          <a:xfrm rot="16200000" flipH="1">
            <a:off x="2628658" y="2694921"/>
            <a:ext cx="400478" cy="847044"/>
          </a:xfrm>
          <a:prstGeom prst="bentConnector2">
            <a:avLst/>
          </a:prstGeom>
          <a:ln>
            <a:solidFill>
              <a:srgbClr val="073B5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꺾인 연결선 116"/>
          <p:cNvCxnSpPr>
            <a:stCxn id="61" idx="2"/>
            <a:endCxn id="113" idx="3"/>
          </p:cNvCxnSpPr>
          <p:nvPr/>
        </p:nvCxnSpPr>
        <p:spPr>
          <a:xfrm rot="5400000">
            <a:off x="4477962" y="2694850"/>
            <a:ext cx="400478" cy="847187"/>
          </a:xfrm>
          <a:prstGeom prst="bentConnector2">
            <a:avLst/>
          </a:prstGeom>
          <a:ln>
            <a:solidFill>
              <a:srgbClr val="073B5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 3">
            <a:extLst>
              <a:ext uri="{FF2B5EF4-FFF2-40B4-BE49-F238E27FC236}">
                <a16:creationId xmlns:a16="http://schemas.microsoft.com/office/drawing/2014/main" id="{99B599FB-1E52-484C-A702-7A6ED4B60348}"/>
              </a:ext>
            </a:extLst>
          </p:cNvPr>
          <p:cNvSpPr/>
          <p:nvPr/>
        </p:nvSpPr>
        <p:spPr>
          <a:xfrm>
            <a:off x="530352" y="32918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 </a:t>
            </a:r>
            <a:r>
              <a:rPr lang="ko-KR" altLang="en-US" sz="20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 시스템 플로우 차트</a:t>
            </a:r>
            <a:endParaRPr lang="en-US" sz="2000" dirty="0"/>
          </a:p>
        </p:txBody>
      </p:sp>
      <p:sp>
        <p:nvSpPr>
          <p:cNvPr id="41" name="Shape 1">
            <a:extLst>
              <a:ext uri="{FF2B5EF4-FFF2-40B4-BE49-F238E27FC236}">
                <a16:creationId xmlns:a16="http://schemas.microsoft.com/office/drawing/2014/main" id="{FC38E21A-DBA4-47D4-94C6-19F8AFE45F6A}"/>
              </a:ext>
            </a:extLst>
          </p:cNvPr>
          <p:cNvSpPr/>
          <p:nvPr/>
        </p:nvSpPr>
        <p:spPr>
          <a:xfrm>
            <a:off x="502920" y="713232"/>
            <a:ext cx="11201400" cy="0"/>
          </a:xfrm>
          <a:prstGeom prst="line">
            <a:avLst/>
          </a:prstGeom>
          <a:noFill/>
          <a:ln w="12700">
            <a:solidFill>
              <a:srgbClr val="D7E0E8"/>
            </a:solidFill>
            <a:prstDash val="solid"/>
          </a:ln>
        </p:spPr>
      </p:sp>
      <p:cxnSp>
        <p:nvCxnSpPr>
          <p:cNvPr id="59" name="직선 화살표 연결선 58"/>
          <p:cNvCxnSpPr/>
          <p:nvPr/>
        </p:nvCxnSpPr>
        <p:spPr>
          <a:xfrm>
            <a:off x="3753513" y="1406390"/>
            <a:ext cx="0" cy="192420"/>
          </a:xfrm>
          <a:prstGeom prst="straightConnector1">
            <a:avLst/>
          </a:prstGeom>
          <a:ln>
            <a:solidFill>
              <a:srgbClr val="E4867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 15">
            <a:extLst>
              <a:ext uri="{FF2B5EF4-FFF2-40B4-BE49-F238E27FC236}">
                <a16:creationId xmlns:a16="http://schemas.microsoft.com/office/drawing/2014/main" id="{C68718AE-2CAC-4DB8-80C3-12DA6D51ACA2}"/>
              </a:ext>
            </a:extLst>
          </p:cNvPr>
          <p:cNvSpPr/>
          <p:nvPr/>
        </p:nvSpPr>
        <p:spPr>
          <a:xfrm>
            <a:off x="2334845" y="3912546"/>
            <a:ext cx="953863" cy="226504"/>
          </a:xfrm>
          <a:prstGeom prst="flowChartProcess">
            <a:avLst/>
          </a:prstGeom>
          <a:solidFill>
            <a:srgbClr val="EAF7EE"/>
          </a:solidFill>
          <a:ln w="13970">
            <a:solidFill>
              <a:srgbClr val="2D8D5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들이마시기</a:t>
            </a:r>
            <a:endParaRPr lang="en-US" sz="1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2" name="Text 3">
            <a:extLst>
              <a:ext uri="{FF2B5EF4-FFF2-40B4-BE49-F238E27FC236}">
                <a16:creationId xmlns:a16="http://schemas.microsoft.com/office/drawing/2014/main" id="{AB578D99-CD9C-4D2B-9D94-68E0545C9797}"/>
              </a:ext>
            </a:extLst>
          </p:cNvPr>
          <p:cNvSpPr/>
          <p:nvPr/>
        </p:nvSpPr>
        <p:spPr>
          <a:xfrm>
            <a:off x="262501" y="3819029"/>
            <a:ext cx="14500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500" b="1" dirty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능력 확장 규칙</a:t>
            </a:r>
            <a:endParaRPr lang="en-US" sz="1500" dirty="0"/>
          </a:p>
        </p:txBody>
      </p:sp>
      <p:sp>
        <p:nvSpPr>
          <p:cNvPr id="83" name="Text 15">
            <a:extLst>
              <a:ext uri="{FF2B5EF4-FFF2-40B4-BE49-F238E27FC236}">
                <a16:creationId xmlns:a16="http://schemas.microsoft.com/office/drawing/2014/main" id="{84960C82-C11E-4336-B632-FDA7A91C89CF}"/>
              </a:ext>
            </a:extLst>
          </p:cNvPr>
          <p:cNvSpPr/>
          <p:nvPr/>
        </p:nvSpPr>
        <p:spPr>
          <a:xfrm>
            <a:off x="1059543" y="4407819"/>
            <a:ext cx="1083997" cy="635247"/>
          </a:xfrm>
          <a:prstGeom prst="flowChartProcess">
            <a:avLst/>
          </a:prstGeom>
          <a:solidFill>
            <a:srgbClr val="EAF7EE"/>
          </a:solidFill>
          <a:ln w="13970">
            <a:solidFill>
              <a:srgbClr val="2D8D5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흡인</a:t>
            </a:r>
            <a:endParaRPr lang="en-US" altLang="ko-KR" sz="1000" b="1" dirty="0">
              <a:latin typeface="맑은 고딕" panose="020B0503020000020004" pitchFamily="50" charset="-127"/>
              <a:ea typeface="맑은 고딕" panose="020B0503020000020004" pitchFamily="50" charset="-127"/>
              <a:cs typeface="맑은 고딕" pitchFamily="34" charset="-120"/>
            </a:endParaRPr>
          </a:p>
          <a:p>
            <a:pPr marL="0" indent="0" algn="ctr">
              <a:buNone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주변 오브젝트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indent="0" algn="ctr">
              <a:buNone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회수 </a:t>
            </a:r>
            <a:r>
              <a:rPr 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탐색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6" name="Text 15">
            <a:extLst>
              <a:ext uri="{FF2B5EF4-FFF2-40B4-BE49-F238E27FC236}">
                <a16:creationId xmlns:a16="http://schemas.microsoft.com/office/drawing/2014/main" id="{5645A360-8183-453E-A96D-298E1F0C152E}"/>
              </a:ext>
            </a:extLst>
          </p:cNvPr>
          <p:cNvSpPr/>
          <p:nvPr/>
        </p:nvSpPr>
        <p:spPr>
          <a:xfrm>
            <a:off x="2269779" y="4406257"/>
            <a:ext cx="1083997" cy="635247"/>
          </a:xfrm>
          <a:prstGeom prst="flowChartProcess">
            <a:avLst/>
          </a:prstGeom>
          <a:solidFill>
            <a:srgbClr val="EAF7EE"/>
          </a:solidFill>
          <a:ln w="13970">
            <a:solidFill>
              <a:srgbClr val="2D8D5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흡음</a:t>
            </a:r>
            <a:endParaRPr lang="en-US" altLang="ko-KR" sz="1000" b="1" dirty="0">
              <a:latin typeface="맑은 고딕" panose="020B0503020000020004" pitchFamily="50" charset="-127"/>
              <a:ea typeface="맑은 고딕" panose="020B0503020000020004" pitchFamily="50" charset="-127"/>
              <a:cs typeface="맑은 고딕" pitchFamily="34" charset="-120"/>
            </a:endParaRPr>
          </a:p>
          <a:p>
            <a:pPr marL="0" indent="0" algn="ctr">
              <a:buNone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소음 저장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indent="0" algn="ctr">
              <a:buNone/>
            </a:pPr>
            <a:r>
              <a:rPr 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이후 방출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7" name="Text 15">
            <a:extLst>
              <a:ext uri="{FF2B5EF4-FFF2-40B4-BE49-F238E27FC236}">
                <a16:creationId xmlns:a16="http://schemas.microsoft.com/office/drawing/2014/main" id="{329B70C3-948E-44DA-BEC8-8331AAA321AA}"/>
              </a:ext>
            </a:extLst>
          </p:cNvPr>
          <p:cNvSpPr/>
          <p:nvPr/>
        </p:nvSpPr>
        <p:spPr>
          <a:xfrm>
            <a:off x="3485318" y="4401618"/>
            <a:ext cx="1083997" cy="635247"/>
          </a:xfrm>
          <a:prstGeom prst="flowChartProcess">
            <a:avLst/>
          </a:prstGeom>
          <a:solidFill>
            <a:srgbClr val="EAF7EE"/>
          </a:solidFill>
          <a:ln w="13970">
            <a:solidFill>
              <a:srgbClr val="2D8D5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흡기 도약</a:t>
            </a:r>
            <a:endParaRPr lang="en-US" altLang="ko-KR" sz="1000" b="1" dirty="0">
              <a:latin typeface="맑은 고딕" panose="020B0503020000020004" pitchFamily="50" charset="-127"/>
              <a:ea typeface="맑은 고딕" panose="020B0503020000020004" pitchFamily="50" charset="-127"/>
              <a:cs typeface="맑은 고딕" pitchFamily="34" charset="-120"/>
            </a:endParaRPr>
          </a:p>
          <a:p>
            <a:pPr marL="0" indent="0" algn="ctr">
              <a:buNone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도약 거리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indent="0" algn="ctr">
              <a:buNone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증가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8" name="Text 15">
            <a:extLst>
              <a:ext uri="{FF2B5EF4-FFF2-40B4-BE49-F238E27FC236}">
                <a16:creationId xmlns:a16="http://schemas.microsoft.com/office/drawing/2014/main" id="{3BF76F57-E390-48D1-833F-EC53B899BE3F}"/>
              </a:ext>
            </a:extLst>
          </p:cNvPr>
          <p:cNvSpPr/>
          <p:nvPr/>
        </p:nvSpPr>
        <p:spPr>
          <a:xfrm>
            <a:off x="1359748" y="5367130"/>
            <a:ext cx="953863" cy="226503"/>
          </a:xfrm>
          <a:prstGeom prst="flowChartProcess">
            <a:avLst/>
          </a:prstGeom>
          <a:solidFill>
            <a:srgbClr val="EAF3FF"/>
          </a:solidFill>
          <a:ln w="13970">
            <a:solidFill>
              <a:srgbClr val="073B5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숨 참기</a:t>
            </a:r>
            <a:endParaRPr lang="en-US" sz="1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0" name="Text 15">
            <a:extLst>
              <a:ext uri="{FF2B5EF4-FFF2-40B4-BE49-F238E27FC236}">
                <a16:creationId xmlns:a16="http://schemas.microsoft.com/office/drawing/2014/main" id="{98A81813-AEF4-44FA-BBB1-B415468C5EE3}"/>
              </a:ext>
            </a:extLst>
          </p:cNvPr>
          <p:cNvSpPr/>
          <p:nvPr/>
        </p:nvSpPr>
        <p:spPr>
          <a:xfrm>
            <a:off x="170154" y="5867485"/>
            <a:ext cx="1083997" cy="618886"/>
          </a:xfrm>
          <a:prstGeom prst="flowChartProcess">
            <a:avLst/>
          </a:prstGeom>
          <a:solidFill>
            <a:srgbClr val="EAF3FF"/>
          </a:solidFill>
          <a:ln w="13970">
            <a:solidFill>
              <a:srgbClr val="073B5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기척 소거</a:t>
            </a:r>
            <a:endParaRPr lang="en-US" altLang="ko-KR" sz="1000" b="1" dirty="0">
              <a:latin typeface="맑은 고딕" panose="020B0503020000020004" pitchFamily="50" charset="-127"/>
              <a:ea typeface="맑은 고딕" panose="020B0503020000020004" pitchFamily="50" charset="-127"/>
              <a:cs typeface="맑은 고딕" pitchFamily="34" charset="-120"/>
            </a:endParaRPr>
          </a:p>
          <a:p>
            <a:pPr marL="0" indent="0" algn="ctr">
              <a:buNone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투명화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1" name="Text 15">
            <a:extLst>
              <a:ext uri="{FF2B5EF4-FFF2-40B4-BE49-F238E27FC236}">
                <a16:creationId xmlns:a16="http://schemas.microsoft.com/office/drawing/2014/main" id="{DCA1D4CE-E26E-49BA-9C38-3C9291880BC1}"/>
              </a:ext>
            </a:extLst>
          </p:cNvPr>
          <p:cNvSpPr/>
          <p:nvPr/>
        </p:nvSpPr>
        <p:spPr>
          <a:xfrm>
            <a:off x="1297960" y="5862405"/>
            <a:ext cx="1083997" cy="618886"/>
          </a:xfrm>
          <a:prstGeom prst="flowChartProcess">
            <a:avLst/>
          </a:prstGeom>
          <a:solidFill>
            <a:srgbClr val="EAF3FF"/>
          </a:solidFill>
          <a:ln w="13970">
            <a:solidFill>
              <a:srgbClr val="073B5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공중 부유</a:t>
            </a:r>
            <a:endParaRPr lang="en-US" altLang="ko-KR" sz="1000" b="1" dirty="0">
              <a:latin typeface="맑은 고딕" panose="020B0503020000020004" pitchFamily="50" charset="-127"/>
              <a:ea typeface="맑은 고딕" panose="020B0503020000020004" pitchFamily="50" charset="-127"/>
              <a:cs typeface="맑은 고딕" pitchFamily="34" charset="-120"/>
            </a:endParaRPr>
          </a:p>
          <a:p>
            <a:pPr marL="0" indent="0" algn="ctr">
              <a:buNone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공중 상태에서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indent="0" algn="ctr">
              <a:buNone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시작 시 위치 유지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3" name="Text 15">
            <a:extLst>
              <a:ext uri="{FF2B5EF4-FFF2-40B4-BE49-F238E27FC236}">
                <a16:creationId xmlns:a16="http://schemas.microsoft.com/office/drawing/2014/main" id="{CFD9D103-9251-4C14-A111-08459E850044}"/>
              </a:ext>
            </a:extLst>
          </p:cNvPr>
          <p:cNvSpPr/>
          <p:nvPr/>
        </p:nvSpPr>
        <p:spPr>
          <a:xfrm>
            <a:off x="2425765" y="5861284"/>
            <a:ext cx="1083997" cy="618886"/>
          </a:xfrm>
          <a:prstGeom prst="flowChartProcess">
            <a:avLst/>
          </a:prstGeom>
          <a:solidFill>
            <a:srgbClr val="EAF3FF"/>
          </a:solidFill>
          <a:ln w="13970">
            <a:solidFill>
              <a:srgbClr val="073B5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시간 정지</a:t>
            </a:r>
            <a:endParaRPr lang="en-US" altLang="ko-KR" sz="1000" b="1" dirty="0">
              <a:latin typeface="맑은 고딕" panose="020B0503020000020004" pitchFamily="50" charset="-127"/>
              <a:ea typeface="맑은 고딕" panose="020B0503020000020004" pitchFamily="50" charset="-127"/>
              <a:cs typeface="맑은 고딕" pitchFamily="34" charset="-120"/>
            </a:endParaRPr>
          </a:p>
          <a:p>
            <a:pPr marL="0" indent="0" algn="ctr">
              <a:buNone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후반 능력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4" name="Text 15">
            <a:extLst>
              <a:ext uri="{FF2B5EF4-FFF2-40B4-BE49-F238E27FC236}">
                <a16:creationId xmlns:a16="http://schemas.microsoft.com/office/drawing/2014/main" id="{2089435A-2FE6-4924-BD82-8D4AD7B2E9C2}"/>
              </a:ext>
            </a:extLst>
          </p:cNvPr>
          <p:cNvSpPr/>
          <p:nvPr/>
        </p:nvSpPr>
        <p:spPr>
          <a:xfrm>
            <a:off x="4268411" y="5367130"/>
            <a:ext cx="953863" cy="226503"/>
          </a:xfrm>
          <a:prstGeom prst="flowChartProcess">
            <a:avLst/>
          </a:prstGeom>
          <a:solidFill>
            <a:srgbClr val="F2EDFF"/>
          </a:solidFill>
          <a:ln w="13970">
            <a:solidFill>
              <a:srgbClr val="073B5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내쉬기</a:t>
            </a:r>
            <a:endParaRPr lang="en-US" sz="1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6" name="Text 15">
            <a:extLst>
              <a:ext uri="{FF2B5EF4-FFF2-40B4-BE49-F238E27FC236}">
                <a16:creationId xmlns:a16="http://schemas.microsoft.com/office/drawing/2014/main" id="{B871C17E-3277-44E6-BCD0-1C96A76BF59F}"/>
              </a:ext>
            </a:extLst>
          </p:cNvPr>
          <p:cNvSpPr/>
          <p:nvPr/>
        </p:nvSpPr>
        <p:spPr>
          <a:xfrm>
            <a:off x="3640311" y="5861283"/>
            <a:ext cx="1083997" cy="618887"/>
          </a:xfrm>
          <a:prstGeom prst="flowChartProcess">
            <a:avLst/>
          </a:prstGeom>
          <a:solidFill>
            <a:srgbClr val="F2EDFF"/>
          </a:solidFill>
          <a:ln w="13970">
            <a:solidFill>
              <a:srgbClr val="073B5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공명</a:t>
            </a:r>
            <a:endParaRPr lang="en-US" altLang="ko-KR" sz="1000" b="1" dirty="0">
              <a:latin typeface="맑은 고딕" panose="020B0503020000020004" pitchFamily="50" charset="-127"/>
              <a:ea typeface="맑은 고딕" panose="020B0503020000020004" pitchFamily="50" charset="-127"/>
              <a:cs typeface="맑은 고딕" pitchFamily="34" charset="-120"/>
            </a:endParaRPr>
          </a:p>
          <a:p>
            <a:pPr marL="0" indent="0" algn="ctr">
              <a:buNone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공기 파동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indent="0" algn="ctr">
              <a:buNone/>
            </a:pPr>
            <a:r>
              <a:rPr 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환경 탐색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7" name="Text 15">
            <a:extLst>
              <a:ext uri="{FF2B5EF4-FFF2-40B4-BE49-F238E27FC236}">
                <a16:creationId xmlns:a16="http://schemas.microsoft.com/office/drawing/2014/main" id="{7FF7FDAE-1D60-4A0C-B6B4-818FA56FA358}"/>
              </a:ext>
            </a:extLst>
          </p:cNvPr>
          <p:cNvSpPr/>
          <p:nvPr/>
        </p:nvSpPr>
        <p:spPr>
          <a:xfrm>
            <a:off x="4789152" y="5856203"/>
            <a:ext cx="1083997" cy="618887"/>
          </a:xfrm>
          <a:prstGeom prst="flowChartProcess">
            <a:avLst/>
          </a:prstGeom>
          <a:solidFill>
            <a:srgbClr val="F2EDFF"/>
          </a:solidFill>
          <a:ln w="13970">
            <a:solidFill>
              <a:srgbClr val="073B5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 pitchFamily="34" charset="-120"/>
              </a:rPr>
              <a:t>잔기</a:t>
            </a:r>
            <a:endParaRPr lang="en-US" altLang="ko-KR" sz="1000" b="1" dirty="0">
              <a:latin typeface="맑은 고딕" panose="020B0503020000020004" pitchFamily="50" charset="-127"/>
              <a:ea typeface="맑은 고딕" panose="020B0503020000020004" pitchFamily="50" charset="-127"/>
              <a:cs typeface="맑은 고딕" pitchFamily="34" charset="-120"/>
            </a:endParaRPr>
          </a:p>
          <a:p>
            <a:pPr marL="0" indent="0" algn="ctr">
              <a:buNone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가짜 기척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indent="0" algn="ctr">
              <a:buNone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생성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98" name="연결선: 꺾임 94">
            <a:extLst>
              <a:ext uri="{FF2B5EF4-FFF2-40B4-BE49-F238E27FC236}">
                <a16:creationId xmlns:a16="http://schemas.microsoft.com/office/drawing/2014/main" id="{C27549D1-E0E8-4AB7-B8FA-2F32FC4F9481}"/>
              </a:ext>
            </a:extLst>
          </p:cNvPr>
          <p:cNvCxnSpPr>
            <a:cxnSpLocks/>
            <a:stCxn id="81" idx="2"/>
            <a:endCxn id="83" idx="0"/>
          </p:cNvCxnSpPr>
          <p:nvPr/>
        </p:nvCxnSpPr>
        <p:spPr>
          <a:xfrm rot="5400000">
            <a:off x="2072276" y="3668317"/>
            <a:ext cx="268769" cy="1210235"/>
          </a:xfrm>
          <a:prstGeom prst="bentConnector3">
            <a:avLst>
              <a:gd name="adj1" fmla="val 50000"/>
            </a:avLst>
          </a:prstGeom>
          <a:ln w="19050">
            <a:solidFill>
              <a:srgbClr val="073B5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연결선: 꺾임 95">
            <a:extLst>
              <a:ext uri="{FF2B5EF4-FFF2-40B4-BE49-F238E27FC236}">
                <a16:creationId xmlns:a16="http://schemas.microsoft.com/office/drawing/2014/main" id="{8EE41EE1-F79C-40A3-9859-25D5CD91E428}"/>
              </a:ext>
            </a:extLst>
          </p:cNvPr>
          <p:cNvCxnSpPr>
            <a:cxnSpLocks/>
            <a:stCxn id="81" idx="2"/>
            <a:endCxn id="87" idx="0"/>
          </p:cNvCxnSpPr>
          <p:nvPr/>
        </p:nvCxnSpPr>
        <p:spPr>
          <a:xfrm rot="16200000" flipH="1">
            <a:off x="3288263" y="3662564"/>
            <a:ext cx="262568" cy="1215540"/>
          </a:xfrm>
          <a:prstGeom prst="bentConnector3">
            <a:avLst>
              <a:gd name="adj1" fmla="val 50000"/>
            </a:avLst>
          </a:prstGeom>
          <a:ln w="19050">
            <a:solidFill>
              <a:srgbClr val="073B5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연결선: 꺾임 96">
            <a:extLst>
              <a:ext uri="{FF2B5EF4-FFF2-40B4-BE49-F238E27FC236}">
                <a16:creationId xmlns:a16="http://schemas.microsoft.com/office/drawing/2014/main" id="{1912BA9E-98B1-4E67-B712-FE8B26EFC881}"/>
              </a:ext>
            </a:extLst>
          </p:cNvPr>
          <p:cNvCxnSpPr>
            <a:cxnSpLocks/>
            <a:stCxn id="88" idx="2"/>
            <a:endCxn id="93" idx="0"/>
          </p:cNvCxnSpPr>
          <p:nvPr/>
        </p:nvCxnSpPr>
        <p:spPr>
          <a:xfrm rot="16200000" flipH="1">
            <a:off x="2268397" y="5161916"/>
            <a:ext cx="267651" cy="1131084"/>
          </a:xfrm>
          <a:prstGeom prst="bentConnector3">
            <a:avLst>
              <a:gd name="adj1" fmla="val 50000"/>
            </a:avLst>
          </a:prstGeom>
          <a:ln w="19050">
            <a:solidFill>
              <a:srgbClr val="073B5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연결선: 꺾임 97">
            <a:extLst>
              <a:ext uri="{FF2B5EF4-FFF2-40B4-BE49-F238E27FC236}">
                <a16:creationId xmlns:a16="http://schemas.microsoft.com/office/drawing/2014/main" id="{2936AE79-9825-47E7-A405-B5020E57C037}"/>
              </a:ext>
            </a:extLst>
          </p:cNvPr>
          <p:cNvCxnSpPr>
            <a:cxnSpLocks/>
            <a:stCxn id="88" idx="2"/>
            <a:endCxn id="90" idx="0"/>
          </p:cNvCxnSpPr>
          <p:nvPr/>
        </p:nvCxnSpPr>
        <p:spPr>
          <a:xfrm rot="5400000">
            <a:off x="1137491" y="5168296"/>
            <a:ext cx="273852" cy="1124527"/>
          </a:xfrm>
          <a:prstGeom prst="bentConnector3">
            <a:avLst>
              <a:gd name="adj1" fmla="val 50000"/>
            </a:avLst>
          </a:prstGeom>
          <a:ln w="19050">
            <a:solidFill>
              <a:srgbClr val="073B5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연결선: 꺾임 98">
            <a:extLst>
              <a:ext uri="{FF2B5EF4-FFF2-40B4-BE49-F238E27FC236}">
                <a16:creationId xmlns:a16="http://schemas.microsoft.com/office/drawing/2014/main" id="{8F50D6D7-8941-4971-970B-FE85613F57B3}"/>
              </a:ext>
            </a:extLst>
          </p:cNvPr>
          <p:cNvCxnSpPr>
            <a:cxnSpLocks/>
            <a:stCxn id="94" idx="2"/>
            <a:endCxn id="96" idx="0"/>
          </p:cNvCxnSpPr>
          <p:nvPr/>
        </p:nvCxnSpPr>
        <p:spPr>
          <a:xfrm rot="5400000">
            <a:off x="4330002" y="5445942"/>
            <a:ext cx="267650" cy="563033"/>
          </a:xfrm>
          <a:prstGeom prst="bentConnector3">
            <a:avLst>
              <a:gd name="adj1" fmla="val 50000"/>
            </a:avLst>
          </a:prstGeom>
          <a:ln w="19050">
            <a:solidFill>
              <a:srgbClr val="073B5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연결선: 꺾임 99">
            <a:extLst>
              <a:ext uri="{FF2B5EF4-FFF2-40B4-BE49-F238E27FC236}">
                <a16:creationId xmlns:a16="http://schemas.microsoft.com/office/drawing/2014/main" id="{8B7FDE5B-B727-496E-A772-B8DD4AEEA178}"/>
              </a:ext>
            </a:extLst>
          </p:cNvPr>
          <p:cNvCxnSpPr>
            <a:cxnSpLocks/>
            <a:stCxn id="94" idx="2"/>
            <a:endCxn id="97" idx="0"/>
          </p:cNvCxnSpPr>
          <p:nvPr/>
        </p:nvCxnSpPr>
        <p:spPr>
          <a:xfrm rot="16200000" flipH="1">
            <a:off x="4906962" y="5432014"/>
            <a:ext cx="262570" cy="585808"/>
          </a:xfrm>
          <a:prstGeom prst="bentConnector3">
            <a:avLst>
              <a:gd name="adj1" fmla="val 50000"/>
            </a:avLst>
          </a:prstGeom>
          <a:ln w="19050">
            <a:solidFill>
              <a:srgbClr val="073B5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화살표 연결선 106"/>
          <p:cNvCxnSpPr>
            <a:stCxn id="81" idx="2"/>
            <a:endCxn id="86" idx="0"/>
          </p:cNvCxnSpPr>
          <p:nvPr/>
        </p:nvCxnSpPr>
        <p:spPr>
          <a:xfrm>
            <a:off x="2811777" y="4139050"/>
            <a:ext cx="1" cy="267207"/>
          </a:xfrm>
          <a:prstGeom prst="straightConnector1">
            <a:avLst/>
          </a:prstGeom>
          <a:ln w="19050">
            <a:solidFill>
              <a:srgbClr val="073B5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화살표 연결선 107"/>
          <p:cNvCxnSpPr>
            <a:stCxn id="88" idx="2"/>
            <a:endCxn id="91" idx="0"/>
          </p:cNvCxnSpPr>
          <p:nvPr/>
        </p:nvCxnSpPr>
        <p:spPr>
          <a:xfrm>
            <a:off x="1836680" y="5593633"/>
            <a:ext cx="3279" cy="268772"/>
          </a:xfrm>
          <a:prstGeom prst="straightConnector1">
            <a:avLst/>
          </a:prstGeom>
          <a:ln w="19050">
            <a:solidFill>
              <a:srgbClr val="073B5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Shape 1">
            <a:extLst>
              <a:ext uri="{FF2B5EF4-FFF2-40B4-BE49-F238E27FC236}">
                <a16:creationId xmlns:a16="http://schemas.microsoft.com/office/drawing/2014/main" id="{FC38E21A-DBA4-47D4-94C6-19F8AFE45F6A}"/>
              </a:ext>
            </a:extLst>
          </p:cNvPr>
          <p:cNvSpPr/>
          <p:nvPr/>
        </p:nvSpPr>
        <p:spPr>
          <a:xfrm>
            <a:off x="222191" y="3672240"/>
            <a:ext cx="11762858" cy="0"/>
          </a:xfrm>
          <a:prstGeom prst="line">
            <a:avLst/>
          </a:prstGeom>
          <a:noFill/>
          <a:ln w="12700">
            <a:solidFill>
              <a:srgbClr val="D7E0E8"/>
            </a:solidFill>
            <a:prstDash val="solid"/>
          </a:ln>
        </p:spPr>
      </p:sp>
      <p:sp>
        <p:nvSpPr>
          <p:cNvPr id="129" name="Shape 1">
            <a:extLst>
              <a:ext uri="{FF2B5EF4-FFF2-40B4-BE49-F238E27FC236}">
                <a16:creationId xmlns:a16="http://schemas.microsoft.com/office/drawing/2014/main" id="{FC38E21A-DBA4-47D4-94C6-19F8AFE45F6A}"/>
              </a:ext>
            </a:extLst>
          </p:cNvPr>
          <p:cNvSpPr/>
          <p:nvPr/>
        </p:nvSpPr>
        <p:spPr>
          <a:xfrm rot="5400000">
            <a:off x="4582537" y="5138122"/>
            <a:ext cx="2931762" cy="0"/>
          </a:xfrm>
          <a:prstGeom prst="line">
            <a:avLst/>
          </a:prstGeom>
          <a:noFill/>
          <a:ln w="12700">
            <a:solidFill>
              <a:srgbClr val="D7E0E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7453682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</TotalTime>
  <Words>2989</Words>
  <Application>Microsoft Office PowerPoint</Application>
  <PresentationFormat>와이드스크린</PresentationFormat>
  <Paragraphs>758</Paragraphs>
  <Slides>32</Slides>
  <Notes>26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32</vt:i4>
      </vt:variant>
    </vt:vector>
  </HeadingPairs>
  <TitlesOfParts>
    <vt:vector size="35" baseType="lpstr"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호흡 시스템 기획 문서</dc:title>
  <dc:subject>호흡 시스템 기획 문서</dc:subject>
  <dc:creator>OpenAI</dc:creator>
  <cp:lastModifiedBy>FullName</cp:lastModifiedBy>
  <cp:revision>21</cp:revision>
  <dcterms:created xsi:type="dcterms:W3CDTF">2026-08-19T01:17:59Z</dcterms:created>
  <dcterms:modified xsi:type="dcterms:W3CDTF">2026-08-20T06:52:29Z</dcterms:modified>
</cp:coreProperties>
</file>