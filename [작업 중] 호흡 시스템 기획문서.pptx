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75" d="100"/>
          <a:sy n="75" d="100"/>
        </p:scale>
        <p:origin x="642" y="26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501693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21920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109722"/>
            <a:ext cx="4389120" cy="29260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시스템 기획 문서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521201"/>
            <a:ext cx="8757920" cy="339577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Autofit/>
          </a:bodyPr>
          <a:lstStyle/>
          <a:p>
            <a:pPr marL="0" indent="0" algn="l">
              <a:buNone/>
            </a:pPr>
            <a:r>
              <a:rPr lang="en-US" sz="15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들이마시기·숨 참기·내쉬기를 직접 조절해 이동, 은신, 소음, 환경 대응을 연결하는 시스템 기획안</a:t>
            </a:r>
            <a:endParaRPr lang="en-US" sz="1500" dirty="0"/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A0AC9961-F783-BF24-79C2-A497AFF8096C}"/>
              </a:ext>
            </a:extLst>
          </p:cNvPr>
          <p:cNvSpPr/>
          <p:nvPr/>
        </p:nvSpPr>
        <p:spPr>
          <a:xfrm>
            <a:off x="489204" y="61488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C291D65-BC30-AAD5-FA60-BFCA6C9134A9}"/>
              </a:ext>
            </a:extLst>
          </p:cNvPr>
          <p:cNvSpPr txBox="1"/>
          <p:nvPr/>
        </p:nvSpPr>
        <p:spPr>
          <a:xfrm>
            <a:off x="9855200" y="5788342"/>
            <a:ext cx="175895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1000" dirty="0"/>
              <a:t>작성자 </a:t>
            </a:r>
            <a:r>
              <a:rPr lang="en-US" altLang="ko-KR" sz="1000" dirty="0"/>
              <a:t>: </a:t>
            </a:r>
            <a:r>
              <a:rPr lang="ko-KR" altLang="en-US" sz="1000" dirty="0"/>
              <a:t>윤수진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77240" y="114300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41832" y="126187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41832" y="161848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 / 핵심 경험 / 시스템 볼륨 맵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309360" y="114300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73952" y="126187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호흡 시스템 플레이 화면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73952" y="161848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플레이 HUD와 화면 구성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77240" y="256032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41832" y="267919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41832" y="303580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입력·상태·소음·환경·능력 규칙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309360" y="256032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73952" y="267919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73952" y="303580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유니티 구조도와 주요 플로우차트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77240" y="397764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1832" y="409651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리소스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41832" y="445312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/ 애니메이션 / SFX / VFX / 데이터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9360" y="3977640"/>
            <a:ext cx="5074920" cy="987552"/>
          </a:xfrm>
          <a:prstGeom prst="roundRect">
            <a:avLst>
              <a:gd name="adj" fmla="val 7407"/>
            </a:avLst>
          </a:prstGeom>
          <a:solidFill>
            <a:srgbClr val="F4F7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73952" y="4096512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예외사항 안전장치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473952" y="4453128"/>
            <a:ext cx="474573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충돌·난이도 붕괴 방지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58368" y="1078992"/>
            <a:ext cx="1188720" cy="3200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58368" y="1463040"/>
            <a:ext cx="4663440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플레이어가 들이마시기·숨 참기·내쉬기를 직접 조절해 호흡량과 소음을 관리하는 핵심 플레이 시스템.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1323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EAF7EE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8483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263347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EAF3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확보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0507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55371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F2ED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25312" y="2432304"/>
            <a:ext cx="429768" cy="0"/>
          </a:xfrm>
          <a:prstGeom prst="line">
            <a:avLst/>
          </a:prstGeom>
          <a:noFill/>
          <a:ln w="1143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473952" y="2267712"/>
            <a:ext cx="1325880" cy="329184"/>
          </a:xfrm>
          <a:prstGeom prst="roundRect">
            <a:avLst>
              <a:gd name="adj" fmla="val 27778"/>
            </a:avLst>
          </a:prstGeom>
          <a:solidFill>
            <a:srgbClr val="FFF6D8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내쉬기/회복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22960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상태가 이동·은신·소음·공기 환경·적 AI의 반응을 연쇄적으로 변화시킨다.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70832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5424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35424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적의 위치, 환경 소음, 이동 거리, 공기 상태를 보고 언제·얼마나·어디서 숨을 쉴지 판단한다.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83296" y="3127248"/>
            <a:ext cx="3383280" cy="987552"/>
          </a:xfrm>
          <a:prstGeom prst="roundRect">
            <a:avLst>
              <a:gd name="adj" fmla="val 740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47888" y="324612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약속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47888" y="3602736"/>
            <a:ext cx="3054096" cy="4114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호흡은 단순 산소 게이지가 아니라 플레이어가 반복적으로 다루는 행동 시스템이다.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6053328"/>
            <a:ext cx="107442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질문: 언제 숨을 쉴 것인가? / 얼마나 들이마실 것인가? / 어디에서 숨을 회복할 것인가?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호흡 시스템 플레이 화면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호흡 시스템 플레이 화면</a:t>
            </a:r>
            <a:endParaRPr lang="en-US" sz="2000" dirty="0"/>
          </a:p>
        </p:txBody>
      </p:sp>
      <p:pic>
        <p:nvPicPr>
          <p:cNvPr id="6" name="Image 0" descr="/mnt/data/바이오_연구소의_은밀한_침투작전.png"/>
          <p:cNvPicPr>
            <a:picLocks noChangeAspect="1"/>
          </p:cNvPicPr>
          <p:nvPr/>
        </p:nvPicPr>
        <p:blipFill>
          <a:blip r:embed="rId3"/>
          <a:srcRect t="9365" b="9365"/>
          <a:stretch/>
        </p:blipFill>
        <p:spPr>
          <a:xfrm>
            <a:off x="676656" y="1051560"/>
            <a:ext cx="10835640" cy="4956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6656" y="6053328"/>
            <a:ext cx="10835640" cy="201168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화면 구성: 호흡 게이지 / 소음 표시 / 능력 아이콘 / 공기 환경 / 적 AI 시야 / 상호작용 오브젝트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1.1 시스템 볼륨 맵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5669280" y="2926080"/>
            <a:ext cx="749808" cy="749808"/>
          </a:xfrm>
          <a:prstGeom prst="ellipse">
            <a:avLst/>
          </a:prstGeom>
          <a:solidFill>
            <a:srgbClr val="073B5A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434840" y="1078992"/>
            <a:ext cx="530352" cy="530352"/>
          </a:xfrm>
          <a:prstGeom prst="ellipse">
            <a:avLst/>
          </a:prstGeom>
          <a:solidFill>
            <a:srgbClr val="EAF7EE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623560" y="960120"/>
            <a:ext cx="530352" cy="530352"/>
          </a:xfrm>
          <a:prstGeom prst="ellipse">
            <a:avLst/>
          </a:prstGeom>
          <a:solidFill>
            <a:srgbClr val="F2EDFF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812280" y="1078992"/>
            <a:ext cx="530352" cy="530352"/>
          </a:xfrm>
          <a:prstGeom prst="ellipse">
            <a:avLst/>
          </a:prstGeom>
          <a:solidFill>
            <a:srgbClr val="FFF6D8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82112" y="2359152"/>
            <a:ext cx="566928" cy="566928"/>
          </a:xfrm>
          <a:prstGeom prst="ellipse">
            <a:avLst/>
          </a:prstGeom>
          <a:solidFill>
            <a:srgbClr val="EAF3FF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182112" y="4041648"/>
            <a:ext cx="566928" cy="566928"/>
          </a:xfrm>
          <a:prstGeom prst="ellipse">
            <a:avLst/>
          </a:prstGeom>
          <a:solidFill>
            <a:srgbClr val="FFF0E6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부채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50992" y="4892040"/>
            <a:ext cx="512064" cy="512064"/>
          </a:xfrm>
          <a:prstGeom prst="ellipse">
            <a:avLst/>
          </a:prstGeom>
          <a:solidFill>
            <a:srgbClr val="FDECEC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234440" y="2084832"/>
            <a:ext cx="502920" cy="502920"/>
          </a:xfrm>
          <a:prstGeom prst="ellipse">
            <a:avLst/>
          </a:prstGeom>
          <a:solidFill>
            <a:srgbClr val="F4F7FA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234440" y="3246120"/>
            <a:ext cx="502920" cy="502920"/>
          </a:xfrm>
          <a:prstGeom prst="ellipse">
            <a:avLst/>
          </a:prstGeom>
          <a:solidFill>
            <a:srgbClr val="F4F7FA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234440" y="4407408"/>
            <a:ext cx="502920" cy="502920"/>
          </a:xfrm>
          <a:prstGeom prst="ellipse">
            <a:avLst/>
          </a:prstGeom>
          <a:solidFill>
            <a:srgbClr val="F4F7FA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AI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52544" y="5623560"/>
            <a:ext cx="548640" cy="548640"/>
          </a:xfrm>
          <a:prstGeom prst="ellipse">
            <a:avLst/>
          </a:prstGeom>
          <a:solidFill>
            <a:srgbClr val="E7FAF8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458200" y="1078992"/>
            <a:ext cx="548640" cy="548640"/>
          </a:xfrm>
          <a:prstGeom prst="ellipse">
            <a:avLst/>
          </a:prstGeom>
          <a:solidFill>
            <a:srgbClr val="E7FAF8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환경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9838944" y="2240280"/>
            <a:ext cx="502920" cy="502920"/>
          </a:xfrm>
          <a:prstGeom prst="ellipse">
            <a:avLst/>
          </a:prstGeom>
          <a:solidFill>
            <a:srgbClr val="FDECEC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9838944" y="3685032"/>
            <a:ext cx="502920" cy="502920"/>
          </a:xfrm>
          <a:prstGeom prst="ellipse">
            <a:avLst/>
          </a:prstGeom>
          <a:solidFill>
            <a:srgbClr val="EAF7EE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58200" y="5230368"/>
            <a:ext cx="548640" cy="548640"/>
          </a:xfrm>
          <a:prstGeom prst="ellipse">
            <a:avLst/>
          </a:prstGeom>
          <a:solidFill>
            <a:srgbClr val="F2EDFF"/>
          </a:solidFill>
          <a:ln w="8890">
            <a:solidFill>
              <a:srgbClr val="D7E0E8"/>
            </a:solidFill>
          </a:ln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특수 능력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85800" y="6236208"/>
            <a:ext cx="10835640" cy="201168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핵심: 호흡 → 소음 → 적 AI처럼 단선으로 끝나지 않고, 이동·환경·능력이 다시 호흡 조건을 바꾼다.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호흡 시스템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핵심 순환 구조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41732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53619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 fontScale="70000" lnSpcReduction="20000"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</a:t>
            </a:r>
            <a:endParaRPr lang="en-US" sz="1500" dirty="0"/>
          </a:p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들이마심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89280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 확보 / 환경 공기 흡입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94760" y="141732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9352" y="153619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숨을 참음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959352" y="189280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억제 / 호흡 게이지 감소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0" y="141732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22592" y="153619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 수행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022592" y="189280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이동·은신·능력 사용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58000" y="379476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22592" y="391363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부채 누적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7022592" y="427024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긴장·격한 행동으로 회복 부담 증가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760" y="379476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59352" y="391363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3959352" y="427024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회복 / 소음 발생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3794760"/>
            <a:ext cx="2514600" cy="960120"/>
          </a:xfrm>
          <a:prstGeom prst="roundRect">
            <a:avLst>
              <a:gd name="adj" fmla="val 7619"/>
            </a:avLst>
          </a:prstGeom>
          <a:solidFill>
            <a:srgbClr val="F4F7FA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96112" y="3913632"/>
            <a:ext cx="21854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판단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96112" y="4270248"/>
            <a:ext cx="218541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AI·환경 소음·공기 상태 확인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73552" y="1892808"/>
            <a:ext cx="47548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6336792" y="1892808"/>
            <a:ext cx="47548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9400032" y="1892808"/>
            <a:ext cx="0" cy="237744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9400032" y="4270248"/>
            <a:ext cx="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336792" y="4270248"/>
            <a:ext cx="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3273552" y="4270248"/>
            <a:ext cx="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30" name="Text 28"/>
          <p:cNvSpPr/>
          <p:nvPr/>
        </p:nvSpPr>
        <p:spPr>
          <a:xfrm>
            <a:off x="777240" y="6108192"/>
            <a:ext cx="10652760" cy="219456"/>
          </a:xfrm>
          <a:prstGeom prst="rect">
            <a:avLst/>
          </a:prstGeom>
          <a:solidFill>
            <a:srgbClr val="EAF3FF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의도: 숨을 끝까지 참는 플레이보다, 한계 전에 일부 회복하고 다시 숨기는 판단이 숙련 플레이가 된다.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7899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119786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50392" y="155448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호흡량은 플레이어가 직접 조절한다.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172200" y="107899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36792" y="119786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36792" y="155448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참기는 확보한 호흡을 소비한다.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85800" y="249631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261518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50392" y="297180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내쉬기는 필요한 만큼만 회복할 수 있다.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72200" y="249631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36792" y="261518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36792" y="297180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한계를 넘으면 강제 호흡이 발생한다.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" y="391363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403250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05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50392" y="438912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결과는 소음으로 월드에 전달된다.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72200" y="3913632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36792" y="4032504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RULE 06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36792" y="4389120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입력도 시작 상태에 따라 다른 결과가 된다.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31520" y="6080760"/>
            <a:ext cx="107442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페이지는 정상 처리 순서를 설명하고, 예외사항 페이지는 규칙끼리 충돌할 때 우선순위를 정의한다.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 기본 호흡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충전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시간만큼 확보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깊은 들숨일수록 준비 시간 증가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공기를 함께 흡입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8056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4515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소비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소음 억제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이동·격한 행동에 따라 소비량 변화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도달 시 강제 해제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1207008"/>
            <a:ext cx="3246120" cy="2743200"/>
          </a:xfrm>
          <a:prstGeom prst="roundRect">
            <a:avLst>
              <a:gd name="adj" fmla="val 2667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1325880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394192" y="1682496"/>
            <a:ext cx="2916936" cy="21671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 회복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참은 정도에 따라 소음 발생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 도중 다시 숨 참기 가능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소음으로 은폐 가능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8680" y="4892040"/>
            <a:ext cx="10378440" cy="384048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필요한 만큼 들이마신다 → 필요한 순간만 참는다 → 안전한 순간에 필요한 만큼 회복한다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" y="5577840"/>
            <a:ext cx="10378440" cy="237744"/>
          </a:xfrm>
          <a:prstGeom prst="rect">
            <a:avLst/>
          </a:prstGeom>
          <a:solidFill>
            <a:srgbClr val="FDECEC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금지 규칙: 한 번 들이마시면 끝까지 채워야 하거나, 한 번 내쉬면 완전히 회복될 때까지 멈출 수 없는 구조로 만들지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 호흡 게이지 / 한계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1078992"/>
            <a:ext cx="2011680" cy="21945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22960" y="1444752"/>
            <a:ext cx="10424160" cy="256032"/>
          </a:xfrm>
          <a:prstGeom prst="rect">
            <a:avLst/>
          </a:prstGeom>
          <a:solidFill>
            <a:srgbClr val="EEF2F7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22960" y="1444752"/>
            <a:ext cx="7955280" cy="256032"/>
          </a:xfrm>
          <a:prstGeom prst="rect">
            <a:avLst/>
          </a:prstGeom>
          <a:solidFill>
            <a:srgbClr val="70D7E8"/>
          </a:solidFill>
          <a:ln w="10160">
            <a:solidFill>
              <a:srgbClr val="70D7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13639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6811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79983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10131552" y="1755648"/>
            <a:ext cx="100584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822960" y="2240280"/>
            <a:ext cx="10424160" cy="2148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22960" y="2240280"/>
            <a:ext cx="250179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59536" y="2304288"/>
            <a:ext cx="242864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324758" y="2240280"/>
            <a:ext cx="2293315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361334" y="2304288"/>
            <a:ext cx="2220163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18074" y="2240280"/>
            <a:ext cx="562904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54650" y="2304288"/>
            <a:ext cx="555589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22960" y="2551176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7824" y="2606040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324758" y="2551176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79622" y="2606040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76~100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18074" y="2551176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72938" y="2606040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조작 가능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22960" y="2918765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7824" y="2973629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주의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324758" y="2918765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379622" y="2973629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51~75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18074" y="2918765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672938" y="2973629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압박 연출 약함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2960" y="3286354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7824" y="3341218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24758" y="3286354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379622" y="3341218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26~50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18074" y="3286354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72938" y="3341218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UI/캐릭터 피드백 강화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22960" y="3653942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7824" y="3708806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324758" y="3653942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379622" y="3708806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618074" y="3653942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72938" y="3708806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직전 경고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22960" y="4021531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7824" y="4076395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고갈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324758" y="4021531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79622" y="4076395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5618074" y="4021531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672938" y="4076395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/ 재입력 잠금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822960" y="4882896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87552" y="5001768"/>
            <a:ext cx="47000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규칙</a:t>
            </a:r>
            <a:endParaRPr lang="en-US" sz="1500" dirty="0"/>
          </a:p>
        </p:txBody>
      </p:sp>
      <p:sp>
        <p:nvSpPr>
          <p:cNvPr id="53" name="Text 51"/>
          <p:cNvSpPr/>
          <p:nvPr/>
        </p:nvSpPr>
        <p:spPr>
          <a:xfrm>
            <a:off x="987552" y="5358384"/>
            <a:ext cx="4700016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게이지가 0에 도달하면 플레이어 입력보다 시스템 규칙을 우선해 숨 참기를 강제로 종료한다. 큰 소음이 발생하며 짧은 시간 다시 숨을 참을 수 없다.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217920" y="4882896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82512" y="5001768"/>
            <a:ext cx="47000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 회복 규칙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6382512" y="5358384"/>
            <a:ext cx="4700016" cy="33832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숨을 풀면 회복이 시작되지만, 플레이어는 100%까지 기다리지 않고 필요한 지점에서 다시 숨을 참을 수 있다.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3.3 들이마시기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5156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7043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들숨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2704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 시간에 비례해 원하는 만큼만 호흡 게이지를 채운다.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0" y="105156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82512" y="117043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깊은 들숨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82512" y="152704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호흡량은 늘어나지만 이동 준비가 느려지고 들숨 소음이 증가한다.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246888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" y="258775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96112" y="294436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중 1회 작은 기척을 감수하고 짧게 호흡을 보충한다.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46888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382512" y="258775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흡인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382512" y="294436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 중 가벼운 물체를 끌어와 탐색·퍼즐에 활용한다.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31520" y="388620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112" y="400507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96112" y="436168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등 큰 소음을 빨아들여 몸 안에 저장하고 다른 장소에서 방출한다.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17920" y="3886200"/>
            <a:ext cx="512064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382512" y="4005072"/>
            <a:ext cx="47914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382512" y="4361688"/>
            <a:ext cx="479145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직전 들이마시는 중이면 더 긴 수평 도약이 가능하다.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6071616"/>
            <a:ext cx="105156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원칙: 들이마시기는 현재 행동을 즉시 강하게 만드는 버프가 아니라, 다음 행동을 위한 준비 자원이다.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3.4 숨 참기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효과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동안 호흡 소음을 제거한다. 단, 발소리·충돌음·물체 상호작용음은 별도로 남는다.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407408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기척 소거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획득 후 숨을 참는 동안 몸이 투명해진다. 시각 탐지는 피하지만 청각·흔적 탐지는 남는다.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83296" y="1078992"/>
            <a:ext cx="3337560" cy="1097280"/>
          </a:xfrm>
          <a:prstGeom prst="roundRect">
            <a:avLst>
              <a:gd name="adj" fmla="val 6667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47888" y="1197864"/>
            <a:ext cx="30083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정지 계열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47888" y="1554480"/>
            <a:ext cx="300837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최후반 능력. 숨을 극도로 억제해 짧은 시간 세계의 움직임을 멈춘다. 호흡 소모가 매우 크다.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2816352"/>
            <a:ext cx="228600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 상태 판정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1965960" y="3520440"/>
            <a:ext cx="10515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977640" y="3520440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3657600" y="3886200"/>
            <a:ext cx="0" cy="85039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841248" y="3246120"/>
            <a:ext cx="1417320" cy="54864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입력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971800" y="3154680"/>
            <a:ext cx="1234440" cy="71323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 lnSpcReduction="200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발이 땅에서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떨어졌는가?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983480" y="3246120"/>
            <a:ext cx="1417320" cy="54864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971800" y="4736592"/>
            <a:ext cx="1371600" cy="54864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숨 참기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720840" y="3273552"/>
            <a:ext cx="4315968" cy="457200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숨 참기 입력도 시작 순간의 지상/공중 상태에 따라 결과가 달라진다.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20840" y="3931920"/>
            <a:ext cx="4315968" cy="658368"/>
          </a:xfrm>
          <a:prstGeom prst="rect">
            <a:avLst/>
          </a:prstGeom>
          <a:solidFill>
            <a:srgbClr val="EAF3FF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부유는 숨 참기를 시작한 순간 공중 상태였을 때만 발동하며, 이후 점프해서는 발동하지 않는다.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3.5 내쉬기 / 공명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315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분할 날숨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961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키 입력 시간에 따라 원하는 만큼만 회복한다. 짧게 회복하고 바로 다시 숨을 참을 수 있다.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537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거친 호흡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537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오래 참거나 격한 행동을 한 뒤 내쉬면 단계별 소음이 발생한다.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46720" y="1078992"/>
            <a:ext cx="3383280" cy="1078992"/>
          </a:xfrm>
          <a:prstGeom prst="roundRect">
            <a:avLst>
              <a:gd name="adj" fmla="val 6780"/>
            </a:avLst>
          </a:prstGeom>
          <a:solidFill>
            <a:srgbClr val="E7FAF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1312" y="1197864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 소음 은폐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11312" y="1554480"/>
            <a:ext cx="3054096" cy="5029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기계음·폭발·경보 등 큰 환경 소리와 겹치면 호흡 소음 탐지 반경이 감소한다.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61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공명 호흡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961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강하게 내쉬면 먼지·천·종이·유리 표면 등이 반응해 숨은 글자나 적 위치를 추론할 수 있다.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891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537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잔기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5537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날숨으로 기척을 남겨 감지형 적이 해당 위치를 플레이어로 오인하게 만든다.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046720" y="2743200"/>
            <a:ext cx="3383280" cy="1207008"/>
          </a:xfrm>
          <a:prstGeom prst="roundRect">
            <a:avLst>
              <a:gd name="adj" fmla="val 6061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11312" y="2862072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211312" y="3218688"/>
            <a:ext cx="3054096" cy="63093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흡음으로 저장한 소음은 안전한 장소에서 내보내야 다음 호흡 행동을 정상 사용 가능하다.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22960" y="5925312"/>
            <a:ext cx="10515600" cy="237744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내쉬기의 성격: 회복 → 방출 → 공명 → 기만으로 확장된다.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이동 연동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42416"/>
            <a:ext cx="5486400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042416"/>
            <a:ext cx="87782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106424"/>
            <a:ext cx="80467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행동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700784" y="1042416"/>
            <a:ext cx="153619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37360" y="1106424"/>
            <a:ext cx="14630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소비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36976" y="1042416"/>
            <a:ext cx="1371600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73552" y="1106424"/>
            <a:ext cx="129844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발소리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8576" y="1042416"/>
            <a:ext cx="170078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45152" y="1106424"/>
            <a:ext cx="162763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사용처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1353312"/>
            <a:ext cx="87782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7824" y="1408176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걷기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700784" y="1353312"/>
            <a:ext cx="1536192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755648" y="1408176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36976" y="1353312"/>
            <a:ext cx="1371600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408176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608576" y="1353312"/>
            <a:ext cx="170078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663440" y="1408176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기본 이동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822960" y="1824228"/>
            <a:ext cx="87782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7824" y="1879092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기어가기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00784" y="1824228"/>
            <a:ext cx="1536192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755648" y="1879092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36976" y="1824228"/>
            <a:ext cx="1371600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91840" y="1879092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08576" y="1824228"/>
            <a:ext cx="170078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63440" y="1879092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은신 안정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2295144"/>
            <a:ext cx="87782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7824" y="2350008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700784" y="2295144"/>
            <a:ext cx="1536192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55648" y="2350008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36976" y="2295144"/>
            <a:ext cx="1371600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2350008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높음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608576" y="2295144"/>
            <a:ext cx="1700784" cy="470916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2350008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빠른 이동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822960" y="2766060"/>
            <a:ext cx="87782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77824" y="2820924"/>
            <a:ext cx="76809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전력질주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700784" y="2766060"/>
            <a:ext cx="1536192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55648" y="2820924"/>
            <a:ext cx="1426464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높음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236976" y="2766060"/>
            <a:ext cx="1371600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91840" y="2820924"/>
            <a:ext cx="1261872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높음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608576" y="2766060"/>
            <a:ext cx="1700784" cy="470916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63440" y="2820924"/>
            <a:ext cx="1591056" cy="3794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돌파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720840" y="1042416"/>
            <a:ext cx="4526280" cy="1051560"/>
          </a:xfrm>
          <a:prstGeom prst="roundRect">
            <a:avLst>
              <a:gd name="adj" fmla="val 695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885432" y="1161288"/>
            <a:ext cx="4197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6885432" y="1517904"/>
            <a:ext cx="4197096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시작 시 들이마시는 중이면 일반 점프보다 수평 이동 거리가 증가한다. 준비 시간이 필요해 즉발 회피용으로는 부적합하다.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720840" y="2377440"/>
            <a:ext cx="4526280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85432" y="2496312"/>
            <a:ext cx="4197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6885432" y="2852928"/>
            <a:ext cx="4197096" cy="47548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시작 시 공중 상태라면 호흡 게이지가 남아있는 동안 높이를 유지한다. 게이지가 0이면 즉시 낙하한다.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22960" y="3840480"/>
            <a:ext cx="5349240" cy="1097280"/>
          </a:xfrm>
          <a:prstGeom prst="roundRect">
            <a:avLst>
              <a:gd name="adj" fmla="val 6667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87552" y="3959352"/>
            <a:ext cx="50200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이동-은신 순환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987552" y="4315968"/>
            <a:ext cx="502005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달리기는 빠르지만 호흡 부채와 발소리를 동시에 증가시켜 다음 은신 구간을 어렵게 만든다.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355080" y="3840480"/>
            <a:ext cx="4892040" cy="1097280"/>
          </a:xfrm>
          <a:prstGeom prst="roundRect">
            <a:avLst>
              <a:gd name="adj" fmla="val 6667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519672" y="3959352"/>
            <a:ext cx="456285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디자인 의도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6519672" y="4315968"/>
            <a:ext cx="456285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호흡만 잘 관리하면 끝나는 게임이 아니라 걷기·뛰기·기어가기 선택까지 함께 판단하게 한다.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3.7 소음 / 적 AI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68680" y="1417320"/>
            <a:ext cx="1325880" cy="530352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미탐지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24028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3017520" y="1417320"/>
            <a:ext cx="1325880" cy="530352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감지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912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166360" y="1417320"/>
            <a:ext cx="1325880" cy="53035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53796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315200" y="1417320"/>
            <a:ext cx="1325880" cy="53035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위치 조사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686800" y="1682496"/>
            <a:ext cx="612648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9464040" y="1417320"/>
            <a:ext cx="1325880" cy="530352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발견/추격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22960" y="2514600"/>
            <a:ext cx="10424160" cy="21488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2960" y="2514600"/>
            <a:ext cx="250179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2578608"/>
            <a:ext cx="242864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324758" y="2514600"/>
            <a:ext cx="2293315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61334" y="2578608"/>
            <a:ext cx="2220163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예시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618074" y="2514600"/>
            <a:ext cx="562904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54650" y="2578608"/>
            <a:ext cx="555589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영향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22960" y="2825496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77824" y="2880360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작음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24758" y="2825496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79622" y="2880360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들숨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18074" y="2825496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72938" y="2880360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근거리 의심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22960" y="3193085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7824" y="3247949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작음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24758" y="3193085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79622" y="3247949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조절 날숨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18074" y="3193085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72938" y="3247949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낮은 의심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22960" y="3560674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77824" y="3615538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보통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324758" y="3560674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79622" y="3615538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달리기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18074" y="3560674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672938" y="3615538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주변 조사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822960" y="3928262"/>
            <a:ext cx="2501798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77824" y="3983126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큼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324758" y="3928262"/>
            <a:ext cx="2293315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379622" y="3983126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거친 호흡/재채기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5618074" y="3928262"/>
            <a:ext cx="5629046" cy="367589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72938" y="3983126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높은 의심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822960" y="4295851"/>
            <a:ext cx="2501798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77824" y="4350715"/>
            <a:ext cx="2392070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매우 큼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324758" y="4295851"/>
            <a:ext cx="2293315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79622" y="4350715"/>
            <a:ext cx="2183587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5618074" y="4295851"/>
            <a:ext cx="5629046" cy="367589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672938" y="4350715"/>
            <a:ext cx="5519318" cy="276149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광범위 반응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822960" y="5102352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87552" y="5221224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어그로 해소 규칙</a:t>
            </a:r>
            <a:endParaRPr lang="en-US" sz="1500" dirty="0"/>
          </a:p>
        </p:txBody>
      </p:sp>
      <p:sp>
        <p:nvSpPr>
          <p:cNvPr id="54" name="Text 52"/>
          <p:cNvSpPr/>
          <p:nvPr/>
        </p:nvSpPr>
        <p:spPr>
          <a:xfrm>
            <a:off x="987552" y="5577840"/>
            <a:ext cx="4745736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플레이어가 거친 호흡으로 의심을 만들었더라도 다시 숨을 참아 추가 기척을 제거하면 시간이 지나며 의심이 감소한다.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172200" y="5102352"/>
            <a:ext cx="5074920" cy="841248"/>
          </a:xfrm>
          <a:prstGeom prst="roundRect">
            <a:avLst>
              <a:gd name="adj" fmla="val 8696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36792" y="5221224"/>
            <a:ext cx="47457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연동</a:t>
            </a:r>
            <a:endParaRPr lang="en-US" sz="1500" dirty="0"/>
          </a:p>
        </p:txBody>
      </p:sp>
      <p:sp>
        <p:nvSpPr>
          <p:cNvPr id="57" name="Text 55"/>
          <p:cNvSpPr/>
          <p:nvPr/>
        </p:nvSpPr>
        <p:spPr>
          <a:xfrm>
            <a:off x="6336792" y="5577840"/>
            <a:ext cx="4745736" cy="265176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흡음은 큰 소리를 삭제하지 않고 플레이어 몸 안에 저장한다. 저장 중에는 호흡 행동을 잠가 위험을 미래로 이동시킨다.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3.8 공기 환경 / 재채기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51560"/>
            <a:ext cx="5623560" cy="274320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1051560"/>
            <a:ext cx="134965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9536" y="1115568"/>
            <a:ext cx="127650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172614" y="1051560"/>
            <a:ext cx="1237183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09190" y="1115568"/>
            <a:ext cx="1164031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409798" y="1051560"/>
            <a:ext cx="303672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46374" y="1115568"/>
            <a:ext cx="296357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22960" y="1362456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1417320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깨끗한 공기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172614" y="1362456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27478" y="1417320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09798" y="1362456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64662" y="1417320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822960" y="1767840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7824" y="1822704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172614" y="1767840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227478" y="1822704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감소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409798" y="1767840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64662" y="1822704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22960" y="2173224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" y="2228088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꽃가루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172614" y="2173224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227478" y="2228088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감소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09798" y="2173224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64662" y="2228088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22960" y="2578608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7824" y="2633472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연기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172614" y="2578608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27478" y="2633472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크게 제한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09798" y="2578608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464662" y="2633472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기침/시야 저하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22960" y="2983992"/>
            <a:ext cx="1349654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77824" y="3038856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독가스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172614" y="2983992"/>
            <a:ext cx="1237183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227478" y="3038856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불가에 가까움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09798" y="2983992"/>
            <a:ext cx="3036722" cy="40538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4662" y="3038856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피해/상태이상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822960" y="3389376"/>
            <a:ext cx="1349654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77824" y="3444240"/>
            <a:ext cx="1239926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수중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172614" y="3389376"/>
            <a:ext cx="1237183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227478" y="3444240"/>
            <a:ext cx="1127455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불가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409798" y="3389376"/>
            <a:ext cx="3036722" cy="40538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4662" y="3444240"/>
            <a:ext cx="2926994" cy="31394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 호흡만 사용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858000" y="1143000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깨끗한 공간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858000" y="1481328"/>
            <a:ext cx="4114800" cy="256032"/>
          </a:xfrm>
          <a:prstGeom prst="rect">
            <a:avLst/>
          </a:prstGeom>
          <a:solidFill>
            <a:srgbClr val="E6F7E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235440" y="1810512"/>
            <a:ext cx="164592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100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858000" y="2359152"/>
            <a:ext cx="1828800" cy="1828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꽃가루 공간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858000" y="2697480"/>
            <a:ext cx="4114800" cy="256032"/>
          </a:xfrm>
          <a:prstGeom prst="rect">
            <a:avLst/>
          </a:prstGeom>
          <a:solidFill>
            <a:srgbClr val="FFF2BF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979408" y="2633472"/>
            <a:ext cx="0" cy="384048"/>
          </a:xfrm>
          <a:prstGeom prst="line">
            <a:avLst/>
          </a:prstGeom>
          <a:noFill/>
          <a:ln w="25400">
            <a:solidFill>
              <a:srgbClr val="B45309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183880" y="3035808"/>
            <a:ext cx="146304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4530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 60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812280" y="3657600"/>
            <a:ext cx="4343400" cy="1188720"/>
          </a:xfrm>
          <a:prstGeom prst="roundRect">
            <a:avLst>
              <a:gd name="adj" fmla="val 6154"/>
            </a:avLst>
          </a:prstGeom>
          <a:solidFill>
            <a:srgbClr val="FDECEC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976872" y="3776472"/>
            <a:ext cx="401421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처리</a:t>
            </a:r>
            <a:endParaRPr lang="en-US" sz="1500" dirty="0"/>
          </a:p>
        </p:txBody>
      </p:sp>
      <p:sp>
        <p:nvSpPr>
          <p:cNvPr id="58" name="Text 56"/>
          <p:cNvSpPr/>
          <p:nvPr/>
        </p:nvSpPr>
        <p:spPr>
          <a:xfrm>
            <a:off x="6976872" y="4133088"/>
            <a:ext cx="4014216" cy="6126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한계를 넘겨 계속 들이마시면 UI 흔들림과 캐릭터 전조가 발생하고, 지속 시 재채기 소음으로 적 AI가 반응한다.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3.9 특수 능력 공통 규칙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— 준비 / 회수 / 저장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87552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호흡, 흡인, 흡음, 흡기 도약. 무언가를 받아들이고 다음 행동을 준비한다.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70832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5424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— 은폐 / 유지 / 정지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5424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기척 소거, 공중 부유, 시간 정지. 자신을 드러내지 않거나 현재 상태를 유지한다.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918704" y="1115568"/>
            <a:ext cx="3383280" cy="1920240"/>
          </a:xfrm>
          <a:prstGeom prst="roundRect">
            <a:avLst>
              <a:gd name="adj" fmla="val 3810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083296" y="1234440"/>
            <a:ext cx="30540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 — 방출 / 공명 / 기만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083296" y="1591056"/>
            <a:ext cx="3054096" cy="1344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공명 호흡, 환경 탐지, 잔기. 바깥으로 영향을 주거나 적의 판단을 조작한다.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3675888"/>
            <a:ext cx="1828800" cy="25603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원칙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4041648"/>
            <a:ext cx="10424160" cy="713232"/>
          </a:xfrm>
          <a:prstGeom prst="rect">
            <a:avLst/>
          </a:prstGeom>
          <a:solidFill>
            <a:srgbClr val="F4F7FA"/>
          </a:solidFill>
          <a:ln w="10160">
            <a:solidFill>
              <a:srgbClr val="D7E0E8"/>
            </a:solidFill>
          </a:ln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획득은 조작 복잡도를 늘리는 것이 아니라, 이미 익힌 호흡 행동에 새로운 의미를 부여한다. 능력이 강해질수록 적 AI·공기 환경·레벨 구조도 함께 확장해 난이도 곡선을 유지한다.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5321808"/>
            <a:ext cx="10332720" cy="219456"/>
          </a:xfrm>
          <a:prstGeom prst="rect">
            <a:avLst/>
          </a:prstGeom>
          <a:solidFill>
            <a:srgbClr val="EAF3FF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초반: 기본 호흡 → 중반: 기척 소거/공명/흡음 → 후반: 잔기/공중 부유/시간 정지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3.10 흡음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1280160"/>
            <a:ext cx="132588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큰 소음 발생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폭발·문 파괴·장치 작동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0312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60604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 들숨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타이밍에 흡음 입력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97764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448056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 소음 전달 차단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85216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635508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잠금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머금은 동안 일반 호흡 불가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2668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229600" y="1280160"/>
            <a:ext cx="1325880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안전지대 이동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 위치 선택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601200" y="1609344"/>
            <a:ext cx="457200" cy="0"/>
          </a:xfrm>
          <a:prstGeom prst="line">
            <a:avLst/>
          </a:prstGeom>
          <a:noFill/>
          <a:ln w="1397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104120" y="1280160"/>
            <a:ext cx="132588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기능 정상화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22960" y="3017520"/>
            <a:ext cx="5166360" cy="1133856"/>
          </a:xfrm>
          <a:prstGeom prst="roundRect">
            <a:avLst>
              <a:gd name="adj" fmla="val 6452"/>
            </a:avLst>
          </a:prstGeom>
          <a:solidFill>
            <a:srgbClr val="F2ED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87552" y="3136392"/>
            <a:ext cx="483717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위험 이동 설계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87552" y="3493008"/>
            <a:ext cx="4837176" cy="5577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흡음은 폭발 소음으로 적이 몰려오는 문제를 즉시 해결하지만, 저장한 소음을 버릴 때까지 호흡 행동을 사용할 수 없게 만들어 다음 구간의 난이도를 높인다.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36208" y="3017520"/>
            <a:ext cx="5010912" cy="1133856"/>
          </a:xfrm>
          <a:prstGeom prst="roundRect">
            <a:avLst>
              <a:gd name="adj" fmla="val 6452"/>
            </a:avLst>
          </a:prstGeom>
          <a:solidFill>
            <a:srgbClr val="FFF6D8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0" y="3136392"/>
            <a:ext cx="4681728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 질문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400800" y="3493008"/>
            <a:ext cx="4681728" cy="5577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소음을 어디까지 운반할 것인가? 안전한 방에서 버릴 것인가, 아니면 적을 유인하기 위해 일부러 다른 곳에서 방출할 것인가?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68680" y="5669280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철학: 위험을 없애는 것이 아니라 다른 시간과 장소로 이동시킨다.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시스템 규칙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3.11 상태 판정형 능력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1051560"/>
            <a:ext cx="4983480" cy="960120"/>
          </a:xfrm>
          <a:prstGeom prst="roundRect">
            <a:avLst>
              <a:gd name="adj" fmla="val 7619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87552" y="1170432"/>
            <a:ext cx="46542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 판정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87552" y="1527048"/>
            <a:ext cx="46542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시작 시 들이마시는 중인가? YES면 수평 이동 거리 증가. NO면 일반 점프.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63640" y="1051560"/>
            <a:ext cx="4983480" cy="960120"/>
          </a:xfrm>
          <a:prstGeom prst="roundRect">
            <a:avLst>
              <a:gd name="adj" fmla="val 7619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28232" y="1170432"/>
            <a:ext cx="465429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 판정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28232" y="1527048"/>
            <a:ext cx="4654296" cy="38404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시작 시 발이 땅에서 떨어져 있는가? YES면 숨 참는 동안 공중에 머문다.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463040" y="2770632"/>
            <a:ext cx="9601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429000" y="2770632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22960" y="2487168"/>
            <a:ext cx="1234440" cy="566928"/>
          </a:xfrm>
          <a:prstGeom prst="flowChartProcess">
            <a:avLst/>
          </a:prstGeom>
          <a:solidFill>
            <a:srgbClr val="F4F7FA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점프 입력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377440" y="2395728"/>
            <a:ext cx="1188720" cy="73152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fontScale="92500"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들이마시는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중인가?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7408" y="2487168"/>
            <a:ext cx="1234440" cy="566928"/>
          </a:xfrm>
          <a:prstGeom prst="flowChartProcess">
            <a:avLst/>
          </a:prstGeom>
          <a:solidFill>
            <a:srgbClr val="EAF7EE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흡기 도약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53512" y="3127248"/>
            <a:ext cx="0" cy="786384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2286000" y="3913632"/>
            <a:ext cx="1325880" cy="566928"/>
          </a:xfrm>
          <a:prstGeom prst="flowChartProcess">
            <a:avLst/>
          </a:prstGeom>
          <a:solidFill>
            <a:srgbClr val="F4F7FA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점프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49440" y="2770632"/>
            <a:ext cx="9601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8915400" y="2770632"/>
            <a:ext cx="10058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6309360" y="2487168"/>
            <a:ext cx="1234440" cy="56692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입력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863840" y="2395728"/>
            <a:ext cx="1188720" cy="73152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상태인가?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93808" y="2487168"/>
            <a:ext cx="1234440" cy="56692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439912" y="3127248"/>
            <a:ext cx="0" cy="786384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7772400" y="3913632"/>
            <a:ext cx="1325880" cy="56692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숨 참기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868680" y="5705856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강조점: 같은 입력이 아니라 “입력 시점의 상태”를 읽어 서로 다른 플레이를 만든다.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순서도 작성 규칙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143000" y="1508760"/>
            <a:ext cx="2194560" cy="73152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/ 수행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983480" y="1408176"/>
            <a:ext cx="1920240" cy="91440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 lnSpcReduction="10000"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확인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75320" y="1508760"/>
            <a:ext cx="2377440" cy="73152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물고기형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/ 리소스 호출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EAF3FF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처리 / 수행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875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충전, 숨 참기 유지, 호흡 부채 증가처럼 시스템이 실행하는 일을 적는다.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805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FFF0E6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451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조건 확인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6451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게이지가 0인가? 적이 들었는가? 안전 한계를 넘었는가?처럼 Yes/No로 갈리는 질문을 적는다.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8138160" y="3154680"/>
            <a:ext cx="3246120" cy="1097280"/>
          </a:xfrm>
          <a:prstGeom prst="roundRect">
            <a:avLst>
              <a:gd name="adj" fmla="val 6667"/>
            </a:avLst>
          </a:prstGeom>
          <a:solidFill>
            <a:srgbClr val="EAF7EE"/>
          </a:solidFill>
          <a:ln w="1016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02752" y="3273552"/>
            <a:ext cx="2916936" cy="2743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>
            <a:normAutofit/>
          </a:bodyPr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/ 호출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8302752" y="3630168"/>
            <a:ext cx="2916936" cy="52120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SFX, 재채기 애니메이션, HUD 경고, 적 AI 반응처럼 리소스 호출과 결과 출력을 적는다.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68680" y="5715000"/>
            <a:ext cx="1037844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순서도는 정상 처리 흐름과 조건 분기를 보여주고, 예외사항은 별도 안전장치 페이지에서 우선순위를 정리한다.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4.1 순서도: 기본 호흡 순환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508760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493008" y="1298448"/>
            <a:ext cx="71323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394960" y="1298448"/>
            <a:ext cx="6858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269480" y="1298448"/>
            <a:ext cx="704088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198864" y="1298448"/>
            <a:ext cx="676656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3749040" y="2907792"/>
            <a:ext cx="0" cy="749808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663440" y="4005072"/>
            <a:ext cx="9144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812280" y="4005072"/>
            <a:ext cx="886968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887968" y="4005072"/>
            <a:ext cx="89611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0442448" y="1847088"/>
            <a:ext cx="0" cy="149047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508760" y="528523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520440" y="5285232"/>
            <a:ext cx="64008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685800" y="960120"/>
            <a:ext cx="118872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입력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감지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240280" y="960120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 충전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224528" y="868680"/>
            <a:ext cx="1234440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시작?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80760" y="960120"/>
            <a:ext cx="1298448" cy="658368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 소모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973568" y="868680"/>
            <a:ext cx="1234440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게이지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0인가?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875520" y="960120"/>
            <a:ext cx="1298448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SFX/애니 호출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3090672" y="3611880"/>
            <a:ext cx="1298448" cy="768096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해제?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440680" y="3675888"/>
            <a:ext cx="1353312" cy="658368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부분 회복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62672" y="3611880"/>
            <a:ext cx="1298448" cy="768096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참기?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9710928" y="3675888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회복 유지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85800" y="4956048"/>
            <a:ext cx="1188720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HUD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2240280" y="4956048"/>
            <a:ext cx="1353312" cy="658368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단계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160520" y="4956048"/>
            <a:ext cx="1353312" cy="658368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판단으로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복귀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4.2 순서도: 소음 감지와 적 AI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783080" y="1261872"/>
            <a:ext cx="8229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794760" y="1261872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852160" y="1261872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18120" y="126187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29800" y="1261872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5532120" y="1965960"/>
            <a:ext cx="0" cy="82296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532120" y="3429000"/>
            <a:ext cx="0" cy="77724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537960" y="4526280"/>
            <a:ext cx="86868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553712" y="4526280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85800" y="950976"/>
            <a:ext cx="1234440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출력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606040" y="859536"/>
            <a:ext cx="1234440" cy="80467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청각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범위인가?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0" y="950976"/>
            <a:ext cx="1325880" cy="621792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의심도 증가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29400" y="950976"/>
            <a:ext cx="1325880" cy="62179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위치 조사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549640" y="859536"/>
            <a:ext cx="1298448" cy="804672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기척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있는가?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561320" y="950976"/>
            <a:ext cx="1234440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발견/추격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864608" y="2816352"/>
            <a:ext cx="1353312" cy="621792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플레이어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64608" y="4224528"/>
            <a:ext cx="1353312" cy="621792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의심도 감소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406640" y="4224528"/>
            <a:ext cx="1353312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순찰 복귀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331720" y="4224528"/>
            <a:ext cx="1353312" cy="621792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변화 없음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583387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핵심: 거친 호흡으로 어그로를 끌었더라도, 다시 숨을 참아 추가 기척을 끊으면 의심을 해소할 수 있다.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4.3 순서도: 공기 환경과 재채기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783080" y="1298448"/>
            <a:ext cx="82296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886200" y="1298448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961888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001000" y="1298448"/>
            <a:ext cx="73152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0040112" y="1298448"/>
            <a:ext cx="45720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342632" y="1975104"/>
            <a:ext cx="0" cy="905256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342632" y="3611880"/>
            <a:ext cx="0" cy="82296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17920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685800" y="969264"/>
            <a:ext cx="123444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시작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2606040" y="969264"/>
            <a:ext cx="132588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환경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호출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663440" y="877824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한계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초과?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693408" y="969264"/>
            <a:ext cx="1353312" cy="640080"/>
          </a:xfrm>
          <a:prstGeom prst="flowChartProcess">
            <a:avLst/>
          </a:prstGeom>
          <a:solidFill>
            <a:srgbClr val="FFF6D8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자극도 증가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732520" y="877824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자극도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한계?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0378440" y="969264"/>
            <a:ext cx="1353312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SFX/애니 호출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56832" y="2889504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 흔들림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전조 출력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56832" y="4443984"/>
            <a:ext cx="1371600" cy="640080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발생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전달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703320" y="4443984"/>
            <a:ext cx="137160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정상 충전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4.4 순서도: 흡음과 소음 저장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1691640" y="1234440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749040" y="1234440"/>
            <a:ext cx="77724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806440" y="1234440"/>
            <a:ext cx="758952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845552" y="1234440"/>
            <a:ext cx="768096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9893808" y="1234440"/>
            <a:ext cx="420624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223760" y="1938528"/>
            <a:ext cx="0" cy="91440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7223760" y="3584448"/>
            <a:ext cx="0" cy="850392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172200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767328" y="4736592"/>
            <a:ext cx="0" cy="0"/>
          </a:xfrm>
          <a:prstGeom prst="line">
            <a:avLst/>
          </a:prstGeom>
          <a:noFill/>
          <a:ln w="15240">
            <a:solidFill>
              <a:srgbClr val="073B5A"/>
            </a:solidFill>
            <a:prstDash val="solid"/>
            <a:headEnd type="none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94360" y="914400"/>
            <a:ext cx="1261872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폭발 소음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822960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동시에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들이마심?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26280" y="914400"/>
            <a:ext cx="1353312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흡수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65392" y="914400"/>
            <a:ext cx="1371600" cy="640080"/>
          </a:xfrm>
          <a:prstGeom prst="flowChartProcess">
            <a:avLst/>
          </a:prstGeom>
          <a:solidFill>
            <a:srgbClr val="F2ED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잠금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613648" y="822960"/>
            <a:ext cx="1353312" cy="822960"/>
          </a:xfrm>
          <a:prstGeom prst="flowChartDecision">
            <a:avLst/>
          </a:prstGeom>
          <a:solidFill>
            <a:srgbClr val="FFF0E6"/>
          </a:solidFill>
          <a:ln w="13970">
            <a:solidFill>
              <a:srgbClr val="B45309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방출 위치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안전?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222992" y="91440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방출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복구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65392" y="2852928"/>
            <a:ext cx="1371600" cy="640080"/>
          </a:xfrm>
          <a:prstGeom prst="flowChartProcess">
            <a:avLst/>
          </a:prstGeom>
          <a:solidFill>
            <a:srgbClr val="FDECEC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폭발음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전달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65392" y="443484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조사/집결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703320" y="4434840"/>
            <a:ext cx="1371600" cy="640080"/>
          </a:xfrm>
          <a:prstGeom prst="flowChartProcess">
            <a:avLst/>
          </a:prstGeom>
          <a:solidFill>
            <a:srgbClr val="EAF3FF"/>
          </a:solidFill>
          <a:ln w="13970">
            <a:solidFill>
              <a:srgbClr val="073B5A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안전지대로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이동 유지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34440" y="4434840"/>
            <a:ext cx="1371600" cy="640080"/>
          </a:xfrm>
          <a:prstGeom prst="flowChartInputOutput">
            <a:avLst/>
          </a:prstGeom>
          <a:solidFill>
            <a:srgbClr val="EAF7EE"/>
          </a:solidFill>
          <a:ln w="13970">
            <a:solidFill>
              <a:srgbClr val="15803D"/>
            </a:solidFill>
          </a:ln>
        </p:spPr>
        <p:txBody>
          <a:bodyPr wrap="square" lIns="635" tIns="635" rIns="635" bIns="635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HUD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잠금 표시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22960" y="583387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상태에서는 숨 참기·내쉬기·들이마시기 기능을 사용하지 못해, 안전 방출 지점 선택이 핵심 플레이가 된다.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시스템 구조도 / 순서도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4.5 시스템 구조도(Unity)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24128"/>
            <a:ext cx="10881360" cy="301752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24128"/>
            <a:ext cx="261152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088136"/>
            <a:ext cx="253837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모듈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7326" y="1024128"/>
            <a:ext cx="2393899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3902" y="1088136"/>
            <a:ext cx="2320747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역할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91226" y="1024128"/>
            <a:ext cx="587593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27802" y="1088136"/>
            <a:ext cx="580278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연결 대상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1335024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1389888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BreathController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7326" y="1335024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2190" y="1389888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게이지·한계·강제 호흡 처리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91226" y="1335024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6090" y="1389888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PlayerInput / Movement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1786128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" y="1840992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NoiseController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7326" y="1786128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52190" y="1840992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호흡·이동·폭발 소음 계산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91226" y="1786128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46090" y="1840992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EnemyAI / Resource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" y="2237232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2292096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EnvironmentAirZone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7326" y="2237232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52190" y="2292096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먼지·꽃가루·연기·독가스 안전 한계 제공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91226" y="2237232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6090" y="2292096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 / UI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2688336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2743200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AbilityController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97326" y="2688336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52190" y="2743200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흡음·흡인·기척 소거·공중 부유 판정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91226" y="2688336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6090" y="2743200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Breath / Movement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" y="3139440"/>
            <a:ext cx="2611526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0664" y="3194304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EnemyAIController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7326" y="3139440"/>
            <a:ext cx="2393899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52190" y="3194304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청각 범위·의심·조사·추격 상태 전환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91226" y="3139440"/>
            <a:ext cx="5875934" cy="45110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46090" y="3194304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Noise / Stealth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85800" y="3590544"/>
            <a:ext cx="2611526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" y="3645408"/>
            <a:ext cx="2501798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ResourceManager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97326" y="3590544"/>
            <a:ext cx="2393899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52190" y="3645408"/>
            <a:ext cx="2284171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SFX·VFX·애니메이션·HUD 호출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91226" y="3590544"/>
            <a:ext cx="5875934" cy="45110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46090" y="3645408"/>
            <a:ext cx="5766206" cy="35966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모듈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2960" y="4498848"/>
            <a:ext cx="1828800" cy="201168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흐름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400" y="4892040"/>
            <a:ext cx="914400" cy="310896"/>
          </a:xfrm>
          <a:prstGeom prst="roundRect">
            <a:avLst>
              <a:gd name="adj" fmla="val 29412"/>
            </a:avLst>
          </a:prstGeom>
          <a:solidFill>
            <a:srgbClr val="EAF3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입력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865376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2" name="Text 50"/>
          <p:cNvSpPr/>
          <p:nvPr/>
        </p:nvSpPr>
        <p:spPr>
          <a:xfrm>
            <a:off x="2743200" y="4892040"/>
            <a:ext cx="1234440" cy="310896"/>
          </a:xfrm>
          <a:prstGeom prst="roundRect">
            <a:avLst>
              <a:gd name="adj" fmla="val 29412"/>
            </a:avLst>
          </a:prstGeom>
          <a:solidFill>
            <a:srgbClr val="EAF7EE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상태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23360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4" name="Text 52"/>
          <p:cNvSpPr/>
          <p:nvPr/>
        </p:nvSpPr>
        <p:spPr>
          <a:xfrm>
            <a:off x="4901184" y="4892040"/>
            <a:ext cx="1234440" cy="310896"/>
          </a:xfrm>
          <a:prstGeom prst="roundRect">
            <a:avLst>
              <a:gd name="adj" fmla="val 29412"/>
            </a:avLst>
          </a:prstGeom>
          <a:solidFill>
            <a:srgbClr val="FFF6D8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계산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181344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6" name="Text 54"/>
          <p:cNvSpPr/>
          <p:nvPr/>
        </p:nvSpPr>
        <p:spPr>
          <a:xfrm>
            <a:off x="7059168" y="4892040"/>
            <a:ext cx="914400" cy="310896"/>
          </a:xfrm>
          <a:prstGeom prst="roundRect">
            <a:avLst>
              <a:gd name="adj" fmla="val 29412"/>
            </a:avLst>
          </a:prstGeom>
          <a:solidFill>
            <a:srgbClr val="F2EDFF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 AI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010144" y="5047488"/>
            <a:ext cx="877824" cy="0"/>
          </a:xfrm>
          <a:prstGeom prst="line">
            <a:avLst/>
          </a:prstGeom>
          <a:noFill/>
          <a:ln w="15240">
            <a:solidFill>
              <a:srgbClr val="6B7280"/>
            </a:solidFill>
            <a:prstDash val="solid"/>
            <a:headEnd type="none"/>
            <a:tailEnd type="triangle"/>
          </a:ln>
        </p:spPr>
      </p:sp>
      <p:sp>
        <p:nvSpPr>
          <p:cNvPr id="58" name="Text 56"/>
          <p:cNvSpPr/>
          <p:nvPr/>
        </p:nvSpPr>
        <p:spPr>
          <a:xfrm>
            <a:off x="8887968" y="4892040"/>
            <a:ext cx="1417320" cy="310896"/>
          </a:xfrm>
          <a:prstGeom prst="roundRect">
            <a:avLst>
              <a:gd name="adj" fmla="val 29412"/>
            </a:avLst>
          </a:prstGeom>
          <a:solidFill>
            <a:srgbClr val="F4F7FA"/>
          </a:solidFill>
          <a:ln w="7620">
            <a:solidFill>
              <a:srgbClr val="D7E0E8"/>
            </a:solidFill>
          </a:ln>
        </p:spPr>
        <p:txBody>
          <a:bodyPr wrap="square" lIns="254" tIns="254" rIns="254" bIns="254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 출력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822960" y="5797296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기준: 호흡 시스템은 단일 컨트롤러가 모든 것을 직접 처리하지 않고, 상태값을 다른 모듈이 참조하는 구조로 분리한다.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리소스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리소스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33272"/>
            <a:ext cx="1088136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33272"/>
            <a:ext cx="1741018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097280"/>
            <a:ext cx="1667866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분류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6818" y="1033272"/>
            <a:ext cx="3046781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463394" y="1097280"/>
            <a:ext cx="2973629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73598" y="1033272"/>
            <a:ext cx="2720340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510174" y="1097280"/>
            <a:ext cx="2647188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 시점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193938" y="1033272"/>
            <a:ext cx="3373222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0514" y="1097280"/>
            <a:ext cx="3300070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85800" y="1344168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664" y="1399032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426818" y="1344168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481682" y="1399032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게이지 / 안전 한계선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73598" y="1344168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528462" y="1399032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들이마시기·숨 참기·환경 진입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193938" y="1344168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48802" y="1399032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호흡량과 위험을 즉시 전달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5800" y="1917192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0664" y="1972056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UI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426818" y="1917192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481682" y="1972056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게이지 / 의심 표시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5473598" y="1917192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28462" y="1972056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내쉬기·재채기·이동 소음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193938" y="1917192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248802" y="1972056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반응 예측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2490216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2545080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SFX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426818" y="2490216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81682" y="2545080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짧은 들숨 / 거친 호흡 / 재채기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473598" y="2490216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528462" y="2545080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호흡 단계 변화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193938" y="2490216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248802" y="2545080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단계 구분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85800" y="3063240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0664" y="3118104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VFX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2426818" y="3063240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481682" y="3118104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먼지·꽃가루·연기 입자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473598" y="3063240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528462" y="3118104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공기 환경 구역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193938" y="3063240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248802" y="3118104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들이마시기 위험 표시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85800" y="3636264"/>
            <a:ext cx="1741018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0664" y="3691128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애니메이션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2426818" y="3636264"/>
            <a:ext cx="3046781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481682" y="3691128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숨 참기 / 헐떡임 / 흡음 / 공명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473598" y="3636264"/>
            <a:ext cx="2720340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528462" y="3691128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 사용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193938" y="3636264"/>
            <a:ext cx="3373222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248802" y="3691128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플레이 피드백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85800" y="4209288"/>
            <a:ext cx="1741018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40664" y="4264152"/>
            <a:ext cx="1631290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2426818" y="4209288"/>
            <a:ext cx="3046781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481682" y="4264152"/>
            <a:ext cx="2937053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환경별 안전 한계 / 적 청각 범위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473598" y="4209288"/>
            <a:ext cx="2720340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528462" y="4264152"/>
            <a:ext cx="2610612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레벨·AI 밸런싱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193938" y="4209288"/>
            <a:ext cx="3373222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248802" y="4264152"/>
            <a:ext cx="3263494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난이도 조정 기준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22960" y="5724144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리소스 작성 기준: 언제 보이는가와 어떤 규칙을 전달하는가를 함께 적어 제작 우선순위를 정한다.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" y="146304"/>
            <a:ext cx="11887200" cy="6565392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11182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713232"/>
            <a:ext cx="11201400" cy="0"/>
          </a:xfrm>
          <a:prstGeom prst="line">
            <a:avLst/>
          </a:prstGeom>
          <a:noFill/>
          <a:ln w="12700">
            <a:solidFill>
              <a:srgbClr val="D7E0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30352" y="6446520"/>
            <a:ext cx="2926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예외사항 안전장치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0352" y="329184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예외사항 안전장치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85800" y="1051560"/>
            <a:ext cx="10881360" cy="3749040"/>
          </a:xfrm>
          <a:prstGeom prst="rect">
            <a:avLst/>
          </a:prstGeom>
          <a:solidFill>
            <a:srgbClr val="FFFFFF"/>
          </a:solidFill>
          <a:ln w="10160">
            <a:solidFill>
              <a:srgbClr val="D7E0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1051560"/>
            <a:ext cx="2611526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2376" y="1115568"/>
            <a:ext cx="2538374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예외 상황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7326" y="1051560"/>
            <a:ext cx="2393899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3902" y="1115568"/>
            <a:ext cx="2320747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문제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691226" y="1051560"/>
            <a:ext cx="5875934" cy="310896"/>
          </a:xfrm>
          <a:prstGeom prst="rect">
            <a:avLst/>
          </a:prstGeom>
          <a:solidFill>
            <a:srgbClr val="073B5A"/>
          </a:solidFill>
          <a:ln w="7620">
            <a:solidFill>
              <a:srgbClr val="073B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727802" y="1115568"/>
            <a:ext cx="5802782" cy="164592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안전 장치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85800" y="1362456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0664" y="1417320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흡음 중 추가 흡음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97326" y="1362456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2190" y="1417320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소음 저장 중 호흡 잠금과 충돌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91226" y="1362456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46090" y="1417320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추가 흡음 불가 / HUD 경고 출력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85800" y="1935480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0664" y="1990344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부유 중 게이지 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97326" y="1935480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52190" y="1990344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공중 정지 유지 불가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91226" y="1935480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746090" y="1990344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강제 호흡 후 즉시 낙하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5800" y="2508504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40664" y="2563368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직전 수중 진입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97326" y="2508504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52190" y="2563368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출력 리소스와 환경 규칙 충돌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691226" y="2508504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746090" y="2563368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재채기 취소 / 기침 상태로 전환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85800" y="3081528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40664" y="3136392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투명화 중 충돌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97326" y="3081528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352190" y="3136392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시각 은신과 물리 흔적 충돌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691226" y="3081528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746090" y="3136392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충돌음은 발생 / 적 AI 의심 증가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85800" y="3654552"/>
            <a:ext cx="2611526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40664" y="3709416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비상 호흡 연속 사용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97326" y="3654552"/>
            <a:ext cx="2393899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52190" y="3709416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무한 숨 참기 가능성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691226" y="3654552"/>
            <a:ext cx="5875934" cy="573024"/>
          </a:xfrm>
          <a:prstGeom prst="rect">
            <a:avLst/>
          </a:prstGeom>
          <a:solidFill>
            <a:srgbClr val="F8FAFC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46090" y="3709416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사이클 1회 제한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85800" y="4227576"/>
            <a:ext cx="2611526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0664" y="4282440"/>
            <a:ext cx="2501798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필수 구간 소음 방출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297326" y="4227576"/>
            <a:ext cx="2393899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352190" y="4282440"/>
            <a:ext cx="2284171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진행 불가능 위치에서 적 과다 유입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5691226" y="4227576"/>
            <a:ext cx="5875934" cy="573024"/>
          </a:xfrm>
          <a:prstGeom prst="rect">
            <a:avLst/>
          </a:prstGeom>
          <a:solidFill>
            <a:srgbClr val="FFFFFF"/>
          </a:solidFill>
          <a:ln w="508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46090" y="4282440"/>
            <a:ext cx="5766206" cy="481584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l">
              <a:buNone/>
            </a:pPr>
            <a:r>
              <a:rPr lang="en-US" sz="1000" dirty="0">
                <a:solidFill>
                  <a:srgbClr val="11182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방출 위치 제한 / 안전 구역 배치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822960" y="5742432"/>
            <a:ext cx="10515600" cy="256032"/>
          </a:xfrm>
          <a:prstGeom prst="rect">
            <a:avLst/>
          </a:prstGeom>
          <a:solidFill>
            <a:srgbClr val="F4F7FA"/>
          </a:solidFill>
          <a:ln/>
        </p:spPr>
        <p:txBody>
          <a:bodyPr wrap="square" lIns="508" tIns="508" rIns="508" bIns="508" rtlCol="0" anchor="ctr">
            <a:normAutofit/>
          </a:bodyPr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73B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문서 작성 원칙: 예외사항은 규칙을 약하게 만드는 장치가 아니라, 규칙 충돌로 플레이가 망가지지 않게 하는 처리 약속이다.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2297</Words>
  <Application>Microsoft Office PowerPoint</Application>
  <PresentationFormat>와이드스크린</PresentationFormat>
  <Paragraphs>524</Paragraphs>
  <Slides>26</Slides>
  <Notes>26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29" baseType="lpstr">
      <vt:lpstr>맑은 고딕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호흡 시스템 기획 문서</dc:title>
  <dc:subject>호흡 시스템 기획 문서</dc:subject>
  <dc:creator>OpenAI</dc:creator>
  <cp:lastModifiedBy>musukie52@gmail.com</cp:lastModifiedBy>
  <cp:revision>2</cp:revision>
  <dcterms:created xsi:type="dcterms:W3CDTF">2026-08-19T01:17:59Z</dcterms:created>
  <dcterms:modified xsi:type="dcterms:W3CDTF">2026-08-19T01:57:47Z</dcterms:modified>
</cp:coreProperties>
</file>