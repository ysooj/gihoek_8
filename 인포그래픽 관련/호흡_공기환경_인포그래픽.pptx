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73E58"/>
          </a:solidFill>
          <a:ln w="12700">
            <a:solidFill>
              <a:srgbClr val="073E5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A5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연동 규칙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" y="78638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 환경이 플레이어 호흡 제약과 적 의심 게이지에 연결되는 방식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47120" cy="0"/>
          </a:xfrm>
          <a:prstGeom prst="line">
            <a:avLst/>
          </a:prstGeom>
          <a:noFill/>
          <a:ln w="12700">
            <a:solidFill>
              <a:srgbClr val="D8E1E6"/>
            </a:solidFill>
            <a:prstDash val="solid"/>
          </a:ln>
        </p:spPr>
      </p:sp>
      <p:pic>
        <p:nvPicPr>
          <p:cNvPr id="6" name="Image 0" descr="/mnt/data/infographic_assets/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53312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40050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E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환경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5968" y="42336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한계 100 · 제약 없음 · 기본 순찰 유지</a:t>
            </a:r>
            <a:endParaRPr lang="en-US" sz="1000" dirty="0"/>
          </a:p>
        </p:txBody>
      </p:sp>
      <p:pic>
        <p:nvPicPr>
          <p:cNvPr id="9" name="Image 1" descr="/mnt/data/infographic_assets/poll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033272"/>
            <a:ext cx="1097280" cy="1097280"/>
          </a:xfrm>
          <a:prstGeom prst="rect">
            <a:avLst/>
          </a:prstGeom>
        </p:spPr>
      </p:pic>
      <p:pic>
        <p:nvPicPr>
          <p:cNvPr id="10" name="Image 2" descr="/mnt/data/infographic_assets/du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2706624"/>
            <a:ext cx="1097280" cy="1097280"/>
          </a:xfrm>
          <a:prstGeom prst="rect">
            <a:avLst/>
          </a:prstGeom>
        </p:spPr>
      </p:pic>
      <p:pic>
        <p:nvPicPr>
          <p:cNvPr id="11" name="Image 3" descr="/mnt/data/infographic_assets/smo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078992"/>
            <a:ext cx="1097280" cy="1097280"/>
          </a:xfrm>
          <a:prstGeom prst="rect">
            <a:avLst/>
          </a:prstGeom>
        </p:spPr>
      </p:pic>
      <p:pic>
        <p:nvPicPr>
          <p:cNvPr id="12" name="Image 4" descr="/mnt/data/infographic_assets/ga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2862072"/>
            <a:ext cx="1097280" cy="1097280"/>
          </a:xfrm>
          <a:prstGeom prst="rect">
            <a:avLst/>
          </a:prstGeom>
        </p:spPr>
      </p:pic>
      <p:pic>
        <p:nvPicPr>
          <p:cNvPr id="13" name="Image 5" descr="/mnt/data/infographic_assets/wa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4480560"/>
            <a:ext cx="960120" cy="96012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658368" y="1234440"/>
            <a:ext cx="54864" cy="512064"/>
          </a:xfrm>
          <a:prstGeom prst="rect">
            <a:avLst/>
          </a:prstGeom>
          <a:solidFill>
            <a:srgbClr val="B78422"/>
          </a:solidFill>
          <a:ln w="12700">
            <a:solidFill>
              <a:srgbClr val="B78422">
                <a:alpha val="0"/>
              </a:srgbClr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786384" y="11887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784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꽃가루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786384" y="1444752"/>
            <a:ext cx="2569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한계 감소 · 재채기 자극 누적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재채기 소리 → 위치 조사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658368" y="2862072"/>
            <a:ext cx="54864" cy="512064"/>
          </a:xfrm>
          <a:prstGeom prst="rect">
            <a:avLst/>
          </a:prstGeom>
          <a:solidFill>
            <a:srgbClr val="133446"/>
          </a:solidFill>
          <a:ln w="12700">
            <a:solidFill>
              <a:srgbClr val="133446">
                <a:alpha val="0"/>
              </a:srgbClr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786384" y="281635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786384" y="3072384"/>
            <a:ext cx="1837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한계 감소 · 기침 자극 누적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소리 → 의심 게이지 상승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11311128" y="1234440"/>
            <a:ext cx="54864" cy="512064"/>
          </a:xfrm>
          <a:prstGeom prst="rect">
            <a:avLst/>
          </a:prstGeom>
          <a:solidFill>
            <a:srgbClr val="073E58"/>
          </a:solidFill>
          <a:ln w="12700">
            <a:solidFill>
              <a:srgbClr val="073E58">
                <a:alpha val="0"/>
              </a:srgbClr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814816" y="118872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3E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8814816" y="1444752"/>
            <a:ext cx="2459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크게 제한 · 시야 저하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기침/충돌 증가 → 근접 탐색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11530584" y="3017520"/>
            <a:ext cx="54864" cy="512064"/>
          </a:xfrm>
          <a:prstGeom prst="rect">
            <a:avLst/>
          </a:prstGeom>
          <a:solidFill>
            <a:srgbClr val="A84E3C"/>
          </a:solidFill>
          <a:ln w="12700">
            <a:solidFill>
              <a:srgbClr val="A84E3C">
                <a:alpha val="0"/>
              </a:srgbClr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9217152" y="297180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4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9217152" y="322783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불가에 가까움 · 피해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상태이상/소음 → 추격 전환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400800" y="4636008"/>
            <a:ext cx="54864" cy="512064"/>
          </a:xfrm>
          <a:prstGeom prst="rect">
            <a:avLst/>
          </a:prstGeom>
          <a:solidFill>
            <a:srgbClr val="18A59B"/>
          </a:solidFill>
          <a:ln w="12700">
            <a:solidFill>
              <a:srgbClr val="18A59B">
                <a:alpha val="0"/>
              </a:srgbClr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528816" y="4590288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A5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6528816" y="4846320"/>
            <a:ext cx="3575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불가 · 보유 호흡만 사용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334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기포음/움직임 → 수중 감지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66928" y="5641848"/>
            <a:ext cx="11045952" cy="786384"/>
          </a:xfrm>
          <a:prstGeom prst="roundRect">
            <a:avLst>
              <a:gd name="adj" fmla="val 5814"/>
            </a:avLst>
          </a:prstGeom>
          <a:solidFill>
            <a:srgbClr val="073E58"/>
          </a:solidFill>
          <a:ln w="12700">
            <a:solidFill>
              <a:srgbClr val="073E58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86384" y="57698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반응 단계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2148840" y="5779008"/>
            <a:ext cx="1147572" cy="128016"/>
          </a:xfrm>
          <a:prstGeom prst="rect">
            <a:avLst/>
          </a:prstGeom>
          <a:solidFill>
            <a:srgbClr val="D6F0EC"/>
          </a:solidFill>
          <a:ln w="12700">
            <a:solidFill>
              <a:srgbClr val="D6F0EC">
                <a:alpha val="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296412" y="5779008"/>
            <a:ext cx="1147572" cy="128016"/>
          </a:xfrm>
          <a:prstGeom prst="rect">
            <a:avLst/>
          </a:prstGeom>
          <a:solidFill>
            <a:srgbClr val="FFF2BD"/>
          </a:solidFill>
          <a:ln w="12700">
            <a:solidFill>
              <a:srgbClr val="FFF2BD">
                <a:alpha val="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443984" y="5779008"/>
            <a:ext cx="1147572" cy="128016"/>
          </a:xfrm>
          <a:prstGeom prst="rect">
            <a:avLst/>
          </a:prstGeom>
          <a:solidFill>
            <a:srgbClr val="F5D6C8"/>
          </a:solidFill>
          <a:ln w="12700">
            <a:solidFill>
              <a:srgbClr val="F5D6C8">
                <a:alpha val="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591556" y="5779008"/>
            <a:ext cx="1147572" cy="128016"/>
          </a:xfrm>
          <a:prstGeom prst="rect">
            <a:avLst/>
          </a:prstGeom>
          <a:solidFill>
            <a:srgbClr val="EEC7CF"/>
          </a:solidFill>
          <a:ln w="12700">
            <a:solidFill>
              <a:srgbClr val="EEC7CF">
                <a:alpha val="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148840" y="596188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0–24 미탐지   25–49 의심   50–74 위치 조사   75–100 발견/추격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976872" y="5760720"/>
            <a:ext cx="0" cy="411480"/>
          </a:xfrm>
          <a:prstGeom prst="line">
            <a:avLst/>
          </a:prstGeom>
          <a:noFill/>
          <a:ln w="12700">
            <a:solidFill>
              <a:srgbClr val="6C90A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187184" y="57698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규칙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8174736" y="576986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 &gt; 독가스 &gt; 연기 &gt; 꽃가루 &gt; 먼지 &gt; 정상  ·  안전 한계는 최저값, 자극도는 누적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8412480" y="457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F74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이미지 중심 배치 → 주변 상태별 효과 → 하단 게이지/우선순위로 읽는 구조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공기 환경 연동 규칙 인포그래픽</dc:title>
  <dc:subject>호흡 시스템 공기 환경 인포그래픽</dc:subject>
  <dc:creator>OpenAI</dc:creator>
  <cp:lastModifiedBy>OpenAI</cp:lastModifiedBy>
  <cp:revision>1</cp:revision>
  <dcterms:created xsi:type="dcterms:W3CDTF">2026-08-25T06:25:49Z</dcterms:created>
  <dcterms:modified xsi:type="dcterms:W3CDTF">2026-08-25T06:25:49Z</dcterms:modified>
</cp:coreProperties>
</file>