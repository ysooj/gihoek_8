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75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6" r:id="rId22"/>
    <p:sldId id="278" r:id="rId23"/>
    <p:sldId id="280" r:id="rId24"/>
    <p:sldId id="279" r:id="rId25"/>
    <p:sldId id="281" r:id="rId26"/>
    <p:sldId id="283" r:id="rId27"/>
    <p:sldId id="284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81A7"/>
    <a:srgbClr val="5592CA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0D793-B541-4152-9BB8-D6EFA40708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DEB23-D54E-49AA-A319-248668419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477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원, 선, 텍스트는 PPT에서 직접 편집 가능한 도형으로 제작됨.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04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19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247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89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60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15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36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04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46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33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82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03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176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530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1F9AF-DBEF-4911-B7CF-B89202A9EE0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3A822-58BA-47A4-8023-9E29C226E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38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오리엔테이션 </a:t>
            </a:r>
            <a:r>
              <a:rPr lang="en-US" altLang="ko-KR" smtClean="0"/>
              <a:t>(OT)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smtClean="0"/>
              <a:t>이번 달 수업 </a:t>
            </a:r>
            <a:r>
              <a:rPr lang="en-US" altLang="ko-KR" b="1" smtClean="0"/>
              <a:t>: [</a:t>
            </a:r>
            <a:r>
              <a:rPr lang="ko-KR" altLang="en-US" b="1" smtClean="0"/>
              <a:t>시스템</a:t>
            </a:r>
            <a:r>
              <a:rPr lang="en-US" altLang="ko-KR" b="1" smtClean="0"/>
              <a:t>]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유기성</a:t>
            </a:r>
            <a:r>
              <a:rPr lang="en-US" altLang="ko-KR" smtClean="0"/>
              <a:t>(</a:t>
            </a:r>
            <a:r>
              <a:rPr lang="ko-KR" altLang="en-US" smtClean="0"/>
              <a:t>관계 형성 </a:t>
            </a:r>
            <a:r>
              <a:rPr lang="en-US" altLang="ko-KR" smtClean="0"/>
              <a:t>– </a:t>
            </a:r>
            <a:r>
              <a:rPr lang="ko-KR" altLang="en-US" smtClean="0"/>
              <a:t>약속</a:t>
            </a:r>
            <a:r>
              <a:rPr lang="en-US" altLang="ko-KR" smtClean="0"/>
              <a:t>)’</a:t>
            </a:r>
            <a:r>
              <a:rPr lang="ko-KR" altLang="en-US" smtClean="0"/>
              <a:t>을 형성하는 것</a:t>
            </a:r>
            <a:endParaRPr lang="en-US" altLang="ko-KR" smtClean="0"/>
          </a:p>
          <a:p>
            <a:r>
              <a:rPr lang="ko-KR" altLang="en-US" smtClean="0"/>
              <a:t>약속을 설계하는 것을 배울 예정</a:t>
            </a:r>
            <a:endParaRPr lang="en-US" altLang="ko-KR" smtClean="0"/>
          </a:p>
          <a:p>
            <a:r>
              <a:rPr lang="ko-KR" altLang="en-US" smtClean="0"/>
              <a:t>약속 </a:t>
            </a:r>
            <a:r>
              <a:rPr lang="en-US" altLang="ko-KR" smtClean="0"/>
              <a:t>= </a:t>
            </a:r>
            <a:r>
              <a:rPr lang="ko-KR" altLang="en-US" smtClean="0"/>
              <a:t>톱니바퀴</a:t>
            </a:r>
            <a:endParaRPr lang="en-US" altLang="ko-KR" smtClean="0"/>
          </a:p>
          <a:p>
            <a:r>
              <a:rPr lang="ko-KR" altLang="en-US" smtClean="0"/>
              <a:t>톱니바퀴가 어떻게 다른 톱니바퀴와 맞물려 돌아가는 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39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포트폴리오에서 필요한 시스템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우리가 만들 게임은 콘텐츠</a:t>
            </a:r>
            <a:r>
              <a:rPr lang="en-US" altLang="ko-KR" smtClean="0"/>
              <a:t>, </a:t>
            </a:r>
            <a:r>
              <a:rPr lang="ko-KR" altLang="en-US" smtClean="0"/>
              <a:t>시스템 등 여러 가지 요소들이 서로 맞물려 돌아갈 것이다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우리가 만들 시스템은 하나다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A</a:t>
            </a:r>
            <a:r>
              <a:rPr lang="ko-KR" altLang="en-US" smtClean="0"/>
              <a:t>라는 시스템을 만들 건데</a:t>
            </a:r>
            <a:endParaRPr lang="en-US" altLang="ko-KR" smtClean="0"/>
          </a:p>
          <a:p>
            <a:r>
              <a:rPr lang="ko-KR" altLang="en-US" smtClean="0"/>
              <a:t>거기에 필요한 </a:t>
            </a:r>
            <a:r>
              <a:rPr lang="en-US" altLang="ko-KR" smtClean="0"/>
              <a:t>B</a:t>
            </a:r>
            <a:r>
              <a:rPr lang="ko-KR" altLang="en-US" smtClean="0"/>
              <a:t>와의 공통 부분</a:t>
            </a:r>
            <a:r>
              <a:rPr lang="en-US" altLang="ko-KR" smtClean="0"/>
              <a:t>, C</a:t>
            </a:r>
            <a:r>
              <a:rPr lang="ko-KR" altLang="en-US" smtClean="0"/>
              <a:t>와의 공통 부분만 필요하다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즉</a:t>
            </a:r>
            <a:r>
              <a:rPr lang="en-US" altLang="ko-KR" smtClean="0"/>
              <a:t>, A</a:t>
            </a:r>
            <a:r>
              <a:rPr lang="ko-KR" altLang="en-US" smtClean="0"/>
              <a:t>와 교집합이 아닌 부분들인 </a:t>
            </a:r>
            <a:r>
              <a:rPr lang="en-US" altLang="ko-KR" smtClean="0"/>
              <a:t>B</a:t>
            </a:r>
            <a:r>
              <a:rPr lang="ko-KR" altLang="en-US" smtClean="0"/>
              <a:t>와 </a:t>
            </a:r>
            <a:r>
              <a:rPr lang="en-US" altLang="ko-KR" smtClean="0"/>
              <a:t>C</a:t>
            </a:r>
            <a:r>
              <a:rPr lang="ko-KR" altLang="en-US" smtClean="0"/>
              <a:t>의 다른 부분들은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 smtClean="0"/>
              <a:t>우리의 취업 포트폴리오에서는 필요하지 않다는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0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274" y="258002"/>
            <a:ext cx="5887452" cy="634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8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세키로</a:t>
            </a:r>
            <a:r>
              <a:rPr lang="en-US" altLang="ko-KR" smtClean="0"/>
              <a:t>] – </a:t>
            </a:r>
            <a:r>
              <a:rPr lang="ko-KR" altLang="en-US" smtClean="0"/>
              <a:t>유튜버 강한달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암살</a:t>
            </a:r>
            <a:r>
              <a:rPr lang="en-US" altLang="ko-KR" smtClean="0"/>
              <a:t>’</a:t>
            </a:r>
            <a:r>
              <a:rPr lang="ko-KR" altLang="en-US" smtClean="0"/>
              <a:t>이라는 요소를 어떻게 활용하는 지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디텍트</a:t>
            </a:r>
            <a:r>
              <a:rPr lang="en-US" altLang="ko-KR" smtClean="0"/>
              <a:t>(</a:t>
            </a:r>
            <a:r>
              <a:rPr lang="ko-KR" altLang="en-US" smtClean="0"/>
              <a:t>탐색</a:t>
            </a:r>
            <a:r>
              <a:rPr lang="en-US" altLang="ko-KR" smtClean="0"/>
              <a:t>)</a:t>
            </a:r>
            <a:r>
              <a:rPr lang="ko-KR" altLang="en-US" smtClean="0"/>
              <a:t>되지 않은 공중에 있는 상태에서의 암살은 </a:t>
            </a:r>
            <a:r>
              <a:rPr lang="en-US" altLang="ko-KR" smtClean="0"/>
              <a:t>‘</a:t>
            </a:r>
            <a:r>
              <a:rPr lang="ko-KR" altLang="en-US" smtClean="0"/>
              <a:t>공중 암살</a:t>
            </a:r>
            <a:r>
              <a:rPr lang="en-US" altLang="ko-KR" smtClean="0"/>
              <a:t>‘, </a:t>
            </a:r>
            <a:r>
              <a:rPr lang="ko-KR" altLang="en-US" smtClean="0"/>
              <a:t>한 발이라도 땅에 닿은 상태에서 디텍트 안 된 상태에서의 암살은 </a:t>
            </a:r>
            <a:r>
              <a:rPr lang="en-US" altLang="ko-KR" smtClean="0"/>
              <a:t>‘</a:t>
            </a:r>
            <a:r>
              <a:rPr lang="ko-KR" altLang="en-US" smtClean="0"/>
              <a:t>일반 암살</a:t>
            </a:r>
            <a:r>
              <a:rPr lang="en-US" altLang="ko-KR" smtClean="0"/>
              <a:t>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12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실내에서는 후킹 기능이 세팅되지 않는다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따라서 실외랑 다르게 </a:t>
            </a:r>
            <a:r>
              <a:rPr lang="en-US" altLang="ko-KR" smtClean="0"/>
              <a:t>‘</a:t>
            </a:r>
            <a:r>
              <a:rPr lang="ko-KR" altLang="en-US" smtClean="0"/>
              <a:t>투척</a:t>
            </a:r>
            <a:r>
              <a:rPr lang="en-US" altLang="ko-KR" smtClean="0"/>
              <a:t>＇</a:t>
            </a:r>
            <a:r>
              <a:rPr lang="ko-KR" altLang="en-US" smtClean="0"/>
              <a:t>으로 암살을 유도한다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265526"/>
            <a:ext cx="4876800" cy="2592474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세키로</a:t>
            </a:r>
            <a:r>
              <a:rPr lang="en-US" altLang="ko-KR" smtClean="0"/>
              <a:t>] – </a:t>
            </a:r>
            <a:r>
              <a:rPr lang="ko-KR" altLang="en-US" smtClean="0"/>
              <a:t>유튜버 강한달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31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시스템 하나만 잘 설계해도 게임은 성공한다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세키로에서는 </a:t>
            </a:r>
            <a:r>
              <a:rPr lang="en-US" altLang="ko-KR" smtClean="0"/>
              <a:t>‘</a:t>
            </a:r>
            <a:r>
              <a:rPr lang="ko-KR" altLang="en-US" smtClean="0"/>
              <a:t>암살</a:t>
            </a:r>
            <a:r>
              <a:rPr lang="en-US" altLang="ko-KR" smtClean="0"/>
              <a:t>‘</a:t>
            </a:r>
          </a:p>
          <a:p>
            <a:r>
              <a:rPr lang="ko-KR" altLang="en-US" smtClean="0"/>
              <a:t>이게 다른 요소들과 어떻게 맞물리는 지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‘</a:t>
            </a:r>
            <a:r>
              <a:rPr lang="ko-KR" altLang="en-US" smtClean="0"/>
              <a:t>암살</a:t>
            </a:r>
            <a:r>
              <a:rPr lang="en-US" altLang="ko-KR" smtClean="0"/>
              <a:t>’</a:t>
            </a:r>
            <a:r>
              <a:rPr lang="ko-KR" altLang="en-US"/>
              <a:t> </a:t>
            </a:r>
            <a:r>
              <a:rPr lang="en-US" altLang="ko-KR" smtClean="0"/>
              <a:t>– ‘</a:t>
            </a:r>
            <a:r>
              <a:rPr lang="ko-KR" altLang="en-US" smtClean="0"/>
              <a:t>탐색</a:t>
            </a:r>
            <a:r>
              <a:rPr lang="en-US" altLang="ko-KR" smtClean="0"/>
              <a:t>‘</a:t>
            </a:r>
            <a:r>
              <a:rPr lang="ko-KR" altLang="en-US" smtClean="0"/>
              <a:t>되지 않은 상태 </a:t>
            </a:r>
            <a:r>
              <a:rPr lang="en-US" altLang="ko-KR" smtClean="0"/>
              <a:t>– ‘</a:t>
            </a:r>
            <a:r>
              <a:rPr lang="ko-KR" altLang="en-US" smtClean="0"/>
              <a:t>점프</a:t>
            </a:r>
            <a:r>
              <a:rPr lang="en-US" altLang="ko-KR" smtClean="0"/>
              <a:t>’ – ‘</a:t>
            </a:r>
            <a:r>
              <a:rPr lang="ko-KR" altLang="en-US" smtClean="0"/>
              <a:t>공중 암살</a:t>
            </a:r>
            <a:r>
              <a:rPr lang="en-US" altLang="ko-KR" smtClean="0"/>
              <a:t>(</a:t>
            </a:r>
            <a:r>
              <a:rPr lang="ko-KR" altLang="en-US" smtClean="0"/>
              <a:t>착지 대신으로 사용할 수 있다</a:t>
            </a:r>
            <a:r>
              <a:rPr lang="en-US" altLang="ko-KR" smtClean="0"/>
              <a:t>)‘ – </a:t>
            </a:r>
            <a:r>
              <a:rPr lang="ko-KR" altLang="en-US" smtClean="0"/>
              <a:t>소리</a:t>
            </a:r>
            <a:r>
              <a:rPr lang="en-US" altLang="ko-KR"/>
              <a:t> </a:t>
            </a:r>
            <a:r>
              <a:rPr lang="ko-KR" altLang="en-US" smtClean="0"/>
              <a:t>큼</a:t>
            </a:r>
            <a:r>
              <a:rPr lang="en-US" altLang="ko-KR" smtClean="0"/>
              <a:t> – </a:t>
            </a:r>
            <a:r>
              <a:rPr lang="ko-KR" altLang="en-US" smtClean="0"/>
              <a:t>후킹 </a:t>
            </a:r>
            <a:r>
              <a:rPr lang="en-US" altLang="ko-KR" smtClean="0"/>
              <a:t>– </a:t>
            </a:r>
            <a:r>
              <a:rPr lang="ko-KR" altLang="en-US" smtClean="0"/>
              <a:t>실외 </a:t>
            </a:r>
            <a:r>
              <a:rPr lang="en-US" altLang="ko-KR" smtClean="0"/>
              <a:t>– </a:t>
            </a:r>
            <a:r>
              <a:rPr lang="ko-KR" altLang="en-US" smtClean="0"/>
              <a:t>맵의 레벨</a:t>
            </a:r>
            <a:r>
              <a:rPr lang="en-US" altLang="ko-KR" smtClean="0"/>
              <a:t>(</a:t>
            </a:r>
            <a:r>
              <a:rPr lang="ko-KR" altLang="en-US" smtClean="0"/>
              <a:t>구성</a:t>
            </a:r>
            <a:r>
              <a:rPr lang="en-US" altLang="ko-KR" smtClean="0"/>
              <a:t>) – </a:t>
            </a:r>
            <a:r>
              <a:rPr lang="ko-KR" altLang="en-US" smtClean="0"/>
              <a:t>일반 암살 </a:t>
            </a:r>
            <a:r>
              <a:rPr lang="en-US" altLang="ko-KR" smtClean="0"/>
              <a:t>– </a:t>
            </a:r>
            <a:r>
              <a:rPr lang="ko-KR" altLang="en-US" smtClean="0"/>
              <a:t>소리</a:t>
            </a:r>
            <a:r>
              <a:rPr lang="en-US" altLang="ko-KR"/>
              <a:t> </a:t>
            </a:r>
            <a:r>
              <a:rPr lang="ko-KR" altLang="en-US" smtClean="0"/>
              <a:t>작음</a:t>
            </a:r>
            <a:r>
              <a:rPr lang="en-US" altLang="ko-KR" smtClean="0"/>
              <a:t> – </a:t>
            </a:r>
            <a:r>
              <a:rPr lang="ko-KR" altLang="en-US" smtClean="0"/>
              <a:t>실내 </a:t>
            </a:r>
            <a:r>
              <a:rPr lang="en-US" altLang="ko-KR" smtClean="0"/>
              <a:t>- </a:t>
            </a:r>
            <a:r>
              <a:rPr lang="ko-KR" altLang="en-US" smtClean="0"/>
              <a:t>투척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일반 게임의 점프 </a:t>
            </a:r>
            <a:r>
              <a:rPr lang="en-US" altLang="ko-KR" smtClean="0"/>
              <a:t>3</a:t>
            </a:r>
            <a:r>
              <a:rPr lang="ko-KR" altLang="en-US" smtClean="0"/>
              <a:t>단계 </a:t>
            </a:r>
            <a:r>
              <a:rPr lang="en-US" altLang="ko-KR" smtClean="0"/>
              <a:t>: </a:t>
            </a:r>
            <a:r>
              <a:rPr lang="ko-KR" altLang="en-US" smtClean="0"/>
              <a:t>상승 구간 </a:t>
            </a:r>
            <a:r>
              <a:rPr lang="en-US" altLang="ko-KR" smtClean="0"/>
              <a:t>– </a:t>
            </a:r>
            <a:r>
              <a:rPr lang="ko-KR" altLang="en-US" smtClean="0"/>
              <a:t>가장 높은 곳에서 잠시 머무는 구간 </a:t>
            </a:r>
            <a:r>
              <a:rPr lang="en-US" altLang="ko-KR" smtClean="0"/>
              <a:t>– </a:t>
            </a:r>
            <a:r>
              <a:rPr lang="ko-KR" altLang="en-US" smtClean="0"/>
              <a:t>하강 구간</a:t>
            </a:r>
            <a:endParaRPr lang="en-US" altLang="ko-KR" smtClean="0"/>
          </a:p>
          <a:p>
            <a:r>
              <a:rPr lang="en-US" altLang="ko-KR" smtClean="0"/>
              <a:t>[</a:t>
            </a:r>
            <a:r>
              <a:rPr lang="ko-KR" altLang="en-US" smtClean="0"/>
              <a:t>세키로</a:t>
            </a:r>
            <a:r>
              <a:rPr lang="en-US" altLang="ko-KR" smtClean="0"/>
              <a:t>]</a:t>
            </a:r>
            <a:r>
              <a:rPr lang="ko-KR" altLang="en-US" smtClean="0"/>
              <a:t>의 점프 </a:t>
            </a:r>
            <a:r>
              <a:rPr lang="en-US" altLang="ko-KR" smtClean="0"/>
              <a:t>: + </a:t>
            </a:r>
            <a:r>
              <a:rPr lang="ko-KR" altLang="en-US" smtClean="0"/>
              <a:t>두 발 모두 땅에서 떨어졌는지</a:t>
            </a:r>
            <a:r>
              <a:rPr lang="en-US" altLang="ko-KR" smtClean="0"/>
              <a:t>/</a:t>
            </a:r>
            <a:r>
              <a:rPr lang="ko-KR" altLang="en-US" smtClean="0"/>
              <a:t>한 발이라도 땅에 닿았는 지의 상태도 확인한다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smtClean="0"/>
              <a:t>선생님의 분석 </a:t>
            </a:r>
            <a:r>
              <a:rPr lang="en-US" altLang="ko-KR" sz="3200" smtClean="0"/>
              <a:t>: [</a:t>
            </a:r>
            <a:r>
              <a:rPr lang="ko-KR" altLang="en-US" sz="3200" smtClean="0"/>
              <a:t>세키로</a:t>
            </a:r>
            <a:r>
              <a:rPr lang="en-US" altLang="ko-KR" sz="3200" smtClean="0"/>
              <a:t>] – </a:t>
            </a:r>
            <a:r>
              <a:rPr lang="ko-KR" altLang="en-US" sz="3200" smtClean="0"/>
              <a:t>암살 시스템의 구성요소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3087127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844330"/>
            <a:ext cx="10515598" cy="516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46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874" y="804707"/>
            <a:ext cx="3971112" cy="460549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61" y="804708"/>
            <a:ext cx="4146937" cy="460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12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809259"/>
            <a:ext cx="10679015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66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1825625"/>
            <a:ext cx="11506200" cy="4351338"/>
          </a:xfrm>
        </p:spPr>
        <p:txBody>
          <a:bodyPr/>
          <a:lstStyle/>
          <a:p>
            <a:r>
              <a:rPr lang="ko-KR" altLang="en-US" smtClean="0"/>
              <a:t>이제 </a:t>
            </a:r>
            <a:r>
              <a:rPr lang="en-US" altLang="ko-KR" smtClean="0"/>
              <a:t>‘</a:t>
            </a:r>
            <a:r>
              <a:rPr lang="ko-KR" altLang="en-US" smtClean="0"/>
              <a:t>점프</a:t>
            </a:r>
            <a:r>
              <a:rPr lang="en-US" altLang="ko-KR" smtClean="0"/>
              <a:t>’</a:t>
            </a:r>
            <a:r>
              <a:rPr lang="ko-KR" altLang="en-US" smtClean="0"/>
              <a:t>가 보스 몬스터와 만났을 때</a:t>
            </a:r>
            <a:r>
              <a:rPr lang="en-US" altLang="ko-KR" smtClean="0"/>
              <a:t>, </a:t>
            </a:r>
            <a:r>
              <a:rPr lang="ko-KR" altLang="en-US" smtClean="0"/>
              <a:t>보스의 페이즈 </a:t>
            </a:r>
            <a:r>
              <a:rPr lang="en-US" altLang="ko-KR" smtClean="0"/>
              <a:t>2</a:t>
            </a:r>
            <a:r>
              <a:rPr lang="ko-KR" altLang="en-US" smtClean="0"/>
              <a:t>에서 </a:t>
            </a:r>
            <a:r>
              <a:rPr lang="en-US" altLang="ko-KR" smtClean="0"/>
              <a:t>‘</a:t>
            </a:r>
            <a:r>
              <a:rPr lang="ko-KR" altLang="en-US" smtClean="0"/>
              <a:t>점프</a:t>
            </a:r>
            <a:r>
              <a:rPr lang="en-US" altLang="ko-KR" smtClean="0"/>
              <a:t>’</a:t>
            </a:r>
            <a:r>
              <a:rPr lang="ko-KR" altLang="en-US" smtClean="0"/>
              <a:t>가 어떻게 쓰이는지 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뇌반 </a:t>
            </a:r>
            <a:r>
              <a:rPr lang="en-US" altLang="ko-KR" smtClean="0"/>
              <a:t>: </a:t>
            </a:r>
            <a:r>
              <a:rPr lang="ko-KR" altLang="en-US" smtClean="0"/>
              <a:t>점프해서 번개를 맞고 발이 땋에 닿기 전에 보스에게 번개 공격을 다시 되돌려주는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발에 땅이 닿으면</a:t>
            </a:r>
            <a:r>
              <a:rPr lang="en-US" altLang="ko-KR" smtClean="0"/>
              <a:t>, </a:t>
            </a:r>
            <a:r>
              <a:rPr lang="ko-KR" altLang="en-US" smtClean="0"/>
              <a:t>번개 데미지는 플레이어에게 들어올 것임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세키로</a:t>
            </a:r>
            <a:r>
              <a:rPr lang="en-US" altLang="ko-KR" smtClean="0"/>
              <a:t>] – </a:t>
            </a:r>
            <a:r>
              <a:rPr lang="ko-KR" altLang="en-US" smtClean="0"/>
              <a:t>유튜버 강한달 </a:t>
            </a:r>
            <a:r>
              <a:rPr lang="en-US" altLang="ko-KR" smtClean="0"/>
              <a:t>- </a:t>
            </a:r>
            <a:r>
              <a:rPr lang="ko-KR" altLang="en-US" smtClean="0"/>
              <a:t>점프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2226"/>
            <a:ext cx="5955548" cy="183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800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전투 시스템에서 특정 스킬에 대한 시스템을 유기적으로 구성한 것</a:t>
            </a:r>
            <a:endParaRPr lang="en-US" altLang="ko-KR" smtClean="0"/>
          </a:p>
          <a:p>
            <a:r>
              <a:rPr lang="ko-KR" altLang="en-US" smtClean="0"/>
              <a:t>이제 상위 콘텐츠에서 응용한 것을 보자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/>
              <a:t>선생님의 분석 </a:t>
            </a:r>
            <a:r>
              <a:rPr lang="en-US" altLang="ko-KR" sz="3600" smtClean="0"/>
              <a:t>: [</a:t>
            </a:r>
            <a:r>
              <a:rPr lang="ko-KR" altLang="en-US" sz="3600" smtClean="0"/>
              <a:t>세키로</a:t>
            </a:r>
            <a:r>
              <a:rPr lang="en-US" altLang="ko-KR" sz="3600" smtClean="0"/>
              <a:t>] – </a:t>
            </a:r>
            <a:r>
              <a:rPr lang="ko-KR" altLang="en-US" sz="3600" smtClean="0"/>
              <a:t>유튜버 강한달 </a:t>
            </a:r>
            <a:r>
              <a:rPr lang="en-US" altLang="ko-KR" sz="3600" smtClean="0"/>
              <a:t>- </a:t>
            </a:r>
            <a:r>
              <a:rPr lang="ko-KR" altLang="en-US" sz="3600" smtClean="0"/>
              <a:t>점프</a:t>
            </a:r>
            <a:endParaRPr lang="ko-KR" altLang="en-US" sz="36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05726"/>
            <a:ext cx="4448354" cy="31522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653" y="3706518"/>
            <a:ext cx="3739045" cy="31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82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1825625"/>
            <a:ext cx="11506200" cy="4351338"/>
          </a:xfrm>
        </p:spPr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앵룡</a:t>
            </a:r>
            <a:r>
              <a:rPr lang="en-US" altLang="ko-KR" smtClean="0"/>
              <a:t>’</a:t>
            </a:r>
            <a:r>
              <a:rPr lang="ko-KR" altLang="en-US" smtClean="0"/>
              <a:t>이라는 다음 몬스터를 잡을 때 어떤 공략 패턴으로 대응하는지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뇌반을 대놓고 잘 만든 보스 스테이지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세키로</a:t>
            </a:r>
            <a:r>
              <a:rPr lang="en-US" altLang="ko-KR" smtClean="0"/>
              <a:t>] – </a:t>
            </a:r>
            <a:r>
              <a:rPr lang="ko-KR" altLang="en-US" smtClean="0"/>
              <a:t>유튜버 강한달 </a:t>
            </a:r>
            <a:r>
              <a:rPr lang="en-US" altLang="ko-KR" smtClean="0"/>
              <a:t>– </a:t>
            </a:r>
            <a:r>
              <a:rPr lang="ko-KR" altLang="en-US" smtClean="0"/>
              <a:t>점프 </a:t>
            </a:r>
            <a:r>
              <a:rPr lang="ko-KR" altLang="en-US" b="1" smtClean="0"/>
              <a:t>응용</a:t>
            </a:r>
            <a:endParaRPr lang="ko-KR" altLang="en-US" b="1"/>
          </a:p>
        </p:txBody>
      </p:sp>
      <p:pic>
        <p:nvPicPr>
          <p:cNvPr id="2" name="[세키로] - 앵룡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000" y="3425568"/>
            <a:ext cx="6096000" cy="343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7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게임에서 </a:t>
            </a:r>
            <a:r>
              <a:rPr lang="en-US" altLang="ko-KR" smtClean="0"/>
              <a:t>‘</a:t>
            </a:r>
            <a:r>
              <a:rPr lang="ko-KR" altLang="en-US" smtClean="0"/>
              <a:t>시스템</a:t>
            </a:r>
            <a:r>
              <a:rPr lang="en-US" altLang="ko-KR" smtClean="0"/>
              <a:t>‘</a:t>
            </a:r>
            <a:r>
              <a:rPr lang="ko-KR" altLang="en-US" smtClean="0"/>
              <a:t>상 중요한 </a:t>
            </a:r>
            <a:r>
              <a:rPr lang="en-US" altLang="ko-KR" smtClean="0"/>
              <a:t>3</a:t>
            </a:r>
            <a:r>
              <a:rPr lang="ko-KR" altLang="en-US" smtClean="0"/>
              <a:t>가지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mtClean="0"/>
              <a:t>Input : </a:t>
            </a:r>
            <a:r>
              <a:rPr lang="ko-KR" altLang="en-US" b="1" smtClean="0"/>
              <a:t>플레이의 작용요소 </a:t>
            </a:r>
            <a:r>
              <a:rPr lang="en-US" altLang="ko-KR" smtClean="0"/>
              <a:t>(</a:t>
            </a:r>
            <a:r>
              <a:rPr lang="ko-KR" altLang="en-US" smtClean="0"/>
              <a:t>조작</a:t>
            </a:r>
            <a:r>
              <a:rPr lang="en-US" altLang="ko-KR" smtClean="0"/>
              <a:t>, </a:t>
            </a:r>
            <a:r>
              <a:rPr lang="ko-KR" altLang="en-US" smtClean="0"/>
              <a:t>선택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화면에 입력하는 이유 </a:t>
            </a:r>
            <a:r>
              <a:rPr lang="en-US" altLang="ko-KR" smtClean="0"/>
              <a:t>: </a:t>
            </a:r>
            <a:r>
              <a:rPr lang="ko-KR" altLang="en-US" b="1" smtClean="0"/>
              <a:t>목적</a:t>
            </a:r>
            <a:r>
              <a:rPr lang="ko-KR" altLang="en-US" smtClean="0"/>
              <a:t>을 달성하기 위해</a:t>
            </a:r>
            <a:endParaRPr lang="en-US" altLang="ko-KR" smtClean="0"/>
          </a:p>
          <a:p>
            <a:pPr lvl="1"/>
            <a:r>
              <a:rPr lang="en-US" altLang="ko-KR" smtClean="0"/>
              <a:t>Npc </a:t>
            </a:r>
            <a:r>
              <a:rPr lang="ko-KR" altLang="en-US" smtClean="0"/>
              <a:t>머리 위의 느낌표</a:t>
            </a:r>
            <a:endParaRPr lang="en-US" altLang="ko-KR"/>
          </a:p>
          <a:p>
            <a:r>
              <a:rPr lang="ko-KR" altLang="en-US" smtClean="0"/>
              <a:t>목적이 쉽게 달성되지 않게 하기 위해 </a:t>
            </a:r>
            <a:r>
              <a:rPr lang="ko-KR" altLang="en-US" b="1" smtClean="0"/>
              <a:t>방해요인</a:t>
            </a:r>
            <a:r>
              <a:rPr lang="ko-KR" altLang="en-US" smtClean="0"/>
              <a:t> </a:t>
            </a:r>
            <a:r>
              <a:rPr lang="en-US" altLang="ko-KR" smtClean="0"/>
              <a:t>(</a:t>
            </a:r>
            <a:r>
              <a:rPr lang="ko-KR" altLang="en-US" smtClean="0"/>
              <a:t>몬스터</a:t>
            </a:r>
            <a:r>
              <a:rPr lang="en-US" altLang="ko-KR" smtClean="0"/>
              <a:t>, </a:t>
            </a:r>
            <a:r>
              <a:rPr lang="ko-KR" altLang="en-US" smtClean="0"/>
              <a:t>퍼즐</a:t>
            </a:r>
            <a:r>
              <a:rPr lang="en-US" altLang="ko-KR" smtClean="0"/>
              <a:t>)</a:t>
            </a:r>
            <a:r>
              <a:rPr lang="ko-KR" altLang="en-US" smtClean="0"/>
              <a:t>이 들어가게 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게임이 너무 쉬우면 플레이어는 더 이상 게임을 플레이하지 않게 됨</a:t>
            </a:r>
            <a:endParaRPr lang="en-US" altLang="ko-KR" smtClean="0"/>
          </a:p>
          <a:p>
            <a:pPr lvl="1"/>
            <a:r>
              <a:rPr lang="ko-KR" altLang="en-US" smtClean="0"/>
              <a:t>모든 게임에는 몬스터든 퍼즐이든 등장한다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과정에서 학습이 일어나고</a:t>
            </a:r>
            <a:r>
              <a:rPr lang="en-US" altLang="ko-KR" smtClean="0"/>
              <a:t>, </a:t>
            </a:r>
            <a:r>
              <a:rPr lang="ko-KR" altLang="en-US" smtClean="0"/>
              <a:t>게임의 난이도는 올라간다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게임은 </a:t>
            </a:r>
            <a:r>
              <a:rPr lang="en-US" altLang="ko-KR" smtClean="0"/>
              <a:t>‘</a:t>
            </a:r>
            <a:r>
              <a:rPr lang="ko-KR" altLang="en-US" smtClean="0"/>
              <a:t>놀이</a:t>
            </a:r>
            <a:r>
              <a:rPr lang="en-US" altLang="ko-KR" smtClean="0"/>
              <a:t>’</a:t>
            </a:r>
            <a:r>
              <a:rPr lang="ko-KR" altLang="en-US" smtClean="0"/>
              <a:t>이기 때문에</a:t>
            </a:r>
            <a:r>
              <a:rPr lang="en-US" altLang="ko-KR" smtClean="0"/>
              <a:t>, </a:t>
            </a:r>
            <a:r>
              <a:rPr lang="ko-KR" altLang="en-US" smtClean="0"/>
              <a:t>가장 궁극적인 목표는 </a:t>
            </a:r>
            <a:r>
              <a:rPr lang="en-US" altLang="ko-KR" smtClean="0"/>
              <a:t>‘</a:t>
            </a:r>
            <a:r>
              <a:rPr lang="ko-KR" altLang="en-US" smtClean="0"/>
              <a:t>재미</a:t>
            </a:r>
            <a:r>
              <a:rPr lang="en-US" altLang="ko-KR" smtClean="0"/>
              <a:t>‘</a:t>
            </a:r>
            <a:r>
              <a:rPr lang="ko-KR" altLang="en-US" smtClean="0"/>
              <a:t>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136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623" y="636840"/>
            <a:ext cx="4758812" cy="5584320"/>
          </a:xfrm>
          <a:prstGeom prst="rect">
            <a:avLst/>
          </a:prstGeom>
        </p:spPr>
      </p:pic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505327" y="636840"/>
            <a:ext cx="6430296" cy="5540123"/>
          </a:xfrm>
        </p:spPr>
        <p:txBody>
          <a:bodyPr>
            <a:normAutofit/>
          </a:bodyPr>
          <a:lstStyle/>
          <a:p>
            <a:r>
              <a:rPr lang="ko-KR" altLang="en-US" smtClean="0"/>
              <a:t>토끼 다음 여우가 토끼보다 약하거나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여우 다음 곰이 여우보다 약하면</a:t>
            </a:r>
            <a:r>
              <a:rPr lang="en-US" altLang="ko-KR" smtClean="0"/>
              <a:t/>
            </a:r>
            <a:br>
              <a:rPr lang="en-US" altLang="ko-KR" smtClean="0"/>
            </a:br>
            <a:endParaRPr lang="en-US" altLang="ko-KR" smtClean="0"/>
          </a:p>
          <a:p>
            <a:r>
              <a:rPr lang="ko-KR" altLang="en-US" smtClean="0"/>
              <a:t>게임은 재미없어지고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플레이어는 게임을 떠나게 된다</a:t>
            </a:r>
            <a:r>
              <a:rPr lang="en-US" altLang="ko-KR" smtClean="0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843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재미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나이</a:t>
            </a:r>
            <a:r>
              <a:rPr lang="en-US" altLang="ko-KR"/>
              <a:t> </a:t>
            </a:r>
            <a:r>
              <a:rPr lang="en-US" altLang="ko-KR" smtClean="0"/>
              <a:t>/ </a:t>
            </a:r>
            <a:r>
              <a:rPr lang="ko-KR" altLang="en-US" smtClean="0"/>
              <a:t>성별 </a:t>
            </a:r>
            <a:r>
              <a:rPr lang="en-US" altLang="ko-KR" smtClean="0"/>
              <a:t>/ </a:t>
            </a:r>
            <a:r>
              <a:rPr lang="ko-KR" altLang="en-US" smtClean="0"/>
              <a:t>국가 </a:t>
            </a:r>
            <a:r>
              <a:rPr lang="en-US" altLang="ko-KR" smtClean="0"/>
              <a:t>/ </a:t>
            </a:r>
            <a:r>
              <a:rPr lang="ko-KR" altLang="en-US" smtClean="0"/>
              <a:t>시대 등에 따라 재미를 느끼는 게 다르다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&lt;</a:t>
            </a:r>
            <a:r>
              <a:rPr lang="ko-KR" altLang="en-US" smtClean="0"/>
              <a:t>라프코스터의 재미이론</a:t>
            </a:r>
            <a:r>
              <a:rPr lang="en-US" altLang="ko-KR" smtClean="0"/>
              <a:t>&gt;</a:t>
            </a:r>
          </a:p>
          <a:p>
            <a:r>
              <a:rPr lang="ko-KR" altLang="en-US" smtClean="0"/>
              <a:t>사람은 누구나 게임 화면에서 적절한 시련과 고난을 겪고</a:t>
            </a:r>
            <a:r>
              <a:rPr lang="en-US" altLang="ko-KR" smtClean="0"/>
              <a:t>, </a:t>
            </a:r>
            <a:r>
              <a:rPr lang="ko-KR" altLang="en-US" smtClean="0"/>
              <a:t>실패하면 학습을</a:t>
            </a:r>
            <a:r>
              <a:rPr lang="en-US" altLang="ko-KR" smtClean="0"/>
              <a:t>, </a:t>
            </a:r>
            <a:r>
              <a:rPr lang="ko-KR" altLang="en-US" smtClean="0"/>
              <a:t>학습을 통해 성장해서</a:t>
            </a:r>
            <a:r>
              <a:rPr lang="en-US" altLang="ko-KR" smtClean="0"/>
              <a:t>, </a:t>
            </a:r>
            <a:r>
              <a:rPr lang="ko-KR" altLang="en-US" smtClean="0"/>
              <a:t>시련과 고난을 넘어서면 희열을 느낀다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따라서 난이도는 점점 올라가야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53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학습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조작숙련도</a:t>
            </a:r>
            <a:endParaRPr lang="en-US" altLang="ko-KR" smtClean="0"/>
          </a:p>
          <a:p>
            <a:pPr lvl="1"/>
            <a:r>
              <a:rPr lang="ko-KR" altLang="en-US" smtClean="0"/>
              <a:t>피지컬적인 부분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콘텐츠 이해도</a:t>
            </a:r>
            <a:endParaRPr lang="en-US" altLang="ko-KR" smtClean="0"/>
          </a:p>
          <a:p>
            <a:pPr lvl="1"/>
            <a:r>
              <a:rPr lang="ko-KR" altLang="en-US" smtClean="0"/>
              <a:t>지식적인 부분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en-US" altLang="ko-KR" smtClean="0"/>
          </a:p>
          <a:p>
            <a:r>
              <a:rPr lang="ko-KR" altLang="en-US" smtClean="0"/>
              <a:t>이 </a:t>
            </a:r>
            <a:r>
              <a:rPr lang="en-US" altLang="ko-KR" smtClean="0"/>
              <a:t>2</a:t>
            </a:r>
            <a:r>
              <a:rPr lang="ko-KR" altLang="en-US" smtClean="0"/>
              <a:t>가지가 게임에서 </a:t>
            </a:r>
            <a:r>
              <a:rPr lang="ko-KR" altLang="en-US" b="1" smtClean="0"/>
              <a:t>학습</a:t>
            </a:r>
            <a:r>
              <a:rPr lang="ko-KR" altLang="en-US" smtClean="0"/>
              <a:t>해야 할 요소들</a:t>
            </a:r>
            <a:endParaRPr lang="en-US" altLang="ko-KR" smtClean="0"/>
          </a:p>
          <a:p>
            <a:r>
              <a:rPr lang="ko-KR" altLang="en-US" smtClean="0"/>
              <a:t>이들을 가지고 </a:t>
            </a:r>
            <a:r>
              <a:rPr lang="ko-KR" altLang="en-US" b="1" smtClean="0"/>
              <a:t>난이도</a:t>
            </a:r>
            <a:r>
              <a:rPr lang="ko-KR" altLang="en-US" smtClean="0"/>
              <a:t>를 깨는 것</a:t>
            </a:r>
            <a:endParaRPr lang="en-US" altLang="ko-KR" smtClean="0"/>
          </a:p>
          <a:p>
            <a:r>
              <a:rPr lang="ko-KR" altLang="en-US" smtClean="0"/>
              <a:t>난이도를 깨면</a:t>
            </a:r>
            <a:r>
              <a:rPr lang="en-US" altLang="ko-KR" smtClean="0"/>
              <a:t>, </a:t>
            </a:r>
            <a:r>
              <a:rPr lang="ko-KR" altLang="en-US" b="1" smtClean="0"/>
              <a:t>목적</a:t>
            </a:r>
            <a:r>
              <a:rPr lang="ko-KR" altLang="en-US" smtClean="0"/>
              <a:t>을 달성하는 것이기 때문에 </a:t>
            </a:r>
            <a:r>
              <a:rPr lang="ko-KR" altLang="en-US" b="1" smtClean="0"/>
              <a:t>보상</a:t>
            </a:r>
            <a:r>
              <a:rPr lang="ko-KR" altLang="en-US" smtClean="0"/>
              <a:t>을 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366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보상 </a:t>
            </a:r>
            <a:r>
              <a:rPr lang="en-US" altLang="ko-KR" smtClean="0"/>
              <a:t>- </a:t>
            </a:r>
            <a:r>
              <a:rPr lang="ko-KR" altLang="en-US" smtClean="0"/>
              <a:t>플레이의 동기부여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아바타의 내</a:t>
            </a:r>
            <a:r>
              <a:rPr lang="en-US" altLang="ko-KR" smtClean="0"/>
              <a:t>·</a:t>
            </a:r>
            <a:r>
              <a:rPr lang="ko-KR" altLang="en-US" smtClean="0"/>
              <a:t>외적인 성장</a:t>
            </a:r>
            <a:endParaRPr lang="en-US" altLang="ko-KR" smtClean="0"/>
          </a:p>
          <a:p>
            <a:pPr lvl="1"/>
            <a:r>
              <a:rPr lang="en-US" altLang="ko-KR" smtClean="0"/>
              <a:t>[</a:t>
            </a:r>
            <a:r>
              <a:rPr lang="ko-KR" altLang="en-US" smtClean="0"/>
              <a:t>리니지 </a:t>
            </a:r>
            <a:r>
              <a:rPr lang="en-US" altLang="ko-KR" smtClean="0"/>
              <a:t>2]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스토리텔링의 경험</a:t>
            </a:r>
            <a:endParaRPr lang="en-US" altLang="ko-KR" smtClean="0"/>
          </a:p>
          <a:p>
            <a:pPr lvl="1"/>
            <a:r>
              <a:rPr lang="ko-KR" altLang="en-US" smtClean="0"/>
              <a:t>엔딩을 보고 싶게 함으로써 게임을 떠나지 못하게 한다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[</a:t>
            </a:r>
            <a:r>
              <a:rPr lang="ko-KR" altLang="en-US" smtClean="0"/>
              <a:t>라스트 오브 어스 </a:t>
            </a:r>
            <a:r>
              <a:rPr lang="en-US" altLang="ko-KR" smtClean="0"/>
              <a:t>1]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협동</a:t>
            </a:r>
            <a:r>
              <a:rPr lang="en-US" altLang="ko-KR" smtClean="0"/>
              <a:t>·</a:t>
            </a:r>
            <a:r>
              <a:rPr lang="ko-KR" altLang="en-US" smtClean="0"/>
              <a:t>경쟁의 재미</a:t>
            </a:r>
            <a:endParaRPr lang="en-US" altLang="ko-KR" smtClean="0"/>
          </a:p>
          <a:p>
            <a:pPr lvl="1"/>
            <a:r>
              <a:rPr lang="ko-KR" altLang="en-US" smtClean="0"/>
              <a:t>게임에서는 </a:t>
            </a:r>
            <a:r>
              <a:rPr lang="en-US" altLang="ko-KR" smtClean="0"/>
              <a:t>10</a:t>
            </a:r>
            <a:r>
              <a:rPr lang="ko-KR" altLang="en-US" smtClean="0"/>
              <a:t>명</a:t>
            </a:r>
            <a:r>
              <a:rPr lang="en-US" altLang="ko-KR" smtClean="0"/>
              <a:t>, 20</a:t>
            </a:r>
            <a:r>
              <a:rPr lang="ko-KR" altLang="en-US" smtClean="0"/>
              <a:t>명</a:t>
            </a:r>
            <a:r>
              <a:rPr lang="en-US" altLang="ko-KR" smtClean="0"/>
              <a:t>, </a:t>
            </a:r>
            <a:r>
              <a:rPr lang="ko-KR" altLang="en-US" smtClean="0"/>
              <a:t>수백명이 모여서 콘텐츠를 소모한다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킬러 콘텐츠</a:t>
            </a:r>
            <a:endParaRPr lang="en-US" altLang="ko-KR" smtClean="0"/>
          </a:p>
          <a:p>
            <a:pPr lvl="1"/>
            <a:r>
              <a:rPr lang="ko-KR" altLang="en-US" smtClean="0"/>
              <a:t>그 게임만이 가지는</a:t>
            </a:r>
            <a:r>
              <a:rPr lang="en-US" altLang="ko-KR" smtClean="0"/>
              <a:t>, </a:t>
            </a:r>
            <a:r>
              <a:rPr lang="ko-KR" altLang="en-US" smtClean="0"/>
              <a:t>그 게임만의 재미있는 콘텐츠</a:t>
            </a:r>
            <a:endParaRPr lang="en-US" altLang="ko-KR" smtClean="0"/>
          </a:p>
          <a:p>
            <a:pPr lvl="1"/>
            <a:r>
              <a:rPr lang="en-US" altLang="ko-KR" smtClean="0"/>
              <a:t>[</a:t>
            </a:r>
            <a:r>
              <a:rPr lang="ko-KR" altLang="en-US" smtClean="0"/>
              <a:t>포켓몬고</a:t>
            </a:r>
            <a:r>
              <a:rPr lang="en-US" altLang="ko-KR" smtClean="0"/>
              <a:t>], [</a:t>
            </a:r>
            <a:r>
              <a:rPr lang="ko-KR" altLang="en-US" smtClean="0"/>
              <a:t>원신</a:t>
            </a:r>
            <a:r>
              <a:rPr lang="en-US" altLang="ko-KR" smtClean="0"/>
              <a:t>], [</a:t>
            </a:r>
            <a:r>
              <a:rPr lang="ko-KR" altLang="en-US" smtClean="0"/>
              <a:t>니케</a:t>
            </a:r>
            <a:r>
              <a:rPr lang="en-US" altLang="ko-KR" smtClean="0"/>
              <a:t>] </a:t>
            </a:r>
            <a:r>
              <a:rPr lang="ko-KR" altLang="en-US" smtClean="0"/>
              <a:t>등 각각의 게임을 하는 이유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 </a:t>
            </a:r>
            <a:r>
              <a:rPr lang="en-US" altLang="ko-KR" smtClean="0"/>
              <a:t>: (</a:t>
            </a:r>
            <a:r>
              <a:rPr lang="ko-KR" altLang="en-US" smtClean="0"/>
              <a:t>캐릭터</a:t>
            </a:r>
            <a:r>
              <a:rPr lang="en-US" altLang="ko-KR" smtClean="0"/>
              <a:t>, </a:t>
            </a:r>
            <a:r>
              <a:rPr lang="ko-KR" altLang="en-US" smtClean="0"/>
              <a:t>스킨</a:t>
            </a:r>
            <a:r>
              <a:rPr lang="en-US" altLang="ko-KR" smtClean="0"/>
              <a:t>, </a:t>
            </a:r>
            <a:r>
              <a:rPr lang="ko-KR" altLang="en-US" smtClean="0"/>
              <a:t>오브젝트 등을</a:t>
            </a:r>
            <a:r>
              <a:rPr lang="en-US" altLang="ko-KR" smtClean="0"/>
              <a:t>)</a:t>
            </a:r>
            <a:r>
              <a:rPr lang="ko-KR" altLang="en-US" smtClean="0"/>
              <a:t> 수집</a:t>
            </a:r>
            <a:r>
              <a:rPr lang="en-US" altLang="ko-KR" smtClean="0"/>
              <a:t>, </a:t>
            </a:r>
            <a:r>
              <a:rPr lang="ko-KR" altLang="en-US" smtClean="0"/>
              <a:t>관계 형성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20220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" y="251342"/>
            <a:ext cx="11779046" cy="635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6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 플레이의 메커니즘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Main play</a:t>
            </a:r>
          </a:p>
          <a:p>
            <a:endParaRPr lang="en-US" altLang="ko-KR"/>
          </a:p>
          <a:p>
            <a:r>
              <a:rPr lang="ko-KR" altLang="en-US" smtClean="0"/>
              <a:t>시스템의 세부적인 요소들은 각각의 약속이 필요할 것이고</a:t>
            </a:r>
            <a:endParaRPr lang="en-US" altLang="ko-KR" smtClean="0"/>
          </a:p>
          <a:p>
            <a:r>
              <a:rPr lang="ko-KR" altLang="en-US" smtClean="0"/>
              <a:t>우리는 시스템의 약속들을 설계해야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988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" y="368434"/>
            <a:ext cx="11425084" cy="612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시스템 볼륨 맵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복잡한 게임이면 </a:t>
            </a:r>
            <a:r>
              <a:rPr lang="en-US" altLang="ko-KR" smtClean="0"/>
              <a:t>3step</a:t>
            </a:r>
            <a:r>
              <a:rPr lang="ko-KR" altLang="en-US" smtClean="0"/>
              <a:t>까지 가겠지만</a:t>
            </a:r>
            <a:endParaRPr lang="en-US" altLang="ko-KR" smtClean="0"/>
          </a:p>
          <a:p>
            <a:r>
              <a:rPr lang="ko-KR" altLang="en-US" smtClean="0"/>
              <a:t>대부분의 게임은 </a:t>
            </a:r>
            <a:r>
              <a:rPr lang="en-US" altLang="ko-KR" smtClean="0"/>
              <a:t>1step, 2step</a:t>
            </a:r>
            <a:r>
              <a:rPr lang="ko-KR" altLang="en-US" smtClean="0"/>
              <a:t>까지만 가면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우리는 </a:t>
            </a:r>
            <a:r>
              <a:rPr lang="en-US" altLang="ko-KR" smtClean="0"/>
              <a:t>A</a:t>
            </a:r>
            <a:r>
              <a:rPr lang="ko-KR" altLang="en-US" smtClean="0"/>
              <a:t>라는 시스템을 만들기 위해서 필요한 주변 요소들을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2</a:t>
            </a:r>
            <a:r>
              <a:rPr lang="ko-KR" altLang="en-US" smtClean="0"/>
              <a:t>가지 </a:t>
            </a:r>
            <a:r>
              <a:rPr lang="en-US" altLang="ko-KR" smtClean="0"/>
              <a:t>step </a:t>
            </a:r>
            <a:r>
              <a:rPr lang="ko-KR" altLang="en-US" smtClean="0"/>
              <a:t>정도로 구성하면 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414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게임의 시스템 볼륨 맵</a:t>
            </a:r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5998171" y="2841440"/>
            <a:ext cx="1645920" cy="1645920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선의</a:t>
            </a:r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4721587" y="2387816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자아마모도</a:t>
            </a:r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4820787" y="3889612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인연</a:t>
            </a:r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7612721" y="3847555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전투</a:t>
            </a:r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3505921" y="1749524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결말</a:t>
            </a:r>
            <a:r>
              <a:rPr lang="en-US" altLang="ko-KR" smtClean="0"/>
              <a:t>C</a:t>
            </a:r>
            <a:endParaRPr lang="ko-KR" altLang="en-US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668667" cy="4351338"/>
          </a:xfrm>
        </p:spPr>
        <p:txBody>
          <a:bodyPr/>
          <a:lstStyle/>
          <a:p>
            <a:r>
              <a:rPr lang="ko-KR" altLang="en-US" smtClean="0"/>
              <a:t>액션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스토리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상태</a:t>
            </a:r>
            <a:endParaRPr lang="en-US" altLang="ko-KR" smtClean="0"/>
          </a:p>
        </p:txBody>
      </p:sp>
      <p:sp>
        <p:nvSpPr>
          <p:cNvPr id="10" name="타원 9"/>
          <p:cNvSpPr/>
          <p:nvPr/>
        </p:nvSpPr>
        <p:spPr>
          <a:xfrm>
            <a:off x="2046779" y="1825625"/>
            <a:ext cx="431218" cy="431218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2027503" y="3857255"/>
            <a:ext cx="431218" cy="4312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2397761" y="2841440"/>
            <a:ext cx="431218" cy="431218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5504396" y="5125652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결말</a:t>
            </a:r>
            <a:r>
              <a:rPr lang="en-US" altLang="ko-KR" smtClean="0"/>
              <a:t>B</a:t>
            </a:r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7058227" y="5124139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진실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79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게임의 시스템 볼륨 맵</a:t>
            </a:r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5998171" y="2841440"/>
            <a:ext cx="1645920" cy="164592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선택지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타원 4"/>
          <p:cNvSpPr/>
          <p:nvPr/>
        </p:nvSpPr>
        <p:spPr>
          <a:xfrm>
            <a:off x="4721587" y="2387816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자아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마모도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820787" y="3889612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인연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7612721" y="3847555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전투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5504396" y="1228509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결말</a:t>
            </a:r>
            <a:r>
              <a:rPr lang="en-US" altLang="ko-KR" smtClean="0">
                <a:solidFill>
                  <a:schemeClr val="tx1"/>
                </a:solidFill>
              </a:rPr>
              <a:t>C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668667" cy="4351338"/>
          </a:xfrm>
        </p:spPr>
        <p:txBody>
          <a:bodyPr/>
          <a:lstStyle/>
          <a:p>
            <a:r>
              <a:rPr lang="ko-KR" altLang="en-US" smtClean="0"/>
              <a:t>액션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스토리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상태</a:t>
            </a:r>
            <a:endParaRPr lang="en-US" altLang="ko-KR" smtClean="0"/>
          </a:p>
        </p:txBody>
      </p:sp>
      <p:sp>
        <p:nvSpPr>
          <p:cNvPr id="10" name="타원 9"/>
          <p:cNvSpPr/>
          <p:nvPr/>
        </p:nvSpPr>
        <p:spPr>
          <a:xfrm>
            <a:off x="2046779" y="1825625"/>
            <a:ext cx="431218" cy="431218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2027503" y="3857255"/>
            <a:ext cx="431218" cy="4312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2397761" y="2841440"/>
            <a:ext cx="431218" cy="431218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5504396" y="5125652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결말</a:t>
            </a:r>
            <a:r>
              <a:rPr lang="en-US" altLang="ko-KR" smtClean="0">
                <a:solidFill>
                  <a:schemeClr val="tx1"/>
                </a:solidFill>
              </a:rPr>
              <a:t>B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7058227" y="5124139"/>
            <a:ext cx="1276584" cy="1276584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진실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185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게임의 시스템 볼륨 맵</a:t>
            </a:r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5998171" y="2738362"/>
            <a:ext cx="1645920" cy="1645920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맨몸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타원 4"/>
          <p:cNvSpPr/>
          <p:nvPr/>
        </p:nvSpPr>
        <p:spPr>
          <a:xfrm>
            <a:off x="4336076" y="1461778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공명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4673441" y="2774195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무기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8525681" y="3057049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전투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7518053" y="2135903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몬스터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668667" cy="4351338"/>
          </a:xfrm>
        </p:spPr>
        <p:txBody>
          <a:bodyPr/>
          <a:lstStyle/>
          <a:p>
            <a:r>
              <a:rPr lang="ko-KR" altLang="en-US" smtClean="0"/>
              <a:t>액션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스토리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상태</a:t>
            </a:r>
            <a:endParaRPr lang="en-US" altLang="ko-KR" smtClean="0"/>
          </a:p>
        </p:txBody>
      </p:sp>
      <p:sp>
        <p:nvSpPr>
          <p:cNvPr id="10" name="타원 9"/>
          <p:cNvSpPr/>
          <p:nvPr/>
        </p:nvSpPr>
        <p:spPr>
          <a:xfrm>
            <a:off x="2046779" y="1825625"/>
            <a:ext cx="431218" cy="431218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2027503" y="3857255"/>
            <a:ext cx="431218" cy="4312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2397761" y="2841440"/>
            <a:ext cx="431218" cy="431218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3953992" y="3900363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일반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736429" y="1402942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난이도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↓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5315490" y="4288473"/>
            <a:ext cx="1276584" cy="1276584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난이도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↑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004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시스템 </a:t>
            </a:r>
            <a:r>
              <a:rPr lang="ko-KR" altLang="en-US" b="1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볼륨 맵</a:t>
            </a:r>
            <a:endParaRPr lang="ko-KR" altLang="en-US" b="1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" name="타원 3"/>
          <p:cNvSpPr/>
          <p:nvPr/>
        </p:nvSpPr>
        <p:spPr>
          <a:xfrm>
            <a:off x="5998171" y="2841440"/>
            <a:ext cx="1645920" cy="1645920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선의</a:t>
            </a:r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4721587" y="2387816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선의 측정</a:t>
            </a:r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4820787" y="3889612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변이체</a:t>
            </a:r>
            <a:endParaRPr lang="en-US" altLang="ko-KR" smtClean="0"/>
          </a:p>
          <a:p>
            <a:pPr algn="ctr"/>
            <a:r>
              <a:rPr lang="en-US" altLang="ko-KR" smtClean="0"/>
              <a:t>AI</a:t>
            </a:r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6791609" y="1506020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유인 파동</a:t>
            </a:r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3505921" y="1749524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관리국</a:t>
            </a:r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6558559" y="4527904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사회적 대우</a:t>
            </a:r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8004126" y="5166196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영웅화</a:t>
            </a:r>
            <a:r>
              <a:rPr lang="en-US" altLang="ko-KR" smtClean="0"/>
              <a:t>/</a:t>
            </a:r>
            <a:r>
              <a:rPr lang="ko-KR" altLang="en-US" smtClean="0"/>
              <a:t>구호의지 변화</a:t>
            </a:r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3375220" y="4282644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구조형</a:t>
            </a:r>
            <a:r>
              <a:rPr lang="en-US" altLang="ko-KR" smtClean="0"/>
              <a:t> </a:t>
            </a:r>
            <a:r>
              <a:rPr lang="ko-KR" altLang="en-US" smtClean="0"/>
              <a:t>전투</a:t>
            </a:r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8376611" y="1588446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사건 발생</a:t>
            </a:r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7886567" y="3153130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균열</a:t>
            </a:r>
            <a:r>
              <a:rPr lang="en-US" altLang="ko-KR" smtClean="0"/>
              <a:t>/</a:t>
            </a:r>
            <a:r>
              <a:rPr lang="ko-KR" altLang="en-US" smtClean="0"/>
              <a:t>변이 규칙</a:t>
            </a:r>
            <a:endParaRPr lang="en-US" altLang="ko-KR" smtClean="0"/>
          </a:p>
        </p:txBody>
      </p:sp>
      <p:sp>
        <p:nvSpPr>
          <p:cNvPr id="19" name="타원 18"/>
          <p:cNvSpPr/>
          <p:nvPr/>
        </p:nvSpPr>
        <p:spPr>
          <a:xfrm>
            <a:off x="9299861" y="3153130"/>
            <a:ext cx="1276584" cy="1276584"/>
          </a:xfrm>
          <a:prstGeom prst="ellipse">
            <a:avLst/>
          </a:prstGeom>
          <a:solidFill>
            <a:srgbClr val="5B9BD5"/>
          </a:solidFill>
          <a:ln>
            <a:solidFill>
              <a:srgbClr val="5681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진실 공개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075678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볼륨 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86200" y="768096"/>
            <a:ext cx="4434840" cy="0"/>
          </a:xfrm>
          <a:prstGeom prst="line">
            <a:avLst/>
          </a:prstGeom>
          <a:noFill/>
          <a:ln w="12700">
            <a:solidFill>
              <a:srgbClr val="0827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0160" y="2386587"/>
            <a:ext cx="2011680" cy="2011680"/>
          </a:xfrm>
          <a:prstGeom prst="ellipse">
            <a:avLst/>
          </a:prstGeom>
          <a:solidFill>
            <a:srgbClr val="082756"/>
          </a:solidFill>
          <a:ln w="25400">
            <a:solidFill>
              <a:srgbClr val="244D9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 </a:t>
            </a:r>
            <a:r>
              <a:rPr lang="en-US" sz="112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</a:t>
            </a:r>
            <a:r>
              <a:rPr lang="en-US" sz="112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3878580" y="2551180"/>
            <a:ext cx="1097280" cy="1097280"/>
          </a:xfrm>
          <a:prstGeom prst="ellipse">
            <a:avLst/>
          </a:prstGeom>
          <a:solidFill>
            <a:srgbClr val="ECF4FF"/>
          </a:solidFill>
          <a:ln w="17145">
            <a:solidFill>
              <a:srgbClr val="2F64B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 </a:t>
            </a:r>
            <a:r>
              <a:rPr lang="en-US" sz="11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843016" y="4517136"/>
            <a:ext cx="1097280" cy="1097280"/>
          </a:xfrm>
          <a:prstGeom prst="ellipse">
            <a:avLst/>
          </a:prstGeom>
          <a:solidFill>
            <a:srgbClr val="ECFAF8"/>
          </a:solidFill>
          <a:ln w="17145">
            <a:solidFill>
              <a:srgbClr val="2B8E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유인 </a:t>
            </a:r>
            <a:r>
              <a:rPr lang="en-US" sz="11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파동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4322064" y="4151377"/>
            <a:ext cx="1097280" cy="1097280"/>
          </a:xfrm>
          <a:prstGeom prst="ellipse">
            <a:avLst/>
          </a:prstGeom>
          <a:solidFill>
            <a:srgbClr val="F4F0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변이체 </a:t>
            </a:r>
            <a:r>
              <a:rPr lang="en-US" sz="11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7223760" y="3218696"/>
            <a:ext cx="1097280" cy="1097280"/>
          </a:xfrm>
          <a:prstGeom prst="ellipse">
            <a:avLst/>
          </a:prstGeom>
          <a:solidFill>
            <a:srgbClr val="FFF3EA"/>
          </a:solidFill>
          <a:ln w="17145">
            <a:solidFill>
              <a:srgbClr val="D4743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 </a:t>
            </a:r>
            <a:r>
              <a:rPr lang="en-US" sz="10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변이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678680" y="1453896"/>
            <a:ext cx="1097280" cy="1097280"/>
          </a:xfrm>
          <a:prstGeom prst="ellipse">
            <a:avLst/>
          </a:prstGeom>
          <a:solidFill>
            <a:srgbClr val="FFF8E9"/>
          </a:solidFill>
          <a:ln w="17145">
            <a:solidFill>
              <a:srgbClr val="C8952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</a:t>
            </a:r>
            <a:r>
              <a:rPr lang="en-US" sz="110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66466" y="3282700"/>
            <a:ext cx="1024128" cy="1024128"/>
          </a:xfrm>
          <a:prstGeom prst="ellipse">
            <a:avLst/>
          </a:prstGeom>
          <a:solidFill>
            <a:srgbClr val="F4F8FF"/>
          </a:solidFill>
          <a:ln w="17145">
            <a:solidFill>
              <a:srgbClr val="2F64B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관리국 </a:t>
            </a:r>
            <a:r>
              <a:rPr lang="en-US" sz="105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46976" y="4786887"/>
            <a:ext cx="1024128" cy="1024128"/>
          </a:xfrm>
          <a:prstGeom prst="ellipse">
            <a:avLst/>
          </a:prstGeom>
          <a:solidFill>
            <a:srgbClr val="F4FFFD"/>
          </a:solidFill>
          <a:ln w="17145">
            <a:solidFill>
              <a:srgbClr val="2B8E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</a:t>
            </a:r>
            <a:r>
              <a:rPr lang="en-US" sz="105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0786" y="4398267"/>
            <a:ext cx="1024128" cy="1024128"/>
          </a:xfrm>
          <a:prstGeom prst="ellipse">
            <a:avLst/>
          </a:prstGeom>
          <a:solidFill>
            <a:srgbClr val="F9F6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구조형 </a:t>
            </a:r>
            <a:r>
              <a:rPr lang="en-US" sz="93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431024" y="2137411"/>
            <a:ext cx="1024128" cy="1024128"/>
          </a:xfrm>
          <a:prstGeom prst="ellipse">
            <a:avLst/>
          </a:prstGeom>
          <a:solidFill>
            <a:srgbClr val="FFF8F2"/>
          </a:solidFill>
          <a:ln w="17145">
            <a:solidFill>
              <a:srgbClr val="D4743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진실 </a:t>
            </a:r>
            <a:r>
              <a:rPr lang="en-US" sz="105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69030" y="1458472"/>
            <a:ext cx="909826" cy="909826"/>
          </a:xfrm>
          <a:prstGeom prst="ellipse">
            <a:avLst/>
          </a:prstGeom>
          <a:solidFill>
            <a:srgbClr val="FFFBF1"/>
          </a:solidFill>
          <a:ln w="17145">
            <a:solidFill>
              <a:srgbClr val="C8952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영웅화 </a:t>
            </a:r>
            <a:r>
              <a:rPr lang="en-US" sz="7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구호 의지 변화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4165739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볼륨 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44752" y="9875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230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 상태 판정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94476" y="3387852"/>
            <a:ext cx="0" cy="0"/>
          </a:xfrm>
          <a:prstGeom prst="line">
            <a:avLst/>
          </a:prstGeom>
          <a:noFill/>
          <a:ln w="10160">
            <a:solidFill>
              <a:srgbClr val="B7C2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4476" y="3387852"/>
            <a:ext cx="9144" cy="0"/>
          </a:xfrm>
          <a:prstGeom prst="line">
            <a:avLst/>
          </a:prstGeom>
          <a:noFill/>
          <a:ln w="10160">
            <a:solidFill>
              <a:srgbClr val="B7C2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4476" y="3387852"/>
            <a:ext cx="2340864" cy="0"/>
          </a:xfrm>
          <a:prstGeom prst="line">
            <a:avLst/>
          </a:prstGeom>
          <a:noFill/>
          <a:ln w="10160">
            <a:solidFill>
              <a:srgbClr val="B7C2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4476" y="3387852"/>
            <a:ext cx="9144" cy="1892808"/>
          </a:xfrm>
          <a:prstGeom prst="line">
            <a:avLst/>
          </a:prstGeom>
          <a:noFill/>
          <a:ln w="10160">
            <a:solidFill>
              <a:srgbClr val="B7C2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4476" y="3387852"/>
            <a:ext cx="0" cy="978408"/>
          </a:xfrm>
          <a:prstGeom prst="line">
            <a:avLst/>
          </a:prstGeom>
          <a:noFill/>
          <a:ln w="10160">
            <a:solidFill>
              <a:srgbClr val="B7C2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5340" y="2491740"/>
            <a:ext cx="0" cy="1874520"/>
          </a:xfrm>
          <a:prstGeom prst="line">
            <a:avLst/>
          </a:prstGeom>
          <a:noFill/>
          <a:ln w="13970">
            <a:solidFill>
              <a:srgbClr val="5A6F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5340" y="4366260"/>
            <a:ext cx="0" cy="914400"/>
          </a:xfrm>
          <a:prstGeom prst="line">
            <a:avLst/>
          </a:prstGeom>
          <a:noFill/>
          <a:ln w="13970">
            <a:solidFill>
              <a:srgbClr val="5A6F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03620" y="5280660"/>
            <a:ext cx="0" cy="0"/>
          </a:xfrm>
          <a:prstGeom prst="line">
            <a:avLst/>
          </a:prstGeom>
          <a:noFill/>
          <a:ln w="13970">
            <a:solidFill>
              <a:srgbClr val="5A6F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4366260"/>
            <a:ext cx="0" cy="0"/>
          </a:xfrm>
          <a:prstGeom prst="line">
            <a:avLst/>
          </a:prstGeom>
          <a:noFill/>
          <a:ln w="13970">
            <a:solidFill>
              <a:srgbClr val="5A6F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03620" y="1714500"/>
            <a:ext cx="0" cy="3566160"/>
          </a:xfrm>
          <a:prstGeom prst="line">
            <a:avLst/>
          </a:prstGeom>
          <a:noFill/>
          <a:ln w="8890">
            <a:solidFill>
              <a:srgbClr val="8FA0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35340" y="2491740"/>
            <a:ext cx="0" cy="1874520"/>
          </a:xfrm>
          <a:prstGeom prst="line">
            <a:avLst/>
          </a:prstGeom>
          <a:noFill/>
          <a:ln w="8890">
            <a:solidFill>
              <a:srgbClr val="8FA0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35340" y="4366260"/>
            <a:ext cx="0" cy="0"/>
          </a:xfrm>
          <a:prstGeom prst="line">
            <a:avLst/>
          </a:prstGeom>
          <a:noFill/>
          <a:ln w="8890">
            <a:solidFill>
              <a:srgbClr val="8FA0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48656" y="2542032"/>
            <a:ext cx="1691640" cy="1691640"/>
          </a:xfrm>
          <a:prstGeom prst="ellipse">
            <a:avLst/>
          </a:prstGeom>
          <a:solidFill>
            <a:srgbClr val="12305A"/>
          </a:solidFill>
          <a:ln w="25400">
            <a:solidFill>
              <a:srgbClr val="0B234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 상태 판정</a:t>
            </a:r>
            <a:endParaRPr lang="en-US" sz="970" dirty="0"/>
          </a:p>
          <a:p>
            <a:pPr marL="0" indent="0" algn="ctr">
              <a:buNone/>
            </a:pP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 &gt; 0 / 선의 = 0 / 선의 ∞</a:t>
            </a:r>
            <a:endParaRPr lang="en-US" sz="970" dirty="0"/>
          </a:p>
          <a:p>
            <a:pPr marL="0" indent="0" algn="ctr">
              <a:buNone/>
            </a:pP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함께 참조하는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상태값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3063240" y="1828800"/>
            <a:ext cx="1325880" cy="1325880"/>
          </a:xfrm>
          <a:prstGeom prst="ellipse">
            <a:avLst/>
          </a:prstGeom>
          <a:solidFill>
            <a:srgbClr val="FCECE9"/>
          </a:solidFill>
          <a:ln w="16510">
            <a:solidFill>
              <a:srgbClr val="E0705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6F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 /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6F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 행동</a:t>
            </a:r>
            <a:endParaRPr lang="en-US" sz="930" dirty="0"/>
          </a:p>
          <a:p>
            <a:pPr marL="0" indent="0" algn="ctr">
              <a:buNone/>
            </a:pP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6F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선의를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6F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 입력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440680" y="1051560"/>
            <a:ext cx="1325880" cy="1325880"/>
          </a:xfrm>
          <a:prstGeom prst="ellipse">
            <a:avLst/>
          </a:prstGeom>
          <a:solidFill>
            <a:srgbClr val="EAF2FF"/>
          </a:solidFill>
          <a:ln w="16510">
            <a:solidFill>
              <a:srgbClr val="4779C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 측정</a:t>
            </a:r>
            <a:endParaRPr lang="en-US" sz="930" dirty="0"/>
          </a:p>
          <a:p>
            <a:pPr marL="0" indent="0" algn="ctr">
              <a:buNone/>
            </a:pP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상태를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정보화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7772400" y="1828800"/>
            <a:ext cx="1325880" cy="1325880"/>
          </a:xfrm>
          <a:prstGeom prst="ellipse">
            <a:avLst/>
          </a:prstGeom>
          <a:solidFill>
            <a:srgbClr val="EAF8F5"/>
          </a:solidFill>
          <a:ln w="16510">
            <a:solidFill>
              <a:srgbClr val="2D918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76B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유인 파동</a:t>
            </a:r>
            <a:endParaRPr lang="en-US" sz="930" dirty="0"/>
          </a:p>
          <a:p>
            <a:pPr marL="0" indent="0" algn="ctr">
              <a:buNone/>
            </a:pP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176B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상태를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176B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조건화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7772400" y="3703320"/>
            <a:ext cx="1325880" cy="1325880"/>
          </a:xfrm>
          <a:prstGeom prst="ellipse">
            <a:avLst/>
          </a:prstGeom>
          <a:solidFill>
            <a:srgbClr val="FFF0E6"/>
          </a:solidFill>
          <a:ln w="16510">
            <a:solidFill>
              <a:srgbClr val="D9783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8A4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 / 변이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8A4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930" dirty="0"/>
          </a:p>
          <a:p>
            <a:pPr marL="0" indent="0" algn="ctr">
              <a:buNone/>
            </a:pP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8A4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상태의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8A4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440680" y="4617720"/>
            <a:ext cx="1325880" cy="1325880"/>
          </a:xfrm>
          <a:prstGeom prst="ellipse">
            <a:avLst/>
          </a:prstGeom>
          <a:solidFill>
            <a:srgbClr val="FFF7DF"/>
          </a:solidFill>
          <a:ln w="16510">
            <a:solidFill>
              <a:srgbClr val="C9942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755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대우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755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여론</a:t>
            </a:r>
            <a:endParaRPr lang="en-US" sz="930" dirty="0"/>
          </a:p>
          <a:p>
            <a:pPr marL="0" indent="0" algn="ctr">
              <a:buNone/>
            </a:pP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755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선의를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755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흔듦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3063240" y="3703320"/>
            <a:ext cx="1325880" cy="1325880"/>
          </a:xfrm>
          <a:prstGeom prst="ellipse">
            <a:avLst/>
          </a:prstGeom>
          <a:solidFill>
            <a:srgbClr val="F4EDFF"/>
          </a:solidFill>
          <a:ln w="16510">
            <a:solidFill>
              <a:srgbClr val="7653A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4E3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변이체 AI</a:t>
            </a:r>
            <a:endParaRPr lang="en-US" sz="930" dirty="0"/>
          </a:p>
          <a:p>
            <a:pPr marL="0" indent="0" algn="ctr">
              <a:buNone/>
            </a:pP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4E3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/ 호송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4E3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구분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3886200" y="987552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3F7FF"/>
          </a:solidFill>
          <a:ln w="11430">
            <a:solidFill>
              <a:srgbClr val="4779C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관리국 대응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1D4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무한대 공개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9308592" y="2139696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0FBF8"/>
          </a:solidFill>
          <a:ln w="11430">
            <a:solidFill>
              <a:srgbClr val="2D918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76B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실종 / 탈옥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176B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발생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9308592" y="4297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FF5EC"/>
          </a:solidFill>
          <a:ln w="11430">
            <a:solidFill>
              <a:srgbClr val="D9783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8A4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진실 공개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8A4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결말 분기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5212080" y="5998464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FFF9EA"/>
          </a:solidFill>
          <a:ln w="11430">
            <a:solidFill>
              <a:srgbClr val="C9942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755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영웅화 /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755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구호 의지 변화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1417320" y="43434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8F4FF"/>
          </a:solidFill>
          <a:ln w="11430">
            <a:solidFill>
              <a:srgbClr val="7653A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4E3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구조형 전투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4E3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1417320" y="2139696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3F1"/>
          </a:solidFill>
          <a:ln w="11430">
            <a:solidFill>
              <a:srgbClr val="E070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6F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자아마모도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6F2E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인연 변화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4407408" y="1600200"/>
            <a:ext cx="960120" cy="246888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620">
            <a:solidFill>
              <a:srgbClr val="CDD6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강요/수락/거절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6903720" y="1600200"/>
            <a:ext cx="658368" cy="246888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620">
            <a:solidFill>
              <a:srgbClr val="CDD6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판정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9125712" y="3200400"/>
            <a:ext cx="804672" cy="246888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620">
            <a:solidFill>
              <a:srgbClr val="CDD6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몰이/호송</a:t>
            </a:r>
            <a:endParaRPr lang="en-US" sz="770" dirty="0"/>
          </a:p>
        </p:txBody>
      </p:sp>
      <p:sp>
        <p:nvSpPr>
          <p:cNvPr id="41" name="Text 39"/>
          <p:cNvSpPr/>
          <p:nvPr/>
        </p:nvSpPr>
        <p:spPr>
          <a:xfrm>
            <a:off x="6931152" y="5175504"/>
            <a:ext cx="804672" cy="246888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620">
            <a:solidFill>
              <a:srgbClr val="CDD6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 대상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4370832" y="5230368"/>
            <a:ext cx="1051560" cy="246888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620">
            <a:solidFill>
              <a:srgbClr val="CDD6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구조/방치 선택</a:t>
            </a:r>
            <a:endParaRPr lang="en-US" sz="770" dirty="0"/>
          </a:p>
        </p:txBody>
      </p:sp>
      <p:sp>
        <p:nvSpPr>
          <p:cNvPr id="43" name="Text 41"/>
          <p:cNvSpPr/>
          <p:nvPr/>
        </p:nvSpPr>
        <p:spPr>
          <a:xfrm>
            <a:off x="2121408" y="3200400"/>
            <a:ext cx="1024128" cy="246888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620">
            <a:solidFill>
              <a:srgbClr val="CDD6E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NPC 발생</a:t>
            </a:r>
            <a:endParaRPr lang="en-US" sz="770" dirty="0"/>
          </a:p>
        </p:txBody>
      </p:sp>
      <p:sp>
        <p:nvSpPr>
          <p:cNvPr id="44" name="Text 42"/>
          <p:cNvSpPr/>
          <p:nvPr/>
        </p:nvSpPr>
        <p:spPr>
          <a:xfrm>
            <a:off x="685800" y="6437376"/>
            <a:ext cx="10835640" cy="301752"/>
          </a:xfrm>
          <a:prstGeom prst="roundRect">
            <a:avLst/>
          </a:prstGeom>
          <a:solidFill>
            <a:srgbClr val="EFF4FA"/>
          </a:solidFill>
          <a:ln w="8890">
            <a:solidFill>
              <a:srgbClr val="A9B8C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의도  |  세키로의 “점프”처럼, 선의는 단순 자원이 아니라 여러 시스템이 함께 참조하는 공통 약속이다.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선택이 선의를 바꾸고 → 측정/파동/AI/균열이 그 값을 읽고 → 사건·전투·진실·결말이 다시 플레이어 선택으로 돌아온다.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293896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942</Words>
  <Application>Microsoft Office PowerPoint</Application>
  <PresentationFormat>와이드스크린</PresentationFormat>
  <Paragraphs>219</Paragraphs>
  <Slides>27</Slides>
  <Notes>2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둥근모꼴</vt:lpstr>
      <vt:lpstr>Malgun Gothic</vt:lpstr>
      <vt:lpstr>Malgun Gothic</vt:lpstr>
      <vt:lpstr>Arial</vt:lpstr>
      <vt:lpstr>Office 테마</vt:lpstr>
      <vt:lpstr>오리엔테이션 (OT)</vt:lpstr>
      <vt:lpstr>포트폴리오에서 필요한 시스템</vt:lpstr>
      <vt:lpstr>PowerPoint 프레젠테이션</vt:lpstr>
      <vt:lpstr>[세키로] – 유튜버 강한달</vt:lpstr>
      <vt:lpstr>[세키로] – 유튜버 강한달</vt:lpstr>
      <vt:lpstr>선생님의 분석 : [세키로] – 암살 시스템의 구성요소</vt:lpstr>
      <vt:lpstr>PowerPoint 프레젠테이션</vt:lpstr>
      <vt:lpstr>PowerPoint 프레젠테이션</vt:lpstr>
      <vt:lpstr>PowerPoint 프레젠테이션</vt:lpstr>
      <vt:lpstr>[세키로] – 유튜버 강한달 - 점프</vt:lpstr>
      <vt:lpstr>선생님의 분석 : [세키로] – 유튜버 강한달 - 점프</vt:lpstr>
      <vt:lpstr>[세키로] – 유튜버 강한달 – 점프 응용</vt:lpstr>
      <vt:lpstr>게임에서 ‘시스템‘상 중요한 3가지</vt:lpstr>
      <vt:lpstr>PowerPoint 프레젠테이션</vt:lpstr>
      <vt:lpstr>재미</vt:lpstr>
      <vt:lpstr>학습</vt:lpstr>
      <vt:lpstr>보상 - 플레이의 동기부여</vt:lpstr>
      <vt:lpstr>PowerPoint 프레젠테이션</vt:lpstr>
      <vt:lpstr>게임 플레이의 메커니즘</vt:lpstr>
      <vt:lpstr>PowerPoint 프레젠테이션</vt:lpstr>
      <vt:lpstr>시스템 볼륨 맵</vt:lpstr>
      <vt:lpstr>내 게임의 시스템 볼륨 맵</vt:lpstr>
      <vt:lpstr>내 게임의 시스템 볼륨 맵</vt:lpstr>
      <vt:lpstr>내 게임의 시스템 볼륨 맵</vt:lpstr>
      <vt:lpstr>시스템 볼륨 맵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14</cp:revision>
  <dcterms:created xsi:type="dcterms:W3CDTF">2026-08-12T04:46:18Z</dcterms:created>
  <dcterms:modified xsi:type="dcterms:W3CDTF">2026-08-13T04:46:21Z</dcterms:modified>
</cp:coreProperties>
</file>