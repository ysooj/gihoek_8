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84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04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58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83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68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39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95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37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79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051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87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1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50D29-966D-4240-A4AB-1606568F7130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18443-93EC-4D0D-856E-E4B816A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417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우리가 발전하기 위해</a:t>
            </a:r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0832" y="1390628"/>
            <a:ext cx="7690336" cy="522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75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3D </a:t>
            </a:r>
            <a:r>
              <a:rPr lang="ko-KR" altLang="en-US" smtClean="0"/>
              <a:t>모델링 관련</a:t>
            </a:r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7733" y="2134133"/>
            <a:ext cx="4896533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5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시스템을 만드는 게 힘든 이유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86154" y="1825624"/>
            <a:ext cx="11019692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취업하면</a:t>
            </a:r>
            <a:r>
              <a:rPr lang="en-US" altLang="ko-KR" smtClean="0"/>
              <a:t>, </a:t>
            </a:r>
            <a:r>
              <a:rPr lang="ko-KR" altLang="en-US" smtClean="0"/>
              <a:t>이미 만들어진 시스템이나 콘텐츠가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 시스템과 콘텐츠간의 유기성</a:t>
            </a:r>
            <a:r>
              <a:rPr lang="en-US" altLang="ko-KR" smtClean="0"/>
              <a:t>(</a:t>
            </a:r>
            <a:r>
              <a:rPr lang="ko-KR" altLang="en-US" smtClean="0"/>
              <a:t>관계 형성</a:t>
            </a:r>
            <a:r>
              <a:rPr lang="en-US" altLang="ko-KR" smtClean="0"/>
              <a:t>)</a:t>
            </a:r>
            <a:r>
              <a:rPr lang="ko-KR" altLang="en-US" smtClean="0"/>
              <a:t>이 있을 것</a:t>
            </a:r>
            <a:endParaRPr lang="en-US" altLang="ko-KR" smtClean="0"/>
          </a:p>
          <a:p>
            <a:r>
              <a:rPr lang="ko-KR" altLang="en-US" smtClean="0"/>
              <a:t>그 시스템에 대한 이해를 동반해서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우리 게임에 맞게 </a:t>
            </a:r>
            <a:r>
              <a:rPr lang="en-US" altLang="ko-KR" smtClean="0"/>
              <a:t>k</a:t>
            </a:r>
            <a:r>
              <a:rPr lang="ko-KR" altLang="en-US" smtClean="0"/>
              <a:t>라는 시스템을 넣어보라는 업무를 맡게 된다면</a:t>
            </a:r>
            <a:r>
              <a:rPr lang="en-US" altLang="ko-KR" smtClean="0"/>
              <a:t>?</a:t>
            </a:r>
          </a:p>
          <a:p>
            <a:r>
              <a:rPr lang="ko-KR" altLang="en-US" smtClean="0"/>
              <a:t>기존의 시스템의 설계 의도</a:t>
            </a:r>
            <a:r>
              <a:rPr lang="en-US" altLang="ko-KR" smtClean="0"/>
              <a:t>, </a:t>
            </a:r>
            <a:r>
              <a:rPr lang="ko-KR" altLang="en-US" smtClean="0"/>
              <a:t>방향성에 대해 이해하는 데 가장 시간을 많이 투자해야 할 것이다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다른 사람이 설계한 걸 내껄로 만드는</a:t>
            </a:r>
            <a:r>
              <a:rPr lang="en-US" altLang="ko-KR" smtClean="0"/>
              <a:t>(</a:t>
            </a:r>
            <a:r>
              <a:rPr lang="ko-KR" altLang="en-US" smtClean="0"/>
              <a:t>충분한 이해</a:t>
            </a:r>
            <a:r>
              <a:rPr lang="en-US" altLang="ko-KR" smtClean="0"/>
              <a:t>)</a:t>
            </a:r>
            <a:r>
              <a:rPr lang="ko-KR" altLang="en-US" smtClean="0"/>
              <a:t> 과정이 있어야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제대로된 시스템을 만들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자신의 것으로 만들고</a:t>
            </a:r>
            <a:r>
              <a:rPr lang="en-US" altLang="ko-KR" smtClean="0"/>
              <a:t>, </a:t>
            </a:r>
            <a:r>
              <a:rPr lang="ko-KR" altLang="en-US" smtClean="0"/>
              <a:t>새로운 시스템을 설계해야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637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새로운 시스템을 만들 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생태계를 교란시키면 안 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생태계 교란종이 되면 시스템 디자이너로서 실격</a:t>
            </a:r>
            <a:r>
              <a:rPr lang="en-US" altLang="ko-KR" smtClean="0"/>
              <a:t>!</a:t>
            </a:r>
          </a:p>
          <a:p>
            <a:pPr>
              <a:lnSpc>
                <a:spcPct val="150000"/>
              </a:lnSpc>
            </a:pP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과제 </a:t>
            </a:r>
            <a:r>
              <a:rPr lang="en-US" altLang="ko-KR" smtClean="0"/>
              <a:t>: </a:t>
            </a:r>
            <a:r>
              <a:rPr lang="ko-KR" altLang="en-US" smtClean="0"/>
              <a:t>특정 게임의 시스템을 역기획</a:t>
            </a:r>
            <a:r>
              <a:rPr lang="en-US" altLang="ko-KR" smtClean="0"/>
              <a:t>(</a:t>
            </a:r>
            <a:r>
              <a:rPr lang="ko-KR" altLang="en-US" smtClean="0"/>
              <a:t>분석</a:t>
            </a:r>
            <a:r>
              <a:rPr lang="en-US" altLang="ko-KR" smtClean="0"/>
              <a:t>)</a:t>
            </a:r>
            <a:r>
              <a:rPr lang="ko-KR" altLang="en-US" smtClean="0"/>
              <a:t>하는 과제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회사에 따라 이런 과제를 줄 때가 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 smtClean="0"/>
              <a:t>내가 만든 시스템이 </a:t>
            </a:r>
            <a:r>
              <a:rPr lang="en-US" altLang="ko-KR" smtClean="0"/>
              <a:t>‘</a:t>
            </a:r>
            <a:r>
              <a:rPr lang="ko-KR" altLang="en-US" b="1" smtClean="0"/>
              <a:t>기능</a:t>
            </a:r>
            <a:r>
              <a:rPr lang="ko-KR" altLang="en-US" smtClean="0"/>
              <a:t>의 오류가 없고</a:t>
            </a:r>
            <a:r>
              <a:rPr lang="en-US" altLang="ko-KR" smtClean="0"/>
              <a:t>‘, ‘</a:t>
            </a:r>
            <a:r>
              <a:rPr lang="ko-KR" altLang="en-US" b="1" smtClean="0"/>
              <a:t>효과</a:t>
            </a:r>
            <a:r>
              <a:rPr lang="ko-KR" altLang="en-US" smtClean="0"/>
              <a:t>적이고</a:t>
            </a:r>
            <a:r>
              <a:rPr lang="en-US" altLang="ko-KR" smtClean="0"/>
              <a:t>’, ‘</a:t>
            </a:r>
            <a:r>
              <a:rPr lang="ko-KR" altLang="en-US" b="1" smtClean="0"/>
              <a:t>재미</a:t>
            </a:r>
            <a:r>
              <a:rPr lang="ko-KR" altLang="en-US" smtClean="0"/>
              <a:t>가 있으면</a:t>
            </a:r>
            <a:r>
              <a:rPr lang="en-US" altLang="ko-KR" smtClean="0"/>
              <a:t>’, </a:t>
            </a:r>
            <a:r>
              <a:rPr lang="ko-KR" altLang="en-US" u="sng" smtClean="0"/>
              <a:t>시스템 기획 문서는 완성</a:t>
            </a:r>
            <a:r>
              <a:rPr lang="ko-KR" altLang="en-US" smtClean="0"/>
              <a:t>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307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예시 게임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워록</a:t>
            </a:r>
            <a:r>
              <a:rPr lang="en-US" altLang="ko-KR" smtClean="0"/>
              <a:t>] – </a:t>
            </a:r>
            <a:r>
              <a:rPr lang="ko-KR" altLang="en-US" smtClean="0"/>
              <a:t>넥슨 </a:t>
            </a:r>
            <a:r>
              <a:rPr lang="en-US" altLang="ko-KR" smtClean="0"/>
              <a:t>/ </a:t>
            </a:r>
            <a:r>
              <a:rPr lang="en-US" altLang="ko-KR" smtClean="0"/>
              <a:t>[</a:t>
            </a:r>
            <a:r>
              <a:rPr lang="ko-KR" altLang="en-US" smtClean="0"/>
              <a:t>배틀그라운드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이 </a:t>
            </a:r>
            <a:r>
              <a:rPr lang="en-US" altLang="ko-KR" smtClean="0"/>
              <a:t>2</a:t>
            </a:r>
            <a:r>
              <a:rPr lang="ko-KR" altLang="en-US" smtClean="0"/>
              <a:t>개의 게임을 통해 시스템적으로 기가막힌 부분을 살펴보자</a:t>
            </a:r>
            <a:r>
              <a:rPr lang="en-US" altLang="ko-KR"/>
              <a:t>.</a:t>
            </a:r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008332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워록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기술적으로 게임을 잘 만들었지만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맵이 너무 넓은데 사람이 적어서</a:t>
            </a:r>
            <a:r>
              <a:rPr lang="en-US" altLang="ko-KR" smtClean="0"/>
              <a:t>(8:8/16:16) </a:t>
            </a:r>
            <a:r>
              <a:rPr lang="ko-KR" altLang="en-US"/>
              <a:t>적</a:t>
            </a:r>
            <a:r>
              <a:rPr lang="ko-KR" altLang="en-US" smtClean="0"/>
              <a:t>을 못 만난다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맵이 넓은 이유 </a:t>
            </a:r>
            <a:r>
              <a:rPr lang="en-US" altLang="ko-KR" smtClean="0"/>
              <a:t>: </a:t>
            </a:r>
            <a:r>
              <a:rPr lang="ko-KR" altLang="en-US" smtClean="0"/>
              <a:t>탱크</a:t>
            </a:r>
            <a:r>
              <a:rPr lang="en-US" altLang="ko-KR" smtClean="0"/>
              <a:t>, </a:t>
            </a:r>
            <a:r>
              <a:rPr lang="ko-KR" altLang="en-US" smtClean="0"/>
              <a:t>비행기</a:t>
            </a:r>
            <a:r>
              <a:rPr lang="en-US" altLang="ko-KR" smtClean="0"/>
              <a:t>, </a:t>
            </a:r>
            <a:r>
              <a:rPr lang="ko-KR" altLang="en-US" smtClean="0"/>
              <a:t>헬기 등을 운용하기 때문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팀 플레이가 어렵다</a:t>
            </a:r>
            <a:r>
              <a:rPr lang="en-US" altLang="ko-KR" smtClean="0"/>
              <a:t>. </a:t>
            </a:r>
            <a:r>
              <a:rPr lang="ko-KR" altLang="en-US" smtClean="0"/>
              <a:t>누구는 총을 쏘고 누구는 비행기를 몰고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FPS</a:t>
            </a:r>
            <a:r>
              <a:rPr lang="ko-KR" altLang="en-US" smtClean="0"/>
              <a:t>나 </a:t>
            </a:r>
            <a:r>
              <a:rPr lang="en-US" altLang="ko-KR" smtClean="0"/>
              <a:t>TPS </a:t>
            </a:r>
            <a:r>
              <a:rPr lang="ko-KR" altLang="en-US" smtClean="0"/>
              <a:t>게임은 빠른 승부가 키 포인트인데</a:t>
            </a:r>
            <a:r>
              <a:rPr lang="en-US" altLang="ko-KR" smtClean="0"/>
              <a:t>, [</a:t>
            </a:r>
            <a:r>
              <a:rPr lang="ko-KR" altLang="en-US" smtClean="0"/>
              <a:t>워록</a:t>
            </a:r>
            <a:r>
              <a:rPr lang="en-US" altLang="ko-KR" smtClean="0"/>
              <a:t>]</a:t>
            </a:r>
            <a:r>
              <a:rPr lang="ko-KR" altLang="en-US" smtClean="0"/>
              <a:t>은 그게 되지 않았다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355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워록</a:t>
            </a:r>
            <a:r>
              <a:rPr lang="en-US" altLang="ko-KR" smtClean="0"/>
              <a:t>] – </a:t>
            </a:r>
            <a:r>
              <a:rPr lang="ko-KR" altLang="en-US" smtClean="0"/>
              <a:t>아직까지 운영되고 있는 이유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실패한 이유를 찾고</a:t>
            </a:r>
            <a:r>
              <a:rPr lang="en-US" altLang="ko-KR" smtClean="0"/>
              <a:t>, </a:t>
            </a:r>
            <a:r>
              <a:rPr lang="ko-KR" altLang="en-US" smtClean="0"/>
              <a:t>그걸 해결하려고 하고 있기 때문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다른 게임과의 차별성 </a:t>
            </a:r>
            <a:r>
              <a:rPr lang="en-US" altLang="ko-KR" smtClean="0"/>
              <a:t>: </a:t>
            </a:r>
            <a:r>
              <a:rPr lang="ko-KR" altLang="en-US" smtClean="0"/>
              <a:t>헬기</a:t>
            </a:r>
            <a:r>
              <a:rPr lang="en-US" altLang="ko-KR" smtClean="0"/>
              <a:t>, </a:t>
            </a:r>
            <a:r>
              <a:rPr lang="ko-KR" altLang="en-US" smtClean="0"/>
              <a:t>비행기</a:t>
            </a:r>
            <a:r>
              <a:rPr lang="en-US" altLang="ko-KR" smtClean="0"/>
              <a:t>, </a:t>
            </a:r>
            <a:r>
              <a:rPr lang="ko-KR" altLang="en-US" smtClean="0"/>
              <a:t>탱크 운용 가능</a:t>
            </a:r>
            <a:endParaRPr lang="en-US" altLang="ko-KR" smtClean="0"/>
          </a:p>
          <a:p>
            <a:r>
              <a:rPr lang="ko-KR" altLang="en-US" smtClean="0"/>
              <a:t>실패 요인 해결 </a:t>
            </a:r>
            <a:r>
              <a:rPr lang="en-US" altLang="ko-KR" smtClean="0"/>
              <a:t>: </a:t>
            </a:r>
            <a:r>
              <a:rPr lang="ko-KR" altLang="en-US" smtClean="0"/>
              <a:t>맵 크기 대폭 감소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75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배틀그라운드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워록</a:t>
            </a:r>
            <a:r>
              <a:rPr lang="en-US" altLang="ko-KR" smtClean="0"/>
              <a:t>]</a:t>
            </a:r>
            <a:r>
              <a:rPr lang="ko-KR" altLang="en-US" smtClean="0"/>
              <a:t>보다 훨씬 맵이 넓은데 성공했다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기가막힌 시스템인 </a:t>
            </a:r>
            <a:r>
              <a:rPr lang="en-US" altLang="ko-KR" smtClean="0"/>
              <a:t>‘</a:t>
            </a:r>
            <a:r>
              <a:rPr lang="ko-KR" altLang="en-US" smtClean="0"/>
              <a:t>전자기장</a:t>
            </a:r>
            <a:r>
              <a:rPr lang="en-US" altLang="ko-KR" smtClean="0"/>
              <a:t>‘ </a:t>
            </a:r>
            <a:r>
              <a:rPr lang="ko-KR" altLang="en-US" smtClean="0"/>
              <a:t>때문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전자기장 시스템으로 인해</a:t>
            </a:r>
            <a:r>
              <a:rPr lang="en-US" altLang="ko-KR" smtClean="0"/>
              <a:t>, </a:t>
            </a:r>
            <a:r>
              <a:rPr lang="ko-KR" altLang="en-US" smtClean="0"/>
              <a:t>개발자가 설계한 시간 안에 승부가 나게 된다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569" y="3681246"/>
            <a:ext cx="4384431" cy="317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780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최고의 기대작 </a:t>
            </a:r>
            <a:r>
              <a:rPr lang="en-US" altLang="ko-KR" smtClean="0"/>
              <a:t>GTA 6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모든 건물의 실내에 들어갈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이게 플레이어에게 극한의 자유도를 줄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이런 시뮬레이션 성향의 게임에서 어떤 독특한 시스템이 더 있을 지 기대 된다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031" y="3555839"/>
            <a:ext cx="7197969" cy="330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71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smtClean="0"/>
              <a:t>한국에서 잘 만들어진 시스템을 갖춘 게임</a:t>
            </a:r>
            <a:endParaRPr lang="ko-KR" altLang="en-US" sz="40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7225" y="1825625"/>
            <a:ext cx="10877550" cy="4351338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블레이드 앤 소울</a:t>
            </a:r>
            <a:r>
              <a:rPr lang="en-US" altLang="ko-KR" smtClean="0"/>
              <a:t>] - </a:t>
            </a:r>
            <a:r>
              <a:rPr lang="ko-KR" altLang="en-US" smtClean="0"/>
              <a:t>합격기</a:t>
            </a:r>
            <a:endParaRPr lang="en-US" altLang="ko-KR" smtClean="0"/>
          </a:p>
          <a:p>
            <a:r>
              <a:rPr lang="ko-KR" altLang="en-US" smtClean="0"/>
              <a:t>무협 </a:t>
            </a:r>
            <a:r>
              <a:rPr lang="en-US" altLang="ko-KR" smtClean="0"/>
              <a:t>– </a:t>
            </a:r>
            <a:r>
              <a:rPr lang="ko-KR" altLang="en-US" smtClean="0"/>
              <a:t>롤 플레잉</a:t>
            </a:r>
            <a:r>
              <a:rPr lang="en-US" altLang="ko-KR" smtClean="0"/>
              <a:t>(</a:t>
            </a:r>
            <a:r>
              <a:rPr lang="ko-KR" altLang="en-US" smtClean="0"/>
              <a:t>역할</a:t>
            </a:r>
            <a:r>
              <a:rPr lang="en-US" altLang="ko-KR" smtClean="0"/>
              <a:t>)</a:t>
            </a:r>
            <a:r>
              <a:rPr lang="ko-KR" altLang="en-US" smtClean="0"/>
              <a:t>이 성립되지 </a:t>
            </a:r>
            <a:r>
              <a:rPr lang="en-US" altLang="ko-KR" smtClean="0"/>
              <a:t>x</a:t>
            </a:r>
            <a:br>
              <a:rPr lang="en-US" altLang="ko-KR" smtClean="0"/>
            </a:br>
            <a:r>
              <a:rPr lang="en-US" altLang="ko-KR" smtClean="0"/>
              <a:t>why? </a:t>
            </a:r>
            <a:r>
              <a:rPr lang="ko-KR" altLang="en-US" smtClean="0"/>
              <a:t>무협에서 주인공은</a:t>
            </a:r>
            <a:r>
              <a:rPr lang="en-US" altLang="ko-KR" smtClean="0"/>
              <a:t> </a:t>
            </a:r>
            <a:r>
              <a:rPr lang="ko-KR" altLang="en-US" smtClean="0"/>
              <a:t>천상천하 유아독존</a:t>
            </a:r>
            <a:r>
              <a:rPr lang="en-US" altLang="ko-KR" smtClean="0"/>
              <a:t>. </a:t>
            </a:r>
            <a:r>
              <a:rPr lang="ko-KR" altLang="en-US" smtClean="0"/>
              <a:t>나 혼자 잘나면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서양의 </a:t>
            </a:r>
            <a:r>
              <a:rPr lang="en-US" altLang="ko-KR" smtClean="0"/>
              <a:t>‘</a:t>
            </a:r>
            <a:r>
              <a:rPr lang="ko-KR" altLang="en-US" smtClean="0"/>
              <a:t>탱커 </a:t>
            </a:r>
            <a:r>
              <a:rPr lang="en-US" altLang="ko-KR" smtClean="0"/>
              <a:t>+ </a:t>
            </a:r>
            <a:r>
              <a:rPr lang="ko-KR" altLang="en-US" smtClean="0"/>
              <a:t>힐러 </a:t>
            </a:r>
            <a:r>
              <a:rPr lang="en-US" altLang="ko-KR" smtClean="0"/>
              <a:t>+ </a:t>
            </a:r>
            <a:r>
              <a:rPr lang="ko-KR" altLang="en-US" smtClean="0"/>
              <a:t>딜러</a:t>
            </a:r>
            <a:r>
              <a:rPr lang="en-US" altLang="ko-KR" smtClean="0"/>
              <a:t>’ </a:t>
            </a:r>
            <a:r>
              <a:rPr lang="ko-KR" altLang="en-US" smtClean="0"/>
              <a:t>구조가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 smtClean="0"/>
              <a:t>무협에서도 수십년 째 이어지는 중</a:t>
            </a:r>
            <a:endParaRPr lang="en-US" altLang="ko-KR" smtClean="0"/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239" y="3254749"/>
            <a:ext cx="4576762" cy="360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75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블레이드 앤 소울</a:t>
            </a:r>
            <a:r>
              <a:rPr lang="en-US" altLang="ko-KR" smtClean="0"/>
              <a:t>]</a:t>
            </a:r>
            <a:r>
              <a:rPr lang="ko-KR" altLang="en-US" smtClean="0"/>
              <a:t>의 합격기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3046" y="1825624"/>
            <a:ext cx="10925908" cy="5032375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파티원들과 함께 하는 전투에서 몬스터에게 상태이상을 걸 때</a:t>
            </a:r>
            <a:endParaRPr lang="en-US" altLang="ko-KR" smtClean="0"/>
          </a:p>
          <a:p>
            <a:r>
              <a:rPr lang="ko-KR" altLang="en-US" smtClean="0"/>
              <a:t>상태이상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mtClean="0"/>
              <a:t>1</a:t>
            </a:r>
            <a:r>
              <a:rPr lang="ko-KR" altLang="en-US" smtClean="0"/>
              <a:t>단계 </a:t>
            </a:r>
            <a:r>
              <a:rPr lang="en-US" altLang="ko-KR" smtClean="0"/>
              <a:t>:</a:t>
            </a:r>
            <a:r>
              <a:rPr lang="ko-KR" altLang="en-US" smtClean="0"/>
              <a:t> 아무 일도 일어나지 </a:t>
            </a:r>
            <a:r>
              <a:rPr lang="en-US" altLang="ko-KR" smtClean="0"/>
              <a:t>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smtClean="0"/>
              <a:t>2</a:t>
            </a:r>
            <a:r>
              <a:rPr lang="ko-KR" altLang="en-US" smtClean="0"/>
              <a:t>단계 </a:t>
            </a:r>
            <a:r>
              <a:rPr lang="en-US" altLang="ko-KR" smtClean="0"/>
              <a:t>: </a:t>
            </a:r>
            <a:r>
              <a:rPr lang="ko-KR" altLang="en-US" smtClean="0"/>
              <a:t>효과 부여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mtClean="0"/>
              <a:t>3</a:t>
            </a:r>
            <a:r>
              <a:rPr lang="ko-KR" altLang="en-US" smtClean="0"/>
              <a:t>단계 </a:t>
            </a:r>
            <a:r>
              <a:rPr lang="en-US" altLang="ko-KR" smtClean="0"/>
              <a:t>: </a:t>
            </a:r>
            <a:r>
              <a:rPr lang="ko-KR" altLang="en-US" smtClean="0"/>
              <a:t>공격력 상승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mtClean="0"/>
              <a:t>4</a:t>
            </a:r>
            <a:r>
              <a:rPr lang="ko-KR" altLang="en-US" smtClean="0"/>
              <a:t>단계 </a:t>
            </a:r>
            <a:r>
              <a:rPr lang="en-US" altLang="ko-KR" smtClean="0"/>
              <a:t>: </a:t>
            </a:r>
            <a:r>
              <a:rPr lang="ko-KR" altLang="en-US" smtClean="0"/>
              <a:t>공격력 최대 상승</a:t>
            </a:r>
            <a:endParaRPr lang="en-US" altLang="ko-KR" smtClean="0"/>
          </a:p>
          <a:p>
            <a:pPr lvl="1"/>
            <a:r>
              <a:rPr lang="ko-KR" altLang="en-US" smtClean="0"/>
              <a:t>이를 통해 보스 공략이 매우 쉬워진다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모든 직업</a:t>
            </a:r>
            <a:r>
              <a:rPr lang="en-US" altLang="ko-KR" smtClean="0"/>
              <a:t>(</a:t>
            </a:r>
            <a:r>
              <a:rPr lang="ko-KR" altLang="en-US" smtClean="0"/>
              <a:t>클래스</a:t>
            </a:r>
            <a:r>
              <a:rPr lang="en-US" altLang="ko-KR" smtClean="0"/>
              <a:t>)</a:t>
            </a:r>
            <a:r>
              <a:rPr lang="ko-KR" altLang="en-US" smtClean="0"/>
              <a:t>가 모든 종류의 상태 이상 스킬을 각각 가진다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개발자가 지정한 시간 내에</a:t>
            </a:r>
            <a:r>
              <a:rPr lang="en-US" altLang="ko-KR" smtClean="0"/>
              <a:t>, </a:t>
            </a:r>
            <a:r>
              <a:rPr lang="ko-KR" altLang="en-US" smtClean="0"/>
              <a:t>첫 번째 파티원이 사용한 상태이상 종류와 같은 상태이상 스킬을 다른 파티원들이 사용하면 보스 공략에 유리해진다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다른 종류의 상태이상 스킬을 사용하면 효과는 바로 취소된다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065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합격기같은 시스템이 잘 만든 이유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약속된 시간에서 약속된 순서대로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역할</a:t>
            </a:r>
            <a:r>
              <a:rPr lang="en-US" altLang="ko-KR" smtClean="0"/>
              <a:t>(Role)</a:t>
            </a:r>
            <a:r>
              <a:rPr lang="ko-KR" altLang="en-US" smtClean="0"/>
              <a:t>을 만드는 게 매우 중요하다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무협이라는 장르에서 선생님은 </a:t>
            </a:r>
            <a:r>
              <a:rPr lang="en-US" altLang="ko-KR" smtClean="0"/>
              <a:t>‘</a:t>
            </a:r>
            <a:r>
              <a:rPr lang="ko-KR" altLang="en-US" smtClean="0"/>
              <a:t>진법</a:t>
            </a:r>
            <a:r>
              <a:rPr lang="en-US" altLang="ko-KR" smtClean="0"/>
              <a:t>’</a:t>
            </a:r>
            <a:r>
              <a:rPr lang="ko-KR" altLang="en-US" smtClean="0"/>
              <a:t>이 하나의 퍼즐이고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en-US" altLang="ko-KR" smtClean="0"/>
              <a:t>‘</a:t>
            </a:r>
            <a:r>
              <a:rPr lang="ko-KR" altLang="en-US" smtClean="0"/>
              <a:t>합격기</a:t>
            </a:r>
            <a:r>
              <a:rPr lang="en-US" altLang="ko-KR" smtClean="0"/>
              <a:t>’</a:t>
            </a:r>
            <a:r>
              <a:rPr lang="ko-KR" altLang="en-US" smtClean="0"/>
              <a:t>도 하나의 퍼즐로서 매우 중요하다고 생각하신다고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언젠가는 또 무협 장르의 게임을 만들 것이기 때문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이런</a:t>
            </a:r>
            <a:r>
              <a:rPr lang="en-US" altLang="ko-KR"/>
              <a:t> </a:t>
            </a:r>
            <a:r>
              <a:rPr lang="ko-KR" altLang="en-US" smtClean="0"/>
              <a:t>퍼즐들을 하나의 게임에서 일회용으로 쓰는 데서 끝내지 않고</a:t>
            </a:r>
            <a:r>
              <a:rPr lang="en-US" altLang="ko-KR" smtClean="0"/>
              <a:t>, </a:t>
            </a:r>
            <a:r>
              <a:rPr lang="ko-KR" altLang="en-US" smtClean="0"/>
              <a:t>다른 게임에서도 충분히 활용할 수 있기 때문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964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1" y="30791"/>
            <a:ext cx="9372598" cy="679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13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중국의 </a:t>
            </a:r>
            <a:r>
              <a:rPr lang="en-US" altLang="ko-KR" smtClean="0"/>
              <a:t>[</a:t>
            </a:r>
            <a:r>
              <a:rPr lang="ko-KR" altLang="en-US" smtClean="0"/>
              <a:t>팬텀 블레이드 제로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무협다운 플레이 시스템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등장</a:t>
            </a:r>
            <a:r>
              <a:rPr lang="en-US" altLang="ko-KR" smtClean="0"/>
              <a:t>]</a:t>
            </a:r>
            <a:endParaRPr lang="en-US" altLang="ko-KR"/>
          </a:p>
          <a:p>
            <a:r>
              <a:rPr lang="ko-KR" altLang="en-US" smtClean="0"/>
              <a:t>몬스터들이 주인공을 진법의 형태</a:t>
            </a:r>
            <a:r>
              <a:rPr lang="en-US" altLang="ko-KR" smtClean="0"/>
              <a:t>(</a:t>
            </a:r>
            <a:r>
              <a:rPr lang="ko-KR" altLang="en-US" smtClean="0"/>
              <a:t>북두칠성</a:t>
            </a:r>
            <a:r>
              <a:rPr lang="en-US" altLang="ko-KR" smtClean="0"/>
              <a:t>)</a:t>
            </a:r>
            <a:r>
              <a:rPr lang="ko-KR" altLang="en-US" smtClean="0"/>
              <a:t>로 둘러쌈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패턴 </a:t>
            </a:r>
            <a:r>
              <a:rPr lang="en-US" altLang="ko-KR" smtClean="0"/>
              <a:t>1]</a:t>
            </a:r>
          </a:p>
          <a:p>
            <a:r>
              <a:rPr lang="en-US" altLang="ko-KR" smtClean="0"/>
              <a:t>7</a:t>
            </a:r>
            <a:r>
              <a:rPr lang="ko-KR" altLang="en-US" smtClean="0"/>
              <a:t>명의 적들이 자신의 시선 방향에서 직선으로 플레이어 캐릭터에게 검진을 뻗음</a:t>
            </a:r>
            <a:endParaRPr lang="en-US" altLang="ko-KR" smtClean="0"/>
          </a:p>
          <a:p>
            <a:r>
              <a:rPr lang="ko-KR" altLang="en-US" smtClean="0"/>
              <a:t>타이밍 맞게 점프해서 칼끝 위에 올라타면 보스를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공격할 타이밍이 생긴다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동양에서 </a:t>
            </a:r>
            <a:r>
              <a:rPr lang="en-US" altLang="ko-KR" smtClean="0"/>
              <a:t>‘</a:t>
            </a:r>
            <a:r>
              <a:rPr lang="ko-KR" altLang="en-US" b="1" smtClean="0"/>
              <a:t>정</a:t>
            </a:r>
            <a:r>
              <a:rPr lang="en-US" altLang="ko-KR" b="1" smtClean="0"/>
              <a:t>, </a:t>
            </a:r>
            <a:r>
              <a:rPr lang="ko-KR" altLang="en-US" b="1" smtClean="0"/>
              <a:t>반</a:t>
            </a:r>
            <a:r>
              <a:rPr lang="en-US" altLang="ko-KR" b="1" smtClean="0"/>
              <a:t>, </a:t>
            </a:r>
            <a:r>
              <a:rPr lang="ko-KR" altLang="en-US" b="1" smtClean="0"/>
              <a:t>합</a:t>
            </a:r>
            <a:r>
              <a:rPr lang="en-US" altLang="ko-KR" smtClean="0"/>
              <a:t>’</a:t>
            </a:r>
            <a:r>
              <a:rPr lang="ko-KR" altLang="en-US" smtClean="0"/>
              <a:t>은 매우 중요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476" y="4548719"/>
            <a:ext cx="2602523" cy="230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43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6492" y="1825625"/>
            <a:ext cx="1087901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패턴</a:t>
            </a:r>
            <a:r>
              <a:rPr lang="en-US" altLang="ko-KR" smtClean="0"/>
              <a:t>2]</a:t>
            </a:r>
          </a:p>
          <a:p>
            <a:r>
              <a:rPr lang="ko-KR" altLang="en-US" smtClean="0"/>
              <a:t>플레이어 캐릭터가 공략해야 하는 내용을</a:t>
            </a:r>
            <a:r>
              <a:rPr lang="en-US" altLang="ko-KR" smtClean="0"/>
              <a:t>, </a:t>
            </a:r>
            <a:r>
              <a:rPr lang="ko-KR" altLang="en-US" smtClean="0"/>
              <a:t>보스가 그 행위를 함으로 인해서</a:t>
            </a:r>
            <a:r>
              <a:rPr lang="en-US" altLang="ko-KR" smtClean="0"/>
              <a:t>, </a:t>
            </a:r>
            <a:r>
              <a:rPr lang="ko-KR" altLang="en-US" smtClean="0"/>
              <a:t>플레이어에게 보스 공략법을 플레이어에게 알려준 것</a:t>
            </a:r>
            <a:endParaRPr lang="en-US" altLang="ko-KR" smtClean="0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패턴</a:t>
            </a:r>
            <a:r>
              <a:rPr lang="en-US" altLang="ko-KR" smtClean="0"/>
              <a:t>3]</a:t>
            </a:r>
          </a:p>
          <a:p>
            <a:r>
              <a:rPr lang="ko-KR" altLang="en-US" smtClean="0"/>
              <a:t>위치 초기화 </a:t>
            </a:r>
            <a:r>
              <a:rPr lang="en-US" altLang="ko-KR" smtClean="0"/>
              <a:t>; </a:t>
            </a:r>
            <a:r>
              <a:rPr lang="ko-KR" altLang="en-US" smtClean="0"/>
              <a:t>진법들은 위치 잡기가 어렵기 때문</a:t>
            </a:r>
            <a:endParaRPr lang="en-US" altLang="ko-KR" smtClean="0"/>
          </a:p>
          <a:p>
            <a:r>
              <a:rPr lang="ko-KR" altLang="en-US" smtClean="0"/>
              <a:t>진법을 행하기 위한 위치로 이동하는 것</a:t>
            </a:r>
            <a:endParaRPr lang="en-US" altLang="ko-KR" smtClean="0"/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어떤 상황에서도 스킬이 써지게 하기 위한 설계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중국의 </a:t>
            </a:r>
            <a:r>
              <a:rPr lang="en-US" altLang="ko-KR" smtClean="0"/>
              <a:t>[</a:t>
            </a:r>
            <a:r>
              <a:rPr lang="ko-KR" altLang="en-US" smtClean="0"/>
              <a:t>팬텀 블레이드 제로</a:t>
            </a:r>
            <a:r>
              <a:rPr lang="en-US" altLang="ko-KR" smtClean="0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131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54" y="141920"/>
            <a:ext cx="10410092" cy="657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348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1015" y="1825624"/>
            <a:ext cx="1176997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패턴</a:t>
            </a:r>
            <a:r>
              <a:rPr lang="en-US" altLang="ko-KR"/>
              <a:t>4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보스가 </a:t>
            </a:r>
            <a:r>
              <a:rPr lang="en-US" altLang="ko-KR" smtClean="0"/>
              <a:t>6</a:t>
            </a:r>
            <a:r>
              <a:rPr lang="ko-KR" altLang="en-US" smtClean="0"/>
              <a:t>명의 부하들을 차례로 밟으면서 플레이어 캐릭터를 공격한다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공략 </a:t>
            </a:r>
            <a:r>
              <a:rPr lang="en-US" altLang="ko-KR" smtClean="0"/>
              <a:t>: </a:t>
            </a:r>
            <a:r>
              <a:rPr lang="ko-KR" altLang="en-US" smtClean="0"/>
              <a:t>보스가 다 움직이기 전에 먼저 가서 때리면 보스 공격 취소</a:t>
            </a:r>
            <a:endParaRPr lang="en-US" altLang="ko-KR" smtClean="0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패턴</a:t>
            </a:r>
            <a:r>
              <a:rPr lang="en-US" altLang="ko-KR" smtClean="0"/>
              <a:t>5]</a:t>
            </a:r>
          </a:p>
          <a:p>
            <a:r>
              <a:rPr lang="ko-KR" altLang="en-US" smtClean="0"/>
              <a:t>부하들은 </a:t>
            </a:r>
            <a:r>
              <a:rPr lang="en-US" altLang="ko-KR" smtClean="0"/>
              <a:t>2</a:t>
            </a:r>
            <a:r>
              <a:rPr lang="ko-KR" altLang="en-US" smtClean="0"/>
              <a:t>명 씩 </a:t>
            </a:r>
            <a:r>
              <a:rPr lang="en-US" altLang="ko-KR" smtClean="0"/>
              <a:t>3</a:t>
            </a:r>
            <a:r>
              <a:rPr lang="ko-KR" altLang="en-US" smtClean="0"/>
              <a:t>개의 그룹으로 이루어져있고</a:t>
            </a:r>
            <a:r>
              <a:rPr lang="en-US" altLang="ko-KR" smtClean="0"/>
              <a:t>, </a:t>
            </a:r>
            <a:r>
              <a:rPr lang="ko-KR" altLang="en-US" smtClean="0"/>
              <a:t>각 그룹의 인원 수가 </a:t>
            </a:r>
            <a:r>
              <a:rPr lang="en-US" altLang="ko-KR" smtClean="0"/>
              <a:t>0</a:t>
            </a:r>
            <a:r>
              <a:rPr lang="ko-KR" altLang="en-US" smtClean="0"/>
              <a:t>이 되면 보스는 무조건 부하를 한 명 소환한다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최소 </a:t>
            </a:r>
            <a:r>
              <a:rPr lang="en-US" altLang="ko-KR" smtClean="0"/>
              <a:t>3</a:t>
            </a:r>
            <a:r>
              <a:rPr lang="ko-KR" altLang="en-US" smtClean="0"/>
              <a:t>명의 부하가 존재하도록 하게 하기 위해서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 패턴이 없으면</a:t>
            </a:r>
            <a:r>
              <a:rPr lang="en-US" altLang="ko-KR" smtClean="0"/>
              <a:t>, </a:t>
            </a:r>
            <a:r>
              <a:rPr lang="ko-KR" altLang="en-US" smtClean="0"/>
              <a:t>패턴</a:t>
            </a:r>
            <a:r>
              <a:rPr lang="en-US" altLang="ko-KR" smtClean="0"/>
              <a:t>1~4</a:t>
            </a:r>
            <a:r>
              <a:rPr lang="ko-KR" altLang="en-US" smtClean="0"/>
              <a:t>가 제대로 운영되지 않기 때문</a:t>
            </a:r>
            <a:endParaRPr lang="en-US" altLang="ko-KR" smtClean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중국의 </a:t>
            </a:r>
            <a:r>
              <a:rPr lang="en-US" altLang="ko-KR" smtClean="0"/>
              <a:t>[</a:t>
            </a:r>
            <a:r>
              <a:rPr lang="ko-KR" altLang="en-US" smtClean="0"/>
              <a:t>팬텀 블레이드 제로</a:t>
            </a:r>
            <a:r>
              <a:rPr lang="en-US" altLang="ko-KR" smtClean="0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507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1015" y="1825624"/>
            <a:ext cx="1176997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패턴</a:t>
            </a:r>
            <a:r>
              <a:rPr lang="en-US" altLang="ko-KR" smtClean="0"/>
              <a:t>6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전투의 </a:t>
            </a:r>
            <a:r>
              <a:rPr lang="en-US" altLang="ko-KR" smtClean="0"/>
              <a:t>wave</a:t>
            </a:r>
            <a:r>
              <a:rPr lang="ko-KR" altLang="en-US" smtClean="0"/>
              <a:t>가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그룹</a:t>
            </a:r>
            <a:r>
              <a:rPr lang="en-US" altLang="ko-KR" smtClean="0"/>
              <a:t>1</a:t>
            </a:r>
            <a:r>
              <a:rPr lang="ko-KR" altLang="en-US" smtClean="0"/>
              <a:t>이 공격 후 빠지고</a:t>
            </a:r>
            <a:r>
              <a:rPr lang="en-US" altLang="ko-KR" smtClean="0"/>
              <a:t>, </a:t>
            </a:r>
            <a:r>
              <a:rPr lang="ko-KR" altLang="en-US" smtClean="0"/>
              <a:t>그룹</a:t>
            </a:r>
            <a:r>
              <a:rPr lang="en-US" altLang="ko-KR" smtClean="0"/>
              <a:t>2</a:t>
            </a:r>
            <a:r>
              <a:rPr lang="ko-KR" altLang="en-US" smtClean="0"/>
              <a:t>가 공격 후 빠지고</a:t>
            </a:r>
            <a:r>
              <a:rPr lang="en-US" altLang="ko-KR" smtClean="0"/>
              <a:t>, </a:t>
            </a:r>
            <a:r>
              <a:rPr lang="ko-KR" altLang="en-US" smtClean="0"/>
              <a:t>그룹</a:t>
            </a:r>
            <a:r>
              <a:rPr lang="en-US" altLang="ko-KR" smtClean="0"/>
              <a:t>3</a:t>
            </a:r>
            <a:r>
              <a:rPr lang="ko-KR" altLang="en-US" smtClean="0"/>
              <a:t>이 보스와 함께 공격하는 </a:t>
            </a:r>
            <a:r>
              <a:rPr lang="en-US" altLang="ko-KR" smtClean="0"/>
              <a:t>wave</a:t>
            </a:r>
          </a:p>
          <a:p>
            <a:endParaRPr lang="en-US" altLang="ko-KR"/>
          </a:p>
          <a:p>
            <a:r>
              <a:rPr lang="ko-KR" altLang="en-US" smtClean="0"/>
              <a:t>무협다운 전투의 규칙에 대해서 잘 설계했기 때문에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 부분은 매우 잘 만들었다고 할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전투 설계 시스템 디자이너는</a:t>
            </a:r>
            <a:r>
              <a:rPr lang="en-US" altLang="ko-KR" smtClean="0"/>
              <a:t>, </a:t>
            </a:r>
            <a:r>
              <a:rPr lang="ko-KR" altLang="en-US" smtClean="0"/>
              <a:t>이런 시스템을 더 정교하게 만드는 작업을 하는 사람들</a:t>
            </a:r>
            <a:r>
              <a:rPr lang="en-US" altLang="ko-KR" smtClean="0"/>
              <a:t>.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중국의 </a:t>
            </a:r>
            <a:r>
              <a:rPr lang="en-US" altLang="ko-KR" smtClean="0"/>
              <a:t>[</a:t>
            </a:r>
            <a:r>
              <a:rPr lang="ko-KR" altLang="en-US" smtClean="0"/>
              <a:t>팬텀 블레이드 제로</a:t>
            </a:r>
            <a:r>
              <a:rPr lang="en-US" altLang="ko-KR" smtClean="0"/>
              <a:t>] – </a:t>
            </a:r>
            <a:r>
              <a:rPr lang="ko-KR" altLang="en-US" smtClean="0"/>
              <a:t>페이즈 </a:t>
            </a:r>
            <a:r>
              <a:rPr lang="en-US" altLang="ko-KR" smtClean="0"/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509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" y="528846"/>
            <a:ext cx="11769970" cy="580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77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1015" y="1825624"/>
            <a:ext cx="1176997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패턴 </a:t>
            </a:r>
            <a:r>
              <a:rPr lang="en-US" altLang="ko-KR" smtClean="0"/>
              <a:t>1]</a:t>
            </a:r>
          </a:p>
          <a:p>
            <a:r>
              <a:rPr lang="ko-KR" altLang="en-US" smtClean="0"/>
              <a:t>인간형은 어떤 동작을 할 때</a:t>
            </a:r>
            <a:r>
              <a:rPr lang="en-US" altLang="ko-KR" smtClean="0"/>
              <a:t>, </a:t>
            </a:r>
            <a:r>
              <a:rPr lang="ko-KR" altLang="en-US" smtClean="0"/>
              <a:t>어떻게 공격할 지가 눈에 보인다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페이즈 </a:t>
            </a:r>
            <a:r>
              <a:rPr lang="en-US" altLang="ko-KR" smtClean="0"/>
              <a:t>2</a:t>
            </a:r>
            <a:r>
              <a:rPr lang="ko-KR" altLang="en-US" smtClean="0"/>
              <a:t>에서는 살아남은 </a:t>
            </a:r>
            <a:r>
              <a:rPr lang="en-US" altLang="ko-KR" smtClean="0"/>
              <a:t>3</a:t>
            </a:r>
            <a:r>
              <a:rPr lang="ko-KR" altLang="en-US" smtClean="0"/>
              <a:t>명의 부하들이 각각 탑 위에서 보스를 실로 조종해서 플레이어를 공격한다</a:t>
            </a:r>
            <a:r>
              <a:rPr lang="en-US" altLang="ko-KR" smtClean="0"/>
              <a:t>. </a:t>
            </a:r>
            <a:r>
              <a:rPr lang="ko-KR" altLang="en-US" smtClean="0"/>
              <a:t>페이즈 </a:t>
            </a:r>
            <a:r>
              <a:rPr lang="en-US" altLang="ko-KR" smtClean="0"/>
              <a:t>2</a:t>
            </a:r>
            <a:r>
              <a:rPr lang="ko-KR" altLang="en-US" smtClean="0"/>
              <a:t>의 보스의 변신 형태</a:t>
            </a:r>
            <a:endParaRPr lang="en-US" altLang="ko-KR" smtClean="0"/>
          </a:p>
          <a:p>
            <a:r>
              <a:rPr lang="ko-KR" altLang="en-US" smtClean="0"/>
              <a:t>사람의 형태지만</a:t>
            </a:r>
            <a:r>
              <a:rPr lang="en-US" altLang="ko-KR" smtClean="0"/>
              <a:t>, </a:t>
            </a:r>
            <a:r>
              <a:rPr lang="ko-KR" altLang="en-US" smtClean="0"/>
              <a:t>움직임은 사람의 움직임이 아니다</a:t>
            </a:r>
            <a:r>
              <a:rPr lang="en-US" altLang="ko-KR" smtClean="0"/>
              <a:t>. =&gt; </a:t>
            </a:r>
            <a:r>
              <a:rPr lang="ko-KR" altLang="en-US" smtClean="0"/>
              <a:t>난이도 ↑</a:t>
            </a:r>
            <a:endParaRPr lang="en-US" altLang="ko-KR" smtClean="0"/>
          </a:p>
          <a:p>
            <a:r>
              <a:rPr lang="ko-KR" altLang="en-US" smtClean="0"/>
              <a:t>조작</a:t>
            </a:r>
            <a:r>
              <a:rPr lang="en-US" altLang="ko-KR" smtClean="0"/>
              <a:t>/</a:t>
            </a:r>
            <a:r>
              <a:rPr lang="ko-KR" altLang="en-US" smtClean="0"/>
              <a:t>콘텐츠 숙련도를 올리지 않는다면 공략이 어려움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사운드로 전조 알림</a:t>
            </a:r>
            <a:r>
              <a:rPr lang="en-US" altLang="ko-KR" smtClean="0"/>
              <a:t>. </a:t>
            </a:r>
            <a:r>
              <a:rPr lang="ko-KR" altLang="en-US" smtClean="0"/>
              <a:t>강한 공격은 붉은 색으로 추가 표현함</a:t>
            </a:r>
            <a:r>
              <a:rPr lang="en-US" altLang="ko-KR" smtClean="0"/>
              <a:t>.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중국의 </a:t>
            </a:r>
            <a:r>
              <a:rPr lang="en-US" altLang="ko-KR" smtClean="0"/>
              <a:t>[</a:t>
            </a:r>
            <a:r>
              <a:rPr lang="ko-KR" altLang="en-US" smtClean="0"/>
              <a:t>팬텀 블레이드 제로</a:t>
            </a:r>
            <a:r>
              <a:rPr lang="en-US" altLang="ko-KR" smtClean="0"/>
              <a:t>] – </a:t>
            </a:r>
            <a:r>
              <a:rPr lang="ko-KR" altLang="en-US" smtClean="0"/>
              <a:t>페이즈 </a:t>
            </a:r>
            <a:r>
              <a:rPr lang="en-US" altLang="ko-KR" smtClean="0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098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1015" y="1825624"/>
            <a:ext cx="1176997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smtClean="0"/>
              <a:t>[</a:t>
            </a:r>
            <a:r>
              <a:rPr lang="ko-KR" altLang="en-US" sz="2400" smtClean="0"/>
              <a:t>패턴 </a:t>
            </a:r>
            <a:r>
              <a:rPr lang="en-US" altLang="ko-KR" sz="2400" smtClean="0"/>
              <a:t>2]</a:t>
            </a:r>
          </a:p>
          <a:p>
            <a:r>
              <a:rPr lang="ko-KR" altLang="en-US" sz="2400" smtClean="0"/>
              <a:t>보스가 공중에서 바늘같은 실을 매우 많이 생성해서 플레이어에게 날리는 공격</a:t>
            </a:r>
            <a:endParaRPr lang="en-US" altLang="ko-KR" sz="2400" smtClean="0"/>
          </a:p>
          <a:p>
            <a:endParaRPr lang="en-US" altLang="ko-KR" sz="2400"/>
          </a:p>
          <a:p>
            <a:pPr marL="0" indent="0">
              <a:buNone/>
            </a:pPr>
            <a:r>
              <a:rPr lang="en-US" altLang="ko-KR" sz="2400" smtClean="0"/>
              <a:t>[</a:t>
            </a:r>
            <a:r>
              <a:rPr lang="ko-KR" altLang="en-US" sz="2400" smtClean="0"/>
              <a:t>패턴 </a:t>
            </a:r>
            <a:r>
              <a:rPr lang="en-US" altLang="ko-KR" sz="2400" smtClean="0"/>
              <a:t>3]</a:t>
            </a:r>
          </a:p>
          <a:p>
            <a:r>
              <a:rPr lang="ko-KR" altLang="en-US" sz="2400" smtClean="0"/>
              <a:t>새로운 몬스터가 등장</a:t>
            </a:r>
            <a:r>
              <a:rPr lang="en-US" altLang="ko-KR" sz="2400" smtClean="0"/>
              <a:t>. </a:t>
            </a:r>
            <a:r>
              <a:rPr lang="ko-KR" altLang="en-US" sz="2400" smtClean="0"/>
              <a:t>이 몬스터들이 협동할 때</a:t>
            </a:r>
            <a:r>
              <a:rPr lang="en-US" altLang="ko-KR" sz="2400" smtClean="0"/>
              <a:t>, </a:t>
            </a:r>
            <a:r>
              <a:rPr lang="ko-KR" altLang="en-US" sz="2400" smtClean="0"/>
              <a:t>한 마리는 플레이어 캐릭터의 시선 정면</a:t>
            </a:r>
            <a:r>
              <a:rPr lang="en-US" altLang="ko-KR" sz="2400" smtClean="0"/>
              <a:t>, </a:t>
            </a:r>
            <a:r>
              <a:rPr lang="ko-KR" altLang="en-US" sz="2400" smtClean="0"/>
              <a:t>나머지 한 마리는 플레이어 캐릭터의 뒤로 이동해서 양쪽에서 공격한다</a:t>
            </a:r>
            <a:r>
              <a:rPr lang="en-US" altLang="ko-KR" sz="2400" smtClean="0"/>
              <a:t>.</a:t>
            </a:r>
          </a:p>
          <a:p>
            <a:endParaRPr lang="en-US" altLang="ko-KR" sz="2400"/>
          </a:p>
          <a:p>
            <a:pPr marL="0" indent="0">
              <a:buNone/>
            </a:pPr>
            <a:r>
              <a:rPr lang="en-US" altLang="ko-KR" sz="2400" smtClean="0"/>
              <a:t>[</a:t>
            </a:r>
            <a:r>
              <a:rPr lang="ko-KR" altLang="en-US" sz="2400" smtClean="0"/>
              <a:t>패턴 </a:t>
            </a:r>
            <a:r>
              <a:rPr lang="en-US" altLang="ko-KR" sz="2400" smtClean="0"/>
              <a:t>4]</a:t>
            </a:r>
          </a:p>
          <a:p>
            <a:r>
              <a:rPr lang="ko-KR" altLang="en-US" sz="2400" smtClean="0"/>
              <a:t>한 명은 상단</a:t>
            </a:r>
            <a:r>
              <a:rPr lang="en-US" altLang="ko-KR" sz="2400" smtClean="0"/>
              <a:t>, </a:t>
            </a:r>
            <a:r>
              <a:rPr lang="ko-KR" altLang="en-US" sz="2400" smtClean="0"/>
              <a:t>한 명은 하단에서 플레이어 캐릭터를 같이 공격한다</a:t>
            </a:r>
            <a:r>
              <a:rPr lang="en-US" altLang="ko-KR" sz="2400" smtClean="0"/>
              <a:t>.</a:t>
            </a:r>
          </a:p>
          <a:p>
            <a:r>
              <a:rPr lang="ko-KR" altLang="en-US" sz="2400" smtClean="0"/>
              <a:t>한 명 씩 약한 공격을 각자 하다가</a:t>
            </a:r>
            <a:r>
              <a:rPr lang="en-US" altLang="ko-KR" sz="2400" smtClean="0"/>
              <a:t>, </a:t>
            </a:r>
            <a:r>
              <a:rPr lang="ko-KR" altLang="en-US" sz="2400" smtClean="0"/>
              <a:t>강한 공격은 같이 한다</a:t>
            </a:r>
            <a:r>
              <a:rPr lang="en-US" altLang="ko-KR" sz="2400" smtClean="0"/>
              <a:t>.</a:t>
            </a:r>
          </a:p>
          <a:p>
            <a:r>
              <a:rPr lang="ko-KR" altLang="en-US" sz="2400" smtClean="0"/>
              <a:t>약</a:t>
            </a:r>
            <a:r>
              <a:rPr lang="en-US" altLang="ko-KR" sz="2400" smtClean="0"/>
              <a:t>-</a:t>
            </a:r>
            <a:r>
              <a:rPr lang="ko-KR" altLang="en-US" sz="2400" smtClean="0"/>
              <a:t>약</a:t>
            </a:r>
            <a:r>
              <a:rPr lang="en-US" altLang="ko-KR" sz="2400" smtClean="0"/>
              <a:t>-</a:t>
            </a:r>
            <a:r>
              <a:rPr lang="ko-KR" altLang="en-US" sz="2400" smtClean="0"/>
              <a:t>강 </a:t>
            </a:r>
            <a:r>
              <a:rPr lang="en-US" altLang="ko-KR" sz="2400" smtClean="0"/>
              <a:t>=&gt; </a:t>
            </a:r>
            <a:r>
              <a:rPr lang="ko-KR" altLang="en-US" sz="2400" smtClean="0"/>
              <a:t>리듬감을 가진 협동의 전투처럼 보인다</a:t>
            </a:r>
            <a:r>
              <a:rPr lang="en-US" altLang="ko-KR" sz="2400" smtClean="0"/>
              <a:t>.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중국의 </a:t>
            </a:r>
            <a:r>
              <a:rPr lang="en-US" altLang="ko-KR" smtClean="0"/>
              <a:t>[</a:t>
            </a:r>
            <a:r>
              <a:rPr lang="ko-KR" altLang="en-US" smtClean="0"/>
              <a:t>팬텀 블레이드 제로</a:t>
            </a:r>
            <a:r>
              <a:rPr lang="en-US" altLang="ko-KR" smtClean="0"/>
              <a:t>] – </a:t>
            </a:r>
            <a:r>
              <a:rPr lang="ko-KR" altLang="en-US" smtClean="0"/>
              <a:t>페이즈 </a:t>
            </a:r>
            <a:r>
              <a:rPr lang="en-US" altLang="ko-KR" smtClean="0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26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2" y="435453"/>
            <a:ext cx="11723076" cy="598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59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이 게임은 전투 시스템</a:t>
            </a:r>
            <a:r>
              <a:rPr lang="en-US" altLang="ko-KR" smtClean="0"/>
              <a:t>(</a:t>
            </a:r>
            <a:r>
              <a:rPr lang="ko-KR" altLang="en-US" smtClean="0"/>
              <a:t>약속</a:t>
            </a:r>
            <a:r>
              <a:rPr lang="en-US" altLang="ko-KR" smtClean="0"/>
              <a:t>)</a:t>
            </a:r>
            <a:r>
              <a:rPr lang="ko-KR" altLang="en-US" smtClean="0"/>
              <a:t>으로 </a:t>
            </a:r>
            <a:r>
              <a:rPr lang="en-US" altLang="ko-KR" smtClean="0"/>
              <a:t>‘</a:t>
            </a:r>
            <a:r>
              <a:rPr lang="ko-KR" altLang="en-US" smtClean="0"/>
              <a:t>무협의 느낌이 나게</a:t>
            </a:r>
            <a:r>
              <a:rPr lang="en-US" altLang="ko-KR" smtClean="0"/>
              <a:t>‘ </a:t>
            </a:r>
            <a:r>
              <a:rPr lang="ko-KR" altLang="en-US" smtClean="0"/>
              <a:t>했다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이게 시스템 디자이너가 해야 할 일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이런 시스템을 눈으로 볼 수 있게 구현하면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이렇게 잘 만들어진 게임이 되는 것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이런 시스템은</a:t>
            </a:r>
            <a:r>
              <a:rPr lang="en-US" altLang="ko-KR" smtClean="0"/>
              <a:t>, </a:t>
            </a:r>
            <a:r>
              <a:rPr lang="ko-KR" altLang="en-US" smtClean="0"/>
              <a:t>한 게임에서만 쓰이는 일회용이 아니라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잘 만들어놓으면</a:t>
            </a:r>
            <a:r>
              <a:rPr lang="en-US" altLang="ko-KR" smtClean="0"/>
              <a:t>, </a:t>
            </a:r>
            <a:r>
              <a:rPr lang="ko-KR" altLang="en-US" smtClean="0"/>
              <a:t>다른 게임에서도 활용할 수 있다</a:t>
            </a:r>
            <a:r>
              <a:rPr lang="en-US" altLang="ko-KR" smtClean="0"/>
              <a:t>.</a:t>
            </a:r>
            <a:endParaRPr lang="en-US" altLang="ko-KR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중국의 </a:t>
            </a:r>
            <a:r>
              <a:rPr lang="en-US" altLang="ko-KR" smtClean="0"/>
              <a:t>[</a:t>
            </a:r>
            <a:r>
              <a:rPr lang="ko-KR" altLang="en-US" smtClean="0"/>
              <a:t>팬텀 블레이드 제로</a:t>
            </a:r>
            <a:r>
              <a:rPr lang="en-US" altLang="ko-KR" smtClean="0"/>
              <a:t>] – </a:t>
            </a:r>
            <a:r>
              <a:rPr lang="ko-KR" altLang="en-US" smtClean="0"/>
              <a:t>페이즈 </a:t>
            </a:r>
            <a:r>
              <a:rPr lang="en-US" altLang="ko-KR" smtClean="0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336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346122"/>
            <a:ext cx="11582398" cy="61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81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피니시 어택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애니메이션 연출을 통해 피니시 어택을 구현하는 것도 좋지만</a:t>
            </a:r>
            <a:r>
              <a:rPr lang="en-US" altLang="ko-KR" smtClean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단순히 애니메션 연출로 보여주는 것보다</a:t>
            </a:r>
            <a:endParaRPr lang="en-US" altLang="ko-KR" smtClean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mtClean="0"/>
              <a:t>버튼 이벤트 액션으로 부하들마다 검을 맞추는 타이밍을 맞추는 플레이를 한다든지</a:t>
            </a:r>
            <a:r>
              <a:rPr lang="en-US" altLang="ko-KR" smtClean="0"/>
              <a:t>,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mtClean="0"/>
              <a:t>밧줄을 당길 때 진법을 수행하게 하고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그 때 버튼 이벤트 액션을 추가한다든지</a:t>
            </a:r>
            <a:endParaRPr lang="en-US" altLang="ko-KR" smtClean="0"/>
          </a:p>
          <a:p>
            <a:pPr lvl="1">
              <a:lnSpc>
                <a:spcPct val="150000"/>
              </a:lnSpc>
            </a:pPr>
            <a:r>
              <a:rPr lang="ko-KR" altLang="en-US" smtClean="0"/>
              <a:t>하는 형태로 피니시 어택을 연출할 수 있다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596" y="4343400"/>
            <a:ext cx="4473649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12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784</Words>
  <Application>Microsoft Office PowerPoint</Application>
  <PresentationFormat>와이드스크린</PresentationFormat>
  <Paragraphs>128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맑은 고딕</vt:lpstr>
      <vt:lpstr>Arial</vt:lpstr>
      <vt:lpstr>Office 테마</vt:lpstr>
      <vt:lpstr>우리가 발전하기 위해</vt:lpstr>
      <vt:lpstr>3D 모델링 관련</vt:lpstr>
      <vt:lpstr>시스템을 만드는 게 힘든 이유</vt:lpstr>
      <vt:lpstr>새로운 시스템을 만들 때</vt:lpstr>
      <vt:lpstr>예시 게임</vt:lpstr>
      <vt:lpstr>[워록]</vt:lpstr>
      <vt:lpstr>[워록] – 아직까지 운영되고 있는 이유</vt:lpstr>
      <vt:lpstr>[배틀그라운드]</vt:lpstr>
      <vt:lpstr>최고의 기대작 GTA 6</vt:lpstr>
      <vt:lpstr>한국에서 잘 만들어진 시스템을 갖춘 게임</vt:lpstr>
      <vt:lpstr>[블레이드 앤 소울]의 합격기</vt:lpstr>
      <vt:lpstr>합격기같은 시스템이 잘 만든 이유</vt:lpstr>
      <vt:lpstr>PowerPoint 프레젠테이션</vt:lpstr>
      <vt:lpstr>중국의 [팬텀 블레이드 제로]</vt:lpstr>
      <vt:lpstr>중국의 [팬텀 블레이드 제로]</vt:lpstr>
      <vt:lpstr>PowerPoint 프레젠테이션</vt:lpstr>
      <vt:lpstr>중국의 [팬텀 블레이드 제로]</vt:lpstr>
      <vt:lpstr>중국의 [팬텀 블레이드 제로] – 페이즈 1</vt:lpstr>
      <vt:lpstr>PowerPoint 프레젠테이션</vt:lpstr>
      <vt:lpstr>중국의 [팬텀 블레이드 제로] – 페이즈 2</vt:lpstr>
      <vt:lpstr>중국의 [팬텀 블레이드 제로] – 페이즈 2</vt:lpstr>
      <vt:lpstr>PowerPoint 프레젠테이션</vt:lpstr>
      <vt:lpstr>중국의 [팬텀 블레이드 제로] – 페이즈 2</vt:lpstr>
      <vt:lpstr>PowerPoint 프레젠테이션</vt:lpstr>
      <vt:lpstr>피니시 어택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13</cp:revision>
  <dcterms:created xsi:type="dcterms:W3CDTF">2026-08-24T05:00:18Z</dcterms:created>
  <dcterms:modified xsi:type="dcterms:W3CDTF">2026-08-24T06:55:50Z</dcterms:modified>
</cp:coreProperties>
</file>