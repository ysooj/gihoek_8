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2004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600" b="1">
                <a:solidFill>
                  <a:srgbClr val="66707A"/>
                </a:solidFill>
                <a:latin typeface="맑은 고딕"/>
              </a:defRPr>
            </a:pPr>
            <a:r>
              <a:t>선의 시스템 볼륨 맵</a:t>
            </a:r>
          </a:p>
        </p:txBody>
      </p:sp>
      <p:sp>
        <p:nvSpPr>
          <p:cNvPr id="31" name="Oval 30"/>
          <p:cNvSpPr/>
          <p:nvPr/>
        </p:nvSpPr>
        <p:spPr>
          <a:xfrm>
            <a:off x="4681728" y="2995503"/>
            <a:ext cx="1444752" cy="1444752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32" name="Oval 31"/>
          <p:cNvSpPr/>
          <p:nvPr/>
        </p:nvSpPr>
        <p:spPr>
          <a:xfrm>
            <a:off x="4021074" y="1354998"/>
            <a:ext cx="1444752" cy="1444752"/>
          </a:xfrm>
          <a:prstGeom prst="ellipse">
            <a:avLst/>
          </a:prstGeom>
          <a:solidFill>
            <a:srgbClr val="E8F2FF"/>
          </a:solidFill>
          <a:ln w="254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800" b="1">
                <a:solidFill>
                  <a:srgbClr val="21252B"/>
                </a:solidFill>
                <a:latin typeface="맑은 고딕"/>
              </a:defRPr>
            </a:pPr>
            <a:r>
              <a:t>균열</a:t>
            </a:r>
          </a:p>
        </p:txBody>
      </p:sp>
      <p:sp>
        <p:nvSpPr>
          <p:cNvPr id="33" name="Oval 32"/>
          <p:cNvSpPr/>
          <p:nvPr/>
        </p:nvSpPr>
        <p:spPr>
          <a:xfrm>
            <a:off x="3694176" y="4037919"/>
            <a:ext cx="987552" cy="987552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t>NPC</a:t>
            </a:r>
          </a:p>
        </p:txBody>
      </p:sp>
      <p:sp>
        <p:nvSpPr>
          <p:cNvPr id="34" name="Oval 33"/>
          <p:cNvSpPr/>
          <p:nvPr/>
        </p:nvSpPr>
        <p:spPr>
          <a:xfrm>
            <a:off x="5634990" y="2007951"/>
            <a:ext cx="987552" cy="987552"/>
          </a:xfrm>
          <a:prstGeom prst="ellipse">
            <a:avLst/>
          </a:prstGeom>
          <a:solidFill>
            <a:srgbClr val="EAF8F0"/>
          </a:solidFill>
          <a:ln w="17145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t>주인공</a:t>
            </a:r>
          </a:p>
        </p:txBody>
      </p:sp>
      <p:sp>
        <p:nvSpPr>
          <p:cNvPr id="35" name="Oval 34"/>
          <p:cNvSpPr/>
          <p:nvPr/>
        </p:nvSpPr>
        <p:spPr>
          <a:xfrm>
            <a:off x="3407558" y="2854614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t>변이</a:t>
            </a:r>
          </a:p>
        </p:txBody>
      </p:sp>
      <p:sp>
        <p:nvSpPr>
          <p:cNvPr id="36" name="Oval 35"/>
          <p:cNvSpPr/>
          <p:nvPr/>
        </p:nvSpPr>
        <p:spPr>
          <a:xfrm>
            <a:off x="2537460" y="3730752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t>몬스터</a:t>
            </a:r>
          </a:p>
        </p:txBody>
      </p:sp>
      <p:sp>
        <p:nvSpPr>
          <p:cNvPr id="37" name="Oval 36"/>
          <p:cNvSpPr/>
          <p:nvPr/>
        </p:nvSpPr>
        <p:spPr>
          <a:xfrm>
            <a:off x="2730902" y="4864608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t>몬스터 AI</a:t>
            </a:r>
          </a:p>
        </p:txBody>
      </p:sp>
      <p:sp>
        <p:nvSpPr>
          <p:cNvPr id="38" name="Oval 37"/>
          <p:cNvSpPr/>
          <p:nvPr/>
        </p:nvSpPr>
        <p:spPr>
          <a:xfrm>
            <a:off x="3224678" y="2126823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t>유인 파동</a:t>
            </a:r>
          </a:p>
        </p:txBody>
      </p:sp>
      <p:sp>
        <p:nvSpPr>
          <p:cNvPr id="39" name="Oval 38"/>
          <p:cNvSpPr/>
          <p:nvPr/>
        </p:nvSpPr>
        <p:spPr>
          <a:xfrm>
            <a:off x="2428282" y="1739046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t>시간대</a:t>
            </a:r>
          </a:p>
        </p:txBody>
      </p:sp>
      <p:sp>
        <p:nvSpPr>
          <p:cNvPr id="40" name="Oval 39"/>
          <p:cNvSpPr/>
          <p:nvPr/>
        </p:nvSpPr>
        <p:spPr>
          <a:xfrm>
            <a:off x="1860804" y="5156950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t>몬스터 타입</a:t>
            </a:r>
          </a:p>
        </p:txBody>
      </p:sp>
      <p:sp>
        <p:nvSpPr>
          <p:cNvPr id="41" name="Oval 40"/>
          <p:cNvSpPr/>
          <p:nvPr/>
        </p:nvSpPr>
        <p:spPr>
          <a:xfrm>
            <a:off x="3682746" y="746079"/>
            <a:ext cx="676656" cy="67665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인간</a:t>
            </a:r>
            <a:endParaRPr lang="en-US" dirty="0"/>
          </a:p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껍데기</a:t>
            </a:r>
            <a:endParaRPr dirty="0"/>
          </a:p>
        </p:txBody>
      </p:sp>
      <p:sp>
        <p:nvSpPr>
          <p:cNvPr id="42" name="Oval 41"/>
          <p:cNvSpPr/>
          <p:nvPr/>
        </p:nvSpPr>
        <p:spPr>
          <a:xfrm>
            <a:off x="5127498" y="746079"/>
            <a:ext cx="676656" cy="67665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t>선의의 바다</a:t>
            </a:r>
          </a:p>
        </p:txBody>
      </p:sp>
      <p:sp>
        <p:nvSpPr>
          <p:cNvPr id="43" name="Oval 42"/>
          <p:cNvSpPr/>
          <p:nvPr/>
        </p:nvSpPr>
        <p:spPr>
          <a:xfrm>
            <a:off x="6381962" y="1354998"/>
            <a:ext cx="676656" cy="67665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t>전투</a:t>
            </a:r>
          </a:p>
        </p:txBody>
      </p:sp>
      <p:sp>
        <p:nvSpPr>
          <p:cNvPr id="44" name="Oval 43"/>
          <p:cNvSpPr/>
          <p:nvPr/>
        </p:nvSpPr>
        <p:spPr>
          <a:xfrm>
            <a:off x="6754089" y="2193981"/>
            <a:ext cx="676656" cy="67665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t>구조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상태와</a:t>
            </a:r>
            <a:r>
              <a:rPr dirty="0"/>
              <a:t> </a:t>
            </a:r>
            <a:r>
              <a:rPr dirty="0" err="1"/>
              <a:t>월드</a:t>
            </a:r>
            <a:r>
              <a:rPr dirty="0"/>
              <a:t> </a:t>
            </a:r>
            <a:r>
              <a:rPr dirty="0" err="1"/>
              <a:t>반응을</a:t>
            </a:r>
            <a:r>
              <a:rPr dirty="0"/>
              <a:t> </a:t>
            </a:r>
            <a:r>
              <a:rPr dirty="0" err="1"/>
              <a:t>결정하는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판정값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526596" y="2204305"/>
            <a:ext cx="1024128" cy="1024128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87" y="3696839"/>
            <a:ext cx="4864519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50000"/>
              </a:lnSpc>
              <a:defRPr sz="1720" b="1">
                <a:solidFill>
                  <a:srgbClr val="21252B"/>
                </a:solidFill>
                <a:latin typeface="맑은 고딕"/>
              </a:defRPr>
            </a:pPr>
            <a:r>
              <a:rPr sz="1500" dirty="0" err="1"/>
              <a:t>인간이</a:t>
            </a:r>
            <a:r>
              <a:rPr sz="1500" dirty="0"/>
              <a:t> </a:t>
            </a:r>
            <a:r>
              <a:rPr sz="1500" dirty="0" err="1"/>
              <a:t>보유한</a:t>
            </a:r>
            <a:r>
              <a:rPr sz="1500" dirty="0"/>
              <a:t> </a:t>
            </a:r>
            <a:r>
              <a:rPr sz="1500" dirty="0" err="1"/>
              <a:t>값이며</a:t>
            </a:r>
            <a:r>
              <a:rPr sz="1500" dirty="0"/>
              <a:t>, </a:t>
            </a:r>
            <a:r>
              <a:rPr sz="1500" dirty="0" err="1"/>
              <a:t>NPC의</a:t>
            </a:r>
            <a:r>
              <a:rPr sz="1500" dirty="0"/>
              <a:t> </a:t>
            </a:r>
            <a:r>
              <a:rPr sz="1500" dirty="0" err="1"/>
              <a:t>상태</a:t>
            </a:r>
            <a:r>
              <a:rPr sz="1500" dirty="0"/>
              <a:t>, </a:t>
            </a:r>
            <a:r>
              <a:rPr sz="1500" dirty="0" err="1"/>
              <a:t>균열의</a:t>
            </a:r>
            <a:r>
              <a:rPr sz="1500" dirty="0"/>
              <a:t> </a:t>
            </a:r>
            <a:r>
              <a:rPr sz="1500" dirty="0" err="1"/>
              <a:t>유인</a:t>
            </a:r>
            <a:r>
              <a:rPr sz="1500" dirty="0"/>
              <a:t>, </a:t>
            </a:r>
            <a:r>
              <a:rPr sz="1500" dirty="0" err="1"/>
              <a:t>변이</a:t>
            </a:r>
            <a:r>
              <a:rPr sz="1500" dirty="0"/>
              <a:t>, </a:t>
            </a:r>
            <a:r>
              <a:rPr sz="1500" dirty="0" err="1"/>
              <a:t>몬스터의</a:t>
            </a:r>
            <a:r>
              <a:rPr sz="1500" dirty="0"/>
              <a:t> </a:t>
            </a:r>
            <a:r>
              <a:rPr sz="1500" dirty="0" err="1"/>
              <a:t>인식과</a:t>
            </a:r>
            <a:r>
              <a:rPr sz="1500" dirty="0"/>
              <a:t> </a:t>
            </a:r>
            <a:r>
              <a:rPr sz="1500" dirty="0" err="1"/>
              <a:t>행동을</a:t>
            </a:r>
            <a:r>
              <a:rPr sz="1500" dirty="0"/>
              <a:t> </a:t>
            </a:r>
            <a:r>
              <a:rPr sz="1500" dirty="0" err="1"/>
              <a:t>결정하는</a:t>
            </a:r>
            <a:r>
              <a:rPr sz="1500" dirty="0"/>
              <a:t> </a:t>
            </a:r>
            <a:r>
              <a:rPr sz="1500" dirty="0" err="1"/>
              <a:t>핵심</a:t>
            </a:r>
            <a:r>
              <a:rPr sz="1500" dirty="0"/>
              <a:t> </a:t>
            </a:r>
            <a:r>
              <a:rPr sz="1500" dirty="0" err="1"/>
              <a:t>판정</a:t>
            </a:r>
            <a:r>
              <a:rPr sz="1500" dirty="0"/>
              <a:t> </a:t>
            </a:r>
            <a:r>
              <a:rPr sz="1500" dirty="0" err="1"/>
              <a:t>시스템</a:t>
            </a:r>
            <a:endParaRPr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1038230" y="4787037"/>
            <a:ext cx="60008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lnSpc>
                <a:spcPct val="150000"/>
              </a:lnSpc>
              <a:defRPr sz="1210" b="0">
                <a:solidFill>
                  <a:srgbClr val="66707A"/>
                </a:solidFill>
                <a:latin typeface="맑은 고딕"/>
              </a:defRPr>
            </a:pPr>
            <a:r>
              <a:rPr dirty="0" err="1"/>
              <a:t>플레이어가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모아</a:t>
            </a:r>
            <a:r>
              <a:rPr dirty="0"/>
              <a:t> </a:t>
            </a:r>
            <a:r>
              <a:rPr dirty="0" err="1"/>
              <a:t>쓰는</a:t>
            </a:r>
            <a:r>
              <a:rPr dirty="0"/>
              <a:t> </a:t>
            </a:r>
            <a:r>
              <a:rPr dirty="0" err="1"/>
              <a:t>자원이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세계가</a:t>
            </a:r>
            <a:r>
              <a:rPr dirty="0"/>
              <a:t> </a:t>
            </a:r>
            <a:r>
              <a:rPr dirty="0" err="1"/>
              <a:t>인간을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판정하고</a:t>
            </a:r>
            <a:r>
              <a:rPr dirty="0"/>
              <a:t> </a:t>
            </a:r>
            <a:r>
              <a:rPr dirty="0" err="1"/>
              <a:t>반응할지</a:t>
            </a:r>
            <a:r>
              <a:rPr dirty="0"/>
              <a:t> </a:t>
            </a:r>
            <a:r>
              <a:rPr dirty="0" err="1"/>
              <a:t>결정하는</a:t>
            </a:r>
            <a:r>
              <a:rPr dirty="0"/>
              <a:t> </a:t>
            </a:r>
            <a:r>
              <a:rPr dirty="0" err="1"/>
              <a:t>월드</a:t>
            </a:r>
            <a:r>
              <a:rPr dirty="0"/>
              <a:t> </a:t>
            </a:r>
            <a:r>
              <a:rPr dirty="0" err="1"/>
              <a:t>규칙</a:t>
            </a:r>
            <a:endParaRPr lang="en-US" dirty="0"/>
          </a:p>
          <a:p>
            <a:pPr algn="ctr">
              <a:lnSpc>
                <a:spcPct val="150000"/>
              </a:lnSpc>
              <a:defRPr sz="1210" b="0">
                <a:solidFill>
                  <a:srgbClr val="66707A"/>
                </a:solidFill>
                <a:latin typeface="맑은 고딕"/>
              </a:defRPr>
            </a:pPr>
            <a:r>
              <a:rPr dirty="0" err="1"/>
              <a:t>전투를</a:t>
            </a:r>
            <a:r>
              <a:rPr dirty="0"/>
              <a:t> </a:t>
            </a:r>
            <a:r>
              <a:rPr dirty="0" err="1"/>
              <a:t>할수록</a:t>
            </a:r>
            <a:r>
              <a:rPr dirty="0"/>
              <a:t> </a:t>
            </a:r>
            <a:r>
              <a:rPr dirty="0" err="1"/>
              <a:t>줄어드는</a:t>
            </a:r>
            <a:r>
              <a:rPr dirty="0"/>
              <a:t> </a:t>
            </a:r>
            <a:r>
              <a:rPr dirty="0" err="1"/>
              <a:t>값이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마음·행동·서사에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유지되거나</a:t>
            </a:r>
            <a:r>
              <a:rPr dirty="0"/>
              <a:t> </a:t>
            </a:r>
            <a:r>
              <a:rPr dirty="0" err="1"/>
              <a:t>감소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212940" y="1700694"/>
            <a:ext cx="2103120" cy="122529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4380" y="180127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50000"/>
              </a:lnSpc>
              <a:defRPr sz="1600" b="1">
                <a:solidFill>
                  <a:srgbClr val="042D62"/>
                </a:solidFill>
                <a:latin typeface="맑은 고딕"/>
              </a:defRPr>
            </a:pPr>
            <a:r>
              <a:t>0 초과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4380" y="214875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기본 인간 상태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균열 유인 대상 아님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몬스터의 일반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2940" y="3248783"/>
            <a:ext cx="2103120" cy="122529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4380" y="3349367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50000"/>
              </a:lnSpc>
              <a:defRPr sz="1600" b="1">
                <a:solidFill>
                  <a:srgbClr val="042D62"/>
                </a:solidFill>
                <a:latin typeface="맑은 고딕"/>
              </a:defRPr>
            </a:pPr>
            <a:r>
              <a:rPr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4380" y="3696839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고갈 상태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유인 파동 대상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몬스터 AI 특수 판정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2940" y="4796872"/>
            <a:ext cx="2103120" cy="122529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4380" y="48974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50000"/>
              </a:lnSpc>
              <a:defRPr sz="1600" b="1">
                <a:solidFill>
                  <a:srgbClr val="042D62"/>
                </a:solidFill>
                <a:latin typeface="맑은 고딕"/>
              </a:defRPr>
            </a:pPr>
            <a:r>
              <a:rPr dirty="0"/>
              <a:t>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380" y="5244928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주인공 예외값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감소·고갈 없음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균열 기원과 연결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균열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핵심 월드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00556" y="158812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6" name="Oval 5"/>
          <p:cNvSpPr/>
          <p:nvPr/>
        </p:nvSpPr>
        <p:spPr>
          <a:xfrm>
            <a:off x="1937817" y="1629274"/>
            <a:ext cx="768096" cy="768096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균열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7393" y="1866464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현상으로</a:t>
            </a:r>
            <a:r>
              <a:rPr dirty="0"/>
              <a:t> </a:t>
            </a:r>
            <a:r>
              <a:rPr dirty="0" err="1"/>
              <a:t>실행하는</a:t>
            </a:r>
            <a:r>
              <a:rPr dirty="0"/>
              <a:t> </a:t>
            </a:r>
            <a:r>
              <a:rPr dirty="0" err="1"/>
              <a:t>동급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839523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판정</a:t>
            </a:r>
            <a:r>
              <a:rPr dirty="0"/>
              <a:t> + </a:t>
            </a:r>
            <a:r>
              <a:rPr dirty="0" err="1"/>
              <a:t>균열</a:t>
            </a:r>
            <a:r>
              <a:rPr dirty="0"/>
              <a:t> → </a:t>
            </a:r>
            <a:r>
              <a:rPr dirty="0" err="1"/>
              <a:t>유인</a:t>
            </a:r>
            <a:r>
              <a:rPr dirty="0"/>
              <a:t> / </a:t>
            </a:r>
            <a:r>
              <a:rPr dirty="0" err="1"/>
              <a:t>변이</a:t>
            </a:r>
            <a:r>
              <a:rPr dirty="0"/>
              <a:t> / </a:t>
            </a:r>
            <a:r>
              <a:rPr dirty="0" err="1"/>
              <a:t>배출</a:t>
            </a:r>
            <a:r>
              <a:rPr dirty="0"/>
              <a:t> / </a:t>
            </a:r>
            <a:r>
              <a:rPr dirty="0" err="1"/>
              <a:t>보관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00556" y="361196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00556" y="3922865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균열은 선의 0인 인간을 유인하고, 균열 안으로 들어온 인간에게서 부정적 요소를 분리해 변이를 일으키는 공간·현상이다.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556" y="4849960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선의와</a:t>
            </a:r>
            <a:r>
              <a:rPr dirty="0"/>
              <a:t> </a:t>
            </a:r>
            <a:r>
              <a:rPr dirty="0" err="1"/>
              <a:t>맞물리는</a:t>
            </a:r>
            <a:r>
              <a:rPr dirty="0"/>
              <a:t> </a:t>
            </a:r>
            <a:r>
              <a:rPr dirty="0" err="1"/>
              <a:t>부분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00556" y="5160856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선의가</a:t>
            </a:r>
            <a:r>
              <a:rPr dirty="0"/>
              <a:t> “</a:t>
            </a:r>
            <a:r>
              <a:rPr dirty="0" err="1"/>
              <a:t>누가</a:t>
            </a:r>
            <a:r>
              <a:rPr dirty="0"/>
              <a:t> </a:t>
            </a:r>
            <a:r>
              <a:rPr dirty="0" err="1"/>
              <a:t>대상인가”를</a:t>
            </a:r>
            <a:r>
              <a:rPr dirty="0"/>
              <a:t> </a:t>
            </a:r>
            <a:r>
              <a:rPr dirty="0" err="1"/>
              <a:t>정하는</a:t>
            </a:r>
            <a:r>
              <a:rPr dirty="0"/>
              <a:t> </a:t>
            </a:r>
            <a:r>
              <a:rPr dirty="0" err="1"/>
              <a:t>기준이라면</a:t>
            </a:r>
            <a:r>
              <a:rPr dirty="0"/>
              <a:t>, </a:t>
            </a:r>
            <a:r>
              <a:rPr dirty="0" err="1"/>
              <a:t>균열은</a:t>
            </a:r>
            <a:r>
              <a:rPr dirty="0"/>
              <a:t> 그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유인·변이·배출·보관이라는</a:t>
            </a:r>
            <a:r>
              <a:rPr dirty="0"/>
              <a:t> </a:t>
            </a:r>
            <a:r>
              <a:rPr dirty="0" err="1"/>
              <a:t>월드</a:t>
            </a:r>
            <a:r>
              <a:rPr dirty="0"/>
              <a:t> </a:t>
            </a:r>
            <a:r>
              <a:rPr dirty="0" err="1"/>
              <a:t>사건으로</a:t>
            </a:r>
            <a:r>
              <a:rPr dirty="0"/>
              <a:t> </a:t>
            </a:r>
            <a:r>
              <a:rPr dirty="0" err="1"/>
              <a:t>실행한다</a:t>
            </a:r>
            <a:r>
              <a:rPr dirty="0"/>
              <a:t>. </a:t>
            </a:r>
            <a:r>
              <a:rPr dirty="0" err="1"/>
              <a:t>균열은</a:t>
            </a:r>
            <a:r>
              <a:rPr dirty="0"/>
              <a:t> </a:t>
            </a:r>
            <a:r>
              <a:rPr dirty="0" err="1"/>
              <a:t>세계를</a:t>
            </a:r>
            <a:r>
              <a:rPr dirty="0"/>
              <a:t> </a:t>
            </a:r>
            <a:r>
              <a:rPr dirty="0" err="1"/>
              <a:t>선의로</a:t>
            </a:r>
            <a:r>
              <a:rPr dirty="0"/>
              <a:t> </a:t>
            </a:r>
            <a:r>
              <a:rPr dirty="0" err="1"/>
              <a:t>채우기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확장·팽창·번식하려는</a:t>
            </a:r>
            <a:r>
              <a:rPr dirty="0"/>
              <a:t> </a:t>
            </a:r>
            <a:r>
              <a:rPr dirty="0" err="1"/>
              <a:t>존재로</a:t>
            </a:r>
            <a:r>
              <a:rPr dirty="0"/>
              <a:t> </a:t>
            </a:r>
            <a:r>
              <a:rPr dirty="0" err="1"/>
              <a:t>설정한다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9836" y="3611969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669836" y="3922865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선의</a:t>
            </a:r>
            <a:r>
              <a:rPr dirty="0"/>
              <a:t> 0인 </a:t>
            </a:r>
            <a:r>
              <a:rPr dirty="0" err="1"/>
              <a:t>인간만</a:t>
            </a:r>
            <a:r>
              <a:rPr dirty="0"/>
              <a:t> </a:t>
            </a:r>
            <a:r>
              <a:rPr dirty="0" err="1"/>
              <a:t>정규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파동의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자발적으로</a:t>
            </a:r>
            <a:r>
              <a:rPr dirty="0"/>
              <a:t> </a:t>
            </a:r>
            <a:r>
              <a:rPr dirty="0" err="1"/>
              <a:t>균열에</a:t>
            </a:r>
            <a:r>
              <a:rPr dirty="0"/>
              <a:t> </a:t>
            </a:r>
            <a:r>
              <a:rPr dirty="0" err="1"/>
              <a:t>들어간</a:t>
            </a:r>
            <a:r>
              <a:rPr dirty="0"/>
              <a:t> </a:t>
            </a:r>
            <a:r>
              <a:rPr dirty="0" err="1"/>
              <a:t>인간은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</a:t>
            </a:r>
            <a:r>
              <a:rPr dirty="0"/>
              <a:t> </a:t>
            </a:r>
            <a:r>
              <a:rPr dirty="0" err="1"/>
              <a:t>시간과</a:t>
            </a:r>
            <a:r>
              <a:rPr dirty="0"/>
              <a:t> </a:t>
            </a:r>
            <a:r>
              <a:rPr dirty="0" err="1"/>
              <a:t>무관하게</a:t>
            </a:r>
            <a:r>
              <a:rPr dirty="0"/>
              <a:t> </a:t>
            </a:r>
            <a:r>
              <a:rPr dirty="0" err="1"/>
              <a:t>변이된다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균열은</a:t>
            </a:r>
            <a:r>
              <a:rPr dirty="0"/>
              <a:t> </a:t>
            </a:r>
            <a:r>
              <a:rPr dirty="0" err="1"/>
              <a:t>주인공</a:t>
            </a:r>
            <a:r>
              <a:rPr dirty="0"/>
              <a:t> </a:t>
            </a:r>
            <a:r>
              <a:rPr dirty="0" err="1"/>
              <a:t>탄생의</a:t>
            </a:r>
            <a:r>
              <a:rPr dirty="0"/>
              <a:t> </a:t>
            </a:r>
            <a:r>
              <a:rPr dirty="0" err="1"/>
              <a:t>근원이며</a:t>
            </a:r>
            <a:r>
              <a:rPr dirty="0"/>
              <a:t>, </a:t>
            </a:r>
            <a:r>
              <a:rPr dirty="0" err="1"/>
              <a:t>선의</a:t>
            </a:r>
            <a:r>
              <a:rPr dirty="0"/>
              <a:t> ∞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규칙의</a:t>
            </a:r>
            <a:r>
              <a:rPr dirty="0"/>
              <a:t> </a:t>
            </a:r>
            <a:r>
              <a:rPr dirty="0" err="1"/>
              <a:t>원인이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내부에는</a:t>
            </a:r>
            <a:r>
              <a:rPr dirty="0"/>
              <a:t> </a:t>
            </a:r>
            <a:r>
              <a:rPr dirty="0" err="1"/>
              <a:t>부정성이</a:t>
            </a:r>
            <a:r>
              <a:rPr dirty="0"/>
              <a:t> </a:t>
            </a:r>
            <a:r>
              <a:rPr dirty="0" err="1"/>
              <a:t>빠진</a:t>
            </a:r>
            <a:r>
              <a:rPr dirty="0"/>
              <a:t>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껍데기와</a:t>
            </a:r>
            <a:r>
              <a:rPr dirty="0"/>
              <a:t> </a:t>
            </a:r>
            <a:r>
              <a:rPr dirty="0" err="1"/>
              <a:t>선의의</a:t>
            </a:r>
            <a:r>
              <a:rPr dirty="0"/>
              <a:t> </a:t>
            </a:r>
            <a:r>
              <a:rPr dirty="0" err="1"/>
              <a:t>바다가</a:t>
            </a:r>
            <a:r>
              <a:rPr dirty="0"/>
              <a:t> </a:t>
            </a:r>
            <a:r>
              <a:rPr dirty="0" err="1"/>
              <a:t>존재한다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NPC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캐릭터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12948" y="1852454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선의를</a:t>
            </a:r>
            <a:r>
              <a:rPr dirty="0"/>
              <a:t> </a:t>
            </a:r>
            <a:r>
              <a:rPr dirty="0" err="1"/>
              <a:t>보유하고</a:t>
            </a:r>
            <a:r>
              <a:rPr dirty="0"/>
              <a:t> </a:t>
            </a:r>
            <a:r>
              <a:rPr dirty="0" err="1"/>
              <a:t>변화시키는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대상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708087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NPC 서사/행동 → 선의 변화 → 0 판정 → 유인·AI·구조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556" y="3628705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요소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556" y="3939601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NPC는</a:t>
            </a:r>
            <a:r>
              <a:rPr dirty="0"/>
              <a:t> </a:t>
            </a:r>
            <a:r>
              <a:rPr dirty="0" err="1"/>
              <a:t>선의를</a:t>
            </a:r>
            <a:r>
              <a:rPr dirty="0"/>
              <a:t> </a:t>
            </a:r>
            <a:r>
              <a:rPr dirty="0" err="1"/>
              <a:t>보유한</a:t>
            </a:r>
            <a:r>
              <a:rPr dirty="0"/>
              <a:t>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캐릭터이며</a:t>
            </a:r>
            <a:r>
              <a:rPr dirty="0"/>
              <a:t>, </a:t>
            </a:r>
            <a:r>
              <a:rPr dirty="0" err="1"/>
              <a:t>각자의</a:t>
            </a:r>
            <a:r>
              <a:rPr dirty="0"/>
              <a:t> </a:t>
            </a:r>
            <a:r>
              <a:rPr dirty="0" err="1"/>
              <a:t>서사·행동·사건에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선의가</a:t>
            </a:r>
            <a:r>
              <a:rPr dirty="0"/>
              <a:t> </a:t>
            </a:r>
            <a:r>
              <a:rPr dirty="0" err="1"/>
              <a:t>유지되거나</a:t>
            </a:r>
            <a:r>
              <a:rPr dirty="0"/>
              <a:t> </a:t>
            </a:r>
            <a:r>
              <a:rPr dirty="0" err="1"/>
              <a:t>감소한다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9692" y="3628705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679692" y="3939601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감소는</a:t>
            </a:r>
            <a:r>
              <a:rPr dirty="0"/>
              <a:t> </a:t>
            </a:r>
            <a:r>
              <a:rPr dirty="0" err="1"/>
              <a:t>전투</a:t>
            </a:r>
            <a:r>
              <a:rPr dirty="0"/>
              <a:t> </a:t>
            </a:r>
            <a:r>
              <a:rPr dirty="0" err="1"/>
              <a:t>피해가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마음·행동·서사적</a:t>
            </a:r>
            <a:r>
              <a:rPr dirty="0"/>
              <a:t> </a:t>
            </a:r>
            <a:r>
              <a:rPr dirty="0" err="1"/>
              <a:t>사건의</a:t>
            </a:r>
            <a:r>
              <a:rPr dirty="0"/>
              <a:t> </a:t>
            </a:r>
            <a:r>
              <a:rPr dirty="0" err="1"/>
              <a:t>결과다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NPC는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</a:t>
            </a:r>
            <a:r>
              <a:rPr dirty="0"/>
              <a:t> </a:t>
            </a:r>
            <a:r>
              <a:rPr dirty="0" err="1"/>
              <a:t>시간에</a:t>
            </a:r>
            <a:r>
              <a:rPr dirty="0"/>
              <a:t> </a:t>
            </a:r>
            <a:r>
              <a:rPr dirty="0" err="1"/>
              <a:t>균열로</a:t>
            </a:r>
            <a:r>
              <a:rPr dirty="0"/>
              <a:t> </a:t>
            </a:r>
            <a:r>
              <a:rPr dirty="0" err="1"/>
              <a:t>끌려간다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비유인</a:t>
            </a:r>
            <a:r>
              <a:rPr dirty="0"/>
              <a:t> </a:t>
            </a:r>
            <a:r>
              <a:rPr dirty="0" err="1"/>
              <a:t>시간대의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NPC는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몬스터에게</a:t>
            </a:r>
            <a:r>
              <a:rPr dirty="0"/>
              <a:t> </a:t>
            </a:r>
            <a:r>
              <a:rPr dirty="0" err="1"/>
              <a:t>비사냥</a:t>
            </a:r>
            <a:r>
              <a:rPr dirty="0"/>
              <a:t> </a:t>
            </a:r>
            <a:r>
              <a:rPr dirty="0" err="1"/>
              <a:t>대상으로</a:t>
            </a:r>
            <a:r>
              <a:rPr dirty="0"/>
              <a:t> </a:t>
            </a:r>
            <a:r>
              <a:rPr dirty="0" err="1"/>
              <a:t>인식된다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NPC의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상태는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, </a:t>
            </a:r>
            <a:r>
              <a:rPr dirty="0" err="1"/>
              <a:t>퀘스트</a:t>
            </a:r>
            <a:r>
              <a:rPr dirty="0"/>
              <a:t>, </a:t>
            </a:r>
            <a:r>
              <a:rPr dirty="0" err="1"/>
              <a:t>변이</a:t>
            </a:r>
            <a:r>
              <a:rPr dirty="0"/>
              <a:t> </a:t>
            </a:r>
            <a:r>
              <a:rPr dirty="0" err="1"/>
              <a:t>가능성으로</a:t>
            </a:r>
            <a:r>
              <a:rPr dirty="0"/>
              <a:t> </a:t>
            </a:r>
            <a:r>
              <a:rPr dirty="0" err="1"/>
              <a:t>확장된다</a:t>
            </a:r>
            <a:r>
              <a:rPr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F95251-183E-4426-A744-8274A83F1907}"/>
              </a:ext>
            </a:extLst>
          </p:cNvPr>
          <p:cNvSpPr txBox="1"/>
          <p:nvPr/>
        </p:nvSpPr>
        <p:spPr>
          <a:xfrm>
            <a:off x="1000556" y="4899721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19D53C-C266-4231-A63F-D2726D9FDECA}"/>
              </a:ext>
            </a:extLst>
          </p:cNvPr>
          <p:cNvSpPr txBox="1"/>
          <p:nvPr/>
        </p:nvSpPr>
        <p:spPr>
          <a:xfrm>
            <a:off x="1000556" y="5210617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NPC는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시스템이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적용되는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단위다</a:t>
            </a:r>
            <a:r>
              <a:rPr dirty="0"/>
              <a:t>. </a:t>
            </a:r>
            <a:r>
              <a:rPr dirty="0" err="1"/>
              <a:t>선의가</a:t>
            </a:r>
            <a:r>
              <a:rPr dirty="0"/>
              <a:t> 0이 </a:t>
            </a:r>
            <a:r>
              <a:rPr dirty="0" err="1"/>
              <a:t>되면</a:t>
            </a:r>
            <a:r>
              <a:rPr dirty="0"/>
              <a:t> </a:t>
            </a:r>
            <a:r>
              <a:rPr dirty="0" err="1"/>
              <a:t>균열의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되고</a:t>
            </a:r>
            <a:r>
              <a:rPr dirty="0"/>
              <a:t>,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시간대에는</a:t>
            </a:r>
            <a:r>
              <a:rPr dirty="0"/>
              <a:t> </a:t>
            </a:r>
            <a:r>
              <a:rPr dirty="0" err="1"/>
              <a:t>몬스터</a:t>
            </a:r>
            <a:r>
              <a:rPr dirty="0"/>
              <a:t> </a:t>
            </a:r>
            <a:r>
              <a:rPr dirty="0" err="1"/>
              <a:t>AI의</a:t>
            </a:r>
            <a:r>
              <a:rPr dirty="0"/>
              <a:t> </a:t>
            </a:r>
            <a:r>
              <a:rPr dirty="0" err="1"/>
              <a:t>특수</a:t>
            </a:r>
            <a:r>
              <a:rPr dirty="0"/>
              <a:t> </a:t>
            </a:r>
            <a:r>
              <a:rPr dirty="0" err="1"/>
              <a:t>인식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</p:txBody>
      </p:sp>
      <p:sp>
        <p:nvSpPr>
          <p:cNvPr id="23" name="Oval 4">
            <a:extLst>
              <a:ext uri="{FF2B5EF4-FFF2-40B4-BE49-F238E27FC236}">
                <a16:creationId xmlns:a16="http://schemas.microsoft.com/office/drawing/2014/main" id="{F0FB2B88-5B45-4975-8D4F-E1A43B8431D2}"/>
              </a:ext>
            </a:extLst>
          </p:cNvPr>
          <p:cNvSpPr/>
          <p:nvPr/>
        </p:nvSpPr>
        <p:spPr>
          <a:xfrm>
            <a:off x="1000556" y="1588481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4" name="Oval 5">
            <a:extLst>
              <a:ext uri="{FF2B5EF4-FFF2-40B4-BE49-F238E27FC236}">
                <a16:creationId xmlns:a16="http://schemas.microsoft.com/office/drawing/2014/main" id="{1E38F345-FDE5-4C6A-BAE3-D44D3DF15DEE}"/>
              </a:ext>
            </a:extLst>
          </p:cNvPr>
          <p:cNvSpPr/>
          <p:nvPr/>
        </p:nvSpPr>
        <p:spPr>
          <a:xfrm>
            <a:off x="1937817" y="1629630"/>
            <a:ext cx="768096" cy="768096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NPC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×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균열 하위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48719" y="1830797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0을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이동으로</a:t>
            </a:r>
            <a:r>
              <a:rPr dirty="0"/>
              <a:t> </a:t>
            </a:r>
            <a:r>
              <a:rPr dirty="0" err="1"/>
              <a:t>전환하는</a:t>
            </a:r>
            <a:r>
              <a:rPr dirty="0"/>
              <a:t> </a:t>
            </a:r>
            <a:r>
              <a:rPr dirty="0" err="1"/>
              <a:t>현상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615184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NPC + 유인 파동 ON → 균열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556" y="3456832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요소</a:t>
            </a:r>
            <a:r>
              <a:rPr dirty="0"/>
              <a:t> </a:t>
            </a:r>
            <a:r>
              <a:rPr dirty="0" err="1"/>
              <a:t>정의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00556" y="3767728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유인 파동은 특정 시간대에 균열이 발생시키는 유인 현상으로, 선의 0인 인간을 균열 방향으로 이동하게 만든다.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556" y="4850091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선의와</a:t>
            </a:r>
            <a:r>
              <a:rPr dirty="0"/>
              <a:t> </a:t>
            </a:r>
            <a:r>
              <a:rPr dirty="0" err="1"/>
              <a:t>맞물리는</a:t>
            </a:r>
            <a:r>
              <a:rPr dirty="0"/>
              <a:t> </a:t>
            </a:r>
            <a:r>
              <a:rPr dirty="0" err="1"/>
              <a:t>부분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00556" y="5160987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0이라는 </a:t>
            </a:r>
            <a:r>
              <a:rPr dirty="0" err="1"/>
              <a:t>판정은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파동을</a:t>
            </a:r>
            <a:r>
              <a:rPr dirty="0"/>
              <a:t> </a:t>
            </a:r>
            <a:r>
              <a:rPr dirty="0" err="1"/>
              <a:t>만나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행동으로</a:t>
            </a:r>
            <a:r>
              <a:rPr dirty="0"/>
              <a:t> </a:t>
            </a:r>
            <a:r>
              <a:rPr dirty="0" err="1"/>
              <a:t>바뀐다</a:t>
            </a:r>
            <a:r>
              <a:rPr dirty="0"/>
              <a:t>. </a:t>
            </a:r>
            <a:r>
              <a:rPr dirty="0" err="1"/>
              <a:t>선의</a:t>
            </a:r>
            <a:r>
              <a:rPr dirty="0"/>
              <a:t> 0이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인간은</a:t>
            </a:r>
            <a:r>
              <a:rPr dirty="0"/>
              <a:t> </a:t>
            </a:r>
            <a:r>
              <a:rPr dirty="0" err="1"/>
              <a:t>파동의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아니며</a:t>
            </a:r>
            <a:r>
              <a:rPr dirty="0"/>
              <a:t>, </a:t>
            </a:r>
            <a:r>
              <a:rPr dirty="0" err="1"/>
              <a:t>파동을</a:t>
            </a:r>
            <a:r>
              <a:rPr dirty="0"/>
              <a:t> </a:t>
            </a:r>
            <a:r>
              <a:rPr dirty="0" err="1"/>
              <a:t>받는</a:t>
            </a:r>
            <a:r>
              <a:rPr dirty="0"/>
              <a:t> </a:t>
            </a:r>
            <a:r>
              <a:rPr dirty="0" err="1"/>
              <a:t>사람들도</a:t>
            </a:r>
            <a:r>
              <a:rPr dirty="0"/>
              <a:t> </a:t>
            </a:r>
            <a:r>
              <a:rPr dirty="0" err="1"/>
              <a:t>겉으로는</a:t>
            </a:r>
            <a:r>
              <a:rPr dirty="0"/>
              <a:t> </a:t>
            </a:r>
            <a:r>
              <a:rPr dirty="0" err="1"/>
              <a:t>평범하게</a:t>
            </a:r>
            <a:r>
              <a:rPr dirty="0"/>
              <a:t> </a:t>
            </a:r>
            <a:r>
              <a:rPr dirty="0" err="1"/>
              <a:t>이동하는</a:t>
            </a:r>
            <a:r>
              <a:rPr dirty="0"/>
              <a:t> </a:t>
            </a:r>
            <a:r>
              <a:rPr dirty="0" err="1"/>
              <a:t>것처럼</a:t>
            </a:r>
            <a:r>
              <a:rPr dirty="0"/>
              <a:t> </a:t>
            </a:r>
            <a:r>
              <a:rPr dirty="0" err="1"/>
              <a:t>보일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9692" y="3469173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9692" y="3780069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늦은</a:t>
            </a:r>
            <a:r>
              <a:rPr dirty="0"/>
              <a:t> </a:t>
            </a:r>
            <a:r>
              <a:rPr dirty="0" err="1"/>
              <a:t>밤부터</a:t>
            </a:r>
            <a:r>
              <a:rPr dirty="0"/>
              <a:t> </a:t>
            </a:r>
            <a:r>
              <a:rPr dirty="0" err="1"/>
              <a:t>이른</a:t>
            </a:r>
            <a:r>
              <a:rPr dirty="0"/>
              <a:t> </a:t>
            </a:r>
            <a:r>
              <a:rPr dirty="0" err="1"/>
              <a:t>새벽까지</a:t>
            </a:r>
            <a:r>
              <a:rPr dirty="0"/>
              <a:t> </a:t>
            </a:r>
            <a:r>
              <a:rPr dirty="0" err="1"/>
              <a:t>정규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파동이</a:t>
            </a:r>
            <a:r>
              <a:rPr dirty="0"/>
              <a:t> </a:t>
            </a:r>
            <a:r>
              <a:rPr dirty="0" err="1"/>
              <a:t>발생한다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NPC만</a:t>
            </a:r>
            <a:r>
              <a:rPr dirty="0"/>
              <a:t> </a:t>
            </a:r>
            <a:r>
              <a:rPr dirty="0" err="1"/>
              <a:t>파동의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받는다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낮 </a:t>
            </a:r>
            <a:r>
              <a:rPr dirty="0" err="1"/>
              <a:t>시간대는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파동을</a:t>
            </a:r>
            <a:r>
              <a:rPr dirty="0"/>
              <a:t> </a:t>
            </a:r>
            <a:r>
              <a:rPr dirty="0" err="1"/>
              <a:t>준비하는</a:t>
            </a:r>
            <a:r>
              <a:rPr dirty="0"/>
              <a:t> </a:t>
            </a:r>
            <a:r>
              <a:rPr dirty="0" err="1"/>
              <a:t>상태로</a:t>
            </a:r>
            <a:r>
              <a:rPr dirty="0"/>
              <a:t> </a:t>
            </a:r>
            <a:r>
              <a:rPr dirty="0" err="1"/>
              <a:t>둔다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파동은</a:t>
            </a:r>
            <a:r>
              <a:rPr dirty="0"/>
              <a:t> </a:t>
            </a:r>
            <a:r>
              <a:rPr dirty="0" err="1"/>
              <a:t>NPC와</a:t>
            </a:r>
            <a:r>
              <a:rPr dirty="0"/>
              <a:t> </a:t>
            </a:r>
            <a:r>
              <a:rPr dirty="0" err="1"/>
              <a:t>균열을</a:t>
            </a:r>
            <a:r>
              <a:rPr dirty="0"/>
              <a:t> </a:t>
            </a:r>
            <a:r>
              <a:rPr dirty="0" err="1"/>
              <a:t>연결하는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 </a:t>
            </a:r>
            <a:r>
              <a:rPr dirty="0" err="1"/>
              <a:t>톱니로</a:t>
            </a:r>
            <a:r>
              <a:rPr dirty="0"/>
              <a:t> </a:t>
            </a:r>
            <a:r>
              <a:rPr dirty="0" err="1"/>
              <a:t>작동한다</a:t>
            </a:r>
            <a:r>
              <a:rPr dirty="0"/>
              <a:t>.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654D26E4-C6BA-463E-849C-F64093FAE100}"/>
              </a:ext>
            </a:extLst>
          </p:cNvPr>
          <p:cNvSpPr/>
          <p:nvPr/>
        </p:nvSpPr>
        <p:spPr>
          <a:xfrm>
            <a:off x="1000556" y="1588481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D75983DE-B91F-437B-A65B-EB32DC85BB4F}"/>
              </a:ext>
            </a:extLst>
          </p:cNvPr>
          <p:cNvSpPr/>
          <p:nvPr/>
        </p:nvSpPr>
        <p:spPr>
          <a:xfrm>
            <a:off x="1937817" y="1629630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t>유인 파동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시간대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조건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39840" y="1834225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0의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갈라놓는</a:t>
            </a:r>
            <a:r>
              <a:rPr dirty="0"/>
              <a:t> </a:t>
            </a:r>
            <a:r>
              <a:rPr dirty="0" err="1"/>
              <a:t>조건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739116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× 시간대 → 균열 이동 / 월드 잔류 / AI 특수 행동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31508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요소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42404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시간대는 균열의 유인 파동 발동 여부와 몬스터 AI의 특수 행동 노출 여부를 바꾸는 월드 조건이다.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20056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30952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같은 선의 0 상태라도 시간대에 따라 결과가 달라진다. 유인 파동 시간에는 균열 이동이 우선되고, 유인 파동이 없는 시간에는 월드에 남은 선의 0 NPC를 몬스터가 타입별로 다르게 다룬다.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631508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942404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유인 시간대: 선의 0 NPC가 균열로 향한다.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비유인 시간대: 선의 0 NPC가 월드에 남는다.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월드에 남은 선의 0 NPC는 모든 몬스터에게 공통적으로 비사냥 대상이다.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시간대는 단순 배경이 아니라 콘텐츠 발생 조건으로 관리한다.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D73DB639-6FAB-4CB3-8A21-6E415BE8A21B}"/>
              </a:ext>
            </a:extLst>
          </p:cNvPr>
          <p:cNvSpPr/>
          <p:nvPr/>
        </p:nvSpPr>
        <p:spPr>
          <a:xfrm>
            <a:off x="1000556" y="1591786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선의</a:t>
            </a:r>
            <a:endParaRPr dirty="0"/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D473BD7-C635-48EB-A794-3E4D94D84669}"/>
              </a:ext>
            </a:extLst>
          </p:cNvPr>
          <p:cNvSpPr/>
          <p:nvPr/>
        </p:nvSpPr>
        <p:spPr>
          <a:xfrm>
            <a:off x="1937817" y="1632935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시간대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변이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상태 변화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77697" y="1833105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t>인간의 부정적 요소가 몬스터로 배출되는 과정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3684" y="2891790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+ 균열 진입 → 부정성 분리 → 몬스터 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921988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요소</a:t>
            </a:r>
            <a:r>
              <a:rPr dirty="0"/>
              <a:t> </a:t>
            </a:r>
            <a:r>
              <a:rPr dirty="0" err="1"/>
              <a:t>정의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41248" y="4232884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변이는 선의 0인 인간이 균열에 들어갔을 때, 인간 자체가 사라지는 것이 아니라 부정적 요소가 분리되어 몬스터가 되는 과정이다.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55576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선의와</a:t>
            </a:r>
            <a:r>
              <a:rPr dirty="0"/>
              <a:t> </a:t>
            </a:r>
            <a:r>
              <a:rPr dirty="0" err="1"/>
              <a:t>맞물리는</a:t>
            </a:r>
            <a:r>
              <a:rPr dirty="0"/>
              <a:t> </a:t>
            </a:r>
            <a:r>
              <a:rPr dirty="0" err="1"/>
              <a:t>부분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1248" y="5366472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고갈은</a:t>
            </a:r>
            <a:r>
              <a:rPr dirty="0"/>
              <a:t> </a:t>
            </a:r>
            <a:r>
              <a:rPr dirty="0" err="1"/>
              <a:t>변이의</a:t>
            </a:r>
            <a:r>
              <a:rPr dirty="0"/>
              <a:t> </a:t>
            </a:r>
            <a:r>
              <a:rPr dirty="0" err="1"/>
              <a:t>조건이다</a:t>
            </a:r>
            <a:r>
              <a:rPr dirty="0"/>
              <a:t>. </a:t>
            </a:r>
            <a:r>
              <a:rPr dirty="0" err="1"/>
              <a:t>균열은</a:t>
            </a:r>
            <a:r>
              <a:rPr dirty="0"/>
              <a:t> </a:t>
            </a:r>
            <a:r>
              <a:rPr dirty="0" err="1"/>
              <a:t>이기심</a:t>
            </a:r>
            <a:r>
              <a:rPr dirty="0"/>
              <a:t>, </a:t>
            </a:r>
            <a:r>
              <a:rPr dirty="0" err="1"/>
              <a:t>폭력성</a:t>
            </a:r>
            <a:r>
              <a:rPr dirty="0"/>
              <a:t>, </a:t>
            </a:r>
            <a:r>
              <a:rPr dirty="0" err="1"/>
              <a:t>부도덕함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부정적인</a:t>
            </a:r>
            <a:r>
              <a:rPr dirty="0"/>
              <a:t> </a:t>
            </a:r>
            <a:r>
              <a:rPr dirty="0" err="1"/>
              <a:t>것들을</a:t>
            </a:r>
            <a:r>
              <a:rPr dirty="0"/>
              <a:t> </a:t>
            </a:r>
            <a:r>
              <a:rPr dirty="0" err="1"/>
              <a:t>한데</a:t>
            </a:r>
            <a:r>
              <a:rPr dirty="0"/>
              <a:t> </a:t>
            </a:r>
            <a:r>
              <a:rPr dirty="0" err="1"/>
              <a:t>뭉쳐</a:t>
            </a:r>
            <a:r>
              <a:rPr dirty="0"/>
              <a:t>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하나당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괴물로</a:t>
            </a:r>
            <a:r>
              <a:rPr dirty="0"/>
              <a:t>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밖에</a:t>
            </a:r>
            <a:r>
              <a:rPr dirty="0"/>
              <a:t> </a:t>
            </a:r>
            <a:r>
              <a:rPr dirty="0" err="1"/>
              <a:t>배출한다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921988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232884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변이</a:t>
            </a:r>
            <a:r>
              <a:rPr dirty="0"/>
              <a:t> </a:t>
            </a:r>
            <a:r>
              <a:rPr dirty="0" err="1"/>
              <a:t>대상은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상태이거나</a:t>
            </a:r>
            <a:r>
              <a:rPr dirty="0"/>
              <a:t> </a:t>
            </a:r>
            <a:r>
              <a:rPr dirty="0" err="1"/>
              <a:t>자발적으로</a:t>
            </a:r>
            <a:r>
              <a:rPr dirty="0"/>
              <a:t> </a:t>
            </a:r>
            <a:r>
              <a:rPr dirty="0" err="1"/>
              <a:t>균열에</a:t>
            </a:r>
            <a:r>
              <a:rPr dirty="0"/>
              <a:t> </a:t>
            </a:r>
            <a:r>
              <a:rPr dirty="0" err="1"/>
              <a:t>들어간</a:t>
            </a:r>
            <a:r>
              <a:rPr dirty="0"/>
              <a:t> </a:t>
            </a:r>
            <a:r>
              <a:rPr dirty="0" err="1"/>
              <a:t>인간이다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본체는</a:t>
            </a:r>
            <a:r>
              <a:rPr dirty="0"/>
              <a:t>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껍데기처럼</a:t>
            </a:r>
            <a:r>
              <a:rPr dirty="0"/>
              <a:t> </a:t>
            </a:r>
            <a:r>
              <a:rPr dirty="0" err="1"/>
              <a:t>남고</a:t>
            </a:r>
            <a:r>
              <a:rPr dirty="0"/>
              <a:t>, </a:t>
            </a:r>
            <a:r>
              <a:rPr dirty="0" err="1"/>
              <a:t>부정적</a:t>
            </a:r>
            <a:r>
              <a:rPr dirty="0"/>
              <a:t> </a:t>
            </a:r>
            <a:r>
              <a:rPr dirty="0" err="1"/>
              <a:t>요소만</a:t>
            </a:r>
            <a:r>
              <a:rPr dirty="0"/>
              <a:t> </a:t>
            </a:r>
            <a:r>
              <a:rPr dirty="0" err="1"/>
              <a:t>몬스터로</a:t>
            </a:r>
            <a:r>
              <a:rPr dirty="0"/>
              <a:t> </a:t>
            </a:r>
            <a:r>
              <a:rPr dirty="0" err="1"/>
              <a:t>배출된다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변이</a:t>
            </a:r>
            <a:r>
              <a:rPr dirty="0"/>
              <a:t> 전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트라우마와</a:t>
            </a:r>
            <a:r>
              <a:rPr dirty="0"/>
              <a:t> </a:t>
            </a:r>
            <a:r>
              <a:rPr dirty="0" err="1"/>
              <a:t>부정성이</a:t>
            </a:r>
            <a:r>
              <a:rPr dirty="0"/>
              <a:t> </a:t>
            </a:r>
            <a:r>
              <a:rPr dirty="0" err="1"/>
              <a:t>몬스터의</a:t>
            </a:r>
            <a:r>
              <a:rPr dirty="0"/>
              <a:t> </a:t>
            </a:r>
            <a:r>
              <a:rPr dirty="0" err="1"/>
              <a:t>외형·타입·패턴에</a:t>
            </a:r>
            <a:r>
              <a:rPr dirty="0"/>
              <a:t> </a:t>
            </a:r>
            <a:r>
              <a:rPr dirty="0" err="1"/>
              <a:t>반영된다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변이는</a:t>
            </a:r>
            <a:r>
              <a:rPr dirty="0"/>
              <a:t> NPC </a:t>
            </a:r>
            <a:r>
              <a:rPr dirty="0" err="1"/>
              <a:t>서사를</a:t>
            </a:r>
            <a:r>
              <a:rPr dirty="0"/>
              <a:t> </a:t>
            </a:r>
            <a:r>
              <a:rPr dirty="0" err="1"/>
              <a:t>몬스터</a:t>
            </a:r>
            <a:r>
              <a:rPr dirty="0"/>
              <a:t> </a:t>
            </a:r>
            <a:r>
              <a:rPr dirty="0" err="1"/>
              <a:t>콘텐츠로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</a:t>
            </a:r>
            <a:r>
              <a:rPr dirty="0" err="1"/>
              <a:t>변환</a:t>
            </a:r>
            <a:r>
              <a:rPr dirty="0"/>
              <a:t> </a:t>
            </a:r>
            <a:r>
              <a:rPr dirty="0" err="1"/>
              <a:t>톱니다</a:t>
            </a:r>
            <a:r>
              <a:rPr dirty="0"/>
              <a:t>.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ABB25042-8046-4D8F-BE0A-BA21C7C3CF96}"/>
              </a:ext>
            </a:extLst>
          </p:cNvPr>
          <p:cNvSpPr/>
          <p:nvPr/>
        </p:nvSpPr>
        <p:spPr>
          <a:xfrm>
            <a:off x="1000556" y="1590789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EE1CF7EE-145E-488C-8ACD-455B06396D38}"/>
              </a:ext>
            </a:extLst>
          </p:cNvPr>
          <p:cNvSpPr/>
          <p:nvPr/>
        </p:nvSpPr>
        <p:spPr>
          <a:xfrm>
            <a:off x="1937817" y="1631938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변이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인간 껍데기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균열 내부 잔존 요소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86574" y="1920240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부정적</a:t>
            </a:r>
            <a:r>
              <a:rPr dirty="0"/>
              <a:t> </a:t>
            </a:r>
            <a:r>
              <a:rPr dirty="0" err="1"/>
              <a:t>요소가</a:t>
            </a:r>
            <a:r>
              <a:rPr dirty="0"/>
              <a:t> </a:t>
            </a:r>
            <a:r>
              <a:rPr dirty="0" err="1"/>
              <a:t>빠져나간</a:t>
            </a:r>
            <a:r>
              <a:rPr dirty="0"/>
              <a:t>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잔여</a:t>
            </a:r>
            <a:r>
              <a:rPr dirty="0"/>
              <a:t> </a:t>
            </a:r>
            <a:r>
              <a:rPr dirty="0" err="1"/>
              <a:t>상태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803312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변이 → 부정성 배출 + 인간 껍데기 잔존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556" y="3934616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요소</a:t>
            </a:r>
            <a:r>
              <a:rPr dirty="0"/>
              <a:t> </a:t>
            </a:r>
            <a:r>
              <a:rPr dirty="0" err="1"/>
              <a:t>정의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00556" y="4245512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인간 껍데기는 변이 과정에서 부정적인 요소가 빠져나간 뒤 균열 내부에 남는 인간의 잔여 상태다.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556" y="5065920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선의와</a:t>
            </a:r>
            <a:r>
              <a:rPr dirty="0"/>
              <a:t> </a:t>
            </a:r>
            <a:r>
              <a:rPr dirty="0" err="1"/>
              <a:t>맞물리는</a:t>
            </a:r>
            <a:r>
              <a:rPr dirty="0"/>
              <a:t> </a:t>
            </a:r>
            <a:r>
              <a:rPr dirty="0" err="1"/>
              <a:t>부분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00556" y="5376816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선의 0 인간이 변이한다고 해서 인간 전체가 곧바로 몬스터가 되는 것은 아니다. 선의가 고갈된 인간에게서 부정성만 분리되어 몬스터가 되고, 남은 껍데기는 선의의 바다 위에 보관된다.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9836" y="3934616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9836" y="4245512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인간 하나당 하나의 몬스터가 배출되고, 하나의 인간 껍데기가 남는다.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껍데기는 균열 내부에서 식물인간 같은 상태로 떠다닌다.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이 설정은 변이가 완전한 죽음이 아니라 복원 가능성과 연결될 수 있음을 만든다.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인간 껍데기는 변이와 선의의 바다를 연결하는 중간 결과물이다.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79DCF5C8-AC0F-4902-8E49-75497450ACAA}"/>
              </a:ext>
            </a:extLst>
          </p:cNvPr>
          <p:cNvSpPr/>
          <p:nvPr/>
        </p:nvSpPr>
        <p:spPr>
          <a:xfrm>
            <a:off x="1000556" y="158850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7795387F-84A4-449E-992E-9DB2C47E1606}"/>
              </a:ext>
            </a:extLst>
          </p:cNvPr>
          <p:cNvSpPr/>
          <p:nvPr/>
        </p:nvSpPr>
        <p:spPr>
          <a:xfrm>
            <a:off x="1937817" y="1629654"/>
            <a:ext cx="768096" cy="76809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인간</a:t>
            </a:r>
            <a:endParaRPr lang="en-US" dirty="0"/>
          </a:p>
          <a:p>
            <a:pPr algn="ctr"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껍데기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선의의 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균열 내부 회복 공간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12948" y="1856942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껍데기를</a:t>
            </a:r>
            <a:r>
              <a:rPr dirty="0"/>
              <a:t> </a:t>
            </a:r>
            <a:r>
              <a:rPr dirty="0" err="1"/>
              <a:t>선의로</a:t>
            </a:r>
            <a:r>
              <a:rPr dirty="0"/>
              <a:t> </a:t>
            </a:r>
            <a:r>
              <a:rPr dirty="0" err="1"/>
              <a:t>채우는</a:t>
            </a:r>
            <a:r>
              <a:rPr dirty="0"/>
              <a:t>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공간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806871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인간 껍데기 + 선의의 바다 → 선의 충전 → 복원 가능성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08291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요소</a:t>
            </a:r>
            <a:r>
              <a:rPr dirty="0"/>
              <a:t> </a:t>
            </a:r>
            <a:r>
              <a:rPr dirty="0" err="1"/>
              <a:t>정의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41248" y="4119187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선의의 바다는 균열 내부에 존재하는 공간으로, 부정성이 빠진 인간 껍데기가 선의로 채워지는 장소다.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106586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선의와</a:t>
            </a:r>
            <a:r>
              <a:rPr dirty="0"/>
              <a:t> </a:t>
            </a:r>
            <a:r>
              <a:rPr dirty="0" err="1"/>
              <a:t>맞물리는</a:t>
            </a:r>
            <a:r>
              <a:rPr dirty="0"/>
              <a:t> </a:t>
            </a:r>
            <a:r>
              <a:rPr dirty="0" err="1"/>
              <a:t>부분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1248" y="5417482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균열이 바깥세상에서 나쁜 것들을 모두 제거하고 나면, 선의로 가득 채워진 인간 껍데기들이 다시 균열 밖에서 살게 된다는 가능성을 만든다. 이는 균열의 목적과 엔딩 구조를 연결한다.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808291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119187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인간 껍데기는 선의의 바다 위에 떠다니며 선의로 채워진다.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선의의 바다는 균열이 세상을 선의로 채우려는 목적을 시각화한다.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복원 가능성, 균열 내부 탐색, 엔딩 선택지와 연결하기 좋다.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선의가 단순 수치가 아니라 세계를 재구성하는 물질/상태처럼 보이게 만든다.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A3104B96-09D8-4039-9107-FA6CA897A61C}"/>
              </a:ext>
            </a:extLst>
          </p:cNvPr>
          <p:cNvSpPr/>
          <p:nvPr/>
        </p:nvSpPr>
        <p:spPr>
          <a:xfrm>
            <a:off x="1000556" y="159596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FBA26AA1-062E-48F9-BCBE-B030EF653469}"/>
              </a:ext>
            </a:extLst>
          </p:cNvPr>
          <p:cNvSpPr/>
          <p:nvPr/>
        </p:nvSpPr>
        <p:spPr>
          <a:xfrm>
            <a:off x="1937817" y="1637114"/>
            <a:ext cx="768096" cy="76809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선의의</a:t>
            </a:r>
            <a:endParaRPr lang="en-US" dirty="0"/>
          </a:p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바다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몬스터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전투·월드 개체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08516" y="183285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고갈에서</a:t>
            </a:r>
            <a:r>
              <a:rPr dirty="0"/>
              <a:t> </a:t>
            </a:r>
            <a:r>
              <a:rPr dirty="0" err="1"/>
              <a:t>발생한</a:t>
            </a:r>
            <a:r>
              <a:rPr dirty="0"/>
              <a:t> </a:t>
            </a:r>
            <a:r>
              <a:rPr dirty="0" err="1"/>
              <a:t>부정성의</a:t>
            </a:r>
            <a:r>
              <a:rPr dirty="0"/>
              <a:t> </a:t>
            </a:r>
            <a:r>
              <a:rPr dirty="0" err="1"/>
              <a:t>결과물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783384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변이 → 몬스터 → 인간 공격 / 선의 0 비사냥 / 구조 상황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53993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요소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64889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몬스터는 선의가 고갈된 인간의 부정적 요소가 균열을 통해 배출된 존재다. 인간 하나당 하나의 괴물로 대응된다.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90162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212523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몬스터는 선의 시스템의 결과물이면서, 다시 인간의 선의 상태를 판정하는 주체가 된다. 모든 몬스터는 선의 0 인간을 의도적으로 공격하지 않는 비사냥 대상으로 인식한다.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653993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964889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몬스터는</a:t>
            </a:r>
            <a:r>
              <a:rPr dirty="0"/>
              <a:t> </a:t>
            </a:r>
            <a:r>
              <a:rPr dirty="0" err="1"/>
              <a:t>기본적으로</a:t>
            </a:r>
            <a:r>
              <a:rPr dirty="0"/>
              <a:t> </a:t>
            </a:r>
            <a:r>
              <a:rPr dirty="0" err="1"/>
              <a:t>인간을</a:t>
            </a:r>
            <a:r>
              <a:rPr dirty="0"/>
              <a:t> </a:t>
            </a:r>
            <a:r>
              <a:rPr dirty="0" err="1"/>
              <a:t>공격하지만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인간은</a:t>
            </a:r>
            <a:r>
              <a:rPr dirty="0"/>
              <a:t> </a:t>
            </a:r>
            <a:r>
              <a:rPr dirty="0" err="1"/>
              <a:t>의도적으로</a:t>
            </a:r>
            <a:r>
              <a:rPr dirty="0"/>
              <a:t> </a:t>
            </a:r>
            <a:r>
              <a:rPr dirty="0" err="1"/>
              <a:t>사냥하지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진화된</a:t>
            </a:r>
            <a:r>
              <a:rPr dirty="0"/>
              <a:t> </a:t>
            </a:r>
            <a:r>
              <a:rPr dirty="0" err="1"/>
              <a:t>타입일수록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인간을</a:t>
            </a:r>
            <a:r>
              <a:rPr dirty="0"/>
              <a:t> </a:t>
            </a:r>
            <a:r>
              <a:rPr dirty="0" err="1"/>
              <a:t>동류</a:t>
            </a:r>
            <a:r>
              <a:rPr dirty="0"/>
              <a:t>, </a:t>
            </a:r>
            <a:r>
              <a:rPr dirty="0" err="1"/>
              <a:t>회수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, </a:t>
            </a:r>
            <a:r>
              <a:rPr dirty="0" err="1"/>
              <a:t>보호</a:t>
            </a:r>
            <a:r>
              <a:rPr dirty="0"/>
              <a:t> </a:t>
            </a:r>
            <a:r>
              <a:rPr dirty="0" err="1"/>
              <a:t>대상으로</a:t>
            </a:r>
            <a:r>
              <a:rPr dirty="0"/>
              <a:t> 더 </a:t>
            </a:r>
            <a:r>
              <a:rPr dirty="0" err="1"/>
              <a:t>명확하게</a:t>
            </a:r>
            <a:r>
              <a:rPr dirty="0"/>
              <a:t> </a:t>
            </a:r>
            <a:r>
              <a:rPr dirty="0" err="1"/>
              <a:t>인식한다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몬스터는</a:t>
            </a:r>
            <a:r>
              <a:rPr dirty="0"/>
              <a:t> </a:t>
            </a:r>
            <a:r>
              <a:rPr dirty="0" err="1"/>
              <a:t>전투</a:t>
            </a:r>
            <a:r>
              <a:rPr dirty="0"/>
              <a:t> </a:t>
            </a:r>
            <a:r>
              <a:rPr dirty="0" err="1"/>
              <a:t>콘텐츠뿐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, </a:t>
            </a:r>
            <a:r>
              <a:rPr dirty="0" err="1"/>
              <a:t>구조</a:t>
            </a:r>
            <a:r>
              <a:rPr dirty="0"/>
              <a:t>, NPC </a:t>
            </a:r>
            <a:r>
              <a:rPr dirty="0" err="1"/>
              <a:t>위기</a:t>
            </a:r>
            <a:r>
              <a:rPr dirty="0"/>
              <a:t>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만든다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몬스터의</a:t>
            </a:r>
            <a:r>
              <a:rPr dirty="0"/>
              <a:t> </a:t>
            </a:r>
            <a:r>
              <a:rPr dirty="0" err="1"/>
              <a:t>서사는</a:t>
            </a:r>
            <a:r>
              <a:rPr dirty="0"/>
              <a:t> </a:t>
            </a:r>
            <a:r>
              <a:rPr dirty="0" err="1"/>
              <a:t>변이</a:t>
            </a:r>
            <a:r>
              <a:rPr dirty="0"/>
              <a:t> 전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부정적</a:t>
            </a:r>
            <a:r>
              <a:rPr dirty="0"/>
              <a:t> </a:t>
            </a:r>
            <a:r>
              <a:rPr dirty="0" err="1"/>
              <a:t>마음에서</a:t>
            </a:r>
            <a:r>
              <a:rPr dirty="0"/>
              <a:t> </a:t>
            </a:r>
            <a:r>
              <a:rPr dirty="0" err="1"/>
              <a:t>출발한다</a:t>
            </a:r>
            <a:r>
              <a:rPr dirty="0"/>
              <a:t>.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0174912C-FCAE-4866-9F47-BB5EC43D5B57}"/>
              </a:ext>
            </a:extLst>
          </p:cNvPr>
          <p:cNvSpPr/>
          <p:nvPr/>
        </p:nvSpPr>
        <p:spPr>
          <a:xfrm>
            <a:off x="1000556" y="159053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선의</a:t>
            </a:r>
            <a:endParaRPr dirty="0"/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C676F9BB-F333-456A-A54F-2A9E2185E0C2}"/>
              </a:ext>
            </a:extLst>
          </p:cNvPr>
          <p:cNvSpPr/>
          <p:nvPr/>
        </p:nvSpPr>
        <p:spPr>
          <a:xfrm>
            <a:off x="1937817" y="1631684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몬스터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몬스터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AI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12948" y="186766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대상의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상태에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행동을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</a:t>
            </a:r>
            <a:r>
              <a:rPr dirty="0" err="1"/>
              <a:t>규칙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87578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인간 발견 → 선의 0 판정 → 비사냥/공격 구분 → 타입별 행동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69991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요소</a:t>
            </a:r>
            <a:r>
              <a:rPr dirty="0"/>
              <a:t> </a:t>
            </a:r>
            <a:r>
              <a:rPr dirty="0" err="1"/>
              <a:t>정의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41248" y="4080887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몬스터 AI는 인간을 발견했을 때 대상의 선의 상태와 자신의 타입을 참조해 행동을 선택하는 규칙이다.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1521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선의와</a:t>
            </a:r>
            <a:r>
              <a:rPr dirty="0"/>
              <a:t> </a:t>
            </a:r>
            <a:r>
              <a:rPr dirty="0" err="1"/>
              <a:t>맞물리는</a:t>
            </a:r>
            <a:r>
              <a:rPr dirty="0"/>
              <a:t> </a:t>
            </a:r>
            <a:r>
              <a:rPr dirty="0" err="1"/>
              <a:t>부분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1248" y="5326113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몬스터 AI는 먼저 대상이 선의 0인지 판정한다. 선의 0이 아니면 공격 대상이 되고, 선의 0이면 모든 몬스터에게 공통적으로 비사냥 대상이 된다. 이후 타입별 행동이 갈라진다.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769991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080887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공통 규칙: 선의 0 NPC를 의도를 가지고 공격하지 않는다.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초기 타입은 비사냥 인식이 미숙해 사고 피해가 발생할 수 있다.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진화된 타입은 무시, 유도, 보호, 회수, 운반 행동으로 확장된다.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AI 결과는 전투 목표와 구조 목표를 동시에 발생시킨다.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CC3780A2-6348-42F3-BC00-E9FF2E015629}"/>
              </a:ext>
            </a:extLst>
          </p:cNvPr>
          <p:cNvSpPr/>
          <p:nvPr/>
        </p:nvSpPr>
        <p:spPr>
          <a:xfrm>
            <a:off x="1000556" y="1588127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1E422E51-F66B-4EA0-A9D1-08E318643DE1}"/>
              </a:ext>
            </a:extLst>
          </p:cNvPr>
          <p:cNvSpPr/>
          <p:nvPr/>
        </p:nvSpPr>
        <p:spPr>
          <a:xfrm>
            <a:off x="1937817" y="1629276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t>몬스터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몬스터 타입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몬스터 분류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95452" y="1834838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대상에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반응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만드는</a:t>
            </a:r>
            <a:r>
              <a:rPr dirty="0"/>
              <a:t> </a:t>
            </a:r>
            <a:r>
              <a:rPr dirty="0" err="1"/>
              <a:t>분류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885467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대상 + 몬스터 타입 → 무시 / 보호 / 유도 / 회수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94186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요소</a:t>
            </a:r>
            <a:r>
              <a:rPr dirty="0"/>
              <a:t> </a:t>
            </a:r>
            <a:r>
              <a:rPr dirty="0" err="1"/>
              <a:t>정의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41248" y="4105082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몬스터 타입은 변이체의 단계와 역할을 구분하는 분류이며, 선의 0 인간을 어떻게 다룰지 결정하는 AI 세부 조건이다.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39412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5030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모든 몬스터는 선의 0 NPC를 비사냥 대상으로 인식하지만, 타입이 진화될수록 더 능동적인 행동을 보인다. 같은 선의 0 판정도 몬스터 타입과 결합하면 콘텐츠 결과가 달라진다.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794186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105082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초기 변이체: 비사냥 인식은 있으나 행동 제어가 미숙하다.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일반 변이체: 선의 0 인간을 의도적으로 무시한다.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강화 변이체: 위험 상황에서 선의 0 인간을 빼내거나 보호할 수 있다.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무리 선도체: 부하를 이용해 선의 0 인간을 균열로 운반·회수한다.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13699D90-6421-4A36-843F-2C2D153EF091}"/>
              </a:ext>
            </a:extLst>
          </p:cNvPr>
          <p:cNvSpPr/>
          <p:nvPr/>
        </p:nvSpPr>
        <p:spPr>
          <a:xfrm>
            <a:off x="1000556" y="1588127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FCFC5A6-868D-45CC-B4AC-8DF81898E52F}"/>
              </a:ext>
            </a:extLst>
          </p:cNvPr>
          <p:cNvSpPr/>
          <p:nvPr/>
        </p:nvSpPr>
        <p:spPr>
          <a:xfrm>
            <a:off x="1937817" y="1629276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t>몬스터 타입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주인공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플레이어 캐릭터 / 예외 규칙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95452" y="1865375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t>선의 ∞를 가진 균열 기원 존재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3684" y="2793491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균열 기원 → 주인공 → 선의 ∞ → 고갈/변이 규칙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6501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요소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75915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주인공 차한해는 균열에서 태어난 존재로, 일반 인간과 달리 선의가 감소하거나 고갈하지 않는 예외 규칙을 가진다.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264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37385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주인공은</a:t>
            </a:r>
            <a:r>
              <a:rPr dirty="0"/>
              <a:t> </a:t>
            </a:r>
            <a:r>
              <a:rPr dirty="0" err="1"/>
              <a:t>선의를</a:t>
            </a:r>
            <a:r>
              <a:rPr dirty="0"/>
              <a:t> </a:t>
            </a:r>
            <a:r>
              <a:rPr dirty="0" err="1"/>
              <a:t>모으고</a:t>
            </a:r>
            <a:r>
              <a:rPr dirty="0"/>
              <a:t> </a:t>
            </a:r>
            <a:r>
              <a:rPr dirty="0" err="1"/>
              <a:t>소비하는</a:t>
            </a:r>
            <a:r>
              <a:rPr dirty="0"/>
              <a:t> </a:t>
            </a:r>
            <a:r>
              <a:rPr dirty="0" err="1"/>
              <a:t>캐릭터가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예외값을</a:t>
            </a:r>
            <a:r>
              <a:rPr dirty="0"/>
              <a:t> </a:t>
            </a:r>
            <a:r>
              <a:rPr dirty="0" err="1"/>
              <a:t>가진</a:t>
            </a:r>
            <a:r>
              <a:rPr dirty="0"/>
              <a:t> </a:t>
            </a:r>
            <a:r>
              <a:rPr dirty="0" err="1"/>
              <a:t>존재다</a:t>
            </a:r>
            <a:r>
              <a:rPr dirty="0"/>
              <a:t>. </a:t>
            </a:r>
            <a:r>
              <a:rPr dirty="0" err="1"/>
              <a:t>후반에</a:t>
            </a:r>
            <a:r>
              <a:rPr dirty="0"/>
              <a:t> </a:t>
            </a:r>
            <a:r>
              <a:rPr dirty="0" err="1"/>
              <a:t>균열에서</a:t>
            </a:r>
            <a:r>
              <a:rPr dirty="0"/>
              <a:t> </a:t>
            </a:r>
            <a:r>
              <a:rPr dirty="0" err="1"/>
              <a:t>태어났다는</a:t>
            </a:r>
            <a:r>
              <a:rPr dirty="0"/>
              <a:t> </a:t>
            </a:r>
            <a:r>
              <a:rPr dirty="0" err="1"/>
              <a:t>진실이</a:t>
            </a:r>
            <a:r>
              <a:rPr dirty="0"/>
              <a:t> </a:t>
            </a:r>
            <a:r>
              <a:rPr dirty="0" err="1"/>
              <a:t>밝혀지며</a:t>
            </a:r>
            <a:r>
              <a:rPr dirty="0"/>
              <a:t>, </a:t>
            </a:r>
            <a:r>
              <a:rPr dirty="0" err="1"/>
              <a:t>선의</a:t>
            </a:r>
            <a:r>
              <a:rPr dirty="0"/>
              <a:t> ∞는 </a:t>
            </a:r>
            <a:r>
              <a:rPr dirty="0" err="1"/>
              <a:t>주인공의</a:t>
            </a:r>
            <a:r>
              <a:rPr dirty="0"/>
              <a:t> </a:t>
            </a:r>
            <a:r>
              <a:rPr dirty="0" err="1"/>
              <a:t>정체성과</a:t>
            </a:r>
            <a:r>
              <a:rPr dirty="0"/>
              <a:t> </a:t>
            </a:r>
            <a:r>
              <a:rPr dirty="0" err="1"/>
              <a:t>균열의</a:t>
            </a:r>
            <a:r>
              <a:rPr dirty="0"/>
              <a:t> </a:t>
            </a:r>
            <a:r>
              <a:rPr dirty="0" err="1"/>
              <a:t>목적을</a:t>
            </a:r>
            <a:r>
              <a:rPr dirty="0"/>
              <a:t> </a:t>
            </a:r>
            <a:r>
              <a:rPr dirty="0" err="1"/>
              <a:t>연결한다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765019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510528" y="4075915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주인공의 선의는 ∞로 고정되어 유인·변이 대상이 되지 않는다.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선의 ∞가 전투력 무한대를 의미하지는 않는다. 전투 성장은 장비·콘텐츠 진행으로 분리한다.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균열 기원이라는 진실은 선의 시스템의 예외 규칙을 설명하는 반전이다.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NPC는 선의가 닳고, 주인공은 선의 대신 자아와 정체성이 흔들리는 구조로 확장 가능하다.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71C36EB8-AD8C-49DB-8B62-08999DF883FF}"/>
              </a:ext>
            </a:extLst>
          </p:cNvPr>
          <p:cNvSpPr/>
          <p:nvPr/>
        </p:nvSpPr>
        <p:spPr>
          <a:xfrm>
            <a:off x="1000556" y="1602911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선의</a:t>
            </a:r>
            <a:endParaRPr dirty="0"/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BDFAD0A-0266-439D-AF55-3C157F7E1ED7}"/>
              </a:ext>
            </a:extLst>
          </p:cNvPr>
          <p:cNvSpPr/>
          <p:nvPr/>
        </p:nvSpPr>
        <p:spPr>
          <a:xfrm>
            <a:off x="1937817" y="1644060"/>
            <a:ext cx="768096" cy="768096"/>
          </a:xfrm>
          <a:prstGeom prst="ellipse">
            <a:avLst/>
          </a:prstGeom>
          <a:solidFill>
            <a:srgbClr val="EAF8F0"/>
          </a:solidFill>
          <a:ln w="17145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주인공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전투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플레이 콘텐츠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72083" y="129387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6" name="Oval 5"/>
          <p:cNvSpPr/>
          <p:nvPr/>
        </p:nvSpPr>
        <p:spPr>
          <a:xfrm>
            <a:off x="1609344" y="1335024"/>
            <a:ext cx="768096" cy="76809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전투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749808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defRPr sz="819" b="1">
                <a:solidFill>
                  <a:srgbClr val="66707A"/>
                </a:solidFill>
                <a:latin typeface="맑은 고딕"/>
              </a:defRPr>
            </a:pPr>
            <a:r>
              <a:t>교집합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261872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t>선의 판정이 플레이 충돌로 드러나는 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7208" y="1700784"/>
            <a:ext cx="74066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40" b="0">
                <a:solidFill>
                  <a:srgbClr val="66707A"/>
                </a:solidFill>
                <a:latin typeface="맑은 고딕"/>
              </a:defRPr>
            </a:pPr>
            <a:r>
              <a:t>이 페이지는 볼륨 맵에서 해당 원이 선의와 어떻게 맞물리는지, 그리고 요소 자체가 어떤 약속을 갖는지 설명한다.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286000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고갈 → 변이/몬스터 → AI 행동 → 전투·보호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53512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요소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64408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전투는 선의 고갈과 변이로 발생한 몬스터, 그리고 몬스터 AI의 행동이 플레이어에게 직접 드러나는 콘텐츠다.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87368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98264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전투 자체가 선의를 깎는 것은 아니다. 선의가 0이 된 인간이 변이하고, 그 결과로 등장한 몬스터가 인간을 공격하거나 선의 0 NPC를 다르게 다루면서 전투 상황이 발생한다.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953512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264408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주인공의 선의 ∞는 전투력 무한대를 의미하지 않는다.</a:t>
            </a:r>
          </a:p>
          <a:p>
            <a:pPr algn="l"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전투력 성장은 무기, 방어구, 균열 대응 장비, 콘텐츠 진행으로 설계한다.</a:t>
            </a:r>
          </a:p>
          <a:p>
            <a:pPr algn="l"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전투 목표는 처치뿐 아니라 NPC 보호, 유인 차단, 구조와 결합한다.</a:t>
            </a:r>
          </a:p>
          <a:p>
            <a:pPr algn="l"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몬스터 타입과 AI가 전투 패턴과 우선 목표를 바꾼다.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4672" y="5687568"/>
            <a:ext cx="10625328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58704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100" b="1">
                <a:solidFill>
                  <a:srgbClr val="042D62"/>
                </a:solidFill>
                <a:latin typeface="맑은 고딕"/>
              </a:defRPr>
            </a:pPr>
            <a:r>
              <a:t>맵 배치 이유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833872"/>
            <a:ext cx="897940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990" b="0">
                <a:solidFill>
                  <a:srgbClr val="66707A"/>
                </a:solidFill>
                <a:latin typeface="맑은 고딕"/>
              </a:defRPr>
            </a:pPr>
            <a:r>
              <a:t>몬스터와 몬스터 AI 아래쪽. 선의 규칙이 실제 플레이 충돌로 내려오는 지점이다.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37960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800" b="0">
                <a:solidFill>
                  <a:srgbClr val="9298A0"/>
                </a:solidFill>
                <a:latin typeface="맑은 고딕"/>
              </a:defRPr>
            </a:pPr>
            <a:r>
              <a:t>선의 시스템 볼륨 맵 · 시스템 = 약속의 설계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플레이 콘텐츠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72083" y="129387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6" name="Oval 5"/>
          <p:cNvSpPr/>
          <p:nvPr/>
        </p:nvSpPr>
        <p:spPr>
          <a:xfrm>
            <a:off x="1609344" y="1335024"/>
            <a:ext cx="768096" cy="76809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749808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defRPr sz="819" b="1">
                <a:solidFill>
                  <a:srgbClr val="66707A"/>
                </a:solidFill>
                <a:latin typeface="맑은 고딕"/>
              </a:defRPr>
            </a:pPr>
            <a:r>
              <a:t>교집합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261872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t>선의 0 NPC를 플레이 목표로 전환하는 콘텐츠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7208" y="1700784"/>
            <a:ext cx="74066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40" b="0">
                <a:solidFill>
                  <a:srgbClr val="66707A"/>
                </a:solidFill>
                <a:latin typeface="맑은 고딕"/>
              </a:defRPr>
            </a:pPr>
            <a:r>
              <a:t>이 페이지는 볼륨 맵에서 해당 원이 선의와 어떻게 맞물리는지, 그리고 요소 자체가 어떤 약속을 갖는지 설명한다.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286000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NPC + 균열/AI 위험 → 구조 콘텐츠 → NPC 상태 변화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53512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요소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64408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구조는 유인 파동에 끌려가거나 몬스터에게 특수 행동의 대상이 된 NPC를 플레이어가 보호·대피·차단하는 콘텐츠다.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87368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98264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선의 0 NPC는 유인 시간대에는 균열로 끌려가고, 비유인 시간대에는 몬스터의 비사냥·유도·회수 대상이 된다. 이 위험을 플레이어가 해결하는 방식이 구조 콘텐츠다.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953512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정의와 특징 / 작동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264408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유인 파동 중에는 균열 이동을 막는 구조 목표가 생긴다.</a:t>
            </a:r>
          </a:p>
          <a:p>
            <a:pPr algn="l"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비유인 시간대에는 몬스터의 타입별 행동에서 NPC를 보호하는 목표가 생긴다.</a:t>
            </a:r>
          </a:p>
          <a:p>
            <a:pPr algn="l"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구조 결과는 NPC 서사, 퀘스트 변화, 여론 변화로 이어질 수 있다.</a:t>
            </a:r>
          </a:p>
          <a:p>
            <a:pPr algn="l"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구조는 선의 시스템이 플레이어 행동으로 전환되는 중요한 접점이다.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4672" y="5687568"/>
            <a:ext cx="10625328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58704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100" b="1">
                <a:solidFill>
                  <a:srgbClr val="042D62"/>
                </a:solidFill>
                <a:latin typeface="맑은 고딕"/>
              </a:defRPr>
            </a:pPr>
            <a:r>
              <a:t>맵 배치 이유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833872"/>
            <a:ext cx="897940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990" b="0">
                <a:solidFill>
                  <a:srgbClr val="66707A"/>
                </a:solidFill>
                <a:latin typeface="맑은 고딕"/>
              </a:defRPr>
            </a:pPr>
            <a:r>
              <a:t>NPC와 전투 사이의 작은 원. 사람을 구하는 목표가 선의 시스템의 플레이 결과임을 보여준다.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37960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800" b="0">
                <a:solidFill>
                  <a:srgbClr val="9298A0"/>
                </a:solidFill>
                <a:latin typeface="맑은 고딕"/>
              </a:defRPr>
            </a:pPr>
            <a:r>
              <a:t>선의 시스템 볼륨 맵 · 시스템 = 약속의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1938</Words>
  <Application>Microsoft Office PowerPoint</Application>
  <PresentationFormat>와이드스크린</PresentationFormat>
  <Paragraphs>241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3</cp:revision>
  <dcterms:created xsi:type="dcterms:W3CDTF">2013-01-27T09:14:16Z</dcterms:created>
  <dcterms:modified xsi:type="dcterms:W3CDTF">2026-08-14T04:59:01Z</dcterms:modified>
  <cp:category/>
</cp:coreProperties>
</file>