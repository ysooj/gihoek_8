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991"/>
    <a:srgbClr val="8F7FB0"/>
    <a:srgbClr val="A9A8BE"/>
    <a:srgbClr val="F8CCCF"/>
    <a:srgbClr val="F6C579"/>
    <a:srgbClr val="89D3C6"/>
    <a:srgbClr val="BCDAF6"/>
    <a:srgbClr val="78B5EC"/>
    <a:srgbClr val="8E27F5"/>
    <a:srgbClr val="BA7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96" autoAdjust="0"/>
  </p:normalViewPr>
  <p:slideViewPr>
    <p:cSldViewPr snapToGrid="0" showGuides="1">
      <p:cViewPr>
        <p:scale>
          <a:sx n="150" d="100"/>
          <a:sy n="150" d="100"/>
        </p:scale>
        <p:origin x="108" y="-15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308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154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582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46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514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65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74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075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78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68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07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0DB3C-A1E4-4C80-90B0-4D53AB2977E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942AA-89C5-4EFE-A397-6AD06FD3D3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1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39064"/>
            <a:ext cx="8763000" cy="657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50" y="0"/>
            <a:ext cx="9131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8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트리거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배터리를 넣으면 문이 열릴거다에 대한 도식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43" y="2596657"/>
            <a:ext cx="5622758" cy="426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82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나만의 도식 만들기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도식으로 표현하면 좋을 요소가 뭐가 있는지 생각해보기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472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" t="1" r="50091" b="50091"/>
          <a:stretch/>
        </p:blipFill>
        <p:spPr>
          <a:xfrm>
            <a:off x="502921" y="992371"/>
            <a:ext cx="2986223" cy="2715105"/>
          </a:xfrm>
          <a:prstGeom prst="rect">
            <a:avLst/>
          </a:prstGeom>
        </p:spPr>
      </p:pic>
      <p:sp>
        <p:nvSpPr>
          <p:cNvPr id="32" name="타원 31"/>
          <p:cNvSpPr/>
          <p:nvPr/>
        </p:nvSpPr>
        <p:spPr>
          <a:xfrm flipV="1">
            <a:off x="711200" y="1191850"/>
            <a:ext cx="2279364" cy="2279364"/>
          </a:xfrm>
          <a:prstGeom prst="ellipse">
            <a:avLst/>
          </a:prstGeom>
          <a:solidFill>
            <a:srgbClr val="BA7BF9">
              <a:alpha val="29804"/>
            </a:srgbClr>
          </a:solidFill>
          <a:ln>
            <a:solidFill>
              <a:srgbClr val="BA7B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 flipV="1">
            <a:off x="1244774" y="1723421"/>
            <a:ext cx="1216222" cy="1216222"/>
          </a:xfrm>
          <a:prstGeom prst="ellipse">
            <a:avLst/>
          </a:prstGeom>
          <a:solidFill>
            <a:srgbClr val="F96F6F">
              <a:alpha val="30000"/>
            </a:srgbClr>
          </a:solidFill>
          <a:ln>
            <a:solidFill>
              <a:srgbClr val="F96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593712" y="2414151"/>
            <a:ext cx="348939" cy="164306"/>
          </a:xfrm>
          <a:prstGeom prst="rect">
            <a:avLst/>
          </a:prstGeom>
          <a:solidFill>
            <a:srgbClr val="A6A6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244774" y="1898112"/>
            <a:ext cx="697877" cy="164306"/>
          </a:xfrm>
          <a:prstGeom prst="rect">
            <a:avLst/>
          </a:prstGeom>
          <a:solidFill>
            <a:srgbClr val="A6A6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smtClean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</a:t>
            </a:r>
            <a:r>
              <a:rPr lang="ko-KR" altLang="en-US" sz="2000" b="1" smtClean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호흡 상태별 플레이어</a:t>
            </a:r>
            <a:r>
              <a:rPr lang="en-US" sz="2000" b="1" smtClean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2000" b="1" smtClean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소음 범위</a:t>
            </a:r>
            <a:endParaRPr lang="en-US" sz="2000" dirty="0"/>
          </a:p>
        </p:txBody>
      </p:sp>
      <p:sp>
        <p:nvSpPr>
          <p:cNvPr id="15" name="타원 14"/>
          <p:cNvSpPr/>
          <p:nvPr/>
        </p:nvSpPr>
        <p:spPr>
          <a:xfrm>
            <a:off x="1773600" y="2407801"/>
            <a:ext cx="1204528" cy="1204524"/>
          </a:xfrm>
          <a:prstGeom prst="ellipse">
            <a:avLst/>
          </a:prstGeom>
          <a:solidFill>
            <a:srgbClr val="898997">
              <a:alpha val="30000"/>
            </a:srgbClr>
          </a:solidFill>
          <a:ln>
            <a:solidFill>
              <a:srgbClr val="898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296092" y="2930291"/>
            <a:ext cx="159544" cy="159544"/>
          </a:xfrm>
          <a:prstGeom prst="rect">
            <a:avLst/>
          </a:prstGeom>
          <a:solidFill>
            <a:srgbClr val="DBBAFC"/>
          </a:solidFill>
          <a:ln>
            <a:solidFill>
              <a:srgbClr val="BA7B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원형 13"/>
          <p:cNvSpPr>
            <a:spLocks noChangeAspect="1"/>
          </p:cNvSpPr>
          <p:nvPr/>
        </p:nvSpPr>
        <p:spPr>
          <a:xfrm rot="19800000">
            <a:off x="2157516" y="2884062"/>
            <a:ext cx="252000" cy="252000"/>
          </a:xfrm>
          <a:prstGeom prst="pie">
            <a:avLst>
              <a:gd name="adj1" fmla="val 8921955"/>
              <a:gd name="adj2" fmla="val 16200000"/>
            </a:avLst>
          </a:prstGeom>
          <a:solidFill>
            <a:srgbClr val="DEDEE2"/>
          </a:solidFill>
          <a:ln>
            <a:solidFill>
              <a:srgbClr val="898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97423" y="2133114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들이마시기</a:t>
            </a:r>
            <a:endParaRPr lang="ko-KR" altLang="en-US" sz="1000"/>
          </a:p>
        </p:txBody>
      </p:sp>
      <p:sp>
        <p:nvSpPr>
          <p:cNvPr id="20" name="TextBox 19"/>
          <p:cNvSpPr txBox="1"/>
          <p:nvPr/>
        </p:nvSpPr>
        <p:spPr>
          <a:xfrm>
            <a:off x="3697423" y="2488804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숨 참기</a:t>
            </a:r>
            <a:endParaRPr lang="ko-KR" altLang="en-US" sz="1000"/>
          </a:p>
        </p:txBody>
      </p:sp>
      <p:sp>
        <p:nvSpPr>
          <p:cNvPr id="21" name="TextBox 20"/>
          <p:cNvSpPr txBox="1"/>
          <p:nvPr/>
        </p:nvSpPr>
        <p:spPr>
          <a:xfrm>
            <a:off x="3697423" y="2878657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내뱉기</a:t>
            </a:r>
            <a:endParaRPr lang="ko-KR" altLang="en-US" sz="1000"/>
          </a:p>
        </p:txBody>
      </p:sp>
      <p:sp>
        <p:nvSpPr>
          <p:cNvPr id="22" name="타원 21"/>
          <p:cNvSpPr/>
          <p:nvPr/>
        </p:nvSpPr>
        <p:spPr>
          <a:xfrm flipV="1">
            <a:off x="4967921" y="2123407"/>
            <a:ext cx="265634" cy="265634"/>
          </a:xfrm>
          <a:prstGeom prst="ellipse">
            <a:avLst/>
          </a:prstGeom>
          <a:solidFill>
            <a:srgbClr val="B9D0F1">
              <a:alpha val="29804"/>
            </a:srgbClr>
          </a:solidFill>
          <a:ln>
            <a:solidFill>
              <a:srgbClr val="6295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 flipV="1">
            <a:off x="4967921" y="2479098"/>
            <a:ext cx="265634" cy="265634"/>
          </a:xfrm>
          <a:prstGeom prst="ellipse">
            <a:avLst/>
          </a:prstGeom>
          <a:solidFill>
            <a:srgbClr val="F3C70D">
              <a:alpha val="29804"/>
            </a:srgbClr>
          </a:solidFill>
          <a:ln>
            <a:solidFill>
              <a:srgbClr val="F3C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 flipV="1">
            <a:off x="1593712" y="2063146"/>
            <a:ext cx="520140" cy="520140"/>
          </a:xfrm>
          <a:prstGeom prst="ellipse">
            <a:avLst/>
          </a:prstGeom>
          <a:solidFill>
            <a:srgbClr val="B9D0F1">
              <a:alpha val="29804"/>
            </a:srgbClr>
          </a:solidFill>
          <a:ln>
            <a:solidFill>
              <a:srgbClr val="6295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 flipV="1">
            <a:off x="1685108" y="2153397"/>
            <a:ext cx="339638" cy="339638"/>
          </a:xfrm>
          <a:prstGeom prst="ellipse">
            <a:avLst/>
          </a:prstGeom>
          <a:solidFill>
            <a:srgbClr val="F3C70D">
              <a:alpha val="29804"/>
            </a:srgbClr>
          </a:solidFill>
          <a:ln>
            <a:solidFill>
              <a:srgbClr val="F3C7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1773600" y="2247436"/>
            <a:ext cx="160365" cy="160365"/>
          </a:xfrm>
          <a:prstGeom prst="ellipse">
            <a:avLst/>
          </a:prstGeom>
          <a:solidFill>
            <a:srgbClr val="CDF3E4"/>
          </a:solidFill>
          <a:ln>
            <a:solidFill>
              <a:srgbClr val="8DE3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원형 8"/>
          <p:cNvSpPr>
            <a:spLocks noChangeAspect="1"/>
          </p:cNvSpPr>
          <p:nvPr/>
        </p:nvSpPr>
        <p:spPr>
          <a:xfrm rot="10800000">
            <a:off x="1816651" y="2205998"/>
            <a:ext cx="252000" cy="252000"/>
          </a:xfrm>
          <a:prstGeom prst="pie">
            <a:avLst>
              <a:gd name="adj1" fmla="val 8921955"/>
              <a:gd name="adj2" fmla="val 16200000"/>
            </a:avLst>
          </a:prstGeom>
          <a:solidFill>
            <a:srgbClr val="DEDEE2"/>
          </a:solidFill>
          <a:ln>
            <a:solidFill>
              <a:srgbClr val="898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97423" y="3196028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호흡 한계</a:t>
            </a:r>
            <a:endParaRPr lang="ko-KR" altLang="en-US" sz="1000"/>
          </a:p>
        </p:txBody>
      </p:sp>
      <p:sp>
        <p:nvSpPr>
          <p:cNvPr id="31" name="타원 30"/>
          <p:cNvSpPr/>
          <p:nvPr/>
        </p:nvSpPr>
        <p:spPr>
          <a:xfrm flipV="1">
            <a:off x="4967921" y="2834788"/>
            <a:ext cx="265634" cy="265634"/>
          </a:xfrm>
          <a:prstGeom prst="ellipse">
            <a:avLst/>
          </a:prstGeom>
          <a:solidFill>
            <a:srgbClr val="F96F6F">
              <a:alpha val="30000"/>
            </a:srgbClr>
          </a:solidFill>
          <a:ln>
            <a:solidFill>
              <a:srgbClr val="F96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 flipV="1">
            <a:off x="4967922" y="3190478"/>
            <a:ext cx="265634" cy="265634"/>
          </a:xfrm>
          <a:prstGeom prst="ellipse">
            <a:avLst/>
          </a:prstGeom>
          <a:solidFill>
            <a:srgbClr val="BA7BF9">
              <a:alpha val="29804"/>
            </a:srgbClr>
          </a:solidFill>
          <a:ln>
            <a:solidFill>
              <a:srgbClr val="BA7B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5021376" y="1502154"/>
            <a:ext cx="159544" cy="159544"/>
          </a:xfrm>
          <a:prstGeom prst="rect">
            <a:avLst/>
          </a:prstGeom>
          <a:solidFill>
            <a:srgbClr val="DBBAFC"/>
          </a:solidFill>
          <a:ln>
            <a:solidFill>
              <a:srgbClr val="BA7B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5020555" y="1237889"/>
            <a:ext cx="160365" cy="160365"/>
          </a:xfrm>
          <a:prstGeom prst="ellipse">
            <a:avLst/>
          </a:prstGeom>
          <a:solidFill>
            <a:srgbClr val="CDF3E4"/>
          </a:solidFill>
          <a:ln>
            <a:solidFill>
              <a:srgbClr val="8DE3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3697423" y="1777045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몬스터 탐지 범위</a:t>
            </a:r>
            <a:endParaRPr lang="ko-KR" altLang="en-US" sz="1000"/>
          </a:p>
        </p:txBody>
      </p:sp>
      <p:sp>
        <p:nvSpPr>
          <p:cNvPr id="38" name="타원 37"/>
          <p:cNvSpPr/>
          <p:nvPr/>
        </p:nvSpPr>
        <p:spPr>
          <a:xfrm>
            <a:off x="4970336" y="1765598"/>
            <a:ext cx="263219" cy="263218"/>
          </a:xfrm>
          <a:prstGeom prst="ellipse">
            <a:avLst/>
          </a:prstGeom>
          <a:solidFill>
            <a:srgbClr val="898997">
              <a:alpha val="30000"/>
            </a:srgbClr>
          </a:solidFill>
          <a:ln>
            <a:solidFill>
              <a:srgbClr val="898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3697423" y="1447561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몬스터</a:t>
            </a:r>
            <a:endParaRPr lang="ko-KR" altLang="en-US" sz="1000"/>
          </a:p>
        </p:txBody>
      </p:sp>
      <p:sp>
        <p:nvSpPr>
          <p:cNvPr id="40" name="TextBox 39"/>
          <p:cNvSpPr txBox="1"/>
          <p:nvPr/>
        </p:nvSpPr>
        <p:spPr>
          <a:xfrm>
            <a:off x="3697423" y="1188720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플레이어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70411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4524203" y="1956392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몬스터</a:t>
            </a:r>
            <a:endParaRPr lang="ko-KR" altLang="en-US" sz="1000"/>
          </a:p>
        </p:txBody>
      </p:sp>
      <p:sp>
        <p:nvSpPr>
          <p:cNvPr id="40" name="TextBox 39"/>
          <p:cNvSpPr txBox="1"/>
          <p:nvPr/>
        </p:nvSpPr>
        <p:spPr>
          <a:xfrm>
            <a:off x="4524203" y="1625118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플레이어</a:t>
            </a:r>
            <a:endParaRPr lang="ko-KR" altLang="en-US" sz="1000"/>
          </a:p>
        </p:txBody>
      </p:sp>
      <p:sp>
        <p:nvSpPr>
          <p:cNvPr id="7" name="Shape 0"/>
          <p:cNvSpPr/>
          <p:nvPr/>
        </p:nvSpPr>
        <p:spPr>
          <a:xfrm>
            <a:off x="146304" y="146304"/>
            <a:ext cx="11887200" cy="6565392"/>
          </a:xfrm>
          <a:prstGeom prst="rect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02920" y="713232"/>
            <a:ext cx="11201400" cy="0"/>
          </a:xfrm>
          <a:prstGeom prst="line">
            <a:avLst/>
          </a:prstGeom>
          <a:noFill/>
          <a:ln w="12700">
            <a:solidFill>
              <a:srgbClr val="D7E0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352" y="3291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smtClean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</a:t>
            </a:r>
            <a:r>
              <a:rPr lang="ko-KR" altLang="en-US" sz="2000" b="1" smtClean="0">
                <a:solidFill>
                  <a:srgbClr val="1118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몬스터 소음 감지</a:t>
            </a:r>
            <a:endParaRPr lang="en-US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4524687" y="2974201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플레이어 소음 범위</a:t>
            </a:r>
            <a:endParaRPr lang="ko-KR" altLang="en-US" sz="1000"/>
          </a:p>
        </p:txBody>
      </p:sp>
      <p:sp>
        <p:nvSpPr>
          <p:cNvPr id="31" name="타원 30"/>
          <p:cNvSpPr/>
          <p:nvPr/>
        </p:nvSpPr>
        <p:spPr>
          <a:xfrm flipV="1">
            <a:off x="5795185" y="2930332"/>
            <a:ext cx="265634" cy="265634"/>
          </a:xfrm>
          <a:prstGeom prst="ellipse">
            <a:avLst/>
          </a:prstGeom>
          <a:solidFill>
            <a:srgbClr val="F96F6F">
              <a:alpha val="30000"/>
            </a:srgbClr>
          </a:solidFill>
          <a:ln>
            <a:solidFill>
              <a:srgbClr val="F96F6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5848156" y="1997327"/>
            <a:ext cx="159544" cy="159544"/>
          </a:xfrm>
          <a:prstGeom prst="rect">
            <a:avLst/>
          </a:prstGeom>
          <a:solidFill>
            <a:srgbClr val="DBBAFC"/>
          </a:solidFill>
          <a:ln>
            <a:solidFill>
              <a:srgbClr val="BA7B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5847335" y="1672377"/>
            <a:ext cx="160365" cy="160365"/>
          </a:xfrm>
          <a:prstGeom prst="ellipse">
            <a:avLst/>
          </a:prstGeom>
          <a:solidFill>
            <a:srgbClr val="CDF3E4"/>
          </a:solidFill>
          <a:ln>
            <a:solidFill>
              <a:srgbClr val="8DE3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4524687" y="2607070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몬스터 탐지 범위</a:t>
            </a:r>
            <a:endParaRPr lang="ko-KR" altLang="en-US" sz="1000"/>
          </a:p>
        </p:txBody>
      </p:sp>
      <p:sp>
        <p:nvSpPr>
          <p:cNvPr id="38" name="타원 37"/>
          <p:cNvSpPr/>
          <p:nvPr/>
        </p:nvSpPr>
        <p:spPr>
          <a:xfrm>
            <a:off x="5797600" y="2595623"/>
            <a:ext cx="263219" cy="263218"/>
          </a:xfrm>
          <a:prstGeom prst="ellipse">
            <a:avLst/>
          </a:prstGeom>
          <a:solidFill>
            <a:srgbClr val="898997">
              <a:alpha val="30000"/>
            </a:srgbClr>
          </a:solidFill>
          <a:ln>
            <a:solidFill>
              <a:srgbClr val="898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 rotWithShape="1">
          <a:blip r:embed="rId2"/>
          <a:srcRect l="1" t="1" r="63857" b="63857"/>
          <a:stretch/>
        </p:blipFill>
        <p:spPr>
          <a:xfrm>
            <a:off x="790742" y="1460241"/>
            <a:ext cx="2162515" cy="1966181"/>
          </a:xfrm>
          <a:prstGeom prst="rect">
            <a:avLst/>
          </a:prstGeom>
        </p:spPr>
      </p:pic>
      <p:sp>
        <p:nvSpPr>
          <p:cNvPr id="45" name="직사각형 44"/>
          <p:cNvSpPr/>
          <p:nvPr/>
        </p:nvSpPr>
        <p:spPr>
          <a:xfrm>
            <a:off x="1536319" y="2366680"/>
            <a:ext cx="348939" cy="164306"/>
          </a:xfrm>
          <a:prstGeom prst="rect">
            <a:avLst/>
          </a:prstGeom>
          <a:solidFill>
            <a:srgbClr val="A9A8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1192230" y="1674149"/>
            <a:ext cx="693028" cy="164306"/>
          </a:xfrm>
          <a:prstGeom prst="rect">
            <a:avLst/>
          </a:prstGeom>
          <a:solidFill>
            <a:srgbClr val="A9A8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 flipV="1">
            <a:off x="1097447" y="1675245"/>
            <a:ext cx="1216222" cy="1216222"/>
          </a:xfrm>
          <a:prstGeom prst="ellipse">
            <a:avLst/>
          </a:prstGeom>
          <a:solidFill>
            <a:srgbClr val="89D3C6">
              <a:alpha val="29804"/>
            </a:srgbClr>
          </a:solidFill>
          <a:ln>
            <a:solidFill>
              <a:srgbClr val="89D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>
            <a:off x="1633824" y="1764418"/>
            <a:ext cx="1204528" cy="1204524"/>
          </a:xfrm>
          <a:prstGeom prst="ellipse">
            <a:avLst/>
          </a:prstGeom>
          <a:solidFill>
            <a:srgbClr val="F6C579">
              <a:alpha val="29804"/>
            </a:srgbClr>
          </a:solidFill>
          <a:ln>
            <a:solidFill>
              <a:srgbClr val="F6C5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원형 48"/>
          <p:cNvSpPr>
            <a:spLocks noChangeAspect="1"/>
          </p:cNvSpPr>
          <p:nvPr/>
        </p:nvSpPr>
        <p:spPr>
          <a:xfrm rot="3296995">
            <a:off x="1642465" y="1773055"/>
            <a:ext cx="1187247" cy="1187249"/>
          </a:xfrm>
          <a:prstGeom prst="pie">
            <a:avLst>
              <a:gd name="adj1" fmla="val 8921955"/>
              <a:gd name="adj2" fmla="val 16200000"/>
            </a:avLst>
          </a:prstGeom>
          <a:solidFill>
            <a:srgbClr val="F6C579">
              <a:alpha val="29804"/>
            </a:srgbClr>
          </a:solidFill>
          <a:ln>
            <a:solidFill>
              <a:srgbClr val="F6C5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1625376" y="2196016"/>
            <a:ext cx="160365" cy="160365"/>
          </a:xfrm>
          <a:prstGeom prst="ellipse">
            <a:avLst/>
          </a:prstGeom>
          <a:solidFill>
            <a:srgbClr val="BCDAF6"/>
          </a:solidFill>
          <a:ln>
            <a:solidFill>
              <a:srgbClr val="78B5E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2156316" y="2286908"/>
            <a:ext cx="159544" cy="159544"/>
          </a:xfrm>
          <a:prstGeom prst="rect">
            <a:avLst/>
          </a:prstGeom>
          <a:solidFill>
            <a:srgbClr val="F8CCCF"/>
          </a:solidFill>
          <a:ln>
            <a:solidFill>
              <a:srgbClr val="EE89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 rotWithShape="1">
          <a:blip r:embed="rId2"/>
          <a:srcRect l="1" t="1" r="63973" b="63973"/>
          <a:stretch/>
        </p:blipFill>
        <p:spPr>
          <a:xfrm>
            <a:off x="790742" y="4309073"/>
            <a:ext cx="2155658" cy="1959946"/>
          </a:xfrm>
          <a:prstGeom prst="rect">
            <a:avLst/>
          </a:prstGeom>
        </p:spPr>
      </p:pic>
      <p:sp>
        <p:nvSpPr>
          <p:cNvPr id="53" name="직사각형 52"/>
          <p:cNvSpPr/>
          <p:nvPr/>
        </p:nvSpPr>
        <p:spPr>
          <a:xfrm>
            <a:off x="1536319" y="5215511"/>
            <a:ext cx="348939" cy="164306"/>
          </a:xfrm>
          <a:prstGeom prst="rect">
            <a:avLst/>
          </a:prstGeom>
          <a:solidFill>
            <a:srgbClr val="A9A8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1192230" y="4522980"/>
            <a:ext cx="693028" cy="164306"/>
          </a:xfrm>
          <a:prstGeom prst="rect">
            <a:avLst/>
          </a:prstGeom>
          <a:solidFill>
            <a:srgbClr val="A9A8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/>
          <p:cNvSpPr/>
          <p:nvPr/>
        </p:nvSpPr>
        <p:spPr>
          <a:xfrm flipV="1">
            <a:off x="1097447" y="4524076"/>
            <a:ext cx="1216222" cy="1216222"/>
          </a:xfrm>
          <a:prstGeom prst="ellipse">
            <a:avLst/>
          </a:prstGeom>
          <a:solidFill>
            <a:srgbClr val="89D3C6">
              <a:alpha val="30000"/>
            </a:srgbClr>
          </a:solidFill>
          <a:ln>
            <a:solidFill>
              <a:srgbClr val="89D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/>
          <p:cNvSpPr/>
          <p:nvPr/>
        </p:nvSpPr>
        <p:spPr>
          <a:xfrm>
            <a:off x="1641074" y="4625922"/>
            <a:ext cx="1204528" cy="1204524"/>
          </a:xfrm>
          <a:prstGeom prst="ellipse">
            <a:avLst/>
          </a:prstGeom>
          <a:solidFill>
            <a:srgbClr val="F6C579">
              <a:alpha val="30000"/>
            </a:srgbClr>
          </a:solidFill>
          <a:ln>
            <a:solidFill>
              <a:srgbClr val="F6C5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원형 56"/>
          <p:cNvSpPr>
            <a:spLocks noChangeAspect="1"/>
          </p:cNvSpPr>
          <p:nvPr/>
        </p:nvSpPr>
        <p:spPr>
          <a:xfrm rot="20885119">
            <a:off x="1649715" y="4634559"/>
            <a:ext cx="1187247" cy="1187249"/>
          </a:xfrm>
          <a:prstGeom prst="pie">
            <a:avLst>
              <a:gd name="adj1" fmla="val 8921955"/>
              <a:gd name="adj2" fmla="val 16200000"/>
            </a:avLst>
          </a:prstGeom>
          <a:solidFill>
            <a:srgbClr val="F6C579">
              <a:alpha val="30000"/>
            </a:srgbClr>
          </a:solidFill>
          <a:ln>
            <a:solidFill>
              <a:srgbClr val="F6C5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1625376" y="5044847"/>
            <a:ext cx="160365" cy="160365"/>
          </a:xfrm>
          <a:prstGeom prst="ellipse">
            <a:avLst/>
          </a:prstGeom>
          <a:solidFill>
            <a:srgbClr val="CDF3E4"/>
          </a:solidFill>
          <a:ln>
            <a:solidFill>
              <a:srgbClr val="8DE3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790742" y="1019205"/>
            <a:ext cx="620514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smtClean="0"/>
              <a:t>플레이어가 소음 발생 시 몬스터가 소리가 난 쪽으로 다가와 둘러본다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sp>
        <p:nvSpPr>
          <p:cNvPr id="61" name="TextBox 60"/>
          <p:cNvSpPr txBox="1"/>
          <p:nvPr/>
        </p:nvSpPr>
        <p:spPr>
          <a:xfrm>
            <a:off x="790742" y="3660607"/>
            <a:ext cx="6205144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몬스터가 둘러보는 시야 정면 방향 내에</a:t>
            </a:r>
            <a:endParaRPr lang="en-US" altLang="ko-KR" sz="1000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플레이어가 존재하면</a:t>
            </a:r>
            <a:r>
              <a:rPr lang="en-US" altLang="ko-KR" sz="1000" smtClean="0"/>
              <a:t> </a:t>
            </a:r>
            <a:r>
              <a:rPr lang="ko-KR" altLang="en-US" sz="1000" smtClean="0"/>
              <a:t>몬스터는 공격을 시작한다</a:t>
            </a:r>
            <a:r>
              <a:rPr lang="en-US" altLang="ko-KR" sz="1000" smtClean="0"/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46179" y="3677430"/>
            <a:ext cx="3635987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smtClean="0"/>
              <a:t>몬스터의 시야 정면 방향과 플레이어의 위치 사이에</a:t>
            </a:r>
            <a:endParaRPr lang="en-US" altLang="ko-KR" sz="1000" smtClean="0"/>
          </a:p>
          <a:p>
            <a:pPr>
              <a:lnSpc>
                <a:spcPct val="150000"/>
              </a:lnSpc>
            </a:pPr>
            <a:r>
              <a:rPr lang="ko-KR" altLang="en-US" sz="1000" smtClean="0"/>
              <a:t>엄폐물이 있으면</a:t>
            </a:r>
            <a:r>
              <a:rPr lang="en-US" altLang="ko-KR" sz="1000" smtClean="0"/>
              <a:t>, </a:t>
            </a:r>
            <a:r>
              <a:rPr lang="ko-KR" altLang="en-US" sz="1000" smtClean="0"/>
              <a:t>몬스터는 플레이어를 발견하지 못한다</a:t>
            </a:r>
            <a:r>
              <a:rPr lang="en-US" altLang="ko-KR" sz="1000" smtClean="0"/>
              <a:t>.</a:t>
            </a:r>
            <a:endParaRPr lang="ko-KR" altLang="en-US" sz="1000"/>
          </a:p>
        </p:txBody>
      </p:sp>
      <p:pic>
        <p:nvPicPr>
          <p:cNvPr id="66" name="그림 65"/>
          <p:cNvPicPr>
            <a:picLocks noChangeAspect="1"/>
          </p:cNvPicPr>
          <p:nvPr/>
        </p:nvPicPr>
        <p:blipFill rotWithShape="1">
          <a:blip r:embed="rId2"/>
          <a:srcRect l="1" t="1" r="63857" b="63857"/>
          <a:stretch/>
        </p:blipFill>
        <p:spPr>
          <a:xfrm>
            <a:off x="4246179" y="4311967"/>
            <a:ext cx="2162515" cy="1966181"/>
          </a:xfrm>
          <a:prstGeom prst="rect">
            <a:avLst/>
          </a:prstGeom>
        </p:spPr>
      </p:pic>
      <p:sp>
        <p:nvSpPr>
          <p:cNvPr id="67" name="직사각형 66"/>
          <p:cNvSpPr/>
          <p:nvPr/>
        </p:nvSpPr>
        <p:spPr>
          <a:xfrm>
            <a:off x="4993758" y="5218406"/>
            <a:ext cx="348939" cy="164306"/>
          </a:xfrm>
          <a:prstGeom prst="rect">
            <a:avLst/>
          </a:prstGeom>
          <a:solidFill>
            <a:srgbClr val="A9A8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4649669" y="4525875"/>
            <a:ext cx="693028" cy="164306"/>
          </a:xfrm>
          <a:prstGeom prst="rect">
            <a:avLst/>
          </a:prstGeom>
          <a:solidFill>
            <a:srgbClr val="A9A8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/>
          <p:cNvSpPr/>
          <p:nvPr/>
        </p:nvSpPr>
        <p:spPr>
          <a:xfrm flipV="1">
            <a:off x="4554886" y="4526971"/>
            <a:ext cx="1216222" cy="1216222"/>
          </a:xfrm>
          <a:prstGeom prst="ellipse">
            <a:avLst/>
          </a:prstGeom>
          <a:solidFill>
            <a:srgbClr val="89D3C6">
              <a:alpha val="30000"/>
            </a:srgbClr>
          </a:solidFill>
          <a:ln>
            <a:solidFill>
              <a:srgbClr val="89D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/>
          <p:cNvSpPr/>
          <p:nvPr/>
        </p:nvSpPr>
        <p:spPr>
          <a:xfrm>
            <a:off x="4759619" y="5047457"/>
            <a:ext cx="1204528" cy="1204524"/>
          </a:xfrm>
          <a:prstGeom prst="ellipse">
            <a:avLst/>
          </a:prstGeom>
          <a:solidFill>
            <a:srgbClr val="F6C579">
              <a:alpha val="30000"/>
            </a:srgbClr>
          </a:solidFill>
          <a:ln>
            <a:solidFill>
              <a:srgbClr val="F6C5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원형 70"/>
          <p:cNvSpPr>
            <a:spLocks noChangeAspect="1"/>
          </p:cNvSpPr>
          <p:nvPr/>
        </p:nvSpPr>
        <p:spPr>
          <a:xfrm rot="2512485">
            <a:off x="4768260" y="5056094"/>
            <a:ext cx="1187247" cy="1187249"/>
          </a:xfrm>
          <a:prstGeom prst="pie">
            <a:avLst>
              <a:gd name="adj1" fmla="val 8921955"/>
              <a:gd name="adj2" fmla="val 16200000"/>
            </a:avLst>
          </a:prstGeom>
          <a:solidFill>
            <a:srgbClr val="F6C579">
              <a:alpha val="30000"/>
            </a:srgbClr>
          </a:solidFill>
          <a:ln>
            <a:solidFill>
              <a:srgbClr val="F6C5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2" name="타원 71"/>
          <p:cNvSpPr/>
          <p:nvPr/>
        </p:nvSpPr>
        <p:spPr>
          <a:xfrm>
            <a:off x="5082815" y="5047742"/>
            <a:ext cx="160365" cy="160365"/>
          </a:xfrm>
          <a:prstGeom prst="ellipse">
            <a:avLst/>
          </a:prstGeom>
          <a:solidFill>
            <a:srgbClr val="CDF3E4"/>
          </a:solidFill>
          <a:ln>
            <a:solidFill>
              <a:srgbClr val="8DE3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59" idx="1"/>
          </p:cNvCxnSpPr>
          <p:nvPr/>
        </p:nvCxnSpPr>
        <p:spPr>
          <a:xfrm flipH="1" flipV="1">
            <a:off x="1877181" y="5149851"/>
            <a:ext cx="286385" cy="78333"/>
          </a:xfrm>
          <a:prstGeom prst="straightConnector1">
            <a:avLst/>
          </a:prstGeom>
          <a:ln>
            <a:solidFill>
              <a:srgbClr val="EE89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2163566" y="5148412"/>
            <a:ext cx="159544" cy="159544"/>
          </a:xfrm>
          <a:prstGeom prst="rect">
            <a:avLst/>
          </a:prstGeom>
          <a:solidFill>
            <a:srgbClr val="F8CCCF"/>
          </a:solidFill>
          <a:ln>
            <a:solidFill>
              <a:srgbClr val="EE89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5282111" y="5569947"/>
            <a:ext cx="159544" cy="159544"/>
          </a:xfrm>
          <a:prstGeom prst="rect">
            <a:avLst/>
          </a:prstGeom>
          <a:solidFill>
            <a:srgbClr val="F8CCCF"/>
          </a:solidFill>
          <a:ln>
            <a:solidFill>
              <a:srgbClr val="EE89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/>
          <p:cNvSpPr/>
          <p:nvPr/>
        </p:nvSpPr>
        <p:spPr>
          <a:xfrm>
            <a:off x="2327070" y="3236025"/>
            <a:ext cx="159544" cy="159544"/>
          </a:xfrm>
          <a:prstGeom prst="rect">
            <a:avLst/>
          </a:prstGeom>
          <a:solidFill>
            <a:srgbClr val="F8CCCF"/>
          </a:solidFill>
          <a:ln>
            <a:solidFill>
              <a:srgbClr val="EE89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모서리가 둥근 직사각형 84"/>
          <p:cNvSpPr/>
          <p:nvPr/>
        </p:nvSpPr>
        <p:spPr>
          <a:xfrm>
            <a:off x="4252134" y="1458392"/>
            <a:ext cx="2156559" cy="1968029"/>
          </a:xfrm>
          <a:prstGeom prst="roundRect">
            <a:avLst/>
          </a:prstGeom>
          <a:noFill/>
          <a:ln w="25400">
            <a:solidFill>
              <a:srgbClr val="073B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4524203" y="2283152"/>
            <a:ext cx="150948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/>
              <a:t>엄</a:t>
            </a:r>
            <a:r>
              <a:rPr lang="ko-KR" altLang="en-US" sz="1000" smtClean="0"/>
              <a:t>폐물</a:t>
            </a:r>
            <a:endParaRPr lang="ko-KR" altLang="en-US" sz="1000"/>
          </a:p>
        </p:txBody>
      </p:sp>
      <p:sp>
        <p:nvSpPr>
          <p:cNvPr id="87" name="직사각형 86"/>
          <p:cNvSpPr/>
          <p:nvPr/>
        </p:nvSpPr>
        <p:spPr>
          <a:xfrm>
            <a:off x="5847335" y="2329293"/>
            <a:ext cx="166396" cy="164306"/>
          </a:xfrm>
          <a:prstGeom prst="rect">
            <a:avLst/>
          </a:prstGeom>
          <a:solidFill>
            <a:srgbClr val="A6A6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/>
          <p:cNvCxnSpPr/>
          <p:nvPr/>
        </p:nvCxnSpPr>
        <p:spPr>
          <a:xfrm flipH="1" flipV="1">
            <a:off x="2363576" y="2512236"/>
            <a:ext cx="244974" cy="712885"/>
          </a:xfrm>
          <a:prstGeom prst="straightConnector1">
            <a:avLst/>
          </a:prstGeom>
          <a:ln>
            <a:solidFill>
              <a:srgbClr val="EE899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73" idx="0"/>
          </p:cNvCxnSpPr>
          <p:nvPr/>
        </p:nvCxnSpPr>
        <p:spPr>
          <a:xfrm flipH="1" flipV="1">
            <a:off x="5282111" y="5377944"/>
            <a:ext cx="79772" cy="192003"/>
          </a:xfrm>
          <a:prstGeom prst="straightConnector1">
            <a:avLst/>
          </a:prstGeom>
          <a:ln>
            <a:solidFill>
              <a:srgbClr val="EE89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10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86</Words>
  <Application>Microsoft Office PowerPoint</Application>
  <PresentationFormat>와이드스크린</PresentationFormat>
  <Paragraphs>23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트리거</vt:lpstr>
      <vt:lpstr>나만의 도식 만들기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11</cp:revision>
  <dcterms:created xsi:type="dcterms:W3CDTF">2026-08-20T05:19:08Z</dcterms:created>
  <dcterms:modified xsi:type="dcterms:W3CDTF">2026-08-20T06:51:58Z</dcterms:modified>
</cp:coreProperties>
</file>