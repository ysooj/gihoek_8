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8" r:id="rId2"/>
    <p:sldId id="257" r:id="rId3"/>
    <p:sldId id="260" r:id="rId4"/>
    <p:sldId id="261" r:id="rId5"/>
    <p:sldId id="262" r:id="rId6"/>
    <p:sldId id="259" r:id="rId7"/>
    <p:sldId id="264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40" d="100"/>
          <a:sy n="40" d="100"/>
        </p:scale>
        <p:origin x="3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638F1-02C4-4B5D-8BC1-FD0641A0C9DF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B1A009-F96F-4C70-9FDA-FEF3078118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095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원, 선, 텍스트는 PPT에서 직접 편집 가능한 도형으로 제작됨.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51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42DCE-8C5A-43BB-92E8-B5A8CE0B4B7E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7AB9-1811-4D24-B399-B270B22BC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55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42DCE-8C5A-43BB-92E8-B5A8CE0B4B7E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7AB9-1811-4D24-B399-B270B22BC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313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42DCE-8C5A-43BB-92E8-B5A8CE0B4B7E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7AB9-1811-4D24-B399-B270B22BC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190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42DCE-8C5A-43BB-92E8-B5A8CE0B4B7E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7AB9-1811-4D24-B399-B270B22BC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86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42DCE-8C5A-43BB-92E8-B5A8CE0B4B7E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7AB9-1811-4D24-B399-B270B22BC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9814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42DCE-8C5A-43BB-92E8-B5A8CE0B4B7E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7AB9-1811-4D24-B399-B270B22BC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225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42DCE-8C5A-43BB-92E8-B5A8CE0B4B7E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7AB9-1811-4D24-B399-B270B22BC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726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42DCE-8C5A-43BB-92E8-B5A8CE0B4B7E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7AB9-1811-4D24-B399-B270B22BC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405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42DCE-8C5A-43BB-92E8-B5A8CE0B4B7E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7AB9-1811-4D24-B399-B270B22BC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574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42DCE-8C5A-43BB-92E8-B5A8CE0B4B7E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7AB9-1811-4D24-B399-B270B22BC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790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42DCE-8C5A-43BB-92E8-B5A8CE0B4B7E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7AB9-1811-4D24-B399-B270B22BC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838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68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A42DCE-8C5A-43BB-92E8-B5A8CE0B4B7E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67AB9-1811-4D24-B399-B270B22BC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359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5009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볼륨 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886200" y="988513"/>
            <a:ext cx="4434840" cy="0"/>
          </a:xfrm>
          <a:prstGeom prst="line">
            <a:avLst/>
          </a:prstGeom>
          <a:noFill/>
          <a:ln w="12700">
            <a:solidFill>
              <a:srgbClr val="0827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0160" y="2675345"/>
            <a:ext cx="2011680" cy="2011680"/>
          </a:xfrm>
          <a:prstGeom prst="ellipse">
            <a:avLst/>
          </a:prstGeom>
          <a:solidFill>
            <a:srgbClr val="082756"/>
          </a:solidFill>
          <a:ln w="25400">
            <a:solidFill>
              <a:srgbClr val="244D9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선의 </a:t>
            </a:r>
            <a:r>
              <a:rPr lang="en-US" sz="112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생태계 </a:t>
            </a:r>
            <a:r>
              <a:rPr lang="en-US" sz="112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3878580" y="2839938"/>
            <a:ext cx="1097280" cy="1097280"/>
          </a:xfrm>
          <a:prstGeom prst="ellipse">
            <a:avLst/>
          </a:prstGeom>
          <a:solidFill>
            <a:srgbClr val="ECF4FF"/>
          </a:solidFill>
          <a:ln w="17145">
            <a:solidFill>
              <a:srgbClr val="2F64B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smtClean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선의 </a:t>
            </a:r>
            <a:r>
              <a:rPr lang="en-US" sz="1180" b="1" dirty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5843016" y="4805894"/>
            <a:ext cx="1097280" cy="1097280"/>
          </a:xfrm>
          <a:prstGeom prst="ellipse">
            <a:avLst/>
          </a:prstGeom>
          <a:solidFill>
            <a:srgbClr val="ECFAF8"/>
          </a:solidFill>
          <a:ln w="17145">
            <a:solidFill>
              <a:srgbClr val="2B8E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smtClean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유인 </a:t>
            </a:r>
            <a:r>
              <a:rPr lang="en-US" sz="1180" b="1" dirty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파동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4322064" y="4440135"/>
            <a:ext cx="1097280" cy="1097280"/>
          </a:xfrm>
          <a:prstGeom prst="ellipse">
            <a:avLst/>
          </a:prstGeom>
          <a:solidFill>
            <a:srgbClr val="F4F0FF"/>
          </a:solidFill>
          <a:ln w="17145">
            <a:solidFill>
              <a:srgbClr val="6D56A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smtClean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변이체 </a:t>
            </a:r>
            <a:r>
              <a:rPr lang="en-US" sz="1180" b="1" dirty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7223760" y="3507454"/>
            <a:ext cx="1097280" cy="1097280"/>
          </a:xfrm>
          <a:prstGeom prst="ellipse">
            <a:avLst/>
          </a:prstGeom>
          <a:solidFill>
            <a:srgbClr val="FFF3EA"/>
          </a:solidFill>
          <a:ln w="17145">
            <a:solidFill>
              <a:srgbClr val="D4743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smtClean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균열 </a:t>
            </a:r>
            <a:r>
              <a:rPr lang="en-US" sz="1080" b="1" dirty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변이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4678680" y="1742654"/>
            <a:ext cx="1097280" cy="1097280"/>
          </a:xfrm>
          <a:prstGeom prst="ellipse">
            <a:avLst/>
          </a:prstGeom>
          <a:solidFill>
            <a:srgbClr val="FFF8E9"/>
          </a:solidFill>
          <a:ln w="17145">
            <a:solidFill>
              <a:srgbClr val="C8952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smtClean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 </a:t>
            </a:r>
            <a:r>
              <a:rPr lang="en-US" sz="1100" b="1" dirty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66466" y="3571458"/>
            <a:ext cx="1024128" cy="1024128"/>
          </a:xfrm>
          <a:prstGeom prst="ellipse">
            <a:avLst/>
          </a:prstGeom>
          <a:solidFill>
            <a:srgbClr val="F4F8FF"/>
          </a:solidFill>
          <a:ln w="17145">
            <a:solidFill>
              <a:srgbClr val="2F64B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smtClean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관리국 </a:t>
            </a:r>
            <a:r>
              <a:rPr lang="en-US" sz="1050" b="1" dirty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046976" y="5075645"/>
            <a:ext cx="1024128" cy="1024128"/>
          </a:xfrm>
          <a:prstGeom prst="ellipse">
            <a:avLst/>
          </a:prstGeom>
          <a:solidFill>
            <a:srgbClr val="F4FFFD"/>
          </a:solidFill>
          <a:ln w="17145">
            <a:solidFill>
              <a:srgbClr val="2B8E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smtClean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 </a:t>
            </a:r>
            <a:r>
              <a:rPr lang="en-US" sz="1050" b="1" dirty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40786" y="4687025"/>
            <a:ext cx="1024128" cy="1024128"/>
          </a:xfrm>
          <a:prstGeom prst="ellipse">
            <a:avLst/>
          </a:prstGeom>
          <a:solidFill>
            <a:srgbClr val="F9F6FF"/>
          </a:solidFill>
          <a:ln w="17145">
            <a:solidFill>
              <a:srgbClr val="6D56A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smtClean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구조형 </a:t>
            </a:r>
            <a:r>
              <a:rPr lang="en-US" sz="930" b="1" dirty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431024" y="2426169"/>
            <a:ext cx="1024128" cy="1024128"/>
          </a:xfrm>
          <a:prstGeom prst="ellipse">
            <a:avLst/>
          </a:prstGeom>
          <a:solidFill>
            <a:srgbClr val="FFF8F2"/>
          </a:solidFill>
          <a:ln w="17145">
            <a:solidFill>
              <a:srgbClr val="D4743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smtClean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진실 </a:t>
            </a:r>
            <a:r>
              <a:rPr lang="en-US" sz="1050" b="1" dirty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69030" y="1747230"/>
            <a:ext cx="909826" cy="909826"/>
          </a:xfrm>
          <a:prstGeom prst="ellipse">
            <a:avLst/>
          </a:prstGeom>
          <a:solidFill>
            <a:srgbClr val="FFFBF1"/>
          </a:solidFill>
          <a:ln w="17145">
            <a:solidFill>
              <a:srgbClr val="C8952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smtClean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영웅화 </a:t>
            </a:r>
            <a:r>
              <a:rPr lang="en-US" sz="780" b="1" dirty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0827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구호 의지 변화</a:t>
            </a:r>
            <a:endParaRPr lang="en-US" sz="780" dirty="0"/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161544" y="6040332"/>
            <a:ext cx="10515600" cy="651468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mtClean="0"/>
              <a:t>내가 만든 볼륨 맵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017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1" y="56593"/>
            <a:ext cx="8940798" cy="674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635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시스템 설계 문서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시스템에서 필요한 데이터를</a:t>
            </a:r>
            <a:r>
              <a:rPr lang="en-US" altLang="ko-KR" smtClean="0"/>
              <a:t>(</a:t>
            </a:r>
            <a:r>
              <a:rPr lang="ko-KR" altLang="en-US" smtClean="0"/>
              <a:t>밸런스 문서에서</a:t>
            </a:r>
            <a:r>
              <a:rPr lang="en-US" altLang="ko-KR" smtClean="0"/>
              <a:t>)</a:t>
            </a:r>
            <a:r>
              <a:rPr lang="ko-KR" altLang="en-US" smtClean="0"/>
              <a:t> 캡쳐해서 시스템 문서에 보여줄 수 있어야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시스템은 데이터를 가지고 놀아야 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5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4391"/>
            <a:ext cx="9906000" cy="6769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188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179" y="313073"/>
            <a:ext cx="8245642" cy="623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040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9"/>
          <p:cNvSpPr/>
          <p:nvPr/>
        </p:nvSpPr>
        <p:spPr>
          <a:xfrm>
            <a:off x="6007639" y="2962043"/>
            <a:ext cx="1342570" cy="1342570"/>
          </a:xfrm>
          <a:prstGeom prst="ellipse">
            <a:avLst/>
          </a:prstGeom>
          <a:solidFill>
            <a:srgbClr val="082756"/>
          </a:solidFill>
          <a:ln w="25400">
            <a:solidFill>
              <a:srgbClr val="244D9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smtClean="0">
                <a:solidFill>
                  <a:srgbClr val="FFFFFF"/>
                </a:solidFill>
                <a:ea typeface="Malgun Gothic" pitchFamily="34" charset="-122"/>
                <a:cs typeface="Malgun Gothic" pitchFamily="34" charset="-120"/>
              </a:rPr>
              <a:t>선의</a:t>
            </a:r>
            <a:endParaRPr lang="en-US" sz="1500" dirty="0"/>
          </a:p>
        </p:txBody>
      </p:sp>
      <p:sp>
        <p:nvSpPr>
          <p:cNvPr id="5" name="Text 20"/>
          <p:cNvSpPr/>
          <p:nvPr/>
        </p:nvSpPr>
        <p:spPr>
          <a:xfrm>
            <a:off x="5998284" y="1507740"/>
            <a:ext cx="1351925" cy="1351925"/>
          </a:xfrm>
          <a:prstGeom prst="ellipse">
            <a:avLst/>
          </a:prstGeom>
          <a:solidFill>
            <a:srgbClr val="ECF4FF"/>
          </a:solidFill>
          <a:ln w="17145">
            <a:solidFill>
              <a:srgbClr val="2F64B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80" smtClean="0">
                <a:solidFill>
                  <a:srgbClr val="082756"/>
                </a:solidFill>
                <a:ea typeface="Malgun Gothic" pitchFamily="34" charset="-122"/>
                <a:cs typeface="Malgun Gothic" pitchFamily="34" charset="-120"/>
              </a:rPr>
              <a:t>균열</a:t>
            </a:r>
            <a:endParaRPr lang="en-US" sz="1180" dirty="0"/>
          </a:p>
        </p:txBody>
      </p:sp>
      <p:sp>
        <p:nvSpPr>
          <p:cNvPr id="8" name="Text 23"/>
          <p:cNvSpPr/>
          <p:nvPr/>
        </p:nvSpPr>
        <p:spPr>
          <a:xfrm>
            <a:off x="7190060" y="3938593"/>
            <a:ext cx="833550" cy="833550"/>
          </a:xfrm>
          <a:prstGeom prst="ellipse">
            <a:avLst/>
          </a:prstGeom>
          <a:solidFill>
            <a:srgbClr val="FFF3EA"/>
          </a:solidFill>
          <a:ln w="17145">
            <a:solidFill>
              <a:srgbClr val="D4743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80" smtClean="0">
                <a:solidFill>
                  <a:srgbClr val="082756"/>
                </a:solidFill>
                <a:ea typeface="Malgun Gothic" pitchFamily="34" charset="-122"/>
                <a:cs typeface="Malgun Gothic" pitchFamily="34" charset="-120"/>
              </a:rPr>
              <a:t>NPC</a:t>
            </a:r>
            <a:endParaRPr lang="en-US" sz="1080" dirty="0"/>
          </a:p>
        </p:txBody>
      </p:sp>
      <p:sp>
        <p:nvSpPr>
          <p:cNvPr id="9" name="Text 24"/>
          <p:cNvSpPr/>
          <p:nvPr/>
        </p:nvSpPr>
        <p:spPr>
          <a:xfrm>
            <a:off x="6523445" y="4392532"/>
            <a:ext cx="632178" cy="632178"/>
          </a:xfrm>
          <a:prstGeom prst="ellipse">
            <a:avLst/>
          </a:prstGeom>
          <a:solidFill>
            <a:srgbClr val="FFF8E9"/>
          </a:solidFill>
          <a:ln w="17145">
            <a:solidFill>
              <a:srgbClr val="C8952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00" smtClean="0">
                <a:solidFill>
                  <a:srgbClr val="082756"/>
                </a:solidFill>
                <a:ea typeface="Malgun Gothic" pitchFamily="34" charset="-122"/>
              </a:rPr>
              <a:t>구조</a:t>
            </a:r>
            <a:endParaRPr lang="en-US" sz="1100" dirty="0"/>
          </a:p>
        </p:txBody>
      </p:sp>
      <p:sp>
        <p:nvSpPr>
          <p:cNvPr id="15" name="Text 22"/>
          <p:cNvSpPr/>
          <p:nvPr/>
        </p:nvSpPr>
        <p:spPr>
          <a:xfrm>
            <a:off x="7620632" y="3226943"/>
            <a:ext cx="632178" cy="632178"/>
          </a:xfrm>
          <a:prstGeom prst="ellipse">
            <a:avLst/>
          </a:prstGeom>
          <a:solidFill>
            <a:srgbClr val="F4F0FF"/>
          </a:solidFill>
          <a:ln w="17145">
            <a:solidFill>
              <a:srgbClr val="6D56A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80" smtClean="0">
                <a:solidFill>
                  <a:srgbClr val="082756"/>
                </a:solidFill>
                <a:ea typeface="Malgun Gothic" pitchFamily="34" charset="-122"/>
                <a:cs typeface="Malgun Gothic" pitchFamily="34" charset="-120"/>
              </a:rPr>
              <a:t>변이</a:t>
            </a:r>
            <a:endParaRPr lang="en-US" sz="1180" dirty="0"/>
          </a:p>
        </p:txBody>
      </p:sp>
      <p:sp>
        <p:nvSpPr>
          <p:cNvPr id="16" name="Text 24"/>
          <p:cNvSpPr/>
          <p:nvPr/>
        </p:nvSpPr>
        <p:spPr>
          <a:xfrm>
            <a:off x="6151401" y="5003390"/>
            <a:ext cx="632178" cy="632178"/>
          </a:xfrm>
          <a:prstGeom prst="ellipse">
            <a:avLst/>
          </a:prstGeom>
          <a:solidFill>
            <a:srgbClr val="FFF8E9"/>
          </a:solidFill>
          <a:ln w="17145">
            <a:solidFill>
              <a:srgbClr val="C8952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00" smtClean="0">
                <a:solidFill>
                  <a:srgbClr val="082756"/>
                </a:solidFill>
                <a:ea typeface="Malgun Gothic" pitchFamily="34" charset="-122"/>
              </a:rPr>
              <a:t>전투</a:t>
            </a:r>
            <a:endParaRPr lang="en-US" sz="1100" dirty="0"/>
          </a:p>
        </p:txBody>
      </p:sp>
      <p:sp>
        <p:nvSpPr>
          <p:cNvPr id="17" name="Text 21"/>
          <p:cNvSpPr/>
          <p:nvPr/>
        </p:nvSpPr>
        <p:spPr>
          <a:xfrm>
            <a:off x="5543549" y="4222205"/>
            <a:ext cx="833550" cy="833550"/>
          </a:xfrm>
          <a:prstGeom prst="ellipse">
            <a:avLst/>
          </a:prstGeom>
          <a:solidFill>
            <a:srgbClr val="ECFAF8"/>
          </a:solidFill>
          <a:ln w="17145">
            <a:solidFill>
              <a:srgbClr val="2B8E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80" smtClean="0">
                <a:solidFill>
                  <a:srgbClr val="082756"/>
                </a:solidFill>
                <a:ea typeface="Malgun Gothic" pitchFamily="34" charset="-122"/>
                <a:cs typeface="Malgun Gothic" pitchFamily="34" charset="-120"/>
              </a:rPr>
              <a:t>주인공</a:t>
            </a:r>
            <a:endParaRPr lang="en-US" sz="1180" dirty="0"/>
          </a:p>
        </p:txBody>
      </p:sp>
      <p:sp>
        <p:nvSpPr>
          <p:cNvPr id="18" name="Text 20"/>
          <p:cNvSpPr/>
          <p:nvPr/>
        </p:nvSpPr>
        <p:spPr>
          <a:xfrm>
            <a:off x="7214118" y="2594765"/>
            <a:ext cx="632178" cy="632178"/>
          </a:xfrm>
          <a:prstGeom prst="ellipse">
            <a:avLst/>
          </a:prstGeom>
          <a:solidFill>
            <a:srgbClr val="ECF4FF"/>
          </a:solidFill>
          <a:ln w="17145">
            <a:solidFill>
              <a:srgbClr val="2F64B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80" smtClean="0">
                <a:solidFill>
                  <a:srgbClr val="082756"/>
                </a:solidFill>
                <a:ea typeface="Malgun Gothic" pitchFamily="34" charset="-122"/>
                <a:cs typeface="Malgun Gothic" pitchFamily="34" charset="-120"/>
              </a:rPr>
              <a:t>유인</a:t>
            </a:r>
            <a:endParaRPr lang="en-US" altLang="ko-KR" sz="1180" smtClean="0">
              <a:solidFill>
                <a:srgbClr val="082756"/>
              </a:solidFill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ko-KR" altLang="en-US" sz="1180" smtClean="0">
                <a:solidFill>
                  <a:srgbClr val="082756"/>
                </a:solidFill>
                <a:ea typeface="Malgun Gothic" pitchFamily="34" charset="-122"/>
              </a:rPr>
              <a:t>파동</a:t>
            </a:r>
            <a:endParaRPr lang="en-US" altLang="ko-KR" sz="1180" smtClean="0">
              <a:solidFill>
                <a:srgbClr val="082756"/>
              </a:solidFill>
              <a:ea typeface="Malgun Gothic" pitchFamily="34" charset="-122"/>
            </a:endParaRPr>
          </a:p>
        </p:txBody>
      </p:sp>
      <p:sp>
        <p:nvSpPr>
          <p:cNvPr id="19" name="Text 22"/>
          <p:cNvSpPr/>
          <p:nvPr/>
        </p:nvSpPr>
        <p:spPr>
          <a:xfrm>
            <a:off x="8328289" y="3313841"/>
            <a:ext cx="632178" cy="632178"/>
          </a:xfrm>
          <a:prstGeom prst="ellipse">
            <a:avLst/>
          </a:prstGeom>
          <a:solidFill>
            <a:srgbClr val="F4F0FF"/>
          </a:solidFill>
          <a:ln w="17145">
            <a:solidFill>
              <a:srgbClr val="6D56A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80" smtClean="0">
                <a:solidFill>
                  <a:srgbClr val="082756"/>
                </a:solidFill>
                <a:ea typeface="Malgun Gothic" pitchFamily="34" charset="-122"/>
                <a:cs typeface="Malgun Gothic" pitchFamily="34" charset="-120"/>
              </a:rPr>
              <a:t>인간 공격</a:t>
            </a:r>
            <a:endParaRPr lang="en-US" sz="1180" dirty="0"/>
          </a:p>
        </p:txBody>
      </p:sp>
      <p:sp>
        <p:nvSpPr>
          <p:cNvPr id="20" name="Text 22"/>
          <p:cNvSpPr/>
          <p:nvPr/>
        </p:nvSpPr>
        <p:spPr>
          <a:xfrm>
            <a:off x="8076147" y="1664768"/>
            <a:ext cx="632178" cy="632178"/>
          </a:xfrm>
          <a:prstGeom prst="ellipse">
            <a:avLst/>
          </a:prstGeom>
          <a:solidFill>
            <a:srgbClr val="F4F0FF"/>
          </a:solidFill>
          <a:ln w="17145">
            <a:solidFill>
              <a:srgbClr val="6D56A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80" smtClean="0">
                <a:solidFill>
                  <a:srgbClr val="082756"/>
                </a:solidFill>
                <a:ea typeface="Malgun Gothic" pitchFamily="34" charset="-122"/>
                <a:cs typeface="Malgun Gothic" pitchFamily="34" charset="-120"/>
              </a:rPr>
              <a:t>선의 </a:t>
            </a:r>
            <a:r>
              <a:rPr lang="en-US" altLang="ko-KR" sz="1180" smtClean="0">
                <a:solidFill>
                  <a:srgbClr val="082756"/>
                </a:solidFill>
                <a:ea typeface="Malgun Gothic" pitchFamily="34" charset="-122"/>
                <a:cs typeface="Malgun Gothic" pitchFamily="34" charset="-120"/>
              </a:rPr>
              <a:t>0</a:t>
            </a:r>
          </a:p>
          <a:p>
            <a:pPr marL="0" indent="0" algn="ctr">
              <a:buNone/>
            </a:pPr>
            <a:r>
              <a:rPr lang="ko-KR" altLang="en-US" sz="1180" smtClean="0">
                <a:solidFill>
                  <a:srgbClr val="082756"/>
                </a:solidFill>
                <a:ea typeface="Malgun Gothic" pitchFamily="34" charset="-122"/>
              </a:rPr>
              <a:t>인지</a:t>
            </a:r>
            <a:endParaRPr lang="en-US" sz="1180" dirty="0"/>
          </a:p>
        </p:txBody>
      </p:sp>
      <p:sp>
        <p:nvSpPr>
          <p:cNvPr id="21" name="Text 22"/>
          <p:cNvSpPr/>
          <p:nvPr/>
        </p:nvSpPr>
        <p:spPr>
          <a:xfrm>
            <a:off x="8735974" y="1348679"/>
            <a:ext cx="632178" cy="632178"/>
          </a:xfrm>
          <a:prstGeom prst="ellipse">
            <a:avLst/>
          </a:prstGeom>
          <a:solidFill>
            <a:srgbClr val="F4F0FF"/>
          </a:solidFill>
          <a:ln w="17145">
            <a:solidFill>
              <a:srgbClr val="6D56A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1180" smtClean="0">
                <a:solidFill>
                  <a:srgbClr val="082756"/>
                </a:solidFill>
                <a:ea typeface="Malgun Gothic" pitchFamily="34" charset="-122"/>
                <a:cs typeface="Malgun Gothic" pitchFamily="34" charset="-120"/>
              </a:rPr>
              <a:t>AI</a:t>
            </a:r>
            <a:endParaRPr lang="en-US" sz="1180" dirty="0"/>
          </a:p>
        </p:txBody>
      </p:sp>
      <p:sp>
        <p:nvSpPr>
          <p:cNvPr id="22" name="Text 22"/>
          <p:cNvSpPr/>
          <p:nvPr/>
        </p:nvSpPr>
        <p:spPr>
          <a:xfrm>
            <a:off x="7984653" y="2396219"/>
            <a:ext cx="833550" cy="833550"/>
          </a:xfrm>
          <a:prstGeom prst="ellipse">
            <a:avLst/>
          </a:prstGeom>
          <a:solidFill>
            <a:srgbClr val="F4F0FF"/>
          </a:solidFill>
          <a:ln w="17145">
            <a:solidFill>
              <a:srgbClr val="6D56A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80" smtClean="0">
                <a:solidFill>
                  <a:srgbClr val="082756"/>
                </a:solidFill>
                <a:ea typeface="Malgun Gothic" pitchFamily="34" charset="-122"/>
                <a:cs typeface="Malgun Gothic" pitchFamily="34" charset="-120"/>
              </a:rPr>
              <a:t>몬스터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8818203" y="2080130"/>
            <a:ext cx="632178" cy="632178"/>
          </a:xfrm>
          <a:prstGeom prst="ellipse">
            <a:avLst/>
          </a:prstGeom>
          <a:solidFill>
            <a:srgbClr val="F4F0FF"/>
          </a:solidFill>
          <a:ln w="17145">
            <a:solidFill>
              <a:srgbClr val="6D56A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80" smtClean="0"/>
              <a:t>타입</a:t>
            </a:r>
            <a:endParaRPr lang="en-US" sz="1180" dirty="0"/>
          </a:p>
        </p:txBody>
      </p:sp>
      <p:sp>
        <p:nvSpPr>
          <p:cNvPr id="25" name="Text 20"/>
          <p:cNvSpPr/>
          <p:nvPr/>
        </p:nvSpPr>
        <p:spPr>
          <a:xfrm>
            <a:off x="7430145" y="1922086"/>
            <a:ext cx="632178" cy="632178"/>
          </a:xfrm>
          <a:prstGeom prst="ellipse">
            <a:avLst/>
          </a:prstGeom>
          <a:solidFill>
            <a:srgbClr val="ECF4FF"/>
          </a:solidFill>
          <a:ln w="17145">
            <a:solidFill>
              <a:srgbClr val="2F64B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80" smtClean="0">
                <a:solidFill>
                  <a:srgbClr val="082756"/>
                </a:solidFill>
                <a:ea typeface="Malgun Gothic" pitchFamily="34" charset="-122"/>
                <a:cs typeface="Malgun Gothic" pitchFamily="34" charset="-120"/>
              </a:rPr>
              <a:t>시간대</a:t>
            </a:r>
            <a:endParaRPr lang="en-US" altLang="ko-KR" sz="1180" smtClean="0">
              <a:solidFill>
                <a:srgbClr val="082756"/>
              </a:solidFill>
              <a:ea typeface="Malgun Gothic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0601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시스템 설계 문서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절대로 하위의 약속이 상위의 약속을 위배하면 안 된다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A </a:t>
            </a:r>
            <a:r>
              <a:rPr lang="ko-KR" altLang="en-US" smtClean="0"/>
              <a:t>시스템이 있으면</a:t>
            </a:r>
            <a:r>
              <a:rPr lang="en-US" altLang="ko-KR" smtClean="0"/>
              <a:t>, A </a:t>
            </a:r>
            <a:r>
              <a:rPr lang="ko-KR" altLang="en-US" smtClean="0"/>
              <a:t>시스템과 관련된 내용을 적을 페이지를 하나 통째로 만든다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나머지 시스템들도 개수만큼 페이지를 만든다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정의</a:t>
            </a:r>
            <a:r>
              <a:rPr lang="en-US" altLang="ko-KR" smtClean="0"/>
              <a:t>, </a:t>
            </a:r>
            <a:r>
              <a:rPr lang="ko-KR" altLang="en-US" smtClean="0"/>
              <a:t>약속</a:t>
            </a:r>
            <a:r>
              <a:rPr lang="en-US" altLang="ko-KR" smtClean="0"/>
              <a:t>, </a:t>
            </a:r>
            <a:r>
              <a:rPr lang="ko-KR" altLang="en-US" smtClean="0"/>
              <a:t>특징</a:t>
            </a:r>
            <a:r>
              <a:rPr lang="en-US" altLang="ko-KR" smtClean="0"/>
              <a:t>, </a:t>
            </a:r>
            <a:r>
              <a:rPr lang="ko-KR" altLang="en-US" smtClean="0"/>
              <a:t>기타 내용 등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중심이 되는 </a:t>
            </a:r>
            <a:r>
              <a:rPr lang="en-US" altLang="ko-KR" smtClean="0"/>
              <a:t>A </a:t>
            </a:r>
            <a:r>
              <a:rPr lang="ko-KR" altLang="en-US" smtClean="0"/>
              <a:t>시스템과 공통되는 부분에 대한 내용을 다른 시스템 페이지들에서 설명한다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7776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9"/>
          <p:cNvSpPr/>
          <p:nvPr/>
        </p:nvSpPr>
        <p:spPr>
          <a:xfrm>
            <a:off x="545303" y="348118"/>
            <a:ext cx="1342570" cy="1342570"/>
          </a:xfrm>
          <a:prstGeom prst="ellipse">
            <a:avLst/>
          </a:prstGeom>
          <a:solidFill>
            <a:srgbClr val="082756"/>
          </a:solidFill>
          <a:ln w="25400">
            <a:solidFill>
              <a:srgbClr val="244D9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선의</a:t>
            </a:r>
            <a:endParaRPr lang="en-US" sz="1500" dirty="0"/>
          </a:p>
        </p:txBody>
      </p:sp>
      <p:sp>
        <p:nvSpPr>
          <p:cNvPr id="9" name="TextBox 8"/>
          <p:cNvSpPr txBox="1"/>
          <p:nvPr/>
        </p:nvSpPr>
        <p:spPr>
          <a:xfrm>
            <a:off x="2054391" y="857820"/>
            <a:ext cx="6978316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인간의 상태와 균열</a:t>
            </a:r>
            <a:r>
              <a:rPr lang="en-US" altLang="ko-KR" sz="1000" smtClean="0"/>
              <a:t>·</a:t>
            </a:r>
            <a:r>
              <a:rPr lang="ko-KR" altLang="en-US" sz="1000" smtClean="0"/>
              <a:t>몬스터의 반응을 결정하는 핵심 판정 수치</a:t>
            </a:r>
            <a:endParaRPr lang="ko-KR" altLang="en-US" sz="1000"/>
          </a:p>
        </p:txBody>
      </p:sp>
      <p:sp>
        <p:nvSpPr>
          <p:cNvPr id="12" name="TextBox 11"/>
          <p:cNvSpPr txBox="1"/>
          <p:nvPr/>
        </p:nvSpPr>
        <p:spPr>
          <a:xfrm>
            <a:off x="2054391" y="1543981"/>
            <a:ext cx="6978316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주인공의 선의 수치는 무한대</a:t>
            </a:r>
            <a:r>
              <a:rPr lang="en-US" altLang="ko-KR" sz="1000" smtClean="0"/>
              <a:t>. </a:t>
            </a:r>
            <a:r>
              <a:rPr lang="ko-KR" altLang="en-US" sz="1000" smtClean="0"/>
              <a:t>나머지 인간들의 선의 수치는 변동 가능</a:t>
            </a:r>
            <a:endParaRPr lang="ko-KR" altLang="en-US" sz="1000"/>
          </a:p>
        </p:txBody>
      </p:sp>
      <p:sp>
        <p:nvSpPr>
          <p:cNvPr id="13" name="TextBox 12"/>
          <p:cNvSpPr txBox="1"/>
          <p:nvPr/>
        </p:nvSpPr>
        <p:spPr>
          <a:xfrm>
            <a:off x="2054391" y="2230142"/>
            <a:ext cx="6978316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선의 수치가 </a:t>
            </a:r>
            <a:r>
              <a:rPr lang="en-US" altLang="ko-KR" sz="1000" smtClean="0"/>
              <a:t>0</a:t>
            </a:r>
            <a:r>
              <a:rPr lang="ko-KR" altLang="en-US" sz="1000" smtClean="0"/>
              <a:t>이 되면 균열의 유인 파동이 일어나는 시간대에 균열로 유인되어 괴물로 변이</a:t>
            </a:r>
            <a:endParaRPr lang="ko-KR" altLang="en-US" sz="1000"/>
          </a:p>
        </p:txBody>
      </p:sp>
      <p:sp>
        <p:nvSpPr>
          <p:cNvPr id="14" name="TextBox 13"/>
          <p:cNvSpPr txBox="1"/>
          <p:nvPr/>
        </p:nvSpPr>
        <p:spPr>
          <a:xfrm>
            <a:off x="2054391" y="2916303"/>
            <a:ext cx="6978316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선의 수치는 개개인의 </a:t>
            </a:r>
            <a:r>
              <a:rPr lang="en-US" altLang="ko-KR" sz="1000" smtClean="0"/>
              <a:t>‘</a:t>
            </a:r>
            <a:r>
              <a:rPr lang="ko-KR" altLang="en-US" sz="1000" smtClean="0"/>
              <a:t>선의</a:t>
            </a:r>
            <a:r>
              <a:rPr lang="en-US" altLang="ko-KR" sz="1000" smtClean="0"/>
              <a:t>’</a:t>
            </a:r>
            <a:r>
              <a:rPr lang="ko-KR" altLang="en-US" sz="1000" smtClean="0"/>
              <a:t>와 관련된 수치이며</a:t>
            </a:r>
            <a:r>
              <a:rPr lang="en-US" altLang="ko-KR" sz="1000" smtClean="0"/>
              <a:t>, </a:t>
            </a:r>
            <a:r>
              <a:rPr lang="ko-KR" altLang="en-US" sz="1000" smtClean="0"/>
              <a:t>전투력에서 공격력에 영향을 준다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  <p:sp>
        <p:nvSpPr>
          <p:cNvPr id="15" name="TextBox 14"/>
          <p:cNvSpPr txBox="1"/>
          <p:nvPr/>
        </p:nvSpPr>
        <p:spPr>
          <a:xfrm>
            <a:off x="2054391" y="3602464"/>
            <a:ext cx="6978316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전투를 할수록 선의 수치가 줄어드는 것은 아니다</a:t>
            </a:r>
            <a:r>
              <a:rPr lang="en-US" altLang="ko-KR" sz="1000" smtClean="0"/>
              <a:t>. </a:t>
            </a:r>
            <a:r>
              <a:rPr lang="ko-KR" altLang="en-US" sz="1000" smtClean="0"/>
              <a:t>선의 수치가 줄어드는 것은 마음에 따른 문제다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  <p:sp>
        <p:nvSpPr>
          <p:cNvPr id="16" name="TextBox 15"/>
          <p:cNvSpPr txBox="1"/>
          <p:nvPr/>
        </p:nvSpPr>
        <p:spPr>
          <a:xfrm>
            <a:off x="2054391" y="4288625"/>
            <a:ext cx="6978316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선의 수치가 </a:t>
            </a:r>
            <a:r>
              <a:rPr lang="en-US" altLang="ko-KR" sz="1000" smtClean="0"/>
              <a:t>0</a:t>
            </a:r>
            <a:r>
              <a:rPr lang="ko-KR" altLang="en-US" sz="1000" smtClean="0"/>
              <a:t>인 인간은 괴물의 타입이 진화된 타입일수록 동족으로 인식하여 공격하지 않는다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  <p:sp>
        <p:nvSpPr>
          <p:cNvPr id="17" name="TextBox 16"/>
          <p:cNvSpPr txBox="1"/>
          <p:nvPr/>
        </p:nvSpPr>
        <p:spPr>
          <a:xfrm>
            <a:off x="2054391" y="4974786"/>
            <a:ext cx="69783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선의 수치가 </a:t>
            </a:r>
            <a:r>
              <a:rPr lang="en-US" altLang="ko-KR" sz="1000" smtClean="0"/>
              <a:t>700</a:t>
            </a:r>
            <a:r>
              <a:rPr lang="ko-KR" altLang="en-US" sz="1000" smtClean="0"/>
              <a:t>대 이상인 자들은 </a:t>
            </a:r>
            <a:r>
              <a:rPr lang="en-US" altLang="ko-KR" sz="1000" smtClean="0"/>
              <a:t>‘</a:t>
            </a:r>
            <a:r>
              <a:rPr lang="ko-KR" altLang="en-US" sz="1000" smtClean="0"/>
              <a:t>고등급자</a:t>
            </a:r>
            <a:r>
              <a:rPr lang="en-US" altLang="ko-KR" sz="1000" smtClean="0"/>
              <a:t>‘</a:t>
            </a:r>
            <a:r>
              <a:rPr lang="ko-KR" altLang="en-US" sz="1000" smtClean="0"/>
              <a:t>로 분류되어</a:t>
            </a:r>
            <a:r>
              <a:rPr lang="en-US" altLang="ko-KR" sz="1000" smtClean="0"/>
              <a:t>, </a:t>
            </a:r>
            <a:r>
              <a:rPr lang="ko-KR" altLang="en-US" sz="1000" smtClean="0"/>
              <a:t>괴물들을 처치하는 데 앞장서야 한다</a:t>
            </a:r>
            <a:r>
              <a:rPr lang="en-US" altLang="ko-KR" sz="1000" smtClean="0"/>
              <a:t>. </a:t>
            </a:r>
            <a:r>
              <a:rPr lang="ko-KR" altLang="en-US" sz="1000" smtClean="0"/>
              <a:t>그에 따라 영웅 대접을 받기도 하며</a:t>
            </a:r>
            <a:r>
              <a:rPr lang="en-US" altLang="ko-KR" sz="1000" smtClean="0"/>
              <a:t>, </a:t>
            </a:r>
            <a:r>
              <a:rPr lang="ko-KR" altLang="en-US" sz="1000" smtClean="0"/>
              <a:t>국가적 보상으로 선의관리국에 의해 특혜를 받는다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  <p:sp>
        <p:nvSpPr>
          <p:cNvPr id="18" name="TextBox 17"/>
          <p:cNvSpPr txBox="1"/>
          <p:nvPr/>
        </p:nvSpPr>
        <p:spPr>
          <a:xfrm>
            <a:off x="2054391" y="5921531"/>
            <a:ext cx="6978316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주인공의 선의 수치가 무한대인 이유는</a:t>
            </a:r>
            <a:r>
              <a:rPr lang="en-US" altLang="ko-KR" sz="1000" smtClean="0"/>
              <a:t>, </a:t>
            </a:r>
            <a:r>
              <a:rPr lang="ko-KR" altLang="en-US" sz="1000" smtClean="0"/>
              <a:t>주인공이 균열에서 태어난 존재이기 때문이다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3269401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0"/>
          <p:cNvSpPr/>
          <p:nvPr/>
        </p:nvSpPr>
        <p:spPr>
          <a:xfrm>
            <a:off x="2054391" y="348118"/>
            <a:ext cx="1342570" cy="1342570"/>
          </a:xfrm>
          <a:prstGeom prst="ellipse">
            <a:avLst/>
          </a:prstGeom>
          <a:solidFill>
            <a:srgbClr val="ECF4FF"/>
          </a:solidFill>
          <a:ln w="17145">
            <a:solidFill>
              <a:srgbClr val="2F64B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80" smtClean="0">
                <a:solidFill>
                  <a:srgbClr val="082756"/>
                </a:solidFill>
                <a:ea typeface="Malgun Gothic" pitchFamily="34" charset="-122"/>
                <a:cs typeface="Malgun Gothic" pitchFamily="34" charset="-120"/>
              </a:rPr>
              <a:t>균열</a:t>
            </a:r>
            <a:endParaRPr lang="en-US" sz="1180" dirty="0"/>
          </a:p>
        </p:txBody>
      </p:sp>
      <p:sp>
        <p:nvSpPr>
          <p:cNvPr id="10" name="TextBox 9"/>
          <p:cNvSpPr txBox="1"/>
          <p:nvPr/>
        </p:nvSpPr>
        <p:spPr>
          <a:xfrm>
            <a:off x="3762875" y="742404"/>
            <a:ext cx="69783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smtClean="0"/>
              <a:t>핵심 월드 시스템</a:t>
            </a:r>
            <a:endParaRPr lang="en-US" altLang="ko-KR" sz="1000" b="1" smtClean="0"/>
          </a:p>
          <a:p>
            <a:pPr>
              <a:lnSpc>
                <a:spcPct val="150000"/>
              </a:lnSpc>
            </a:pPr>
            <a:r>
              <a:rPr lang="ko-KR" altLang="en-US" sz="1000" smtClean="0"/>
              <a:t>선의 </a:t>
            </a:r>
            <a:r>
              <a:rPr lang="en-US" altLang="ko-KR" sz="1000" smtClean="0"/>
              <a:t>0</a:t>
            </a:r>
            <a:r>
              <a:rPr lang="ko-KR" altLang="en-US" sz="1000" smtClean="0"/>
              <a:t>인 인간을 유인하고</a:t>
            </a:r>
            <a:r>
              <a:rPr lang="en-US" altLang="ko-KR" sz="1000" smtClean="0"/>
              <a:t>, </a:t>
            </a:r>
            <a:r>
              <a:rPr lang="ko-KR" altLang="en-US" sz="1000" smtClean="0"/>
              <a:t>인간의 변이를 발생시키는 공간</a:t>
            </a:r>
            <a:r>
              <a:rPr lang="en-US" altLang="ko-KR" sz="1000" smtClean="0"/>
              <a:t>·</a:t>
            </a:r>
            <a:r>
              <a:rPr lang="ko-KR" altLang="en-US" sz="1000" smtClean="0"/>
              <a:t>현상</a:t>
            </a:r>
            <a:endParaRPr lang="ko-KR" altLang="en-US" sz="1000"/>
          </a:p>
        </p:txBody>
      </p:sp>
      <p:sp>
        <p:nvSpPr>
          <p:cNvPr id="12" name="Text 19"/>
          <p:cNvSpPr/>
          <p:nvPr/>
        </p:nvSpPr>
        <p:spPr>
          <a:xfrm>
            <a:off x="545303" y="348118"/>
            <a:ext cx="1342570" cy="1342570"/>
          </a:xfrm>
          <a:prstGeom prst="ellipse">
            <a:avLst/>
          </a:prstGeom>
          <a:solidFill>
            <a:srgbClr val="082756"/>
          </a:solidFill>
          <a:ln w="25400">
            <a:solidFill>
              <a:srgbClr val="244D9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선의</a:t>
            </a:r>
            <a:endParaRPr lang="en-US" sz="1500" dirty="0"/>
          </a:p>
        </p:txBody>
      </p:sp>
      <p:sp>
        <p:nvSpPr>
          <p:cNvPr id="13" name="TextBox 12"/>
          <p:cNvSpPr txBox="1"/>
          <p:nvPr/>
        </p:nvSpPr>
        <p:spPr>
          <a:xfrm>
            <a:off x="545303" y="2025772"/>
            <a:ext cx="6978316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균열은 세상이 선의로 가득하게 만들기 위해 끊임없이 확장하고 팽탕하는 존재다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  <p:sp>
        <p:nvSpPr>
          <p:cNvPr id="14" name="TextBox 13"/>
          <p:cNvSpPr txBox="1"/>
          <p:nvPr/>
        </p:nvSpPr>
        <p:spPr>
          <a:xfrm>
            <a:off x="545303" y="2654270"/>
            <a:ext cx="6978316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가장 처음으로 발생한 균열에 다가가면 선의 수치가 머리 위에 표현된다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  <p:sp>
        <p:nvSpPr>
          <p:cNvPr id="15" name="TextBox 14"/>
          <p:cNvSpPr txBox="1"/>
          <p:nvPr/>
        </p:nvSpPr>
        <p:spPr>
          <a:xfrm>
            <a:off x="545303" y="3282768"/>
            <a:ext cx="6978316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균열은 늦은 밤부터 이른 새벽까지의 시간 동안 유인 파동이 일어나며</a:t>
            </a:r>
            <a:r>
              <a:rPr lang="en-US" altLang="ko-KR" sz="1000" smtClean="0"/>
              <a:t>, </a:t>
            </a:r>
            <a:r>
              <a:rPr lang="ko-KR" altLang="en-US" sz="1000" smtClean="0"/>
              <a:t>그 때 선의가 </a:t>
            </a:r>
            <a:r>
              <a:rPr lang="en-US" altLang="ko-KR" sz="1000" smtClean="0"/>
              <a:t>0</a:t>
            </a:r>
            <a:r>
              <a:rPr lang="ko-KR" altLang="en-US" sz="1000" smtClean="0"/>
              <a:t>인 인간들이 균열로 유인된다</a:t>
            </a:r>
            <a:r>
              <a:rPr lang="en-US" altLang="ko-KR" sz="1000" smtClean="0"/>
              <a:t>.</a:t>
            </a:r>
            <a:r>
              <a:rPr lang="ko-KR" altLang="en-US" sz="1000" smtClean="0"/>
              <a:t> </a:t>
            </a:r>
            <a:endParaRPr lang="ko-KR" altLang="en-US" sz="1000"/>
          </a:p>
        </p:txBody>
      </p:sp>
      <p:sp>
        <p:nvSpPr>
          <p:cNvPr id="16" name="TextBox 15"/>
          <p:cNvSpPr txBox="1"/>
          <p:nvPr/>
        </p:nvSpPr>
        <p:spPr>
          <a:xfrm>
            <a:off x="3762875" y="1296402"/>
            <a:ext cx="6978316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인간들의 이기심과 무관심이 가득했던 자리에서 생겨났다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  <p:sp>
        <p:nvSpPr>
          <p:cNvPr id="17" name="TextBox 16"/>
          <p:cNvSpPr txBox="1"/>
          <p:nvPr/>
        </p:nvSpPr>
        <p:spPr>
          <a:xfrm>
            <a:off x="545303" y="3911266"/>
            <a:ext cx="6978316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차한해를 제외한 모든 인간은 균열로 자발적으로 들어가게 되면</a:t>
            </a:r>
            <a:r>
              <a:rPr lang="en-US" altLang="ko-KR" sz="1000" smtClean="0"/>
              <a:t>, </a:t>
            </a:r>
            <a:r>
              <a:rPr lang="ko-KR" altLang="en-US" sz="1000" smtClean="0"/>
              <a:t>유인 파동과 관계없이 즉시 괴물로 변이된다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735073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1"/>
          <p:cNvSpPr/>
          <p:nvPr/>
        </p:nvSpPr>
        <p:spPr>
          <a:xfrm>
            <a:off x="2113464" y="857138"/>
            <a:ext cx="833550" cy="833550"/>
          </a:xfrm>
          <a:prstGeom prst="ellipse">
            <a:avLst/>
          </a:prstGeom>
          <a:solidFill>
            <a:srgbClr val="ECFAF8"/>
          </a:solidFill>
          <a:ln w="17145">
            <a:solidFill>
              <a:srgbClr val="2B8E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80" smtClean="0">
                <a:solidFill>
                  <a:srgbClr val="082756"/>
                </a:solidFill>
                <a:ea typeface="Malgun Gothic" pitchFamily="34" charset="-122"/>
                <a:cs typeface="Malgun Gothic" pitchFamily="34" charset="-120"/>
              </a:rPr>
              <a:t>주인공</a:t>
            </a:r>
            <a:endParaRPr lang="en-US" sz="1180" dirty="0"/>
          </a:p>
        </p:txBody>
      </p:sp>
      <p:sp>
        <p:nvSpPr>
          <p:cNvPr id="11" name="TextBox 10"/>
          <p:cNvSpPr txBox="1"/>
          <p:nvPr/>
        </p:nvSpPr>
        <p:spPr>
          <a:xfrm>
            <a:off x="3172605" y="996914"/>
            <a:ext cx="69783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smtClean="0"/>
              <a:t>플레이어 캐릭터 </a:t>
            </a:r>
            <a:r>
              <a:rPr lang="en-US" altLang="ko-KR" sz="1000" b="1" smtClean="0"/>
              <a:t>/ </a:t>
            </a:r>
            <a:r>
              <a:rPr lang="ko-KR" altLang="en-US" sz="1000" b="1" smtClean="0"/>
              <a:t>예외 규칙</a:t>
            </a:r>
            <a:endParaRPr lang="en-US" altLang="ko-KR" sz="1000" b="1" smtClean="0"/>
          </a:p>
          <a:p>
            <a:pPr>
              <a:lnSpc>
                <a:spcPct val="150000"/>
              </a:lnSpc>
            </a:pPr>
            <a:r>
              <a:rPr lang="ko-KR" altLang="en-US" sz="1000" smtClean="0"/>
              <a:t>균열에서 만들어진 주인공</a:t>
            </a:r>
            <a:r>
              <a:rPr lang="en-US" altLang="ko-KR" sz="1000" smtClean="0"/>
              <a:t>. </a:t>
            </a:r>
            <a:r>
              <a:rPr lang="ko-KR" altLang="en-US" sz="1000" smtClean="0"/>
              <a:t>일반 인간과 다른 선의 규칙을 가짐</a:t>
            </a:r>
            <a:endParaRPr lang="ko-KR" altLang="en-US" sz="1000"/>
          </a:p>
        </p:txBody>
      </p:sp>
      <p:sp>
        <p:nvSpPr>
          <p:cNvPr id="12" name="Text 19"/>
          <p:cNvSpPr/>
          <p:nvPr/>
        </p:nvSpPr>
        <p:spPr>
          <a:xfrm>
            <a:off x="545303" y="348118"/>
            <a:ext cx="1342570" cy="1342570"/>
          </a:xfrm>
          <a:prstGeom prst="ellipse">
            <a:avLst/>
          </a:prstGeom>
          <a:solidFill>
            <a:srgbClr val="082756"/>
          </a:solidFill>
          <a:ln w="25400">
            <a:solidFill>
              <a:srgbClr val="244D9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선의</a:t>
            </a:r>
            <a:endParaRPr lang="en-US" sz="1500" dirty="0"/>
          </a:p>
        </p:txBody>
      </p:sp>
      <p:sp>
        <p:nvSpPr>
          <p:cNvPr id="13" name="TextBox 12"/>
          <p:cNvSpPr txBox="1"/>
          <p:nvPr/>
        </p:nvSpPr>
        <p:spPr>
          <a:xfrm>
            <a:off x="545303" y="2025772"/>
            <a:ext cx="69783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주인공의 선의는 무한대로</a:t>
            </a:r>
            <a:r>
              <a:rPr lang="en-US" altLang="ko-KR" sz="1000" smtClean="0"/>
              <a:t>, </a:t>
            </a:r>
            <a:r>
              <a:rPr lang="ko-KR" altLang="en-US" sz="1000" smtClean="0"/>
              <a:t>절대 줄어들지 않는다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  <p:sp>
        <p:nvSpPr>
          <p:cNvPr id="15" name="TextBox 14"/>
          <p:cNvSpPr txBox="1"/>
          <p:nvPr/>
        </p:nvSpPr>
        <p:spPr>
          <a:xfrm>
            <a:off x="545302" y="2654270"/>
            <a:ext cx="111323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선의 수치가 무한대이므로</a:t>
            </a:r>
            <a:r>
              <a:rPr lang="en-US" altLang="ko-KR" sz="1000" smtClean="0"/>
              <a:t>, </a:t>
            </a:r>
            <a:r>
              <a:rPr lang="ko-KR" altLang="en-US" sz="1000" smtClean="0"/>
              <a:t>공격력도 강하다고 생각할 수 있지만</a:t>
            </a:r>
            <a:r>
              <a:rPr lang="en-US" altLang="ko-KR" sz="1000" smtClean="0"/>
              <a:t>, </a:t>
            </a:r>
            <a:r>
              <a:rPr lang="ko-KR" altLang="en-US" sz="1000" smtClean="0"/>
              <a:t>새로운 균열과 괴물들이 등장할 때마다</a:t>
            </a:r>
            <a:r>
              <a:rPr lang="en-US" altLang="ko-KR" sz="1000" smtClean="0"/>
              <a:t>, </a:t>
            </a:r>
            <a:r>
              <a:rPr lang="ko-KR" altLang="en-US" sz="1000" smtClean="0"/>
              <a:t>해당 균열과 괴물들에 영향을 받은 무기를 통해 전투력을 높일 수 있다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1138217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3"/>
          <p:cNvSpPr/>
          <p:nvPr/>
        </p:nvSpPr>
        <p:spPr>
          <a:xfrm>
            <a:off x="2113464" y="860405"/>
            <a:ext cx="833550" cy="833550"/>
          </a:xfrm>
          <a:prstGeom prst="ellipse">
            <a:avLst/>
          </a:prstGeom>
          <a:solidFill>
            <a:srgbClr val="FFF3EA"/>
          </a:solidFill>
          <a:ln w="17145">
            <a:solidFill>
              <a:srgbClr val="D4743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80" smtClean="0">
                <a:solidFill>
                  <a:srgbClr val="082756"/>
                </a:solidFill>
                <a:ea typeface="Malgun Gothic" pitchFamily="34" charset="-122"/>
                <a:cs typeface="Malgun Gothic" pitchFamily="34" charset="-120"/>
              </a:rPr>
              <a:t>NPC</a:t>
            </a:r>
            <a:endParaRPr lang="en-US" sz="1080" dirty="0"/>
          </a:p>
        </p:txBody>
      </p:sp>
      <p:sp>
        <p:nvSpPr>
          <p:cNvPr id="13" name="TextBox 12"/>
          <p:cNvSpPr txBox="1"/>
          <p:nvPr/>
        </p:nvSpPr>
        <p:spPr>
          <a:xfrm>
            <a:off x="3172605" y="996914"/>
            <a:ext cx="69783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smtClean="0"/>
              <a:t>캐릭터 시스템</a:t>
            </a:r>
            <a:endParaRPr lang="en-US" altLang="ko-KR" sz="1000" b="1" smtClean="0"/>
          </a:p>
          <a:p>
            <a:pPr>
              <a:lnSpc>
                <a:spcPct val="150000"/>
              </a:lnSpc>
            </a:pPr>
            <a:r>
              <a:rPr lang="ko-KR" altLang="en-US" sz="1000" smtClean="0"/>
              <a:t>선의를 보유하고 월드의 사건에 영향을 받는 인간 캐릭터</a:t>
            </a:r>
            <a:endParaRPr lang="ko-KR" altLang="en-US" sz="1000"/>
          </a:p>
        </p:txBody>
      </p:sp>
      <p:sp>
        <p:nvSpPr>
          <p:cNvPr id="14" name="Text 19"/>
          <p:cNvSpPr/>
          <p:nvPr/>
        </p:nvSpPr>
        <p:spPr>
          <a:xfrm>
            <a:off x="545303" y="348118"/>
            <a:ext cx="1342570" cy="1342570"/>
          </a:xfrm>
          <a:prstGeom prst="ellipse">
            <a:avLst/>
          </a:prstGeom>
          <a:solidFill>
            <a:srgbClr val="082756"/>
          </a:solidFill>
          <a:ln w="25400">
            <a:solidFill>
              <a:srgbClr val="244D9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선의</a:t>
            </a:r>
            <a:endParaRPr lang="en-US" sz="1500" dirty="0"/>
          </a:p>
        </p:txBody>
      </p:sp>
      <p:sp>
        <p:nvSpPr>
          <p:cNvPr id="15" name="TextBox 14"/>
          <p:cNvSpPr txBox="1"/>
          <p:nvPr/>
        </p:nvSpPr>
        <p:spPr>
          <a:xfrm>
            <a:off x="545303" y="2025772"/>
            <a:ext cx="6978316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선의 수치가 각자의 진정한 </a:t>
            </a:r>
            <a:r>
              <a:rPr lang="en-US" altLang="ko-KR" sz="1000" smtClean="0"/>
              <a:t>‘</a:t>
            </a:r>
            <a:r>
              <a:rPr lang="ko-KR" altLang="en-US" sz="1000" smtClean="0"/>
              <a:t>선의</a:t>
            </a:r>
            <a:r>
              <a:rPr lang="en-US" altLang="ko-KR" sz="1000" smtClean="0"/>
              <a:t>‘, </a:t>
            </a:r>
            <a:r>
              <a:rPr lang="ko-KR" altLang="en-US" sz="1000" smtClean="0"/>
              <a:t>즉 마음에 따라 변한다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  <p:sp>
        <p:nvSpPr>
          <p:cNvPr id="16" name="TextBox 15"/>
          <p:cNvSpPr txBox="1"/>
          <p:nvPr/>
        </p:nvSpPr>
        <p:spPr>
          <a:xfrm>
            <a:off x="545302" y="2654270"/>
            <a:ext cx="11132347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선의 수치가 </a:t>
            </a:r>
            <a:r>
              <a:rPr lang="en-US" altLang="ko-KR" sz="1000" smtClean="0"/>
              <a:t>0</a:t>
            </a:r>
            <a:r>
              <a:rPr lang="ko-KR" altLang="en-US" sz="1000" smtClean="0"/>
              <a:t>이 되면 유인 파동에 이끌려 균열로 들어가 괴물로 변이된다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  <p:sp>
        <p:nvSpPr>
          <p:cNvPr id="18" name="TextBox 17"/>
          <p:cNvSpPr txBox="1"/>
          <p:nvPr/>
        </p:nvSpPr>
        <p:spPr>
          <a:xfrm>
            <a:off x="545302" y="3282768"/>
            <a:ext cx="111323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각자의 서사에 따라 선의 수치가 변하며</a:t>
            </a:r>
            <a:r>
              <a:rPr lang="en-US" altLang="ko-KR" sz="1000" smtClean="0"/>
              <a:t>, </a:t>
            </a:r>
            <a:r>
              <a:rPr lang="ko-KR" altLang="en-US" sz="1000" smtClean="0"/>
              <a:t>주인공은 스킬을 사용해서 다른 사람들의 선의 수치를 수시로 확인할 수 있다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2790986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172605" y="996914"/>
            <a:ext cx="69783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smtClean="0"/>
              <a:t>전투</a:t>
            </a:r>
            <a:r>
              <a:rPr lang="en-US" altLang="ko-KR" sz="1000" b="1" smtClean="0"/>
              <a:t>·</a:t>
            </a:r>
            <a:r>
              <a:rPr lang="ko-KR" altLang="en-US" sz="1000" b="1" smtClean="0"/>
              <a:t>월드 개체</a:t>
            </a:r>
            <a:endParaRPr lang="en-US" altLang="ko-KR" sz="1000" b="1" smtClean="0"/>
          </a:p>
          <a:p>
            <a:pPr>
              <a:lnSpc>
                <a:spcPct val="150000"/>
              </a:lnSpc>
            </a:pPr>
            <a:r>
              <a:rPr lang="ko-KR" altLang="en-US" sz="1000" smtClean="0"/>
              <a:t>선의가 고갈된 인간이 균열을 통해 변화한 존재</a:t>
            </a:r>
            <a:endParaRPr lang="ko-KR" altLang="en-US" sz="1000"/>
          </a:p>
        </p:txBody>
      </p:sp>
      <p:sp>
        <p:nvSpPr>
          <p:cNvPr id="14" name="Text 19"/>
          <p:cNvSpPr/>
          <p:nvPr/>
        </p:nvSpPr>
        <p:spPr>
          <a:xfrm>
            <a:off x="545303" y="348118"/>
            <a:ext cx="1342570" cy="1342570"/>
          </a:xfrm>
          <a:prstGeom prst="ellipse">
            <a:avLst/>
          </a:prstGeom>
          <a:solidFill>
            <a:srgbClr val="082756"/>
          </a:solidFill>
          <a:ln w="25400">
            <a:solidFill>
              <a:srgbClr val="244D9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선의</a:t>
            </a:r>
            <a:endParaRPr lang="en-US" sz="1500" dirty="0"/>
          </a:p>
        </p:txBody>
      </p:sp>
      <p:sp>
        <p:nvSpPr>
          <p:cNvPr id="15" name="TextBox 14"/>
          <p:cNvSpPr txBox="1"/>
          <p:nvPr/>
        </p:nvSpPr>
        <p:spPr>
          <a:xfrm>
            <a:off x="545303" y="2025772"/>
            <a:ext cx="6978316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인간 시절 가졌던 트라우마나 부정적인 마음의 크기만큼 진화한 개체가 된다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  <p:sp>
        <p:nvSpPr>
          <p:cNvPr id="16" name="TextBox 15"/>
          <p:cNvSpPr txBox="1"/>
          <p:nvPr/>
        </p:nvSpPr>
        <p:spPr>
          <a:xfrm>
            <a:off x="545302" y="2654270"/>
            <a:ext cx="11132347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선의가 </a:t>
            </a:r>
            <a:r>
              <a:rPr lang="en-US" altLang="ko-KR" sz="1000" smtClean="0"/>
              <a:t>0</a:t>
            </a:r>
            <a:r>
              <a:rPr lang="ko-KR" altLang="en-US" sz="1000" smtClean="0"/>
              <a:t>인 인간이지만 아직 유인 파동의 시간대가 아니어서 균열에 들어가지 않은 상태의 인간은 기본적으로비사냥 대상으로 인식한다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  <p:sp>
        <p:nvSpPr>
          <p:cNvPr id="17" name="TextBox 16"/>
          <p:cNvSpPr txBox="1"/>
          <p:nvPr/>
        </p:nvSpPr>
        <p:spPr>
          <a:xfrm>
            <a:off x="545302" y="3282768"/>
            <a:ext cx="111323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타입별로 선의가 </a:t>
            </a:r>
            <a:r>
              <a:rPr lang="en-US" altLang="ko-KR" sz="1000" smtClean="0"/>
              <a:t>0</a:t>
            </a:r>
            <a:r>
              <a:rPr lang="ko-KR" altLang="en-US" sz="1000" smtClean="0"/>
              <a:t>인 인간에 대한 인식과 행동이 다르다</a:t>
            </a:r>
            <a:r>
              <a:rPr lang="en-US" altLang="ko-KR" sz="1000" smtClean="0"/>
              <a:t>. </a:t>
            </a:r>
            <a:r>
              <a:rPr lang="ko-KR" altLang="en-US" sz="1000" smtClean="0"/>
              <a:t>초기 변이체는 단순히 비사냥 대상으로 인식하여 비자발적이더라도 선의 </a:t>
            </a:r>
            <a:r>
              <a:rPr lang="en-US" altLang="ko-KR" sz="1000" smtClean="0"/>
              <a:t>0</a:t>
            </a:r>
            <a:r>
              <a:rPr lang="ko-KR" altLang="en-US" sz="1000" smtClean="0"/>
              <a:t>인 인간에게 피해를 입힐 수도 있다</a:t>
            </a:r>
            <a:r>
              <a:rPr lang="en-US" altLang="ko-KR" sz="1000" smtClean="0"/>
              <a:t>. </a:t>
            </a:r>
            <a:r>
              <a:rPr lang="ko-KR" altLang="en-US" sz="1000" smtClean="0"/>
              <a:t>일반 변이체는 의도적으로 선의 </a:t>
            </a:r>
            <a:r>
              <a:rPr lang="en-US" altLang="ko-KR" sz="1000" smtClean="0"/>
              <a:t>0</a:t>
            </a:r>
            <a:r>
              <a:rPr lang="ko-KR" altLang="en-US" sz="1000" smtClean="0"/>
              <a:t>인 인간을 무시한다</a:t>
            </a:r>
            <a:r>
              <a:rPr lang="en-US" altLang="ko-KR" sz="1000" smtClean="0"/>
              <a:t>. </a:t>
            </a:r>
            <a:r>
              <a:rPr lang="ko-KR" altLang="en-US" sz="1000" smtClean="0"/>
              <a:t>강화 변이체는 오히려 그들을 위험에서 구해주기도 한다</a:t>
            </a:r>
            <a:r>
              <a:rPr lang="en-US" altLang="ko-KR" sz="1000" smtClean="0"/>
              <a:t>. </a:t>
            </a:r>
            <a:r>
              <a:rPr lang="ko-KR" altLang="en-US" sz="1000" smtClean="0"/>
              <a:t>무리 선도체는 부하들을 시켜서 선의 </a:t>
            </a:r>
            <a:r>
              <a:rPr lang="en-US" altLang="ko-KR" sz="1000" smtClean="0"/>
              <a:t>0</a:t>
            </a:r>
            <a:r>
              <a:rPr lang="ko-KR" altLang="en-US" sz="1000" smtClean="0"/>
              <a:t>인 인간들을 균열로 데려간다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  <p:sp>
        <p:nvSpPr>
          <p:cNvPr id="10" name="Text 22"/>
          <p:cNvSpPr/>
          <p:nvPr/>
        </p:nvSpPr>
        <p:spPr>
          <a:xfrm>
            <a:off x="2113464" y="857032"/>
            <a:ext cx="833550" cy="833550"/>
          </a:xfrm>
          <a:prstGeom prst="ellipse">
            <a:avLst/>
          </a:prstGeom>
          <a:solidFill>
            <a:srgbClr val="F4F0FF"/>
          </a:solidFill>
          <a:ln w="17145">
            <a:solidFill>
              <a:srgbClr val="6D56A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80" smtClean="0">
                <a:solidFill>
                  <a:srgbClr val="082756"/>
                </a:solidFill>
                <a:ea typeface="Malgun Gothic" pitchFamily="34" charset="-122"/>
                <a:cs typeface="Malgun Gothic" pitchFamily="34" charset="-120"/>
              </a:rPr>
              <a:t>몬스터</a:t>
            </a:r>
            <a:endParaRPr lang="en-US" sz="1180" dirty="0"/>
          </a:p>
        </p:txBody>
      </p:sp>
    </p:spTree>
    <p:extLst>
      <p:ext uri="{BB962C8B-B14F-4D97-AF65-F5344CB8AC3E}">
        <p14:creationId xmlns:p14="http://schemas.microsoft.com/office/powerpoint/2010/main" val="638666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971233" y="996914"/>
            <a:ext cx="69783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smtClean="0"/>
              <a:t>균열 하위 시스템</a:t>
            </a:r>
            <a:endParaRPr lang="en-US" altLang="ko-KR" sz="1000" b="1" smtClean="0"/>
          </a:p>
          <a:p>
            <a:pPr>
              <a:lnSpc>
                <a:spcPct val="150000"/>
              </a:lnSpc>
            </a:pPr>
            <a:r>
              <a:rPr lang="ko-KR" altLang="en-US" sz="1000" smtClean="0"/>
              <a:t>특정 시간에 균열이 발생시키는 유인 현상</a:t>
            </a:r>
            <a:endParaRPr lang="ko-KR" altLang="en-US" sz="1000"/>
          </a:p>
        </p:txBody>
      </p:sp>
      <p:sp>
        <p:nvSpPr>
          <p:cNvPr id="14" name="Text 19"/>
          <p:cNvSpPr/>
          <p:nvPr/>
        </p:nvSpPr>
        <p:spPr>
          <a:xfrm>
            <a:off x="545303" y="348118"/>
            <a:ext cx="1342570" cy="1342570"/>
          </a:xfrm>
          <a:prstGeom prst="ellipse">
            <a:avLst/>
          </a:prstGeom>
          <a:solidFill>
            <a:srgbClr val="082756"/>
          </a:solidFill>
          <a:ln w="25400">
            <a:solidFill>
              <a:srgbClr val="244D9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선의</a:t>
            </a:r>
            <a:endParaRPr lang="en-US" sz="1500" dirty="0"/>
          </a:p>
        </p:txBody>
      </p:sp>
      <p:sp>
        <p:nvSpPr>
          <p:cNvPr id="15" name="TextBox 14"/>
          <p:cNvSpPr txBox="1"/>
          <p:nvPr/>
        </p:nvSpPr>
        <p:spPr>
          <a:xfrm>
            <a:off x="545303" y="2025772"/>
            <a:ext cx="6978316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늦은 밤부터 이른 새벽까지의 시간대에 발생한다</a:t>
            </a:r>
            <a:r>
              <a:rPr lang="en-US" altLang="ko-KR" sz="1000" smtClean="0"/>
              <a:t>.</a:t>
            </a:r>
            <a:endParaRPr lang="ko-KR" altLang="en-US" sz="1000" smtClean="0"/>
          </a:p>
        </p:txBody>
      </p:sp>
      <p:sp>
        <p:nvSpPr>
          <p:cNvPr id="16" name="TextBox 15"/>
          <p:cNvSpPr txBox="1"/>
          <p:nvPr/>
        </p:nvSpPr>
        <p:spPr>
          <a:xfrm>
            <a:off x="545302" y="2654270"/>
            <a:ext cx="11132347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낮 시간 동안은 다시 유인 파동을 발생시킬 준비를 한다</a:t>
            </a:r>
            <a:r>
              <a:rPr lang="en-US" altLang="ko-KR" sz="1000" smtClean="0"/>
              <a:t>.</a:t>
            </a:r>
            <a:endParaRPr lang="ko-KR" altLang="en-US" sz="1000" smtClean="0"/>
          </a:p>
        </p:txBody>
      </p:sp>
      <p:sp>
        <p:nvSpPr>
          <p:cNvPr id="17" name="TextBox 16"/>
          <p:cNvSpPr txBox="1"/>
          <p:nvPr/>
        </p:nvSpPr>
        <p:spPr>
          <a:xfrm>
            <a:off x="545302" y="3282768"/>
            <a:ext cx="11132347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선의가 </a:t>
            </a:r>
            <a:r>
              <a:rPr lang="en-US" altLang="ko-KR" sz="1000" smtClean="0"/>
              <a:t>0</a:t>
            </a:r>
            <a:r>
              <a:rPr lang="ko-KR" altLang="en-US" sz="1000" smtClean="0"/>
              <a:t>인 인간들이 균열로 유인되는 동안</a:t>
            </a:r>
            <a:r>
              <a:rPr lang="en-US" altLang="ko-KR" sz="1000" smtClean="0"/>
              <a:t>, </a:t>
            </a:r>
            <a:r>
              <a:rPr lang="ko-KR" altLang="en-US" sz="1000" smtClean="0"/>
              <a:t>선의가 </a:t>
            </a:r>
            <a:r>
              <a:rPr lang="en-US" altLang="ko-KR" sz="1000" smtClean="0"/>
              <a:t>0</a:t>
            </a:r>
            <a:r>
              <a:rPr lang="ko-KR" altLang="en-US" sz="1000" smtClean="0"/>
              <a:t>이 아닌 인간들에게 그들은 평범하게 목적지로 이동하는 사람들처럼 보인다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  <p:sp>
        <p:nvSpPr>
          <p:cNvPr id="11" name="Text 20"/>
          <p:cNvSpPr/>
          <p:nvPr/>
        </p:nvSpPr>
        <p:spPr>
          <a:xfrm>
            <a:off x="2113464" y="1058404"/>
            <a:ext cx="632178" cy="632178"/>
          </a:xfrm>
          <a:prstGeom prst="ellipse">
            <a:avLst/>
          </a:prstGeom>
          <a:solidFill>
            <a:srgbClr val="ECF4FF"/>
          </a:solidFill>
          <a:ln w="17145">
            <a:solidFill>
              <a:srgbClr val="2F64B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80" smtClean="0">
                <a:solidFill>
                  <a:srgbClr val="082756"/>
                </a:solidFill>
                <a:ea typeface="Malgun Gothic" pitchFamily="34" charset="-122"/>
                <a:cs typeface="Malgun Gothic" pitchFamily="34" charset="-120"/>
              </a:rPr>
              <a:t>유인</a:t>
            </a:r>
            <a:endParaRPr lang="en-US" altLang="ko-KR" sz="1180" smtClean="0">
              <a:solidFill>
                <a:srgbClr val="082756"/>
              </a:solidFill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ko-KR" altLang="en-US" sz="1180" smtClean="0">
                <a:solidFill>
                  <a:srgbClr val="082756"/>
                </a:solidFill>
                <a:ea typeface="Malgun Gothic" pitchFamily="34" charset="-122"/>
              </a:rPr>
              <a:t>파동</a:t>
            </a:r>
            <a:endParaRPr lang="en-US" altLang="ko-KR" sz="1180" smtClean="0">
              <a:solidFill>
                <a:srgbClr val="082756"/>
              </a:solidFill>
              <a:ea typeface="Malgun Gothic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5302" y="3911266"/>
            <a:ext cx="11132347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선의가 </a:t>
            </a:r>
            <a:r>
              <a:rPr lang="en-US" altLang="ko-KR" sz="1000" smtClean="0"/>
              <a:t>0</a:t>
            </a:r>
            <a:r>
              <a:rPr lang="ko-KR" altLang="en-US" sz="1000" smtClean="0"/>
              <a:t>인 인간들만 영향을 받아서 균열로 유인된다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3069393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971233" y="996914"/>
            <a:ext cx="69783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smtClean="0"/>
              <a:t>상태 변화 시스템</a:t>
            </a:r>
            <a:endParaRPr lang="en-US" altLang="ko-KR" sz="1000" b="1" smtClean="0"/>
          </a:p>
          <a:p>
            <a:pPr>
              <a:lnSpc>
                <a:spcPct val="150000"/>
              </a:lnSpc>
            </a:pPr>
            <a:r>
              <a:rPr lang="ko-KR" altLang="en-US" sz="1000" smtClean="0"/>
              <a:t>선의 </a:t>
            </a:r>
            <a:r>
              <a:rPr lang="en-US" altLang="ko-KR" sz="1000" smtClean="0"/>
              <a:t>0</a:t>
            </a:r>
            <a:r>
              <a:rPr lang="ko-KR" altLang="en-US" sz="1000" smtClean="0"/>
              <a:t>인 인간이 균열에 들어가 몬스터로 변화하는 과정</a:t>
            </a:r>
            <a:endParaRPr lang="ko-KR" altLang="en-US" sz="1000"/>
          </a:p>
        </p:txBody>
      </p:sp>
      <p:sp>
        <p:nvSpPr>
          <p:cNvPr id="14" name="Text 19"/>
          <p:cNvSpPr/>
          <p:nvPr/>
        </p:nvSpPr>
        <p:spPr>
          <a:xfrm>
            <a:off x="545303" y="348118"/>
            <a:ext cx="1342570" cy="1342570"/>
          </a:xfrm>
          <a:prstGeom prst="ellipse">
            <a:avLst/>
          </a:prstGeom>
          <a:solidFill>
            <a:srgbClr val="082756"/>
          </a:solidFill>
          <a:ln w="25400">
            <a:solidFill>
              <a:srgbClr val="244D9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선의</a:t>
            </a:r>
            <a:endParaRPr lang="en-US" sz="1500" dirty="0"/>
          </a:p>
        </p:txBody>
      </p:sp>
      <p:sp>
        <p:nvSpPr>
          <p:cNvPr id="15" name="TextBox 14"/>
          <p:cNvSpPr txBox="1"/>
          <p:nvPr/>
        </p:nvSpPr>
        <p:spPr>
          <a:xfrm>
            <a:off x="545302" y="2025772"/>
            <a:ext cx="111323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괴물로 변이하면 완전히 본래 모습을 잃는 것은 아니다</a:t>
            </a:r>
            <a:r>
              <a:rPr lang="en-US" altLang="ko-KR" sz="1000" smtClean="0"/>
              <a:t>. </a:t>
            </a:r>
            <a:r>
              <a:rPr lang="ko-KR" altLang="en-US" sz="1000" smtClean="0"/>
              <a:t>괴물로 변이하기 전의 인간의 모습은 겁데기처럼 균열 속에 남아 잇고</a:t>
            </a:r>
            <a:r>
              <a:rPr lang="en-US" altLang="ko-KR" sz="1000" smtClean="0"/>
              <a:t>, </a:t>
            </a:r>
            <a:r>
              <a:rPr lang="ko-KR" altLang="en-US" sz="1000" smtClean="0"/>
              <a:t>이기심이나 악한 마음과 같이 부정적인 요소들이 한데 뭉쳐서 괴물이 되어서 균열 밖으로 나가는 것이다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  <p:sp>
        <p:nvSpPr>
          <p:cNvPr id="16" name="TextBox 15"/>
          <p:cNvSpPr txBox="1"/>
          <p:nvPr/>
        </p:nvSpPr>
        <p:spPr>
          <a:xfrm>
            <a:off x="545302" y="2908792"/>
            <a:ext cx="111323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변이하면서 남은 인간 껍데기는</a:t>
            </a:r>
            <a:r>
              <a:rPr lang="en-US" altLang="ko-KR" sz="1000"/>
              <a:t> </a:t>
            </a:r>
            <a:r>
              <a:rPr lang="ko-KR" altLang="en-US" sz="1000" smtClean="0"/>
              <a:t>균열 속에서 선의로 가득 채워지는 시간을 가지게 된다</a:t>
            </a:r>
            <a:r>
              <a:rPr lang="en-US" altLang="ko-KR" sz="1000" smtClean="0"/>
              <a:t>. </a:t>
            </a:r>
            <a:r>
              <a:rPr lang="ko-KR" altLang="en-US" sz="1000" smtClean="0"/>
              <a:t>선의로 가득 채워진 인간 껍데기는</a:t>
            </a:r>
            <a:r>
              <a:rPr lang="en-US" altLang="ko-KR" sz="1000" smtClean="0"/>
              <a:t>, </a:t>
            </a:r>
            <a:r>
              <a:rPr lang="ko-KR" altLang="en-US" sz="1000" smtClean="0"/>
              <a:t>균열 박의</a:t>
            </a:r>
            <a:r>
              <a:rPr lang="en-US" altLang="ko-KR" sz="1000" smtClean="0"/>
              <a:t> </a:t>
            </a:r>
            <a:r>
              <a:rPr lang="ko-KR" altLang="en-US" sz="1000" smtClean="0"/>
              <a:t>세상이 선의로 가득 찰 때까지 균열 속의 선의의 바다에서 식물인간과 같은 상태로 지내게 된다</a:t>
            </a:r>
            <a:r>
              <a:rPr lang="en-US" altLang="ko-KR" sz="1000" smtClean="0"/>
              <a:t>.</a:t>
            </a:r>
            <a:endParaRPr lang="ko-KR" altLang="en-US" sz="1000" smtClean="0"/>
          </a:p>
        </p:txBody>
      </p:sp>
      <p:sp>
        <p:nvSpPr>
          <p:cNvPr id="17" name="TextBox 16"/>
          <p:cNvSpPr txBox="1"/>
          <p:nvPr/>
        </p:nvSpPr>
        <p:spPr>
          <a:xfrm>
            <a:off x="545302" y="3791812"/>
            <a:ext cx="11132347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변이한 괴물은 인간의 부정적인 것들이 뭉쳐져서 균열 밖으로 배설된 배설물과 같다</a:t>
            </a:r>
            <a:r>
              <a:rPr lang="en-US" altLang="ko-KR" sz="1000" smtClean="0"/>
              <a:t>. </a:t>
            </a:r>
            <a:r>
              <a:rPr lang="ko-KR" altLang="en-US" sz="1000" smtClean="0"/>
              <a:t>균열에서 배설되기 전</a:t>
            </a:r>
            <a:r>
              <a:rPr lang="en-US" altLang="ko-KR" sz="1000" smtClean="0"/>
              <a:t>, </a:t>
            </a:r>
            <a:r>
              <a:rPr lang="ko-KR" altLang="en-US" sz="1000" smtClean="0"/>
              <a:t>균열이 그들에게 목적을 심어주는 것과 다름없다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  <p:sp>
        <p:nvSpPr>
          <p:cNvPr id="12" name="TextBox 11"/>
          <p:cNvSpPr txBox="1"/>
          <p:nvPr/>
        </p:nvSpPr>
        <p:spPr>
          <a:xfrm>
            <a:off x="545302" y="4420310"/>
            <a:ext cx="11132347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선의가 </a:t>
            </a:r>
            <a:r>
              <a:rPr lang="en-US" altLang="ko-KR" sz="1000" smtClean="0"/>
              <a:t>0</a:t>
            </a:r>
            <a:r>
              <a:rPr lang="ko-KR" altLang="en-US" sz="1000" smtClean="0"/>
              <a:t>인 인간들만 영향을 받아서 균열로 유인된다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  <p:sp>
        <p:nvSpPr>
          <p:cNvPr id="10" name="Text 22"/>
          <p:cNvSpPr/>
          <p:nvPr/>
        </p:nvSpPr>
        <p:spPr>
          <a:xfrm>
            <a:off x="2113464" y="1064572"/>
            <a:ext cx="632178" cy="632178"/>
          </a:xfrm>
          <a:prstGeom prst="ellipse">
            <a:avLst/>
          </a:prstGeom>
          <a:solidFill>
            <a:srgbClr val="F4F0FF"/>
          </a:solidFill>
          <a:ln w="17145">
            <a:solidFill>
              <a:srgbClr val="6D56A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80" smtClean="0">
                <a:solidFill>
                  <a:srgbClr val="082756"/>
                </a:solidFill>
                <a:ea typeface="Malgun Gothic" pitchFamily="34" charset="-122"/>
                <a:cs typeface="Malgun Gothic" pitchFamily="34" charset="-120"/>
              </a:rPr>
              <a:t>변이</a:t>
            </a:r>
            <a:endParaRPr lang="en-US" sz="1180" dirty="0"/>
          </a:p>
        </p:txBody>
      </p:sp>
    </p:spTree>
    <p:extLst>
      <p:ext uri="{BB962C8B-B14F-4D97-AF65-F5344CB8AC3E}">
        <p14:creationId xmlns:p14="http://schemas.microsoft.com/office/powerpoint/2010/main" val="3395796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시스템 </a:t>
            </a:r>
            <a:r>
              <a:rPr lang="en-US" altLang="ko-KR" smtClean="0"/>
              <a:t>= </a:t>
            </a:r>
            <a:r>
              <a:rPr lang="ko-KR" altLang="en-US" smtClean="0"/>
              <a:t>약속의 설계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약속의 콘텐츠들이 다른 요소들과 어떻게 맞물려 돌아가는지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395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745</Words>
  <Application>Microsoft Office PowerPoint</Application>
  <PresentationFormat>와이드스크린</PresentationFormat>
  <Paragraphs>102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시스템 설계 문서</vt:lpstr>
      <vt:lpstr>PowerPoint 프레젠테이션</vt:lpstr>
      <vt:lpstr>PowerPoint 프레젠테이션</vt:lpstr>
      <vt:lpstr>PowerPoint 프레젠테이션</vt:lpstr>
      <vt:lpstr>시스템 설계 문서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시스템 = 약속의 설계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12</cp:revision>
  <dcterms:created xsi:type="dcterms:W3CDTF">2026-08-13T04:47:12Z</dcterms:created>
  <dcterms:modified xsi:type="dcterms:W3CDTF">2026-08-13T06:54:56Z</dcterms:modified>
</cp:coreProperties>
</file>