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3" r:id="rId2"/>
    <p:sldId id="256" r:id="rId3"/>
    <p:sldId id="257" r:id="rId4"/>
    <p:sldId id="258" r:id="rId5"/>
    <p:sldId id="271" r:id="rId6"/>
    <p:sldId id="259" r:id="rId7"/>
    <p:sldId id="272" r:id="rId8"/>
    <p:sldId id="262" r:id="rId9"/>
    <p:sldId id="269" r:id="rId10"/>
    <p:sldId id="270" r:id="rId11"/>
    <p:sldId id="260" r:id="rId12"/>
    <p:sldId id="261" r:id="rId13"/>
    <p:sldId id="267" r:id="rId14"/>
    <p:sldId id="266" r:id="rId15"/>
    <p:sldId id="263" r:id="rId16"/>
    <p:sldId id="264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7A"/>
    <a:srgbClr val="042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87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40561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목차</a:t>
            </a:r>
            <a:endParaRPr sz="2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15688" y="1247518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6856" y="1540126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1.1 시스템 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6856" y="179615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1.2 호흡 시스템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16856" y="205219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1.3 핵심 플레이 경험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16856" y="2308222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1.4 적용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5688" y="2728846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6856" y="3021454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2.1 전체 시스템 구조도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16856" y="3277486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2.2 시스템 볼륨 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6856" y="353351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2.3 시스템 순환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5688" y="3954142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데이터 구조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6856" y="424675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3.1 호흡 값 정의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6856" y="4502782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3.2 호흡 참조 대상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2100" y="1243327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73268" y="1535935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4.1 기본 행동 규칙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3268" y="179196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4.2 한계/강제 호흡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2100" y="2733037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73267" y="3025645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5.1 공기 환경 반응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3267" y="3281677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5.2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들숨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72100" y="3949570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73267" y="424217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6.1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적의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73267" y="449821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6.2 타입별 탐지 차이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40072" y="1252090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플레이어와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41239" y="154469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7.1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</a:t>
            </a:r>
            <a:r>
              <a:rPr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41239" y="180073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7.2 호흡 기술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40072" y="2724274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콘텐츠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연동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941239" y="3016882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8.1 은신/이동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1239" y="3272914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8.2 스토리/에피소드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40072" y="3949570"/>
            <a:ext cx="1841303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리소스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예외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41239" y="4242178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9. 플레이 화면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1239" y="4498210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10. 리소스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1239" y="4754242"/>
            <a:ext cx="1735074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11. 예외 사항 안전 장치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61D4B987-6BA8-B896-BC13-482F5E48D0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005824"/>
              </p:ext>
            </p:extLst>
          </p:nvPr>
        </p:nvGraphicFramePr>
        <p:xfrm>
          <a:off x="566928" y="5300091"/>
          <a:ext cx="11045952" cy="117983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404872">
                  <a:extLst>
                    <a:ext uri="{9D8B030D-6E8A-4147-A177-3AD203B41FA5}">
                      <a16:colId xmlns:a16="http://schemas.microsoft.com/office/drawing/2014/main" val="4276484257"/>
                    </a:ext>
                  </a:extLst>
                </a:gridCol>
                <a:gridCol w="8641080">
                  <a:extLst>
                    <a:ext uri="{9D8B030D-6E8A-4147-A177-3AD203B41FA5}">
                      <a16:colId xmlns:a16="http://schemas.microsoft.com/office/drawing/2014/main" val="673008526"/>
                    </a:ext>
                  </a:extLst>
                </a:gridCol>
              </a:tblGrid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날짜</a:t>
                      </a:r>
                    </a:p>
                  </a:txBody>
                  <a:tcPr anchor="ctr">
                    <a:solidFill>
                      <a:srgbClr val="00437A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0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수정내용</a:t>
                      </a:r>
                    </a:p>
                  </a:txBody>
                  <a:tcPr anchor="ctr">
                    <a:solidFill>
                      <a:srgbClr val="0043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138024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0011685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174552"/>
                  </a:ext>
                </a:extLst>
              </a:tr>
              <a:tr h="279337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0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77235"/>
                  </a:ext>
                </a:extLst>
              </a:tr>
            </a:tbl>
          </a:graphicData>
        </a:graphic>
      </p:graphicFrame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7E83D50F-51D1-83AE-FB17-5CF439D6F431}"/>
              </a:ext>
            </a:extLst>
          </p:cNvPr>
          <p:cNvCxnSpPr>
            <a:cxnSpLocks/>
          </p:cNvCxnSpPr>
          <p:nvPr/>
        </p:nvCxnSpPr>
        <p:spPr>
          <a:xfrm>
            <a:off x="588264" y="95948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3213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Oval 30"/>
          <p:cNvSpPr/>
          <p:nvPr/>
        </p:nvSpPr>
        <p:spPr>
          <a:xfrm>
            <a:off x="8127916" y="3111881"/>
            <a:ext cx="1444752" cy="1444752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32" name="Oval 31"/>
          <p:cNvSpPr/>
          <p:nvPr/>
        </p:nvSpPr>
        <p:spPr>
          <a:xfrm>
            <a:off x="7467262" y="1471376"/>
            <a:ext cx="1444752" cy="1444752"/>
          </a:xfrm>
          <a:prstGeom prst="ellipse">
            <a:avLst/>
          </a:prstGeom>
          <a:solidFill>
            <a:srgbClr val="E8F2FF"/>
          </a:solidFill>
          <a:ln w="254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140364" y="4154297"/>
            <a:ext cx="987552" cy="987552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부채</a:t>
            </a:r>
          </a:p>
        </p:txBody>
      </p:sp>
      <p:sp>
        <p:nvSpPr>
          <p:cNvPr id="34" name="Oval 33"/>
          <p:cNvSpPr/>
          <p:nvPr/>
        </p:nvSpPr>
        <p:spPr>
          <a:xfrm>
            <a:off x="9081178" y="2124329"/>
            <a:ext cx="987552" cy="987552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35" name="Oval 34"/>
          <p:cNvSpPr/>
          <p:nvPr/>
        </p:nvSpPr>
        <p:spPr>
          <a:xfrm>
            <a:off x="6853746" y="2970992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36" name="Oval 35"/>
          <p:cNvSpPr/>
          <p:nvPr/>
        </p:nvSpPr>
        <p:spPr>
          <a:xfrm>
            <a:off x="5983648" y="3847130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37" name="Oval 36"/>
          <p:cNvSpPr/>
          <p:nvPr/>
        </p:nvSpPr>
        <p:spPr>
          <a:xfrm>
            <a:off x="6177090" y="4980986"/>
            <a:ext cx="987552" cy="987552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</a:p>
        </p:txBody>
      </p:sp>
      <p:sp>
        <p:nvSpPr>
          <p:cNvPr id="38" name="Oval 37"/>
          <p:cNvSpPr/>
          <p:nvPr/>
        </p:nvSpPr>
        <p:spPr>
          <a:xfrm>
            <a:off x="6670866" y="2243201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39" name="Oval 38"/>
          <p:cNvSpPr/>
          <p:nvPr/>
        </p:nvSpPr>
        <p:spPr>
          <a:xfrm>
            <a:off x="5874470" y="1855424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</a:p>
        </p:txBody>
      </p:sp>
      <p:sp>
        <p:nvSpPr>
          <p:cNvPr id="40" name="Oval 39"/>
          <p:cNvSpPr/>
          <p:nvPr/>
        </p:nvSpPr>
        <p:spPr>
          <a:xfrm>
            <a:off x="5306992" y="5273328"/>
            <a:ext cx="676656" cy="67665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이동 방식</a:t>
            </a:r>
          </a:p>
        </p:txBody>
      </p:sp>
      <p:sp>
        <p:nvSpPr>
          <p:cNvPr id="41" name="Oval 40"/>
          <p:cNvSpPr/>
          <p:nvPr/>
        </p:nvSpPr>
        <p:spPr>
          <a:xfrm>
            <a:off x="7128934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573686" y="862457"/>
            <a:ext cx="676656" cy="67665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</a:t>
            </a:r>
          </a:p>
        </p:txBody>
      </p:sp>
      <p:sp>
        <p:nvSpPr>
          <p:cNvPr id="43" name="Oval 42"/>
          <p:cNvSpPr/>
          <p:nvPr/>
        </p:nvSpPr>
        <p:spPr>
          <a:xfrm>
            <a:off x="9828150" y="1471376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</a:p>
        </p:txBody>
      </p:sp>
      <p:sp>
        <p:nvSpPr>
          <p:cNvPr id="44" name="Oval 43"/>
          <p:cNvSpPr/>
          <p:nvPr/>
        </p:nvSpPr>
        <p:spPr>
          <a:xfrm>
            <a:off x="10200277" y="2310359"/>
            <a:ext cx="676656" cy="67665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레벨 디자인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676" y="3270516"/>
            <a:ext cx="3776472" cy="49449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볼륨</a:t>
            </a:r>
            <a:r>
              <a:rPr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맵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이동·은신·환경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대응을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결정하는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조작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Oval 4"/>
          <p:cNvSpPr/>
          <p:nvPr/>
        </p:nvSpPr>
        <p:spPr>
          <a:xfrm>
            <a:off x="3526596" y="2204305"/>
            <a:ext cx="1024128" cy="1024128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t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10587" y="3696839"/>
            <a:ext cx="4864519" cy="621792"/>
          </a:xfrm>
          <a:prstGeom prst="rect">
            <a:avLst/>
          </a:prstGeom>
          <a:noFill/>
        </p:spPr>
        <p:txBody>
          <a:bodyPr wrap="square" lIns="0" tIns="0" rIns="0" bIns="0" anchor="t">
            <a:normAutofit lnSpcReduction="10000"/>
          </a:bodyPr>
          <a:lstStyle/>
          <a:p>
            <a:pPr algn="ctr">
              <a:lnSpc>
                <a:spcPct val="150000"/>
              </a:lnSpc>
              <a:defRPr sz="172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플레이어가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들이마시기·숨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참기·내쉬기를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직접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조절하며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r>
              <a:rPr lang="en-US"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소음·공기·이동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리스크를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관리하는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8230" y="4787037"/>
            <a:ext cx="6000860" cy="5943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7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자동으로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줄어드는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생존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게이지가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아니라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매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순간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선택하는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행동이다</a:t>
            </a: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70000"/>
              </a:lnSpc>
              <a:defRPr sz="121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지금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숨을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더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채울지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참을지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일부만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회복하고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다시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움직일지가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은신과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이동의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결과를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바꾼다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2940" y="1700694"/>
            <a:ext cx="2103120" cy="142294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04380" y="180127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04380" y="2243641"/>
            <a:ext cx="1920240" cy="6583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70000"/>
              </a:lnSpc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작은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70000"/>
              </a:lnSpc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흡입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12940" y="3248783"/>
            <a:ext cx="2103120" cy="142294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04380" y="334936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4380" y="3791730"/>
            <a:ext cx="1920240" cy="6583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소음 제거</a:t>
            </a:r>
          </a:p>
          <a:p>
            <a:pPr algn="ctr">
              <a:lnSpc>
                <a:spcPct val="17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유해 공기 차단</a:t>
            </a:r>
          </a:p>
          <a:p>
            <a:pPr algn="ctr">
              <a:lnSpc>
                <a:spcPct val="17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여유 소모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2940" y="4796872"/>
            <a:ext cx="2103120" cy="1422946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4380" y="4897456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600" b="1">
                <a:solidFill>
                  <a:srgbClr val="042D62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380" y="5339819"/>
            <a:ext cx="1920240" cy="65837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70000"/>
              </a:lnSpc>
              <a:defRPr sz="1019" b="0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회복</a:t>
            </a:r>
          </a:p>
          <a:p>
            <a:pPr algn="ctr">
              <a:lnSpc>
                <a:spcPct val="17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단계별 소음 발생</a:t>
            </a:r>
          </a:p>
          <a:p>
            <a:pPr algn="ctr">
              <a:lnSpc>
                <a:spcPct val="17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재은신 타이밍 결정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ABEBD50-85CF-8C73-A45B-DE85F4523EAE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자원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00556" y="158812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Oval 5"/>
          <p:cNvSpPr/>
          <p:nvPr/>
        </p:nvSpPr>
        <p:spPr>
          <a:xfrm>
            <a:off x="1937817" y="1629274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5369" y="183044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숨을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참으며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움직일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있는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확보량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43684" y="273733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숨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은신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가능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0556" y="3974063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여유는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플레이어가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행동에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사용할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있는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공기량이다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많이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확보할수록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오래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숨을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참을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수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있지만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깊게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동안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느려지고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흡입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커진다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556" y="4908391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여유는 숨 참기 시간을 결정한다. 플레이어는 항상 100%를 채우는 것이 아니라, 목표 거리와 위험도에 맞춰 필요한 만큼만 확보하는 판단을 하게 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69836" y="3974063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동안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여유가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채워진다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숨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중에는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이동·행동에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따라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여유가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소모된다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0이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되면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강제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큰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소음과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제한이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생긴다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환경·장비·아이템은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최대치와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확보량을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보정한다</a:t>
            </a:r>
            <a:r>
              <a:rPr sz="1000" b="0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8437E7D-9886-0982-B0B1-BA8AAC6CBFDA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endParaRPr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입력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충전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71C36EB8-AD8C-49DB-8B62-08999DF883FF}"/>
              </a:ext>
            </a:extLst>
          </p:cNvPr>
          <p:cNvSpPr/>
          <p:nvPr/>
        </p:nvSpPr>
        <p:spPr>
          <a:xfrm>
            <a:off x="1000556" y="160291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BDFAD0A-0266-439D-AF55-3C157F7E1ED7}"/>
              </a:ext>
            </a:extLst>
          </p:cNvPr>
          <p:cNvSpPr/>
          <p:nvPr/>
        </p:nvSpPr>
        <p:spPr>
          <a:xfrm>
            <a:off x="1937817" y="1644060"/>
            <a:ext cx="768096" cy="768096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들이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마시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5369" y="190320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참기를 위한 준비 행동</a:t>
            </a:r>
          </a:p>
        </p:txBody>
      </p:sp>
      <p:sp>
        <p:nvSpPr>
          <p:cNvPr id="20" name="Rounded Rectangle 9"/>
          <p:cNvSpPr/>
          <p:nvPr/>
        </p:nvSpPr>
        <p:spPr>
          <a:xfrm>
            <a:off x="2043684" y="271335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짧은 들숨 / 깊은 들숨 → 확보량·소음·이동 제약 변화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0556" y="397390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들이마시기는 호흡 여유를 채우는 행동이다. 짧게 들이마시면 소음과 위험은 작지만 이동 가능한 시간이 짧고, 깊게 들이마시면 오래 버틸 수 있지만 준비 시간이 길어진다.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9836" y="3979308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짧은 들숨: 빠르고 조용하지만 확보량이 적다.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깊은 들숨: 확보량이 많지만 이동이 느려지고 소리가 커진다.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먼지·꽃가루·연기 구역에서는 안전 들숨 한계가 낮아진다.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들숨을 멈추는 지점이 곧 다음 은신 거리의 기준이 된다.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556" y="5223085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 중에는 이동 속도가 감소한다. 따라서 플레이어는 안전한 장소와 환경음 타이밍을 찾아 필요한 만큼만 호흡을 확보해야 한다.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DCA6390-DA65-E16E-1874-3962FB96A3E4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658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숨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은신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차단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043684" y="2717231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키 유지 → 호흡 소음 제거 / 유해 공기 차단 / 여유 소모</a:t>
            </a:r>
          </a:p>
        </p:txBody>
      </p:sp>
      <p:sp>
        <p:nvSpPr>
          <p:cNvPr id="23" name="Oval 4">
            <a:extLst>
              <a:ext uri="{FF2B5EF4-FFF2-40B4-BE49-F238E27FC236}">
                <a16:creationId xmlns:a16="http://schemas.microsoft.com/office/drawing/2014/main" id="{F0FB2B88-5B45-4975-8D4F-E1A43B8431D2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Oval 5">
            <a:extLst>
              <a:ext uri="{FF2B5EF4-FFF2-40B4-BE49-F238E27FC236}">
                <a16:creationId xmlns:a16="http://schemas.microsoft.com/office/drawing/2014/main" id="{1E38F345-FDE5-4C6A-BAE3-D44D3DF15DEE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6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숨</a:t>
            </a:r>
            <a:r>
              <a:rPr 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19D53C-C266-4231-A63F-D2726D9FDECA}"/>
              </a:ext>
            </a:extLst>
          </p:cNvPr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참기는 정답 버튼이 아니다. 오래 참을수록 이후 회복 소음이 커지고, 한계에 도달하면 플레이어의 입력과 무관하게 강제 호흡이 발생한다.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5369" y="182490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소리와 공기 흡입을 일시적으로 차단하는 행동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00556" y="3973902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참기는 적의 청각 탐지와 유해 공기 흡입을 피하기 위한 핵심 행동이다. 누르고 있는 동안 조용해지지만, 호흡 여유가 계속 줄어든다.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9692" y="3973902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근거리 은신, 수중 이동, 독가스 통과, 재채기 방지에 사용한다.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달리기·무거운 행동 중에는 소모량이 증가한다.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숨 참기 중에도 발소리·충돌음은 별도로 관리한다.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숨 참기를 해제한 뒤 다시 누르면 현재 회복량만큼 재은신할 수 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2466569-A244-686D-C224-F266193D2F4D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재은신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행동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0174912C-FCAE-4866-9F47-BB5EC43D5B57}"/>
              </a:ext>
            </a:extLst>
          </p:cNvPr>
          <p:cNvSpPr/>
          <p:nvPr/>
        </p:nvSpPr>
        <p:spPr>
          <a:xfrm>
            <a:off x="1000556" y="159053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C676F9BB-F333-456A-A54F-2A9E2185E0C2}"/>
              </a:ext>
            </a:extLst>
          </p:cNvPr>
          <p:cNvSpPr/>
          <p:nvPr/>
        </p:nvSpPr>
        <p:spPr>
          <a:xfrm>
            <a:off x="1937817" y="1631684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3285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여유를 회복하고 다음 은신을 준비하는 행동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참기 해제 → 단계별 회복 소음 → 일부 회복 후 재은신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8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내쉬기는 숨 참기를 끝내고 호흡을 회복하는 구간이다. 안전한 곳에서 오래 회복하면 안정적이지만, 위험한 장소에서는 일부만 회복하고 다시 숨을 참아야 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80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 latinLnBrk="1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안정 회복: 소음이 작고 재은신이 쉽다.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헐떡임: 적의 의심도를 올리지만, 다시 숨을 참으면 추가 단서가 차단된다.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조절 날숨 기술을 배우면 소음을 낮추는 대신 시간이 오래 걸린다.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강제 호흡 중에는 짧은 시간 재은신이 제한된다.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내쉬기 소리는 호흡 부채와 남은 여유에 따라 달라진다. 플레이어는 환경음, 적의 거리, 조사 상태를 보고 언제 다시 숨을 죽일지 판단한다.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337CB13-92A0-09D1-5E83-36426522A1F3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44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부채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상태값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ABB25042-8046-4D8F-BE0A-BA21C7C3CF96}"/>
              </a:ext>
            </a:extLst>
          </p:cNvPr>
          <p:cNvSpPr/>
          <p:nvPr/>
        </p:nvSpPr>
        <p:spPr>
          <a:xfrm>
            <a:off x="1000556" y="159078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EE1CF7EE-145E-488C-8ACD-455B06396D38}"/>
              </a:ext>
            </a:extLst>
          </p:cNvPr>
          <p:cNvSpPr/>
          <p:nvPr/>
        </p:nvSpPr>
        <p:spPr>
          <a:xfrm>
            <a:off x="1937817" y="1631938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6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6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부채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5369" y="1833105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격한 행동과 무리한 숨 참기의 대가를 저장하는 값</a:t>
            </a:r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달리기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전투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/긴 숨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부채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증가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단계</a:t>
            </a:r>
            <a:r>
              <a:rPr sz="10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상승</a:t>
            </a:r>
            <a:endParaRPr sz="1000" b="1" dirty="0">
              <a:solidFill>
                <a:srgbClr val="1E232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부채는 플레이어가 이전에 무리한 행동을 얼마나 했는지 기록하는 내부 수치다. 화면에 큰 게이지로 노출하기보다 호흡 소리와 애니메이션 단계로 전달한다.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걷기·기어가기는 부채 증가가 낮다.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달리기·전력질주·무거운 물체 운반은 부채를 증가시킨다.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부채가 높으면 조용한 회복이 어려워진다.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구현상 단순 누적값으로 관리 가능하며 밸런스 수치가 핵심이다.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1665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값이 높을수록 숨을 풀었을 때 헐떡임이 커지고, 회복 시간도 길어진다. 따라서 빠른 이동은 다음 은신 난이도를 높이는 선택이 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F3B8758-E4A3-911C-F291-A612CA055531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감지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/>
          <p:cNvSpPr/>
          <p:nvPr/>
        </p:nvSpPr>
        <p:spPr>
          <a:xfrm>
            <a:off x="1000556" y="160847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22" name="Oval 5"/>
          <p:cNvSpPr/>
          <p:nvPr/>
        </p:nvSpPr>
        <p:spPr>
          <a:xfrm>
            <a:off x="1937817" y="1649628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5369" y="1845227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행동이 적의 의심도로 전환되는 규칙</a:t>
            </a:r>
          </a:p>
        </p:txBody>
      </p:sp>
      <p:sp>
        <p:nvSpPr>
          <p:cNvPr id="26" name="Rounded Rectangle 9"/>
          <p:cNvSpPr/>
          <p:nvPr/>
        </p:nvSpPr>
        <p:spPr>
          <a:xfrm>
            <a:off x="2043684" y="2719065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들이마시기/내쉬기/헐떡임 → 소음 발생 → 적 의심/조사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556" y="5190460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 번 소리가 났다고 즉시 실패하지 않는다. 적은 먼저 의심 상태가 되고, 플레이어가 다시 숨을 참아 추가 소리를 차단하면 의심도가 서서히 감소한다.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소음은 발소리와 별도로 관리되는 청각 단서다. 플레이어가 보이지 않아도 가까운 적은 거친 호흡을 듣고 마지막 소리 위치를 조사한다.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들숨: 짧고 작은 소음. 깊을수록 조금 커진다.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날숨: 회복 단계에 따라 소음이 달라진다.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강제 호흡: 큰 소음과 위치 단서를 만든다.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환경음이 발생하면 큰 호흡 소음을 일부 가릴 수 있다.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BEABB8-D8AB-02F3-6F0B-82B40EDE7549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조작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/>
          <p:cNvSpPr/>
          <p:nvPr/>
        </p:nvSpPr>
        <p:spPr>
          <a:xfrm>
            <a:off x="1000556" y="1608479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22" name="Oval 5"/>
          <p:cNvSpPr/>
          <p:nvPr/>
        </p:nvSpPr>
        <p:spPr>
          <a:xfrm>
            <a:off x="1937817" y="1649628"/>
            <a:ext cx="768096" cy="768096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5369" y="1842899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스태미나 대신 호흡을 소비하는 이동 규칙</a:t>
            </a:r>
          </a:p>
        </p:txBody>
      </p:sp>
      <p:sp>
        <p:nvSpPr>
          <p:cNvPr id="24" name="Rounded Rectangle 9"/>
          <p:cNvSpPr/>
          <p:nvPr/>
        </p:nvSpPr>
        <p:spPr>
          <a:xfrm>
            <a:off x="2043684" y="2714102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 방식 → 호흡 소모/부채/발소리 변화 → 은신 난이도 변화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3984914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게임에서 이동은 단순 속도 선택이 아니라 호흡 관리와 연결된다. 빨리 움직일수록 호흡을 더 많이 쓰고, 이후 회복 소음도 커진다.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9836" y="3984914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걷기: 안정적이지만 노출 시간이 길다.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기어가기: 발소리가 작지만 느리다.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달리기: 빠르지만 호흡 부채가 증가한다.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전력질주: 위기 탈출용이며 이후 은신을 어렵게 만든다.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0556" y="5190460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플레이어는 목표 지점까지 필요한 호흡량을 예측하고, 걷기·기어가기·달리기·전력질주 중 하나를 선택한다. 호흡은 이동 경로 계획의 기준이 된다.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ECB000F-7838-3091-F6BF-F050FE8DAFEF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적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654D26E4-C6BA-463E-849C-F64093FAE100}"/>
              </a:ext>
            </a:extLst>
          </p:cNvPr>
          <p:cNvSpPr/>
          <p:nvPr/>
        </p:nvSpPr>
        <p:spPr>
          <a:xfrm>
            <a:off x="1000556" y="1588481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D75983DE-B91F-437B-A65B-EB32DC85BB4F}"/>
              </a:ext>
            </a:extLst>
          </p:cNvPr>
          <p:cNvSpPr/>
          <p:nvPr/>
        </p:nvSpPr>
        <p:spPr>
          <a:xfrm>
            <a:off x="1937817" y="1629630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5369" y="1830797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호흡·발소리·시각 단서를 종합해 반응하는 규칙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Rounded Rectangle 9"/>
          <p:cNvSpPr/>
          <p:nvPr/>
        </p:nvSpPr>
        <p:spPr>
          <a:xfrm>
            <a:off x="2043684" y="2710227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 발생 → 의심 위치 등록 → 조사 → 추가 단서 여부 판단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0556" y="5219287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적이 다가오는 동안 플레이어가 다시 숨을 참으면 추가 소리가 없어져 조사 상태가 풀릴 수 있다. 따라서 발각 후에도 호흡 조작으로 회복할 기회가 있다.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AI는 플레이어를 바로 발견하기보다 시각, 청각, 특수 감지를 단계적으로 확인한다. 호흡 소음은 주로 의심 위치를 만드는 단서로 사용된다.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9692" y="3990001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인간 경비병: 가까운 호흡 소음에 반응한다.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청각형 적: 작은 호흡과 발소리에도 민감하다.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감지 장비: 숨 참기 중 일시적으로 탐지를 늦춘다.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투명화 상태라도 호흡 소음은 청각 탐지 대상이다.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C6D6A7C-02BC-5150-31D9-4A11C6F521C1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타이밍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D73DB639-6FAB-4CB3-8A21-6E415BE8A21B}"/>
              </a:ext>
            </a:extLst>
          </p:cNvPr>
          <p:cNvSpPr/>
          <p:nvPr/>
        </p:nvSpPr>
        <p:spPr>
          <a:xfrm>
            <a:off x="1000556" y="1591786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D473BD7-C635-48EB-A794-3E4D94D84669}"/>
              </a:ext>
            </a:extLst>
          </p:cNvPr>
          <p:cNvSpPr/>
          <p:nvPr/>
        </p:nvSpPr>
        <p:spPr>
          <a:xfrm>
            <a:off x="1937817" y="1632935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2593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큰 소리를 이용해 호흡 회복을 숨기는 장치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환경음 발생 → 회복 소음 마스킹 → 다음 숨 참기 준비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환경음은 플레이어가 큰 호흡을 회복할 수 있는 기회다. 지하철 통과음, 기계 작동음, 경보음, 폭포 소리처럼 일정 시간 주변 소음을 키우는 이벤트로 설계한다.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큰 환경음은 호흡 소음 탐지 거리를 줄인다.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조용한 공간에서는 작은 헐떡임도 위험하다.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환경음 패턴은 레벨 디자인의 리듬을 만든다.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플레이어는 “숨 쉴 타이밍”을 맵에서 찾게 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16652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플레이어는 적이 가까운 상황에서도 환경음이 날 때 일부 또는 전부를 회복할 수 있다. 이로써 호흡 회복이 단순 대기 시간이 아니라 타이밍 플레이가 된다.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540BA5F-8F90-64D1-ACCB-8B34E2F345B8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13699D90-6421-4A36-843F-2C2D153EF091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3FCFC5A6-868D-45CC-B4AC-8DF81898E52F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5369" y="1834838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들이마시는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행위의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위험도를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바꾸는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공간</a:t>
            </a:r>
            <a:r>
              <a:rPr sz="1500" b="1" dirty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b="1" dirty="0" err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 상태 → 안전 들숨 한계 / 상태이상 / 재채기 위험 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894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 환경은 플레이어가 어디에서 얼마나 숨을 확보할 수 있는지 결정한다. 깨끗한 공기는 안전하지만, 먼지·꽃가루·연기·독가스는 들숨 자체를 위험하게 만든다.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894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먼지: 기침 전조와 작은 소음 위험.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꽃가루: 재채기 임계선이 낮아진다.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연기: 깊게 마시면 시야 저하와 기침.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독가스/수중: 들숨 불가 또는 피해 발생.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게이지를 따로 늘리기보다, 각 환경마다 “안전하게 채울 수 있는 한계선”을 다르게 두어 플레이어가 들숨량을 조절하게 한다.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7BC699-5B61-68FE-8A13-421087B80292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재채기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반응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CC3780A2-6348-42F3-BC00-E9FF2E015629}"/>
              </a:ext>
            </a:extLst>
          </p:cNvPr>
          <p:cNvSpPr/>
          <p:nvPr/>
        </p:nvSpPr>
        <p:spPr>
          <a:xfrm>
            <a:off x="1000556" y="1588127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1E422E51-F66B-4EA0-A9D1-08E318643DE1}"/>
              </a:ext>
            </a:extLst>
          </p:cNvPr>
          <p:cNvSpPr/>
          <p:nvPr/>
        </p:nvSpPr>
        <p:spPr>
          <a:xfrm>
            <a:off x="1937817" y="1629276"/>
            <a:ext cx="768096" cy="76809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5369" y="183285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자극성 공기를 들이마셨을 때 발생하는 강제 소음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3086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꽃가루/먼지 흡입 → 자극 누적 → 임계선 초과 → 재채기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89487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재채기는 별도 버튼이 아니라 호흡 시스템의 실패 결과다. 플레이어가 자극성 공기에서 과하게 들이마시면 캐릭터가 재채기해 큰 소음을 발생시킨다.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89487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꽃가루 구역은 안전 들숨 한계를 크게 낮춘다.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숨 참기는 자극 흡입을 막지만 호흡 여유를 소모한다.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재채기는 주변 적의 의심도를 크게 올린다.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시각 효과와 사운드로 위험 단계를 명확히 전달한다.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재채기 위험은 게이지 떨림, 캐릭터 훌쩍임, 호흡 애니메이션 불안정으로 예고한다. 플레이어는 안전 한계선 전에 들숨을 멈추거나 마스크로 위험을 낮춘다.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A6660081-92A9-7766-3EAD-A7498E19865B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2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sz="2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  <a:endParaRPr sz="2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아이템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빌드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79DCF5C8-AC0F-4902-8E49-75497450ACAA}"/>
              </a:ext>
            </a:extLst>
          </p:cNvPr>
          <p:cNvSpPr/>
          <p:nvPr/>
        </p:nvSpPr>
        <p:spPr>
          <a:xfrm>
            <a:off x="1000556" y="158850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7795387F-84A4-449E-992E-9DB2C47E1606}"/>
              </a:ext>
            </a:extLst>
          </p:cNvPr>
          <p:cNvSpPr/>
          <p:nvPr/>
        </p:nvSpPr>
        <p:spPr>
          <a:xfrm>
            <a:off x="1937817" y="162965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5369" y="1890554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환경별 호흡 조건을 바꾸는 선택지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 착용 → 최대 호흡/소음/안전 한계/들이마시기 속도 보정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장비는 호흡 시스템을 단순히 강화하지 않고 조건을 바꾼다. 특정 환경에 강해지는 대신 소음, 무게, 들이마시는 속도 같은 다른 비용을 만든다.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521608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방진 마스크: 재채기 한계 상승 / 들숨 속도 감소.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방독면: 독가스 방어 / 호흡 저항 증가.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산소통: 수중·장거리 이동 보조 / 무게 증가.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기척 소거제: 숨 참는 동안 투명화 / 호흡 한계 의존.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플레이어는 스테이지의 공기 환경과 적 감지 방식에 맞춰 방진 마스크, 방독면, 산소통, 투명화 약물 같은 장비를 선택한다.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05FF543-8A65-DA35-9CFA-A6905E4FCCA3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29184"/>
            <a:ext cx="8595360" cy="402336"/>
          </a:xfrm>
          <a:prstGeom prst="rect">
            <a:avLst/>
          </a:prstGeom>
          <a:noFill/>
        </p:spPr>
        <p:txBody>
          <a:bodyPr wrap="square" lIns="0" tIns="0" rIns="0" bIns="0" anchor="t">
            <a:normAutofit fontScale="85000" lnSpcReduction="20000"/>
          </a:bodyPr>
          <a:lstStyle/>
          <a:p>
            <a:pPr algn="l">
              <a:lnSpc>
                <a:spcPct val="170000"/>
              </a:lnSpc>
              <a:defRPr sz="2400" b="1">
                <a:solidFill>
                  <a:srgbClr val="21252B"/>
                </a:solidFill>
                <a:latin typeface="맑은 고딕"/>
              </a:defRPr>
            </a:pP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×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r>
              <a:rPr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50" b="0">
                <a:solidFill>
                  <a:srgbClr val="66707A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콘텐츠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구조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Oval 4">
            <a:extLst>
              <a:ext uri="{FF2B5EF4-FFF2-40B4-BE49-F238E27FC236}">
                <a16:creationId xmlns:a16="http://schemas.microsoft.com/office/drawing/2014/main" id="{A3104B96-09D8-4039-9107-FA6CA897A61C}"/>
              </a:ext>
            </a:extLst>
          </p:cNvPr>
          <p:cNvSpPr/>
          <p:nvPr/>
        </p:nvSpPr>
        <p:spPr>
          <a:xfrm>
            <a:off x="1000556" y="1595965"/>
            <a:ext cx="850392" cy="850392"/>
          </a:xfrm>
          <a:prstGeom prst="ellipse">
            <a:avLst/>
          </a:prstGeom>
          <a:solidFill>
            <a:srgbClr val="042D62"/>
          </a:solidFill>
          <a:ln w="17145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Oval 5">
            <a:extLst>
              <a:ext uri="{FF2B5EF4-FFF2-40B4-BE49-F238E27FC236}">
                <a16:creationId xmlns:a16="http://schemas.microsoft.com/office/drawing/2014/main" id="{FBA26AA1-062E-48F9-BCBE-B030EF653469}"/>
              </a:ext>
            </a:extLst>
          </p:cNvPr>
          <p:cNvSpPr/>
          <p:nvPr/>
        </p:nvSpPr>
        <p:spPr>
          <a:xfrm>
            <a:off x="1937817" y="1637114"/>
            <a:ext cx="768096" cy="768096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7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레벨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70000"/>
              </a:lnSpc>
              <a:defRPr sz="80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25369" y="1830821"/>
            <a:ext cx="6995160" cy="365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520" b="1">
                <a:solidFill>
                  <a:srgbClr val="21252B"/>
                </a:solidFill>
                <a:latin typeface="맑은 고딕"/>
              </a:defRPr>
            </a:pPr>
            <a:r>
              <a:rPr sz="15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쉴 장소와 타이밍을 배치하는 설계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9"/>
          <p:cNvSpPr/>
          <p:nvPr/>
        </p:nvSpPr>
        <p:spPr>
          <a:xfrm>
            <a:off x="2043684" y="2706799"/>
            <a:ext cx="8092440" cy="420624"/>
          </a:xfrm>
          <a:prstGeom prst="round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9144" rIns="45720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060" b="1">
                <a:solidFill>
                  <a:srgbClr val="21252B"/>
                </a:solidFill>
                <a:latin typeface="맑은 고딕"/>
              </a:defRPr>
            </a:pPr>
            <a:r>
              <a:rPr sz="1000" b="1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호흡 지점 → 위험 구간 → 환경음 타이밍 → 다음 은신 구간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556" y="3977660"/>
            <a:ext cx="5330952" cy="58521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3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레벨 디자인은 플레이어가 호흡을 언제, 어디서, 얼마나 확보할지 판단하게 만드는 구조다. 적 배치보다 “숨 쉴 수 있는 장소”의 배치가 중요하다.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9836" y="3977660"/>
            <a:ext cx="4965192" cy="20665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96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긴 복도 전에는 깊게 들이마실 준비 공간을 둔다.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조용한 공간에서는 이동 소음과 호흡 소음을 함께 관리한다.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꽃가루/연기 구역은 안전 호흡량을 줄여 경로 선택을 만든다.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• 환경음은 위험 속 회복 타이밍으로 사용한다.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0556" y="5225548"/>
            <a:ext cx="5330952" cy="914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015" b="0">
                <a:solidFill>
                  <a:srgbClr val="21252B"/>
                </a:solidFill>
                <a:latin typeface="맑은 고딕"/>
              </a:defRPr>
            </a:pPr>
            <a:r>
              <a:rPr sz="1000" b="0">
                <a:solidFill>
                  <a:srgbClr val="1E232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좋은 스테이지는 깨끗한 공기, 유해 공기, 조용한 공간, 환경음 발생 지점을 번갈아 배치해 호흡 리듬을 만든다.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556" y="4912189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호흡과 맞물리는 부분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556" y="3663167"/>
            <a:ext cx="533095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69836" y="3663167"/>
            <a:ext cx="4965192" cy="228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50000"/>
              </a:lnSpc>
              <a:defRPr sz="1220" b="1">
                <a:solidFill>
                  <a:srgbClr val="042D62"/>
                </a:solidFill>
                <a:latin typeface="맑은 고딕"/>
              </a:defRPr>
            </a:pPr>
            <a:r>
              <a:rPr sz="1000" b="1">
                <a:solidFill>
                  <a:srgbClr val="0031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정의와 특징 / 작동 약속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8407D15-609C-EDFC-A3D8-5EEA5067AC1C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개요</a:t>
            </a:r>
            <a:endParaRPr sz="2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90956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시스템의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목적과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경험</a:t>
            </a:r>
            <a:endParaRPr sz="1000" b="0" dirty="0">
              <a:solidFill>
                <a:srgbClr val="5D6D7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3429000"/>
            <a:ext cx="32918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슬로건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76472"/>
            <a:ext cx="329184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숨을 참아 기척을 지우고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숨을 쉬어 다음 행동을 준비하라</a:t>
            </a:r>
            <a:r>
              <a:rPr lang="en-US" altLang="ko-KR" sz="1000" b="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sz="1000" b="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51960" y="3429000"/>
            <a:ext cx="35661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776472"/>
            <a:ext cx="35661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조작이 이동 속도, 은신 소음, 유해 공기 흡입, 적 AI의 의심 상태를 동시에 변화시킨다.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429000"/>
            <a:ext cx="33832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776472"/>
            <a:ext cx="338328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플레이어는 언제·어디서·얼마나 숨을 확보할지 판단하며, 환경음과 장비를 이용해 위험 구간을 돌파한다.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EDBD33B0-0DBC-97E9-C853-1A58DD4CD7B2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1.1 시스템 목적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호흡은 이동·은신·환경 대응을 하나의 규칙으로 묶는 핵심 시스템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sz="1600" b="1">
                <a:solidFill>
                  <a:srgbClr val="232830"/>
                </a:solidFill>
                <a:latin typeface="맑은 고딕"/>
              </a:rPr>
              <a:t>목적: 들이마시기·숨 참기·내쉬기라는 기본 행동을 통해 소음, 이동, 공기 환경, 적 AI 반응을 하나의 플레이 흐름으로 연결한다.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3108960" cy="23317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2468879"/>
            <a:ext cx="277977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조작 중심 규칙 통합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34639"/>
            <a:ext cx="2779776" cy="1737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호흡 키 하나로 공기 확보, 소음 제거, 회복 타이밍 선택이 이루어지며 이동·은신·환경 규칙이 모두 이 값을 참조한다.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331720"/>
            <a:ext cx="3108960" cy="233172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90872" y="2468879"/>
            <a:ext cx="277977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능동적 판단 재미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2" y="2834639"/>
            <a:ext cx="2779776" cy="1737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플레이어는 “얼마나 들이마실지”, “언제 다시 숨을 참을지”, “어디서 회복할지”를 직접 결정한다.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331720"/>
            <a:ext cx="3108960" cy="233172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02752" y="2468879"/>
            <a:ext cx="277977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시나리오/장비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834639"/>
            <a:ext cx="2779776" cy="1737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연구소 약물, 방독면, 산소통 같은 요소가 호흡 규칙을 변형해 에피소드별 플레이 변주를 만든다.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5349240"/>
            <a:ext cx="8503920" cy="402336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828800" y="5303520"/>
            <a:ext cx="8503920" cy="402336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32830"/>
                </a:solidFill>
                <a:latin typeface="맑은 고딕"/>
              </a:rPr>
              <a:t>설계 목표: 호흡을 생존 수치가 아니라, 플레이어가 반복적으로 숙련하는 핵심 동사로 만든다.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1.2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정의</a:t>
            </a:r>
            <a:endParaRPr sz="2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플레이어의</a:t>
            </a:r>
            <a:r>
              <a:rPr sz="11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이동·은신·환경</a:t>
            </a:r>
            <a:r>
              <a:rPr sz="11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대응을</a:t>
            </a:r>
            <a:r>
              <a:rPr sz="11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결정하는</a:t>
            </a:r>
            <a:r>
              <a:rPr sz="11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조작형</a:t>
            </a:r>
            <a:r>
              <a:rPr sz="11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</a:t>
            </a:r>
            <a:endParaRPr sz="1100" b="0" dirty="0">
              <a:solidFill>
                <a:srgbClr val="5D6D7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Oval 4"/>
          <p:cNvSpPr/>
          <p:nvPr/>
        </p:nvSpPr>
        <p:spPr>
          <a:xfrm>
            <a:off x="868680" y="1737360"/>
            <a:ext cx="914400" cy="914400"/>
          </a:xfrm>
          <a:prstGeom prst="ellipse">
            <a:avLst/>
          </a:prstGeom>
          <a:solidFill>
            <a:srgbClr val="042D62"/>
          </a:solidFill>
          <a:ln w="1905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500" b="1" dirty="0" err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endParaRPr sz="15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57400" y="1764792"/>
            <a:ext cx="85953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1500" b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호흡은 플레이어가 들이마시기·숨 참기·내쉬기를 직접 조작해 현재 호흡량, 소음, 공기 흡입 위험을 관리하는 핵심 시스템이다.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898648"/>
            <a:ext cx="813816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057400" y="2852928"/>
            <a:ext cx="813816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숨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재은신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3758184"/>
            <a:ext cx="2560320" cy="19659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33271" y="4142232"/>
            <a:ext cx="22311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자원</a:t>
            </a:r>
            <a:r>
              <a:rPr sz="1000" b="1" dirty="0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아님</a:t>
            </a:r>
            <a:endParaRPr sz="1000" b="1" dirty="0">
              <a:solidFill>
                <a:srgbClr val="0043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33271" y="4507992"/>
            <a:ext cx="2231136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시간이 지나면 자동으로 회복되는 단순 스태미나가 아니라, 플레이어가 직접 숨을 확보하고 해제하는 행동이다.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3758184"/>
            <a:ext cx="2560320" cy="19659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6472" y="4142232"/>
            <a:ext cx="22311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은신 전용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4507992"/>
            <a:ext cx="2231136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호흡은 은신뿐 아니라 이동, 수중, 독가스, 먼지, 장비, 적 AI와 연결된다.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758184"/>
            <a:ext cx="2560320" cy="196596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9672" y="4142232"/>
            <a:ext cx="22311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0은 강제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507992"/>
            <a:ext cx="2231136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여유가 0이 되면 입력과 무관하게 강제 호흡이 발생해 큰 소음과 짧은 제어 제한이 생긴다.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3758184"/>
            <a:ext cx="2194560" cy="196596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62872" y="4142232"/>
            <a:ext cx="186537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환경별 변형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2872" y="4507992"/>
            <a:ext cx="1865376" cy="1371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꽃가루·먼지·연기·독가스는 안전하게 들이마실 수 있는 한계를 바꾼다.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47161F9-16C7-8DF7-C5F4-A0783574FBFF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Autofit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1.3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</a:t>
            </a: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</a:t>
            </a:r>
            <a:r>
              <a:rPr sz="2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경험</a:t>
            </a:r>
            <a:endParaRPr sz="2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90956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호흡을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준비하고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숨기고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회복하는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긴장감</a:t>
            </a:r>
            <a:endParaRPr sz="1000" b="0" dirty="0">
              <a:solidFill>
                <a:srgbClr val="5D6D7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2289810" y="2788920"/>
            <a:ext cx="73152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5810" y="2788920"/>
            <a:ext cx="73152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861810" y="2788920"/>
            <a:ext cx="731519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9610" y="2267712"/>
            <a:ext cx="1600200" cy="105156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필요량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예측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21330" y="2267712"/>
            <a:ext cx="1554480" cy="105156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잠입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307330" y="2267712"/>
            <a:ext cx="1554480" cy="105156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위기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한계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접근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93329" y="2267712"/>
            <a:ext cx="1645920" cy="105156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970768" y="2267712"/>
            <a:ext cx="1508760" cy="1051560"/>
          </a:xfrm>
          <a:prstGeom prst="roundRect">
            <a:avLst/>
          </a:prstGeom>
          <a:solidFill>
            <a:srgbClr val="F1ECFF"/>
          </a:solidFill>
          <a:ln w="15240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재은신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숨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죽이기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80"/>
            <a:ext cx="102412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1">
                <a:solidFill>
                  <a:srgbClr val="0043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플레이어가 반복해서 던지게 되는 핵심 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996696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lnSpc>
                <a:spcPct val="150000"/>
              </a:lnSpc>
              <a:spcAft>
                <a:spcPts val="400"/>
              </a:spcAft>
              <a:defRPr sz="1220">
                <a:solidFill>
                  <a:srgbClr val="232830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• 지금 100%까지 깊게 들이마실 시간이 있는가?</a:t>
            </a:r>
          </a:p>
          <a:p>
            <a:pPr>
              <a:lnSpc>
                <a:spcPct val="15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• 이 먼지 구역에서는 어느 지점까지만 숨을 채워야 하는가?</a:t>
            </a:r>
          </a:p>
          <a:p>
            <a:pPr>
              <a:lnSpc>
                <a:spcPct val="150000"/>
              </a:lnSpc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• 지금 헐떡임을 적에게 들키기 전에 다시 숨을 죽일 수 있는가?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16A0C685-5112-640A-D6B0-401E71CD7A63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6">
            <a:extLst>
              <a:ext uri="{FF2B5EF4-FFF2-40B4-BE49-F238E27FC236}">
                <a16:creationId xmlns:a16="http://schemas.microsoft.com/office/drawing/2014/main" id="{15C9C9E1-6047-BC19-4FB7-07A4063E7002}"/>
              </a:ext>
            </a:extLst>
          </p:cNvPr>
          <p:cNvCxnSpPr/>
          <p:nvPr/>
        </p:nvCxnSpPr>
        <p:spPr>
          <a:xfrm>
            <a:off x="9239249" y="2788920"/>
            <a:ext cx="731519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70000" lnSpcReduction="20000"/>
          </a:bodyPr>
          <a:lstStyle/>
          <a:p>
            <a:pPr>
              <a:lnSpc>
                <a:spcPct val="170000"/>
              </a:lnSpc>
            </a:pPr>
            <a:r>
              <a:rPr sz="26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1.4 </a:t>
            </a:r>
            <a:r>
              <a:rPr sz="26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sz="26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26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  <a:endParaRPr sz="26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5242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규칙이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적용되는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대상과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참조하는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</a:t>
            </a:r>
            <a:endParaRPr sz="1000" b="0" dirty="0">
              <a:solidFill>
                <a:srgbClr val="5D6D7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441448"/>
            <a:ext cx="1508760" cy="420624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대상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2441448"/>
            <a:ext cx="1097280" cy="420624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7439" y="2487168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조작/보정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8999" y="2441448"/>
            <a:ext cx="914400" cy="420624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19" y="2487168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2441448"/>
            <a:ext cx="914400" cy="420624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0" y="2487168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0" y="2441448"/>
            <a:ext cx="5943600" cy="420624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03520" y="2487168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규칙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150876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2907791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플레이어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2862072"/>
            <a:ext cx="109728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77439" y="2907791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8999" y="2862072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19" y="2907791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862072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907791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2862072"/>
            <a:ext cx="59436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03520" y="2907791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들이마시기·숨 참기·내쉬기를 직접 조작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282696"/>
            <a:ext cx="150876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8680" y="3328416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주인공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3282696"/>
            <a:ext cx="109728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377439" y="3328416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8999" y="3282696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74719" y="3328416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성장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282696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389120" y="3328416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3282696"/>
            <a:ext cx="59436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03520" y="3328416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기술·장비로 제어 방식 확장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3703320"/>
            <a:ext cx="150876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3749039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31720" y="3703320"/>
            <a:ext cx="109728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377439" y="3749039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8999" y="3703320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474719" y="3749039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3400" y="3703320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389120" y="3749039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57800" y="3703320"/>
            <a:ext cx="59436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03520" y="3749039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 소음·시각·특수 감지를 근거로 의심/조사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4123944"/>
            <a:ext cx="150876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68680" y="4169663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공기 환경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4123944"/>
            <a:ext cx="109728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377439" y="4169663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8999" y="4123944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74719" y="4169663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4123944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389120" y="4169663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57800" y="4123944"/>
            <a:ext cx="59436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03520" y="4169663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 들숨 한계·상태이상·재채기 조건 변화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60" y="4544568"/>
            <a:ext cx="150876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68680" y="4590288"/>
            <a:ext cx="141731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장비/아이템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4544568"/>
            <a:ext cx="109728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377439" y="4590288"/>
            <a:ext cx="1005839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8999" y="4544568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74719" y="4590288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43400" y="4544568"/>
            <a:ext cx="9144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389120" y="4590288"/>
            <a:ext cx="8229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4544568"/>
            <a:ext cx="5943600" cy="420624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03520" y="4590288"/>
            <a:ext cx="5852160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lnSpc>
                <a:spcPct val="150000"/>
              </a:lnSpc>
            </a:pPr>
            <a:r>
              <a:rPr sz="1000" b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호흡·소음·들이마시기 속도·환경 저항 보정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DB031765-9C03-3B02-E61D-3E6E1EF2BB17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sz="2000" b="1" dirty="0">
                <a:solidFill>
                  <a:srgbClr val="232830"/>
                </a:solidFill>
                <a:latin typeface="맑은 고딕"/>
              </a:rPr>
              <a:t>2.1 </a:t>
            </a:r>
            <a:r>
              <a:rPr sz="2000" b="1" dirty="0" err="1">
                <a:solidFill>
                  <a:srgbClr val="232830"/>
                </a:solidFill>
                <a:latin typeface="맑은 고딕"/>
              </a:rPr>
              <a:t>전체</a:t>
            </a:r>
            <a:r>
              <a:rPr sz="2000" b="1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/>
              </a:rPr>
              <a:t>시스템</a:t>
            </a:r>
            <a:r>
              <a:rPr sz="2000" b="1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2000" b="1" dirty="0" err="1">
                <a:solidFill>
                  <a:srgbClr val="232830"/>
                </a:solidFill>
                <a:latin typeface="맑은 고딕"/>
              </a:rPr>
              <a:t>구조도</a:t>
            </a:r>
            <a:endParaRPr sz="2000" b="1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90956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D6D7E"/>
                </a:solidFill>
                <a:latin typeface="맑은 고딕"/>
              </a:rPr>
              <a:t>호흡</a:t>
            </a:r>
            <a:r>
              <a:rPr sz="10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/>
              </a:rPr>
              <a:t>데이터가</a:t>
            </a:r>
            <a:r>
              <a:rPr sz="10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/>
              </a:rPr>
              <a:t>다른</a:t>
            </a:r>
            <a:r>
              <a:rPr sz="10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/>
              </a:rPr>
              <a:t>기능으로</a:t>
            </a:r>
            <a:r>
              <a:rPr sz="10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/>
              </a:rPr>
              <a:t>전달되는</a:t>
            </a:r>
            <a:r>
              <a:rPr sz="10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/>
              </a:rPr>
              <a:t>구조</a:t>
            </a:r>
            <a:endParaRPr sz="1000" b="0" dirty="0">
              <a:solidFill>
                <a:srgbClr val="5D6D7E"/>
              </a:solidFill>
              <a:latin typeface="맑은 고딕"/>
            </a:endParaRPr>
          </a:p>
        </p:txBody>
      </p:sp>
      <p:cxnSp>
        <p:nvCxnSpPr>
          <p:cNvPr id="5" name="Connector 4"/>
          <p:cNvCxnSpPr>
            <a:cxnSpLocks/>
            <a:endCxn id="12" idx="3"/>
          </p:cNvCxnSpPr>
          <p:nvPr/>
        </p:nvCxnSpPr>
        <p:spPr>
          <a:xfrm flipH="1" flipV="1">
            <a:off x="3886200" y="2702433"/>
            <a:ext cx="2194560" cy="1092327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  <a:stCxn id="11" idx="0"/>
            <a:endCxn id="13" idx="2"/>
          </p:cNvCxnSpPr>
          <p:nvPr/>
        </p:nvCxnSpPr>
        <p:spPr>
          <a:xfrm flipV="1">
            <a:off x="6080760" y="2574417"/>
            <a:ext cx="0" cy="854583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  <a:endCxn id="14" idx="1"/>
          </p:cNvCxnSpPr>
          <p:nvPr/>
        </p:nvCxnSpPr>
        <p:spPr>
          <a:xfrm flipV="1">
            <a:off x="6111241" y="2702433"/>
            <a:ext cx="2026919" cy="1092327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endCxn id="15" idx="3"/>
          </p:cNvCxnSpPr>
          <p:nvPr/>
        </p:nvCxnSpPr>
        <p:spPr>
          <a:xfrm flipH="1">
            <a:off x="3886200" y="3826384"/>
            <a:ext cx="2194560" cy="1116329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stCxn id="11" idx="2"/>
            <a:endCxn id="16" idx="0"/>
          </p:cNvCxnSpPr>
          <p:nvPr/>
        </p:nvCxnSpPr>
        <p:spPr>
          <a:xfrm>
            <a:off x="6080760" y="4160520"/>
            <a:ext cx="0" cy="1223010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  <a:endCxn id="17" idx="1"/>
          </p:cNvCxnSpPr>
          <p:nvPr/>
        </p:nvCxnSpPr>
        <p:spPr>
          <a:xfrm>
            <a:off x="6080760" y="3826384"/>
            <a:ext cx="2057400" cy="1116329"/>
          </a:xfrm>
          <a:prstGeom prst="line">
            <a:avLst/>
          </a:prstGeom>
          <a:ln w="1397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983480" y="3429000"/>
            <a:ext cx="2194560" cy="731520"/>
          </a:xfrm>
          <a:prstGeom prst="roundRect">
            <a:avLst/>
          </a:prstGeom>
          <a:solidFill>
            <a:srgbClr val="042D62"/>
          </a:solidFill>
          <a:ln w="1524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FFFFFF"/>
                </a:solidFill>
                <a:latin typeface="맑은 고딕"/>
              </a:rPr>
              <a:t>호흡</a:t>
            </a:r>
            <a:r>
              <a:rPr sz="100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FFFFFF"/>
                </a:solidFill>
                <a:latin typeface="맑은 고딕"/>
              </a:rPr>
              <a:t>입력</a:t>
            </a:r>
            <a:endParaRPr sz="1000" b="1" dirty="0">
              <a:solidFill>
                <a:srgbClr val="FFFFFF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FFFFFF"/>
                </a:solidFill>
                <a:latin typeface="맑은 고딕"/>
              </a:rPr>
              <a:t>들이마시기</a:t>
            </a:r>
            <a:r>
              <a:rPr sz="1000" dirty="0">
                <a:solidFill>
                  <a:srgbClr val="FFFFFF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FFFFFF"/>
                </a:solidFill>
                <a:latin typeface="맑은 고딕"/>
              </a:rPr>
              <a:t>참기</a:t>
            </a:r>
            <a:r>
              <a:rPr sz="1000" dirty="0">
                <a:solidFill>
                  <a:srgbClr val="FFFFFF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FFFFFF"/>
                </a:solidFill>
                <a:latin typeface="맑은 고딕"/>
              </a:rPr>
              <a:t>내쉬기</a:t>
            </a:r>
            <a:endParaRPr sz="1000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828800" y="2373249"/>
            <a:ext cx="2057400" cy="658368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/>
              </a:rPr>
              <a:t>호흡</a:t>
            </a:r>
            <a:r>
              <a:rPr sz="1000" b="1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/>
              </a:rPr>
              <a:t>데이터</a:t>
            </a:r>
            <a:endParaRPr sz="1000" b="1" dirty="0">
              <a:solidFill>
                <a:srgbClr val="232830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현재량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부채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안전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한계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52060" y="1916049"/>
            <a:ext cx="2057400" cy="65836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/>
              </a:rPr>
              <a:t>이동</a:t>
            </a:r>
            <a:r>
              <a:rPr sz="1000" b="1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/>
              </a:rPr>
              <a:t>판정</a:t>
            </a:r>
            <a:endParaRPr sz="1000" b="1" dirty="0">
              <a:solidFill>
                <a:srgbClr val="232830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속도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소모량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발소리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38160" y="2373249"/>
            <a:ext cx="2057400" cy="65836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/>
              </a:rPr>
              <a:t>공기</a:t>
            </a:r>
            <a:r>
              <a:rPr sz="1000" b="1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/>
              </a:rPr>
              <a:t>환경</a:t>
            </a:r>
            <a:endParaRPr sz="1000" b="1" dirty="0">
              <a:solidFill>
                <a:srgbClr val="232830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먼지·꽃가루·연기·독가스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828800" y="4613529"/>
            <a:ext cx="2057400" cy="65836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232830"/>
                </a:solidFill>
                <a:latin typeface="맑은 고딕"/>
              </a:rPr>
              <a:t>적 AI</a:t>
            </a: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시각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청각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의심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/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조사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52060" y="5383530"/>
            <a:ext cx="2057400" cy="658368"/>
          </a:xfrm>
          <a:prstGeom prst="roundRect">
            <a:avLst/>
          </a:prstGeom>
          <a:solidFill>
            <a:srgbClr val="F1ECFF"/>
          </a:solidFill>
          <a:ln w="15240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/>
              </a:rPr>
              <a:t>은신·탐색</a:t>
            </a:r>
            <a:endParaRPr sz="1000" b="1" dirty="0">
              <a:solidFill>
                <a:srgbClr val="232830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회피·잠입·수중·구조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38160" y="4613529"/>
            <a:ext cx="2057400" cy="658368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EE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/>
              </a:rPr>
              <a:t>스토리</a:t>
            </a:r>
            <a:r>
              <a:rPr sz="1000" b="1" dirty="0">
                <a:solidFill>
                  <a:srgbClr val="232830"/>
                </a:solidFill>
                <a:latin typeface="맑은 고딕"/>
              </a:rPr>
              <a:t>/</a:t>
            </a:r>
            <a:r>
              <a:rPr sz="1000" b="1" dirty="0" err="1">
                <a:solidFill>
                  <a:srgbClr val="232830"/>
                </a:solidFill>
                <a:latin typeface="맑은 고딕"/>
              </a:rPr>
              <a:t>장비</a:t>
            </a:r>
            <a:endParaRPr sz="1000" b="1" dirty="0">
              <a:solidFill>
                <a:srgbClr val="232830"/>
              </a:solidFill>
              <a:latin typeface="맑은 고딕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/>
              </a:rPr>
              <a:t>연구소</a:t>
            </a:r>
            <a:r>
              <a:rPr sz="1000" dirty="0">
                <a:solidFill>
                  <a:srgbClr val="232830"/>
                </a:solidFill>
                <a:latin typeface="맑은 고딕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/>
              </a:rPr>
              <a:t>약물·마스크·산소통</a:t>
            </a:r>
            <a:endParaRPr sz="1000" dirty="0">
              <a:solidFill>
                <a:srgbClr val="232830"/>
              </a:solidFill>
              <a:latin typeface="맑은 고딕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E3B29C3-88A6-8D76-AB3C-C14EDE3FDA46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타원 19">
            <a:extLst>
              <a:ext uri="{FF2B5EF4-FFF2-40B4-BE49-F238E27FC236}">
                <a16:creationId xmlns:a16="http://schemas.microsoft.com/office/drawing/2014/main" id="{F3CFAECD-D30B-DBF9-8D92-250FCC14A095}"/>
              </a:ext>
            </a:extLst>
          </p:cNvPr>
          <p:cNvSpPr/>
          <p:nvPr/>
        </p:nvSpPr>
        <p:spPr>
          <a:xfrm>
            <a:off x="4251960" y="2200275"/>
            <a:ext cx="3063240" cy="3063240"/>
          </a:xfrm>
          <a:prstGeom prst="ellipse">
            <a:avLst/>
          </a:prstGeom>
          <a:noFill/>
          <a:ln w="38100">
            <a:solidFill>
              <a:srgbClr val="0043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sz="2600" b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2.3 시스템 순환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4479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50000"/>
              </a:lnSpc>
            </a:pP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조작이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행동의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조건으로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돌아오는</a:t>
            </a:r>
            <a:r>
              <a:rPr sz="1000" b="0" dirty="0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0" dirty="0" err="1">
                <a:solidFill>
                  <a:srgbClr val="5D6D7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</a:t>
            </a:r>
            <a:endParaRPr sz="1000" b="0" dirty="0">
              <a:solidFill>
                <a:srgbClr val="5D6D7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383280" y="3808475"/>
            <a:ext cx="1600200" cy="84124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상황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관찰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거리·공기·환경음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383280" y="2609469"/>
            <a:ext cx="1600200" cy="841248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확보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필요한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만큼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들이마심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83480" y="1623060"/>
            <a:ext cx="1600200" cy="84124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숨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참기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흡입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차단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후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0" y="2609469"/>
            <a:ext cx="1600200" cy="84124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부채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소모량·행동량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누적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0" y="3808475"/>
            <a:ext cx="1600200" cy="841248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안전지점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활용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83480" y="4803649"/>
            <a:ext cx="1600200" cy="841248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재은신</a:t>
            </a:r>
            <a:endParaRPr sz="1000" b="1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50000"/>
              </a:lnSpc>
            </a:pP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일부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회복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후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다시</a:t>
            </a:r>
            <a:r>
              <a:rPr sz="1000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잠입</a:t>
            </a:r>
            <a:endParaRPr sz="1000" dirty="0">
              <a:solidFill>
                <a:srgbClr val="23283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84248" y="5875020"/>
            <a:ext cx="841248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sz="10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965960" y="5829300"/>
            <a:ext cx="841248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호흡은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단일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게이지가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아니라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준비·은신·회복이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반복되며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판단을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만드는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순환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b="1" dirty="0" err="1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장치다</a:t>
            </a:r>
            <a:r>
              <a:rPr sz="1000" b="1" dirty="0">
                <a:solidFill>
                  <a:srgbClr val="23283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51FC02C-99B7-C5C2-547D-293273152067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2000" b="1" dirty="0">
                <a:solidFill>
                  <a:srgbClr val="232830"/>
                </a:solidFill>
                <a:latin typeface="맑은 고딕"/>
              </a:rPr>
              <a:t>3.1 </a:t>
            </a:r>
            <a:r>
              <a:rPr sz="2000" b="1" dirty="0" err="1">
                <a:solidFill>
                  <a:srgbClr val="232830"/>
                </a:solidFill>
                <a:latin typeface="맑은 고딕"/>
              </a:rPr>
              <a:t>호흡</a:t>
            </a:r>
            <a:r>
              <a:rPr sz="2000" b="1" dirty="0">
                <a:solidFill>
                  <a:srgbClr val="232830"/>
                </a:solidFill>
                <a:latin typeface="맑은 고딕"/>
              </a:rPr>
              <a:t> 값 </a:t>
            </a:r>
            <a:r>
              <a:rPr sz="2000" b="1" dirty="0" err="1">
                <a:solidFill>
                  <a:srgbClr val="232830"/>
                </a:solidFill>
                <a:latin typeface="맑은 고딕"/>
              </a:rPr>
              <a:t>정의</a:t>
            </a:r>
            <a:endParaRPr sz="2000" b="1" dirty="0">
              <a:solidFill>
                <a:srgbClr val="232830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86383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 dirty="0" err="1">
                <a:solidFill>
                  <a:srgbClr val="5D6D7E"/>
                </a:solidFill>
                <a:latin typeface="맑은 고딕"/>
              </a:rPr>
              <a:t>상태값과</a:t>
            </a:r>
            <a:r>
              <a:rPr sz="11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/>
              </a:rPr>
              <a:t>판정값을</a:t>
            </a:r>
            <a:r>
              <a:rPr sz="11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/>
              </a:rPr>
              <a:t>분리해</a:t>
            </a:r>
            <a:r>
              <a:rPr sz="1100" b="0" dirty="0">
                <a:solidFill>
                  <a:srgbClr val="5D6D7E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5D6D7E"/>
                </a:solidFill>
                <a:latin typeface="맑은 고딕"/>
              </a:rPr>
              <a:t>관리한다</a:t>
            </a:r>
            <a:endParaRPr sz="1100" b="0" dirty="0">
              <a:solidFill>
                <a:srgbClr val="5D6D7E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1234440" cy="45720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14300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60" b="1">
                <a:solidFill>
                  <a:srgbClr val="FFFFFF"/>
                </a:solidFill>
                <a:latin typeface="맑은 고딕"/>
              </a:rPr>
              <a:t>값/상태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554480"/>
            <a:ext cx="2743200" cy="45720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600200"/>
            <a:ext cx="26517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60" b="1">
                <a:solidFill>
                  <a:srgbClr val="FFFFFF"/>
                </a:solidFill>
                <a:latin typeface="맑은 고딕"/>
              </a:rPr>
              <a:t>의미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554480"/>
            <a:ext cx="3703320" cy="45720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0" y="1600200"/>
            <a:ext cx="3611879" cy="3657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60" b="1">
                <a:solidFill>
                  <a:srgbClr val="FFFFFF"/>
                </a:solidFill>
                <a:latin typeface="맑은 고딕"/>
              </a:rPr>
              <a:t>플레이 반응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554480"/>
            <a:ext cx="3200400" cy="45720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49640" y="1600200"/>
            <a:ext cx="3108960" cy="3657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60" b="1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011680"/>
            <a:ext cx="123444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57400"/>
            <a:ext cx="114300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호흡량 100~60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2011680"/>
            <a:ext cx="274320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2057400"/>
            <a:ext cx="26517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여유 상태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011680"/>
            <a:ext cx="370332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2057400"/>
            <a:ext cx="3611879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긴 이동·은신 가능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2011680"/>
            <a:ext cx="320040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2057400"/>
            <a:ext cx="31089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깊은 들숨 후 상태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788920"/>
            <a:ext cx="1234440" cy="86868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2834639"/>
            <a:ext cx="114300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호흡량 59~20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788920"/>
            <a:ext cx="2743200" cy="86868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834639"/>
            <a:ext cx="26517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부족 상태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788920"/>
            <a:ext cx="3703320" cy="86868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46320" y="2834639"/>
            <a:ext cx="3611879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짧은 이동만 가능 / 회복 필요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03920" y="2788920"/>
            <a:ext cx="3200400" cy="86868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2834639"/>
            <a:ext cx="31089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부분 회복 후 재은신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3657600"/>
            <a:ext cx="123444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3703320"/>
            <a:ext cx="114300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호흡량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657600"/>
            <a:ext cx="274320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3703320"/>
            <a:ext cx="26517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한계 상태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657600"/>
            <a:ext cx="370332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0" y="3703320"/>
            <a:ext cx="3611879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강제 호흡 / 큰 소음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657600"/>
            <a:ext cx="3200400" cy="77724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549640" y="3703320"/>
            <a:ext cx="310896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19" b="0">
                <a:solidFill>
                  <a:srgbClr val="232830"/>
                </a:solidFill>
                <a:latin typeface="맑은 고딕"/>
              </a:rPr>
              <a:t>짧은 입력 제한 발생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572000"/>
            <a:ext cx="4846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데이터 작성 원칙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4919472"/>
            <a:ext cx="48463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화면에는 현재 호흡량을 중심으로 표시하고, 호흡 부채·자극도는 소리·애니메이션·게이지 떨림으로 전달한다.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4572000"/>
            <a:ext cx="46634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스태미나와의 관계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919472"/>
            <a:ext cx="466344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달리기와 격한 행동은 별도 스태미나가 아니라 호흡량 소모와 호흡 부채 증가로 처리한다.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5E7FE5E-AB9F-6C1D-E81D-07B41F3D230C}"/>
              </a:ext>
            </a:extLst>
          </p:cNvPr>
          <p:cNvCxnSpPr>
            <a:cxnSpLocks/>
          </p:cNvCxnSpPr>
          <p:nvPr/>
        </p:nvCxnSpPr>
        <p:spPr>
          <a:xfrm>
            <a:off x="588264" y="1078992"/>
            <a:ext cx="11015472" cy="0"/>
          </a:xfrm>
          <a:prstGeom prst="line">
            <a:avLst/>
          </a:prstGeom>
          <a:ln cap="rnd">
            <a:solidFill>
              <a:srgbClr val="004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3.2 호흡 참조 대상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누가 값을 만들고, 누가 값을 읽는가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91840" cy="1828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45919"/>
            <a:ext cx="296265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값을 만드는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11680"/>
            <a:ext cx="2962656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플레이어 입력 / 주인공 상태 / 이동 행동</a:t>
            </a:r>
          </a:p>
          <a:p>
            <a:endParaRPr sz="1050" b="0">
              <a:solidFill>
                <a:srgbClr val="232830"/>
              </a:solidFill>
              <a:latin typeface="맑은 고딕"/>
            </a:endParaRPr>
          </a:p>
          <a:p>
            <a:r>
              <a:rPr sz="1050" b="0">
                <a:solidFill>
                  <a:srgbClr val="232830"/>
                </a:solidFill>
                <a:latin typeface="맑은 고딕"/>
              </a:rPr>
              <a:t>들이마시기, 숨 참기, 달리기, 기어가기, 무거운 물체 운반 등이 현재 호흡량과 부채를 만든다.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91840" cy="18288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9431" y="1645919"/>
            <a:ext cx="296265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값을 참조하는 대상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2011680"/>
            <a:ext cx="2962656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적 AI / 공기 환경 / 장비 / 콘텐츠 조건</a:t>
            </a:r>
          </a:p>
          <a:p>
            <a:endParaRPr sz="1050" b="0">
              <a:solidFill>
                <a:srgbClr val="232830"/>
              </a:solidFill>
              <a:latin typeface="맑은 고딕"/>
            </a:endParaRPr>
          </a:p>
          <a:p>
            <a:r>
              <a:rPr sz="1050" b="0">
                <a:solidFill>
                  <a:srgbClr val="232830"/>
                </a:solidFill>
                <a:latin typeface="맑은 고딕"/>
              </a:rPr>
              <a:t>해당 시스템들은 호흡 상태를 읽어 탐지, 재채기, 이동 가능 여부, 특수 능력 발동을 결정한다.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291840" cy="18288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11312" y="1645919"/>
            <a:ext cx="296265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값을 직접 갖지 않는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2011680"/>
            <a:ext cx="2962656" cy="12344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적 / 오브젝트 / 맵 장치</a:t>
            </a:r>
          </a:p>
          <a:p>
            <a:endParaRPr sz="1050" b="0">
              <a:solidFill>
                <a:srgbClr val="232830"/>
              </a:solidFill>
              <a:latin typeface="맑은 고딕"/>
            </a:endParaRPr>
          </a:p>
          <a:p>
            <a:r>
              <a:rPr sz="1050" b="0">
                <a:solidFill>
                  <a:srgbClr val="232830"/>
                </a:solidFill>
                <a:latin typeface="맑은 고딕"/>
              </a:rPr>
              <a:t>이들은 호흡을 보유하지 않고, 플레이어의 호흡 상태를 감지하거나 보정하는 외부 조건으로 작동한다.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4160520"/>
            <a:ext cx="841248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4114800"/>
            <a:ext cx="841248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생성 대상과 참조 대상을 분리하면, 조작·AI·환경 규칙의 충돌을 줄일 수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892040"/>
            <a:ext cx="987552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830"/>
                </a:solidFill>
                <a:latin typeface="맑은 고딕"/>
              </a:defRPr>
            </a:pPr>
            <a:r>
              <a:t>• 투명화 약물은 “숨 참기 중 시각 탐지 감소”처럼 호흡 상태를 참조한다.</a:t>
            </a:r>
          </a:p>
          <a:p>
            <a:r>
              <a:t>• 꽃가루 구역은 “현재 들숨량이 안전 한계를 넘었는가”만 판정한다.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4.1 기본 행동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들이마시기·숨 참기·내쉬기를 하나의 호흡 사이클로 관리한다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201168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1920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60" b="1">
                <a:solidFill>
                  <a:srgbClr val="FFFFFF"/>
                </a:solidFill>
                <a:latin typeface="맑은 고딕"/>
              </a:rPr>
              <a:t>행동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08760"/>
            <a:ext cx="292608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554480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60" b="1">
                <a:solidFill>
                  <a:srgbClr val="FFFFFF"/>
                </a:solidFill>
                <a:latin typeface="맑은 고딕"/>
              </a:rPr>
              <a:t>처리 방식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508760"/>
            <a:ext cx="137160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15000" y="1554480"/>
            <a:ext cx="12801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60" b="1">
                <a:solidFill>
                  <a:srgbClr val="FFFFFF"/>
                </a:solidFill>
                <a:latin typeface="맑은 고딕"/>
              </a:rPr>
              <a:t>적용 상황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508760"/>
            <a:ext cx="402336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554480"/>
            <a:ext cx="39319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60" b="1">
                <a:solidFill>
                  <a:srgbClr val="FFFFFF"/>
                </a:solidFill>
                <a:latin typeface="맑은 고딕"/>
              </a:rPr>
              <a:t>주의점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920240"/>
            <a:ext cx="20116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1965960"/>
            <a:ext cx="19202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들이마시기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1920240"/>
            <a:ext cx="29260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88920" y="1965960"/>
            <a:ext cx="28346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호흡량을 채움 / 깊을수록 시간 증가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1920240"/>
            <a:ext cx="13716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0" y="1965960"/>
            <a:ext cx="1280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은신 전 준비, 회복 직후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1920240"/>
            <a:ext cx="40233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86600" y="1965960"/>
            <a:ext cx="39319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이동 속도 감소, 환경 공기 흡입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606039"/>
            <a:ext cx="20116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651759"/>
            <a:ext cx="19202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숨 참기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2606039"/>
            <a:ext cx="29260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88920" y="2651759"/>
            <a:ext cx="28346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호흡 소음 제거 / 호흡량 소모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0" y="2606039"/>
            <a:ext cx="13716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15000" y="2651759"/>
            <a:ext cx="1280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근거리 은신, 수중, 독가스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0" y="2606039"/>
            <a:ext cx="40233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86600" y="2651759"/>
            <a:ext cx="39319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0 도달 시 강제 호흡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291839"/>
            <a:ext cx="20116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337559"/>
            <a:ext cx="19202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내쉬기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291839"/>
            <a:ext cx="29260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88920" y="3337559"/>
            <a:ext cx="28346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호흡량 회복 / 단계별 소음 발생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0" y="3291839"/>
            <a:ext cx="13716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15000" y="3337559"/>
            <a:ext cx="1280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환경음·안전지점 활용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040880" y="3291839"/>
            <a:ext cx="40233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86600" y="3337559"/>
            <a:ext cx="39319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일부 회복 후 재은신 가능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977639"/>
            <a:ext cx="20116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77240" y="4023359"/>
            <a:ext cx="19202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조절 날숨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977639"/>
            <a:ext cx="292608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88920" y="4023359"/>
            <a:ext cx="283464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소음 없이 소량 배출 / 시간 소모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0" y="3977639"/>
            <a:ext cx="13716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15000" y="4023359"/>
            <a:ext cx="12801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중후반 기술 또는 장비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040880" y="3977639"/>
            <a:ext cx="40233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086600" y="4023359"/>
            <a:ext cx="39319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919" b="0">
                <a:solidFill>
                  <a:srgbClr val="232830"/>
                </a:solidFill>
                <a:latin typeface="맑은 고딕"/>
              </a:rPr>
              <a:t>실수 취소가 아닌 정밀 조정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166360"/>
            <a:ext cx="102412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금지 규칙: 숨 참기를 오래 누르는 것만으로 모든 상황이 해결되게 만들지 않는다. 한계와 회복 타이밍이 반드시 따라온다.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4.2 한계/강제 호흡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호흡량 0은 “실패”가 아니라 큰 위험을 만드는 상태다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057400" y="2743200"/>
            <a:ext cx="68580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26280" y="2743200"/>
            <a:ext cx="68580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995160" y="2743200"/>
            <a:ext cx="68580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2267712"/>
            <a:ext cx="132588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들이마시기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호흡 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67712"/>
            <a:ext cx="1783080" cy="96012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숨 참기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호흡량 소모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267712"/>
            <a:ext cx="178308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호흡량 0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한계 도달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267712"/>
            <a:ext cx="1920240" cy="96012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강제 호흡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큰 소음 발생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921240" y="2267712"/>
            <a:ext cx="1417320" cy="960120"/>
          </a:xfrm>
          <a:prstGeom prst="roundRect">
            <a:avLst/>
          </a:prstGeom>
          <a:solidFill>
            <a:srgbClr val="F1ECFF"/>
          </a:solidFill>
          <a:ln w="15240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재은신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입력 회복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493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발생 즉시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16552"/>
            <a:ext cx="49377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강제 호흡 소음 발생 / 적 의심도 상승 / 짧은 시간 숨 참기 재입력 제한 / 호흡량 일부 회복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475488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즉시 발생하지 않는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416552"/>
            <a:ext cx="475488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적이 곧바로 정확한 위치를 확정하거나, 게임오버가 되거나, 장비 효과가 전부 해제되지는 않는다. 먼저 의심·조사 상태로 전환한다.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5.1 공기 환경 반응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공기 상태가 들이마시기와 숨 참기의 의미를 바꾼다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47088" y="1527048"/>
            <a:ext cx="850392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1481328"/>
            <a:ext cx="850392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공기 상태 확인 → 안전 들숨 한계 적용 → 흡입/차단 판정 → 소음·상태이상 결과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154680" cy="201168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유해 공기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34639"/>
            <a:ext cx="2825496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연기·독가스는 들이마실 때 피해나 상태이상을 준다. 숨 참기와 장비가 방어 수단이 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154680" cy="201168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자극성 공기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34639"/>
            <a:ext cx="2825496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먼지·꽃가루는 즉시 피해보다 기침·재채기 위험을 만든다. 안전 한계를 넘으면 강제 소음이 발생한다.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154680" cy="201168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깨끗한 공기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834639"/>
            <a:ext cx="2825496" cy="1417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호흡을 안정적으로 회복할 수 있는 장소다. 레벨에서는 다음 위험 구간 전 준비 지점으로 사용한다.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1005840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830"/>
                </a:solidFill>
                <a:latin typeface="맑은 고딕"/>
              </a:defRPr>
            </a:pPr>
            <a:r>
              <a:t>• 수중은 들이마시기가 불가능하며 보유 호흡량만 사용한다.</a:t>
            </a:r>
          </a:p>
          <a:p>
            <a:r>
              <a:t>• 방진/방독 장비는 특정 공기 환경의 안전 한계를 보정한다.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5.2 들숨 안전 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환경별로 안전하게 채울 수 있는 호흡량이 달라진다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1783080" y="2743200"/>
            <a:ext cx="64008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794760" y="2743200"/>
            <a:ext cx="64008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806440" y="2743200"/>
            <a:ext cx="64008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18120" y="2743200"/>
            <a:ext cx="640080" cy="0"/>
          </a:xfrm>
          <a:prstGeom prst="line">
            <a:avLst/>
          </a:prstGeom>
          <a:ln w="1524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258568"/>
            <a:ext cx="1143000" cy="96012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깨끗한 공기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100까지 안전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2258568"/>
            <a:ext cx="137160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약한 먼지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80 이후 기침 위험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258568"/>
            <a:ext cx="1371600" cy="960120"/>
          </a:xfrm>
          <a:prstGeom prst="roundRect">
            <a:avLst/>
          </a:prstGeom>
          <a:solidFill>
            <a:srgbClr val="FFF1F1"/>
          </a:solidFill>
          <a:ln w="15240">
            <a:solidFill>
              <a:srgbClr val="D8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꽃가루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60 이후 재채기 위험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258568"/>
            <a:ext cx="1371600" cy="960120"/>
          </a:xfrm>
          <a:prstGeom prst="roundRect">
            <a:avLst/>
          </a:prstGeom>
          <a:solidFill>
            <a:srgbClr val="F1ECFF"/>
          </a:solidFill>
          <a:ln w="15240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연기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40 이후 시야/기침 위험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258568"/>
            <a:ext cx="1600200" cy="960120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독가스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들이마시면 피해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332720" y="2258568"/>
            <a:ext cx="1234440" cy="960120"/>
          </a:xfrm>
          <a:prstGeom prst="roundRect">
            <a:avLst/>
          </a:prstGeom>
          <a:solidFill>
            <a:srgbClr val="FFF9E6"/>
          </a:solidFill>
          <a:ln w="15240">
            <a:solidFill>
              <a:srgbClr val="EE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수중</a:t>
            </a:r>
          </a:p>
          <a:p>
            <a:pPr algn="ctr"/>
            <a:r>
              <a:rPr sz="1150" b="1">
                <a:solidFill>
                  <a:srgbClr val="232830"/>
                </a:solidFill>
                <a:latin typeface="맑은 고딕"/>
              </a:rPr>
              <a:t>들이마시기 불가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493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핵심 약속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62272"/>
            <a:ext cx="49377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최대 호흡량은 그대로 두고, 환경이 “안전하게 들이마실 수 있는 한계선”을 바꾼다. 플레이어는 한계선 전후의 떨림·훌쩍임·게이지 경고로 위험을 읽는다.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114800"/>
            <a:ext cx="493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시나리오 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462272"/>
            <a:ext cx="493776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연구소, 지하 시설, 침수 구역, 화재 현장처럼 세계 자체가 호흡 판단을 요구하는 배경을 설계한다.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6.1 적의 호흡 감지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적은 호흡 소음을 단서로 의심·조사·발견 상태를 전환한다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847088" y="1527048"/>
            <a:ext cx="850392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1481328"/>
            <a:ext cx="850392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소음 발생 → 의심 위치 등록 → 조사 이동 → 추가 단서 확인 → 발견/해제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3154680" cy="21488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공통 인식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834639"/>
            <a:ext cx="2825496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호흡 소리는 시각 은신과 별도로 처리된다. 투명 상태라도 거친 숨을 쉬면 적은 마지막 소리 위치를 조사한다.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154680" cy="214884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감지 단계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2834639"/>
            <a:ext cx="2825496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호흡 소음은 즉시 실패가 아니라 의심도를 올린다. 플레이어가 다시 숨을 참아 추가 소리를 차단하면 의심도가 감소한다.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154680" cy="214884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46887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플레이 결과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834639"/>
            <a:ext cx="2825496" cy="155448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플레이어는 들킨 뒤에도 호흡을 죽이고 이동 소음을 낮춰 조사 상태를 빠져나갈 수 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4572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30" b="1">
                <a:solidFill>
                  <a:srgbClr val="00437A"/>
                </a:solidFill>
                <a:latin typeface="맑은 고딕"/>
              </a:rPr>
              <a:t>중요: 청각 탐지는 “정확한 위치 확정”보다 “마지막 소리 위치 조사”를 우선해 과도한 즉사감을 줄인다.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6.2 타입별 탐지 차이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같은 호흡 소리도 적 타입에 따라 결과가 달라진다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146304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3716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30" b="1">
                <a:solidFill>
                  <a:srgbClr val="FFFFFF"/>
                </a:solidFill>
                <a:latin typeface="맑은 고딕"/>
              </a:rPr>
              <a:t>타입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508760"/>
            <a:ext cx="196596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94560" y="1554480"/>
            <a:ext cx="187451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30" b="1">
                <a:solidFill>
                  <a:srgbClr val="FFFFFF"/>
                </a:solidFill>
                <a:latin typeface="맑은 고딕"/>
              </a:rPr>
              <a:t>주요 감지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508760"/>
            <a:ext cx="306324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30" b="1">
                <a:solidFill>
                  <a:srgbClr val="FFFFFF"/>
                </a:solidFill>
                <a:latin typeface="맑은 고딕"/>
              </a:rPr>
              <a:t>호흡 대응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78040" y="1508760"/>
            <a:ext cx="384048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59" y="1554480"/>
            <a:ext cx="37490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30" b="1">
                <a:solidFill>
                  <a:srgbClr val="FFFFFF"/>
                </a:solidFill>
                <a:latin typeface="맑은 고딕"/>
              </a:rPr>
              <a:t>주요 콘텐츠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1920240"/>
            <a:ext cx="14630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1965960"/>
            <a:ext cx="13716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인간 경비병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48840" y="1920240"/>
            <a:ext cx="196596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0" y="1965960"/>
            <a:ext cx="1874519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시각 / 청각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920240"/>
            <a:ext cx="30632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60520" y="1965960"/>
            <a:ext cx="29718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근거리 호흡 소리에 반응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920240"/>
            <a:ext cx="384048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59" y="1965960"/>
            <a:ext cx="374904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잠입, 조사 회피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532888"/>
            <a:ext cx="14630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2578608"/>
            <a:ext cx="13716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청각형 실험체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2532888"/>
            <a:ext cx="196596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94560" y="2578608"/>
            <a:ext cx="1874519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청각 강화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32888"/>
            <a:ext cx="30632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60520" y="2578608"/>
            <a:ext cx="29718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작은 헐떡임도 감지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2532888"/>
            <a:ext cx="384048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23759" y="2578608"/>
            <a:ext cx="374904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숨 참기, 조용한 이동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145536"/>
            <a:ext cx="14630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3191256"/>
            <a:ext cx="13716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감지 장비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3145536"/>
            <a:ext cx="196596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94560" y="3191256"/>
            <a:ext cx="1874519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열/성분 감지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3145536"/>
            <a:ext cx="30632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3191256"/>
            <a:ext cx="29718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숨 참기로 일시 회피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78040" y="3145536"/>
            <a:ext cx="384048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23759" y="3191256"/>
            <a:ext cx="374904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장비 차단, 타이밍 통과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3758183"/>
            <a:ext cx="14630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1520" y="3803903"/>
            <a:ext cx="13716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후각형 생물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48840" y="3758183"/>
            <a:ext cx="196596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94560" y="3803903"/>
            <a:ext cx="1874519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냄새/날숨 흔적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3758183"/>
            <a:ext cx="30632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3803903"/>
            <a:ext cx="29718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거친 회복 후 추적 강화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3758183"/>
            <a:ext cx="384048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23759" y="3803903"/>
            <a:ext cx="374904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회복 위치 선택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" y="4370832"/>
            <a:ext cx="14630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" y="4416552"/>
            <a:ext cx="13716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보스/정예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48840" y="4370832"/>
            <a:ext cx="196596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94560" y="4416552"/>
            <a:ext cx="1874519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복합 감지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4370832"/>
            <a:ext cx="306324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60520" y="4416552"/>
            <a:ext cx="297180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호흡·소음·시각 모두 판정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4370832"/>
            <a:ext cx="3840480" cy="61264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223759" y="4416552"/>
            <a:ext cx="3749040" cy="52120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90" b="0">
                <a:solidFill>
                  <a:srgbClr val="232830"/>
                </a:solidFill>
                <a:latin typeface="맑은 고딕"/>
              </a:rPr>
              <a:t>페이즈별 규칙 변화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00" y="5394960"/>
            <a:ext cx="1033272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80" b="1">
                <a:solidFill>
                  <a:srgbClr val="00437A"/>
                </a:solidFill>
                <a:latin typeface="맑은 고딕"/>
              </a:rPr>
              <a:t>AI 우선순위: 시야 확보 &gt; 큰 호흡 소음 조사 &gt; 발소리 추적 &gt; 특수 감지 판정 &gt; 순찰 복귀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7.1 플레이어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 키 하나로 준비·은신·회복을 연결한다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960120" cy="960120"/>
          </a:xfrm>
          <a:prstGeom prst="ellipse">
            <a:avLst/>
          </a:prstGeom>
          <a:solidFill>
            <a:srgbClr val="042D62"/>
          </a:solidFill>
          <a:ln w="1905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호흡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591056"/>
            <a:ext cx="859536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550" b="1">
                <a:solidFill>
                  <a:srgbClr val="232830"/>
                </a:solidFill>
                <a:latin typeface="맑은 고딕"/>
              </a:rPr>
              <a:t>플레이어는 호흡 키를 눌러 들이마신 뒤 그대로 숨을 참는다. 키를 놓으면 회복이 시작되고, 회복 중 다시 누르면 현재 확보량만큼 즉시 재은신한다.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75688" y="2532888"/>
            <a:ext cx="813816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057400" y="2487168"/>
            <a:ext cx="813816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32830"/>
                </a:solidFill>
                <a:latin typeface="맑은 고딕"/>
              </a:rPr>
              <a:t>누름 → 들숨 → 유지 → 숨 참기 → 해제 → 회복 → 재입력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484632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기본 규칙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776472"/>
            <a:ext cx="4846320" cy="6858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호흡 키를 누르는 순간 짧은 들숨이 시작되고, 계속 누르고 있으면 숨 참기 상태가 유지된다.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429000"/>
            <a:ext cx="48006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이동 규칙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776472"/>
            <a:ext cx="480060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숨 참기 중 이동은 가능하지만 달리기·전력질주는 호흡 소모와 부채를 크게 증가시킨다.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800600"/>
            <a:ext cx="1005840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서사 기능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148072"/>
            <a:ext cx="10058400" cy="5029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주인공이 구조·잠입 경험을 통해 호흡을 의식적으로 다루는 인물이라는 설정으로 조작 규칙을 자연스럽게 설명한다.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7.2 호흡 기술 확장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능력치 상승보다 새로운 호흡 방법을 추가한다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41732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10" b="1">
                <a:solidFill>
                  <a:srgbClr val="FFFFFF"/>
                </a:solidFill>
                <a:latin typeface="맑은 고딕"/>
              </a:rPr>
              <a:t>기술/장비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2057400" y="1417320"/>
            <a:ext cx="310896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1463040"/>
            <a:ext cx="30175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10" b="1">
                <a:solidFill>
                  <a:srgbClr val="FFFFFF"/>
                </a:solidFill>
                <a:latin typeface="맑은 고딕"/>
              </a:rPr>
              <a:t>호흡과의 관계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5166360" y="1417320"/>
            <a:ext cx="274320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1463040"/>
            <a:ext cx="26517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10" b="1">
                <a:solidFill>
                  <a:srgbClr val="FFFFFF"/>
                </a:solidFill>
                <a:latin typeface="맑은 고딕"/>
              </a:rPr>
              <a:t>플레이 효과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417320"/>
            <a:ext cx="306324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1463040"/>
            <a:ext cx="29718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10" b="1">
                <a:solidFill>
                  <a:srgbClr val="FFFFFF"/>
                </a:solidFill>
                <a:latin typeface="맑은 고딕"/>
              </a:rPr>
              <a:t>주의점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41732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874519"/>
            <a:ext cx="13258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부분 호흡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828800"/>
            <a:ext cx="31089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03120" y="1874519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짧게 적은 양만 회복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66360" y="1828800"/>
            <a:ext cx="27432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12080" y="1874519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위험한 순간 소량 회복 후 재은신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1828800"/>
            <a:ext cx="306324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0" y="1874519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회복량이 낮아 거리 예측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514600"/>
            <a:ext cx="141732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560320"/>
            <a:ext cx="13258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조절 날숨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57400" y="2514600"/>
            <a:ext cx="31089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03120" y="2560320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소음 없이 호흡량 일부 배출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2514600"/>
            <a:ext cx="27432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212080" y="2560320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들이마신 양을 정밀 조정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514600"/>
            <a:ext cx="306324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2560320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시간 소모로 남발 방지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200400"/>
            <a:ext cx="141732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246120"/>
            <a:ext cx="13258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급속 회복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200400"/>
            <a:ext cx="31089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103120" y="3246120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큰 소리로 빠르게 회복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66360" y="3200400"/>
            <a:ext cx="27432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212080" y="3246120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환경음 타이밍에 강함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09560" y="3200400"/>
            <a:ext cx="306324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0" y="3246120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조용한 공간에서는 위험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886200"/>
            <a:ext cx="141732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931920"/>
            <a:ext cx="132588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기척 소거제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886200"/>
            <a:ext cx="310896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103120" y="3931920"/>
            <a:ext cx="301752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숨 참는 동안 투명화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66360" y="3886200"/>
            <a:ext cx="274320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12080" y="3931920"/>
            <a:ext cx="265176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시각 탐지 우회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09560" y="3886200"/>
            <a:ext cx="3063240" cy="685800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955280" y="3931920"/>
            <a:ext cx="2971800" cy="5943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69" b="0">
                <a:solidFill>
                  <a:srgbClr val="232830"/>
                </a:solidFill>
                <a:latin typeface="맑은 고딕"/>
              </a:rPr>
              <a:t>호흡 한계 도달 시 큰 리스크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12080"/>
            <a:ext cx="10241280" cy="38404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80" b="1">
                <a:solidFill>
                  <a:srgbClr val="00437A"/>
                </a:solidFill>
                <a:latin typeface="맑은 고딕"/>
              </a:rPr>
              <a:t>작성 기준: 기술은 최대치만 올리는 보상보다, 플레이어의 판단 방식과 호흡 리듬을 바꾸는 선택지로 설계한다.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8.1 콘텐츠 연동: 은신/이동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호흡은 잠입 동선과 이동 선택의 기준이 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154680" cy="20574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발생 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적의 시야·청각, 조용한 공간, 유해 공기, 긴 이동 구간이 동시에 배치되면서 호흡 관리 상황이 발생한다.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15468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플레이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필요한 만큼 숨을 확보하고, 발소리와 호흡 소음을 줄이며, 안전 호흡 지점까지 도달하는 것이 목표가 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154680" cy="20574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성장 방식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주인공은 단순 폐활량 상승보다 부분 호흡, 조절 날숨, 장비 선택, 에피소드 약물로 플레이 방식을 확장한다.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4297680"/>
            <a:ext cx="850392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4251960"/>
            <a:ext cx="850392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환경 확인 → 들숨량 결정 → 숨 참기 이동 → 소음 회복 → 재은신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80"/>
            <a:ext cx="10058400" cy="7772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830"/>
                </a:solidFill>
                <a:latin typeface="맑은 고딕"/>
              </a:defRPr>
            </a:pPr>
            <a:r>
              <a:t>• 달리기는 스태미나 대신 호흡 부채를 증가시킨다.</a:t>
            </a:r>
          </a:p>
          <a:p>
            <a:r>
              <a:t>• 투명화 상태에서도 호흡 소음은 적 AI의 조사 단서가 된다.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8.2 콘텐츠 연동: 스토리/에피소드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세계 자체가 호흡을 요구하도록 구성한다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2148840" y="2788920"/>
            <a:ext cx="59436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251960" y="2788920"/>
            <a:ext cx="59436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355080" y="2788920"/>
            <a:ext cx="59436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458200" y="2788920"/>
            <a:ext cx="59436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258568"/>
            <a:ext cx="1417320" cy="1078992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80" b="1">
                <a:solidFill>
                  <a:srgbClr val="232830"/>
                </a:solidFill>
                <a:latin typeface="맑은 고딕"/>
              </a:rPr>
              <a:t>초반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조용한 복도와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기본 숨 참기 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58568"/>
            <a:ext cx="1417320" cy="1078992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80" b="1">
                <a:solidFill>
                  <a:srgbClr val="232830"/>
                </a:solidFill>
                <a:latin typeface="맑은 고딕"/>
              </a:rPr>
              <a:t>중반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먼지·꽃가루·연기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안전 들숨 한계 학습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258568"/>
            <a:ext cx="1417320" cy="1078992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80" b="1">
                <a:solidFill>
                  <a:srgbClr val="232830"/>
                </a:solidFill>
                <a:latin typeface="맑은 고딕"/>
              </a:rPr>
              <a:t>연구소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기척 소거제와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투명화 규칙 변주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58568"/>
            <a:ext cx="1417320" cy="1078992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80" b="1">
                <a:solidFill>
                  <a:srgbClr val="232830"/>
                </a:solidFill>
                <a:latin typeface="맑은 고딕"/>
              </a:rPr>
              <a:t>후반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침수·독가스·감지 장비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복합 판단 요구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58568"/>
            <a:ext cx="1417320" cy="1078992"/>
          </a:xfrm>
          <a:prstGeom prst="roundRect">
            <a:avLst/>
          </a:prstGeom>
          <a:solidFill>
            <a:srgbClr val="EAF8F0"/>
          </a:solidFill>
          <a:ln w="1524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80" b="1">
                <a:solidFill>
                  <a:srgbClr val="232830"/>
                </a:solidFill>
                <a:latin typeface="맑은 고딕"/>
              </a:rPr>
              <a:t>결말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호흡 기술 숙련으로</a:t>
            </a:r>
          </a:p>
          <a:p>
            <a:pPr algn="ctr"/>
            <a:r>
              <a:rPr sz="880" b="1">
                <a:solidFill>
                  <a:srgbClr val="232830"/>
                </a:solidFill>
                <a:latin typeface="맑은 고딕"/>
              </a:rPr>
              <a:t>핵심 증거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241280" cy="6583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스토리 연출 방향: 비윤리 실험 연구소, 침수된 지하 시설, 화재·가스 사고 같은 배경을 통해 호흡 조작이 시나리오상 자연스럽게 필요해지도록 구성한다.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83480"/>
            <a:ext cx="98755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232830"/>
                </a:solidFill>
                <a:latin typeface="맑은 고딕"/>
              </a:defRPr>
            </a:pPr>
            <a:r>
              <a:t>• 시스템 설명 대사를 줄이고, 플레이 상황 자체가 “왜 숨을 관리해야 하는가”를 보여주게 한다.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9. 플레이 화면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 상태는 게이지·소리·캐릭터 반응으로 함께 전달한다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6766560" cy="4023360"/>
          </a:xfrm>
          <a:prstGeom prst="rect">
            <a:avLst/>
          </a:prstGeom>
          <a:solidFill>
            <a:srgbClr val="222A37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1097280" y="1874519"/>
            <a:ext cx="6172200" cy="0"/>
          </a:xfrm>
          <a:prstGeom prst="line">
            <a:avLst/>
          </a:prstGeom>
          <a:ln w="635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2468879"/>
            <a:ext cx="6172200" cy="0"/>
          </a:xfrm>
          <a:prstGeom prst="line">
            <a:avLst/>
          </a:prstGeom>
          <a:ln w="635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3063239"/>
            <a:ext cx="6172200" cy="0"/>
          </a:xfrm>
          <a:prstGeom prst="line">
            <a:avLst/>
          </a:prstGeom>
          <a:ln w="635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657600"/>
            <a:ext cx="6172200" cy="0"/>
          </a:xfrm>
          <a:prstGeom prst="line">
            <a:avLst/>
          </a:prstGeom>
          <a:ln w="635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4251960"/>
            <a:ext cx="6172200" cy="0"/>
          </a:xfrm>
          <a:prstGeom prst="line">
            <a:avLst/>
          </a:prstGeom>
          <a:ln w="6350">
            <a:solidFill>
              <a:srgbClr val="3A4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920240" y="3383280"/>
            <a:ext cx="384048" cy="384048"/>
          </a:xfrm>
          <a:prstGeom prst="ellipse">
            <a:avLst/>
          </a:prstGeom>
          <a:solidFill>
            <a:srgbClr val="EAF8F0"/>
          </a:solidFill>
          <a:ln w="1905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32830"/>
                </a:solidFill>
                <a:latin typeface="맑은 고딕"/>
              </a:rPr>
              <a:t>P</a:t>
            </a:r>
          </a:p>
        </p:txBody>
      </p:sp>
      <p:sp>
        <p:nvSpPr>
          <p:cNvPr id="12" name="Oval 11"/>
          <p:cNvSpPr/>
          <p:nvPr/>
        </p:nvSpPr>
        <p:spPr>
          <a:xfrm>
            <a:off x="3749039" y="2148840"/>
            <a:ext cx="384048" cy="384048"/>
          </a:xfrm>
          <a:prstGeom prst="ellipse">
            <a:avLst/>
          </a:prstGeom>
          <a:solidFill>
            <a:srgbClr val="FFF9E6"/>
          </a:solidFill>
          <a:ln w="19050">
            <a:solidFill>
              <a:srgbClr val="EE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700" b="1">
                <a:solidFill>
                  <a:srgbClr val="232830"/>
                </a:solidFill>
                <a:latin typeface="맑은 고딕"/>
              </a:rPr>
              <a:t>적</a:t>
            </a:r>
          </a:p>
          <a:p>
            <a:pPr algn="ctr"/>
            <a:r>
              <a:rPr sz="700" b="1">
                <a:solidFill>
                  <a:srgbClr val="232830"/>
                </a:solidFill>
                <a:latin typeface="맑은 고딕"/>
              </a:rPr>
              <a:t>?</a:t>
            </a:r>
          </a:p>
        </p:txBody>
      </p:sp>
      <p:sp>
        <p:nvSpPr>
          <p:cNvPr id="13" name="Oval 12"/>
          <p:cNvSpPr/>
          <p:nvPr/>
        </p:nvSpPr>
        <p:spPr>
          <a:xfrm>
            <a:off x="5989320" y="2926080"/>
            <a:ext cx="475488" cy="475488"/>
          </a:xfrm>
          <a:prstGeom prst="ellipse">
            <a:avLst/>
          </a:prstGeom>
          <a:solidFill>
            <a:srgbClr val="FFF1F1"/>
          </a:solidFill>
          <a:ln w="19050">
            <a:solidFill>
              <a:srgbClr val="D8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32830"/>
                </a:solidFill>
                <a:latin typeface="맑은 고딕"/>
              </a:rPr>
              <a:t>공기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1645920"/>
            <a:ext cx="1508760" cy="384048"/>
          </a:xfrm>
          <a:prstGeom prst="roundRect">
            <a:avLst/>
          </a:prstGeom>
          <a:solidFill>
            <a:srgbClr val="F1ECFF"/>
          </a:solidFill>
          <a:ln w="15240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50" b="1">
                <a:solidFill>
                  <a:srgbClr val="232830"/>
                </a:solidFill>
                <a:latin typeface="맑은 고딕"/>
              </a:rPr>
              <a:t>환경음 발생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977639" y="1828800"/>
            <a:ext cx="2651761" cy="530352"/>
          </a:xfrm>
          <a:prstGeom prst="line">
            <a:avLst/>
          </a:prstGeom>
          <a:ln w="15240">
            <a:solidFill>
              <a:srgbClr val="EEBE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0" y="1572768"/>
            <a:ext cx="146304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50" b="1">
                <a:solidFill>
                  <a:srgbClr val="FFFFFF"/>
                </a:solidFill>
                <a:latin typeface="맑은 고딕"/>
              </a:rPr>
              <a:t>안전 호흡 지점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417320"/>
            <a:ext cx="3246120" cy="9144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65592" y="1554480"/>
            <a:ext cx="29169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① 호흡 게이지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1920240"/>
            <a:ext cx="29169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현재 확보한 호흡량과 안전 들숨 한계선을 함께 표시한다.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2514600"/>
            <a:ext cx="3246120" cy="914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65592" y="2651760"/>
            <a:ext cx="29169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② 소음 피드백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3017520"/>
            <a:ext cx="29169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들이마시기, 헐떡임, 재채기 소리를 아이콘/파형으로 전달한다.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611880"/>
            <a:ext cx="3246120" cy="9144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5592" y="3749040"/>
            <a:ext cx="29169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③ 적 AI 단서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5592" y="4114800"/>
            <a:ext cx="2916936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의심 상태, 마지막 소리 위치 조사, 복귀 상태를 시각적으로 구분한다.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4709160"/>
            <a:ext cx="3246120" cy="731520"/>
          </a:xfrm>
          <a:prstGeom prst="roundRect">
            <a:avLst/>
          </a:prstGeom>
          <a:solidFill>
            <a:srgbClr val="FFF9E6"/>
          </a:solidFill>
          <a:ln w="12700">
            <a:solidFill>
              <a:srgbClr val="EEB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65592" y="4846320"/>
            <a:ext cx="291693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④ 환경 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5592" y="5212080"/>
            <a:ext cx="2916936" cy="1371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먼지·꽃가루·연기·깨끗한 공기 영역을 VFX와 색감으로 구분한다.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10. 리소스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 시스템 구현에 필요한 화면·연출·데이터 리소스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728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0583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분류</a:t>
            </a:r>
          </a:p>
        </p:txBody>
      </p:sp>
      <p:sp>
        <p:nvSpPr>
          <p:cNvPr id="7" name="Rectangle 6"/>
          <p:cNvSpPr/>
          <p:nvPr/>
        </p:nvSpPr>
        <p:spPr>
          <a:xfrm>
            <a:off x="1737360" y="1417320"/>
            <a:ext cx="228600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1463040"/>
            <a:ext cx="21945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리소스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417320"/>
            <a:ext cx="283464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80" y="1463040"/>
            <a:ext cx="274320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사용 시점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417320"/>
            <a:ext cx="411480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463040"/>
            <a:ext cx="402336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비고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28800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1874519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37360" y="1828800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3080" y="1874519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호흡 게이지/안전 한계선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828800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69080" y="1874519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들이마시기·숨 참기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828800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03720" y="1874519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한계선 초과 위험 표시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2395728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2441448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SFX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37360" y="2395728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783080" y="2441448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들숨/날숨/헐떡임/재채기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395728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69080" y="2441448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회복·강제 호흡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395728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03720" y="2441448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단계별 소음 크기 필요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2962656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3008376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VFX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37360" y="2962656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783080" y="3008376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먼지·꽃가루·연기 효과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962656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69080" y="3008376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공기 환경 구역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962656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03720" y="3008376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흡입 위험을 시각화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3529584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3575304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애니메이션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3529584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83080" y="3575304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숨 참기·헐떡임·훌쩍임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529584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69080" y="3575304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호흡 단계 변화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529584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03720" y="3575304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게이지 없이도 상태 전달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" y="4096512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142232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AI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737360" y="4096512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783080" y="4142232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의심/조사/복귀 상태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4096512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069080" y="4142232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소음 발생 후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4096512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903720" y="4142232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즉시 발견보다 조사 우선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4663440"/>
            <a:ext cx="109728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85800" y="4709159"/>
            <a:ext cx="1005839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데이터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737360" y="4663440"/>
            <a:ext cx="22860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783080" y="4709159"/>
            <a:ext cx="21945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호흡 수치 테이블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4663440"/>
            <a:ext cx="283464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069080" y="4709159"/>
            <a:ext cx="274320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밸런스 기준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4663440"/>
            <a:ext cx="4114800" cy="56692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903720" y="4709159"/>
            <a:ext cx="4023360" cy="47548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소모량·회복량·탐지 거리 관리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4400" y="5349240"/>
            <a:ext cx="1024128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80" b="1">
                <a:solidFill>
                  <a:srgbClr val="00437A"/>
                </a:solidFill>
                <a:latin typeface="맑은 고딕"/>
              </a:rPr>
              <a:t>리소스 작성 기준: “어떤 규칙을 플레이어에게 전달하는가”와 “어느 타이밍에 필요한가”를 함께 적어 제작 우선순위를 정한다.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11. 예외 사항 안전 장치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정상 규칙으로 처리할 수 없는 상황을 미리 차단한다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17320"/>
            <a:ext cx="201168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9202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예외 상황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417320"/>
            <a:ext cx="301752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651760" y="1463040"/>
            <a:ext cx="2926079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5623560" y="1417320"/>
            <a:ext cx="5394960" cy="411480"/>
          </a:xfrm>
          <a:prstGeom prst="rect">
            <a:avLst/>
          </a:prstGeom>
          <a:solidFill>
            <a:srgbClr val="042D62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463040"/>
            <a:ext cx="530352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 algn="ctr">
              <a:lnSpc>
                <a:spcPct val="110000"/>
              </a:lnSpc>
            </a:pPr>
            <a:r>
              <a:rPr sz="920" b="1">
                <a:solidFill>
                  <a:srgbClr val="FFFFFF"/>
                </a:solidFill>
                <a:latin typeface="맑은 고딕"/>
              </a:rPr>
              <a:t>안전 장치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828800"/>
            <a:ext cx="201168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19"/>
            <a:ext cx="19202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호흡량 0 연속 발생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828800"/>
            <a:ext cx="301752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1874519"/>
            <a:ext cx="2926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반복 강제 호흡으로 조작 불능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0" y="1828800"/>
            <a:ext cx="539496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1874519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짧은 보호 회복 구간 제공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87168"/>
            <a:ext cx="201168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532887"/>
            <a:ext cx="19202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조용한 공간 과도 난이도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487168"/>
            <a:ext cx="301752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51760" y="2532887"/>
            <a:ext cx="2926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작은 소리도 전부 실패 처리 가능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2487168"/>
            <a:ext cx="539496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69280" y="2532887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의심/조사 단계를 거쳐 실패감 완화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3145536"/>
            <a:ext cx="201168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191256"/>
            <a:ext cx="19202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안전 한계선 불명확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3145536"/>
            <a:ext cx="301752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651760" y="3191256"/>
            <a:ext cx="2926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왜 재채기 났는지 이해 어려움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3145536"/>
            <a:ext cx="539496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3191256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게이지 떨림·전조 애니메이션 표시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803904"/>
            <a:ext cx="201168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849624"/>
            <a:ext cx="19202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투명화 약물 남용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06040" y="3803904"/>
            <a:ext cx="301752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651760" y="3849624"/>
            <a:ext cx="2926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모든 은신 상황 무력화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23560" y="3803904"/>
            <a:ext cx="539496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0" y="3849624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숨 참기 중만 발동 / 강제 호흡 시 해제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4462272"/>
            <a:ext cx="201168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507992"/>
            <a:ext cx="192024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장비 보정 충돌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06040" y="4462272"/>
            <a:ext cx="301752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51760" y="4507992"/>
            <a:ext cx="2926079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수치 중첩으로 난이도 붕괴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23560" y="4462272"/>
            <a:ext cx="5394960" cy="658368"/>
          </a:xfrm>
          <a:prstGeom prst="rect">
            <a:avLst/>
          </a:prstGeom>
          <a:solidFill>
            <a:srgbClr val="FBFCFE"/>
          </a:solidFill>
          <a:ln w="1016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4507992"/>
            <a:ext cx="5303520" cy="566928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880" b="0">
                <a:solidFill>
                  <a:srgbClr val="232830"/>
                </a:solidFill>
                <a:latin typeface="맑은 고딕"/>
              </a:rPr>
              <a:t>최대/최소 보정 한계값 설정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5440680"/>
            <a:ext cx="10424160" cy="32918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60" b="1">
                <a:solidFill>
                  <a:srgbClr val="00437A"/>
                </a:solidFill>
                <a:latin typeface="맑은 고딕"/>
              </a:rPr>
              <a:t>문서 작성 원칙: 예외사항은 “플레이를 쉽게 만드는 규칙”이 아니라, 시스템 때문에 플레이어가 이유 없이 실패하지 않게 하는 처리 약속이다.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11.1 적 AI 오작동 방지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호흡 소음과 은신 규칙의 충돌을 정리한다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664208" y="1463040"/>
            <a:ext cx="886968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45920" y="1417320"/>
            <a:ext cx="886968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50" b="1">
                <a:solidFill>
                  <a:srgbClr val="232830"/>
                </a:solidFill>
                <a:latin typeface="맑은 고딕"/>
              </a:rPr>
              <a:t>소음 발생 → 의심 위치 등록 → 조사 이동 → 추가 단서 확인 → 상태 전환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11680" y="2971800"/>
            <a:ext cx="68580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06240" y="2971800"/>
            <a:ext cx="68580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0" y="2971800"/>
            <a:ext cx="68580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2971800"/>
            <a:ext cx="685800" cy="0"/>
          </a:xfrm>
          <a:prstGeom prst="line">
            <a:avLst/>
          </a:prstGeom>
          <a:ln w="12700">
            <a:solidFill>
              <a:srgbClr val="5B8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85800" y="2514600"/>
            <a:ext cx="141732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30" b="1">
                <a:solidFill>
                  <a:srgbClr val="232830"/>
                </a:solidFill>
                <a:latin typeface="맑은 고딕"/>
              </a:rPr>
              <a:t>1순위</a:t>
            </a:r>
          </a:p>
          <a:p>
            <a:pPr algn="ctr"/>
            <a:r>
              <a:rPr sz="830" b="1">
                <a:solidFill>
                  <a:srgbClr val="232830"/>
                </a:solidFill>
                <a:latin typeface="맑은 고딕"/>
              </a:rPr>
              <a:t>시야에 플레이어가 있으면 발견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2514600"/>
            <a:ext cx="141732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30" b="1">
                <a:solidFill>
                  <a:srgbClr val="232830"/>
                </a:solidFill>
                <a:latin typeface="맑은 고딕"/>
              </a:rPr>
              <a:t>2순위</a:t>
            </a:r>
          </a:p>
          <a:p>
            <a:pPr algn="ctr"/>
            <a:r>
              <a:rPr sz="830" b="1">
                <a:solidFill>
                  <a:srgbClr val="232830"/>
                </a:solidFill>
                <a:latin typeface="맑은 고딕"/>
              </a:rPr>
              <a:t>큰 호흡 소음은 의심 위치 등록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514600"/>
            <a:ext cx="1417320" cy="960120"/>
          </a:xfrm>
          <a:prstGeom prst="roundRect">
            <a:avLst/>
          </a:prstGeom>
          <a:solidFill>
            <a:srgbClr val="E8F2FF"/>
          </a:solidFill>
          <a:ln w="1524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30" b="1">
                <a:solidFill>
                  <a:srgbClr val="232830"/>
                </a:solidFill>
                <a:latin typeface="맑은 고딕"/>
              </a:rPr>
              <a:t>3순위</a:t>
            </a:r>
          </a:p>
          <a:p>
            <a:pPr algn="ctr"/>
            <a:r>
              <a:rPr sz="830" b="1">
                <a:solidFill>
                  <a:srgbClr val="232830"/>
                </a:solidFill>
                <a:latin typeface="맑은 고딕"/>
              </a:rPr>
              <a:t>조사 중 추가 소리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86600" y="2514600"/>
            <a:ext cx="141732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30" b="1">
                <a:solidFill>
                  <a:srgbClr val="232830"/>
                </a:solidFill>
                <a:latin typeface="맑은 고딕"/>
              </a:rPr>
              <a:t>4순위</a:t>
            </a:r>
          </a:p>
          <a:p>
            <a:pPr algn="ctr"/>
            <a:r>
              <a:rPr sz="830" b="1">
                <a:solidFill>
                  <a:srgbClr val="232830"/>
                </a:solidFill>
                <a:latin typeface="맑은 고딕"/>
              </a:rPr>
              <a:t>추가 단서 없으면 의심도 감소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81160" y="2514600"/>
            <a:ext cx="1417320" cy="960120"/>
          </a:xfrm>
          <a:prstGeom prst="roundRect">
            <a:avLst/>
          </a:prstGeom>
          <a:solidFill>
            <a:srgbClr val="FBFCFE"/>
          </a:solidFill>
          <a:ln w="1524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830" b="1">
                <a:solidFill>
                  <a:srgbClr val="232830"/>
                </a:solidFill>
                <a:latin typeface="맑은 고딕"/>
              </a:rPr>
              <a:t>5순위</a:t>
            </a:r>
          </a:p>
          <a:p>
            <a:pPr algn="ctr"/>
            <a:r>
              <a:rPr sz="830" b="1">
                <a:solidFill>
                  <a:srgbClr val="232830"/>
                </a:solidFill>
                <a:latin typeface="맑은 고딕"/>
              </a:rPr>
              <a:t>순찰/대기 상태로 복귀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51206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투명화 예외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90872"/>
            <a:ext cx="512064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기척 소거제나 투명 장비는 시각 탐지를 낮추지만, 호흡 소음과 발소리는 여전히 청각 단서로 남는다.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343400"/>
            <a:ext cx="493776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50" b="1">
                <a:solidFill>
                  <a:srgbClr val="00437A"/>
                </a:solidFill>
                <a:latin typeface="맑은 고딕"/>
              </a:rPr>
              <a:t>안전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4690872"/>
            <a:ext cx="4937760" cy="82296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50" b="0">
                <a:solidFill>
                  <a:srgbClr val="232830"/>
                </a:solidFill>
                <a:latin typeface="맑은 고딕"/>
              </a:rPr>
              <a:t>호흡 소음은 즉시 위치 확정이 아니라 마지막 소리 위치 조사로 처리한다. 플레이어가 다시 숨을 참으면 추가 단서가 차단되어 복귀 가능하다.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7955279" cy="429768"/>
          </a:xfrm>
          <a:prstGeom prst="rect">
            <a:avLst/>
          </a:prstGeom>
          <a:noFill/>
        </p:spPr>
        <p:txBody>
          <a:bodyPr wrap="square" lIns="18288" tIns="18288" rIns="18288" bIns="18288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232830"/>
                </a:solidFill>
                <a:latin typeface="맑은 고딕"/>
              </a:rPr>
              <a:t>11.2 튜토리얼/진행 보호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841248"/>
            <a:ext cx="950976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100" b="0">
                <a:solidFill>
                  <a:srgbClr val="5D6D7E"/>
                </a:solidFill>
                <a:latin typeface="맑은 고딕"/>
              </a:rPr>
              <a:t>시스템 학습과 게임 진행 가능성을 우선한다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43000"/>
            <a:ext cx="10881360" cy="32004"/>
          </a:xfrm>
          <a:prstGeom prst="rect">
            <a:avLst/>
          </a:prstGeom>
          <a:solidFill>
            <a:srgbClr val="E8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154680" cy="20574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보호 대상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튜토리얼 구간, 첫 강제 호흡 상황, 첫 꽃가루/먼지 구역, 필수 증거 확보 구간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508760"/>
            <a:ext cx="3154680" cy="2057400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9087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보호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처음 등장하는 규칙은 즉시 실패가 아니라 전조·경고·안전한 재시도 공간을 제공한다. 필수 진행 구간은 최소 호흡량 또는 대체 경로를 보장한다.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154680" cy="2057400"/>
          </a:xfrm>
          <a:prstGeom prst="roundRect">
            <a:avLst/>
          </a:prstGeom>
          <a:solidFill>
            <a:srgbClr val="EAF8F0"/>
          </a:solidFill>
          <a:ln w="12700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94192" y="1645919"/>
            <a:ext cx="2825496" cy="256032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해제 조건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2011680"/>
            <a:ext cx="2825496" cy="1463040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050" b="0">
                <a:solidFill>
                  <a:srgbClr val="232830"/>
                </a:solidFill>
                <a:latin typeface="맑은 고딕"/>
              </a:rPr>
              <a:t>플레이어가 해당 규칙을 한 번 이상 안전하게 경험한 뒤 일반 규칙으로 전환한다. 후반 복합 구간에서는 보호를 줄이고 숙련을 요구한다.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4297680"/>
            <a:ext cx="8503920" cy="384048"/>
          </a:xfrm>
          <a:prstGeom prst="roundRect">
            <a:avLst/>
          </a:prstGeom>
          <a:solidFill>
            <a:srgbClr val="B4B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828800" y="4251960"/>
            <a:ext cx="8503920" cy="38404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DCE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10000"/>
              </a:lnSpc>
            </a:pPr>
            <a:r>
              <a:rPr sz="1120" b="1">
                <a:solidFill>
                  <a:srgbClr val="232830"/>
                </a:solidFill>
                <a:latin typeface="맑은 고딕"/>
              </a:rPr>
              <a:t>튜토리얼 보호 ON → 규칙 전조 표시 → 안전 재시도 → 학습 완료 후 일반 규칙 복귀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0241280" cy="512064"/>
          </a:xfrm>
          <a:prstGeom prst="rect">
            <a:avLst/>
          </a:prstGeom>
          <a:noFill/>
        </p:spPr>
        <p:txBody>
          <a:bodyPr wrap="square" lIns="18288" tIns="18288" rIns="18288" bIns="18288">
            <a:normAutofit/>
          </a:bodyPr>
          <a:lstStyle/>
          <a:p>
            <a:pPr>
              <a:lnSpc>
                <a:spcPct val="110000"/>
              </a:lnSpc>
            </a:pPr>
            <a:r>
              <a:rPr sz="1220" b="1">
                <a:solidFill>
                  <a:srgbClr val="00437A"/>
                </a:solidFill>
                <a:latin typeface="맑은 고딕"/>
              </a:rPr>
              <a:t>기획 의도: 호흡 시스템의 긴장감은 유지하되, 플레이어가 규칙을 이해하기 전에 이유 없이 실패하는 상황은 만들지 않는다.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4256</Words>
  <Application>Microsoft Office PowerPoint</Application>
  <PresentationFormat>와이드스크린</PresentationFormat>
  <Paragraphs>681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musukie52@gmail.com</cp:lastModifiedBy>
  <cp:revision>13</cp:revision>
  <dcterms:created xsi:type="dcterms:W3CDTF">2013-01-27T09:14:16Z</dcterms:created>
  <dcterms:modified xsi:type="dcterms:W3CDTF">2026-08-18T02:20:24Z</dcterms:modified>
  <cp:category/>
</cp:coreProperties>
</file>