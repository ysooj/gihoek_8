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5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6" r:id="rId22"/>
    <p:sldId id="278" r:id="rId23"/>
    <p:sldId id="280" r:id="rId24"/>
    <p:sldId id="279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81A7"/>
    <a:srgbClr val="5592CA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-222" y="88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247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89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609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150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367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048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46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331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824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03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176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1F9AF-DBEF-4911-B7CF-B89202A9EE0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38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오리엔테이션 </a:t>
            </a:r>
            <a:r>
              <a:rPr lang="en-US" altLang="ko-KR" smtClean="0"/>
              <a:t>(OT)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b="1" smtClean="0"/>
              <a:t>이번 달 수업 </a:t>
            </a:r>
            <a:r>
              <a:rPr lang="en-US" altLang="ko-KR" b="1" smtClean="0"/>
              <a:t>: [</a:t>
            </a:r>
            <a:r>
              <a:rPr lang="ko-KR" altLang="en-US" b="1" smtClean="0"/>
              <a:t>시스템</a:t>
            </a:r>
            <a:r>
              <a:rPr lang="en-US" altLang="ko-KR" b="1" smtClean="0"/>
              <a:t>]</a:t>
            </a:r>
          </a:p>
          <a:p>
            <a:r>
              <a:rPr lang="en-US" altLang="ko-KR" smtClean="0"/>
              <a:t>‘</a:t>
            </a:r>
            <a:r>
              <a:rPr lang="ko-KR" altLang="en-US" smtClean="0"/>
              <a:t>유기성</a:t>
            </a:r>
            <a:r>
              <a:rPr lang="en-US" altLang="ko-KR" smtClean="0"/>
              <a:t>(</a:t>
            </a:r>
            <a:r>
              <a:rPr lang="ko-KR" altLang="en-US" smtClean="0"/>
              <a:t>관계 형성 </a:t>
            </a:r>
            <a:r>
              <a:rPr lang="en-US" altLang="ko-KR" smtClean="0"/>
              <a:t>– </a:t>
            </a:r>
            <a:r>
              <a:rPr lang="ko-KR" altLang="en-US" smtClean="0"/>
              <a:t>약속</a:t>
            </a:r>
            <a:r>
              <a:rPr lang="en-US" altLang="ko-KR" smtClean="0"/>
              <a:t>)’</a:t>
            </a:r>
            <a:r>
              <a:rPr lang="ko-KR" altLang="en-US" smtClean="0"/>
              <a:t>을 형성하는 것</a:t>
            </a:r>
            <a:endParaRPr lang="en-US" altLang="ko-KR" smtClean="0"/>
          </a:p>
          <a:p>
            <a:r>
              <a:rPr lang="ko-KR" altLang="en-US" smtClean="0"/>
              <a:t>약속을 설계하는 것을 배울 예정</a:t>
            </a:r>
            <a:endParaRPr lang="en-US" altLang="ko-KR" smtClean="0"/>
          </a:p>
          <a:p>
            <a:r>
              <a:rPr lang="ko-KR" altLang="en-US" smtClean="0"/>
              <a:t>약속 </a:t>
            </a:r>
            <a:r>
              <a:rPr lang="en-US" altLang="ko-KR" smtClean="0"/>
              <a:t>= </a:t>
            </a:r>
            <a:r>
              <a:rPr lang="ko-KR" altLang="en-US" smtClean="0"/>
              <a:t>톱니바퀴</a:t>
            </a:r>
            <a:endParaRPr lang="en-US" altLang="ko-KR" smtClean="0"/>
          </a:p>
          <a:p>
            <a:r>
              <a:rPr lang="ko-KR" altLang="en-US" smtClean="0"/>
              <a:t>톱니바퀴가 어떻게 다른 톱니바퀴와 맞물려 돌아가는 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398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포트폴리오에서 필요한 시스템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우리가 만들 게임은 콘텐츠</a:t>
            </a:r>
            <a:r>
              <a:rPr lang="en-US" altLang="ko-KR" smtClean="0"/>
              <a:t>, </a:t>
            </a:r>
            <a:r>
              <a:rPr lang="ko-KR" altLang="en-US" smtClean="0"/>
              <a:t>시스템 등 여러 가지 요소들이 서로 맞물려 돌아갈 것이다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우리가 만들 시스템은 하나다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A</a:t>
            </a:r>
            <a:r>
              <a:rPr lang="ko-KR" altLang="en-US" smtClean="0"/>
              <a:t>라는 시스템을 만들 건데</a:t>
            </a:r>
            <a:endParaRPr lang="en-US" altLang="ko-KR" smtClean="0"/>
          </a:p>
          <a:p>
            <a:r>
              <a:rPr lang="ko-KR" altLang="en-US" smtClean="0"/>
              <a:t>거기에 필요한 </a:t>
            </a:r>
            <a:r>
              <a:rPr lang="en-US" altLang="ko-KR" smtClean="0"/>
              <a:t>B</a:t>
            </a:r>
            <a:r>
              <a:rPr lang="ko-KR" altLang="en-US" smtClean="0"/>
              <a:t>와의 공통 부분</a:t>
            </a:r>
            <a:r>
              <a:rPr lang="en-US" altLang="ko-KR" smtClean="0"/>
              <a:t>, C</a:t>
            </a:r>
            <a:r>
              <a:rPr lang="ko-KR" altLang="en-US" smtClean="0"/>
              <a:t>와의 공통 부분만 필요하다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즉</a:t>
            </a:r>
            <a:r>
              <a:rPr lang="en-US" altLang="ko-KR" smtClean="0"/>
              <a:t>, A</a:t>
            </a:r>
            <a:r>
              <a:rPr lang="ko-KR" altLang="en-US" smtClean="0"/>
              <a:t>와 교집합이 아닌 부분들인 </a:t>
            </a:r>
            <a:r>
              <a:rPr lang="en-US" altLang="ko-KR" smtClean="0"/>
              <a:t>B</a:t>
            </a:r>
            <a:r>
              <a:rPr lang="ko-KR" altLang="en-US" smtClean="0"/>
              <a:t>와 </a:t>
            </a:r>
            <a:r>
              <a:rPr lang="en-US" altLang="ko-KR" smtClean="0"/>
              <a:t>C</a:t>
            </a:r>
            <a:r>
              <a:rPr lang="ko-KR" altLang="en-US" smtClean="0"/>
              <a:t>의 다른 부분들은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 smtClean="0"/>
              <a:t>우리의 취업 포트폴리오에서는 필요하지 않다는 것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0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274" y="258002"/>
            <a:ext cx="5887452" cy="634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8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세키로</a:t>
            </a:r>
            <a:r>
              <a:rPr lang="en-US" altLang="ko-KR" smtClean="0"/>
              <a:t>] – </a:t>
            </a:r>
            <a:r>
              <a:rPr lang="ko-KR" altLang="en-US" smtClean="0"/>
              <a:t>유튜버 강한달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‘</a:t>
            </a:r>
            <a:r>
              <a:rPr lang="ko-KR" altLang="en-US" smtClean="0"/>
              <a:t>암살</a:t>
            </a:r>
            <a:r>
              <a:rPr lang="en-US" altLang="ko-KR" smtClean="0"/>
              <a:t>’</a:t>
            </a:r>
            <a:r>
              <a:rPr lang="ko-KR" altLang="en-US" smtClean="0"/>
              <a:t>이라는 요소를 어떻게 활용하는 지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디텍트</a:t>
            </a:r>
            <a:r>
              <a:rPr lang="en-US" altLang="ko-KR" smtClean="0"/>
              <a:t>(</a:t>
            </a:r>
            <a:r>
              <a:rPr lang="ko-KR" altLang="en-US" smtClean="0"/>
              <a:t>탐색</a:t>
            </a:r>
            <a:r>
              <a:rPr lang="en-US" altLang="ko-KR" smtClean="0"/>
              <a:t>)</a:t>
            </a:r>
            <a:r>
              <a:rPr lang="ko-KR" altLang="en-US" smtClean="0"/>
              <a:t>되지 않은 공중에 있는 상태에서의 암살은 </a:t>
            </a:r>
            <a:r>
              <a:rPr lang="en-US" altLang="ko-KR" smtClean="0"/>
              <a:t>‘</a:t>
            </a:r>
            <a:r>
              <a:rPr lang="ko-KR" altLang="en-US" smtClean="0"/>
              <a:t>공중 암살</a:t>
            </a:r>
            <a:r>
              <a:rPr lang="en-US" altLang="ko-KR" smtClean="0"/>
              <a:t>‘, </a:t>
            </a:r>
            <a:r>
              <a:rPr lang="ko-KR" altLang="en-US" smtClean="0"/>
              <a:t>한 발이라도 땅에 닿은 상태에서 디텍트 안 된 상태에서의 암살은 </a:t>
            </a:r>
            <a:r>
              <a:rPr lang="en-US" altLang="ko-KR" smtClean="0"/>
              <a:t>‘</a:t>
            </a:r>
            <a:r>
              <a:rPr lang="ko-KR" altLang="en-US" smtClean="0"/>
              <a:t>일반 암살</a:t>
            </a:r>
            <a:r>
              <a:rPr lang="en-US" altLang="ko-KR" smtClean="0"/>
              <a:t>‘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122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실내에서는 후킹 기능이 세팅되지 않는다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따라서 실외랑 다르게 </a:t>
            </a:r>
            <a:r>
              <a:rPr lang="en-US" altLang="ko-KR" smtClean="0"/>
              <a:t>‘</a:t>
            </a:r>
            <a:r>
              <a:rPr lang="ko-KR" altLang="en-US" smtClean="0"/>
              <a:t>투척</a:t>
            </a:r>
            <a:r>
              <a:rPr lang="en-US" altLang="ko-KR" smtClean="0"/>
              <a:t>＇</a:t>
            </a:r>
            <a:r>
              <a:rPr lang="ko-KR" altLang="en-US" smtClean="0"/>
              <a:t>으로 암살을 유도한다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265526"/>
            <a:ext cx="4876800" cy="2592474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세키로</a:t>
            </a:r>
            <a:r>
              <a:rPr lang="en-US" altLang="ko-KR" smtClean="0"/>
              <a:t>] – </a:t>
            </a:r>
            <a:r>
              <a:rPr lang="ko-KR" altLang="en-US" smtClean="0"/>
              <a:t>유튜버 강한달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31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mtClean="0"/>
              <a:t>시스템 하나만 잘 설계해도 게임은 성공한다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세키로에서는 </a:t>
            </a:r>
            <a:r>
              <a:rPr lang="en-US" altLang="ko-KR" smtClean="0"/>
              <a:t>‘</a:t>
            </a:r>
            <a:r>
              <a:rPr lang="ko-KR" altLang="en-US" smtClean="0"/>
              <a:t>암살</a:t>
            </a:r>
            <a:r>
              <a:rPr lang="en-US" altLang="ko-KR" smtClean="0"/>
              <a:t>‘</a:t>
            </a:r>
          </a:p>
          <a:p>
            <a:r>
              <a:rPr lang="ko-KR" altLang="en-US" smtClean="0"/>
              <a:t>이게 다른 요소들과 어떻게 맞물리는 지</a:t>
            </a:r>
            <a:endParaRPr lang="en-US" altLang="ko-KR" smtClean="0"/>
          </a:p>
          <a:p>
            <a:endParaRPr lang="en-US" altLang="ko-KR"/>
          </a:p>
          <a:p>
            <a:r>
              <a:rPr lang="en-US" altLang="ko-KR" smtClean="0"/>
              <a:t>‘</a:t>
            </a:r>
            <a:r>
              <a:rPr lang="ko-KR" altLang="en-US" smtClean="0"/>
              <a:t>암살</a:t>
            </a:r>
            <a:r>
              <a:rPr lang="en-US" altLang="ko-KR" smtClean="0"/>
              <a:t>’</a:t>
            </a:r>
            <a:r>
              <a:rPr lang="ko-KR" altLang="en-US"/>
              <a:t> </a:t>
            </a:r>
            <a:r>
              <a:rPr lang="en-US" altLang="ko-KR" smtClean="0"/>
              <a:t>– ‘</a:t>
            </a:r>
            <a:r>
              <a:rPr lang="ko-KR" altLang="en-US" smtClean="0"/>
              <a:t>탐색</a:t>
            </a:r>
            <a:r>
              <a:rPr lang="en-US" altLang="ko-KR" smtClean="0"/>
              <a:t>‘</a:t>
            </a:r>
            <a:r>
              <a:rPr lang="ko-KR" altLang="en-US" smtClean="0"/>
              <a:t>되지 않은 상태 </a:t>
            </a:r>
            <a:r>
              <a:rPr lang="en-US" altLang="ko-KR" smtClean="0"/>
              <a:t>– ‘</a:t>
            </a:r>
            <a:r>
              <a:rPr lang="ko-KR" altLang="en-US" smtClean="0"/>
              <a:t>점프</a:t>
            </a:r>
            <a:r>
              <a:rPr lang="en-US" altLang="ko-KR" smtClean="0"/>
              <a:t>’ – ‘</a:t>
            </a:r>
            <a:r>
              <a:rPr lang="ko-KR" altLang="en-US" smtClean="0"/>
              <a:t>공중 암살</a:t>
            </a:r>
            <a:r>
              <a:rPr lang="en-US" altLang="ko-KR" smtClean="0"/>
              <a:t>(</a:t>
            </a:r>
            <a:r>
              <a:rPr lang="ko-KR" altLang="en-US" smtClean="0"/>
              <a:t>착지 대신으로 사용할 수 있다</a:t>
            </a:r>
            <a:r>
              <a:rPr lang="en-US" altLang="ko-KR" smtClean="0"/>
              <a:t>)‘ – </a:t>
            </a:r>
            <a:r>
              <a:rPr lang="ko-KR" altLang="en-US" smtClean="0"/>
              <a:t>소리</a:t>
            </a:r>
            <a:r>
              <a:rPr lang="en-US" altLang="ko-KR"/>
              <a:t> </a:t>
            </a:r>
            <a:r>
              <a:rPr lang="ko-KR" altLang="en-US" smtClean="0"/>
              <a:t>큼</a:t>
            </a:r>
            <a:r>
              <a:rPr lang="en-US" altLang="ko-KR" smtClean="0"/>
              <a:t> – </a:t>
            </a:r>
            <a:r>
              <a:rPr lang="ko-KR" altLang="en-US" smtClean="0"/>
              <a:t>후킹 </a:t>
            </a:r>
            <a:r>
              <a:rPr lang="en-US" altLang="ko-KR" smtClean="0"/>
              <a:t>– </a:t>
            </a:r>
            <a:r>
              <a:rPr lang="ko-KR" altLang="en-US" smtClean="0"/>
              <a:t>실외 </a:t>
            </a:r>
            <a:r>
              <a:rPr lang="en-US" altLang="ko-KR" smtClean="0"/>
              <a:t>– </a:t>
            </a:r>
            <a:r>
              <a:rPr lang="ko-KR" altLang="en-US" smtClean="0"/>
              <a:t>맵의 레벨</a:t>
            </a:r>
            <a:r>
              <a:rPr lang="en-US" altLang="ko-KR" smtClean="0"/>
              <a:t>(</a:t>
            </a:r>
            <a:r>
              <a:rPr lang="ko-KR" altLang="en-US" smtClean="0"/>
              <a:t>구성</a:t>
            </a:r>
            <a:r>
              <a:rPr lang="en-US" altLang="ko-KR" smtClean="0"/>
              <a:t>) – </a:t>
            </a:r>
            <a:r>
              <a:rPr lang="ko-KR" altLang="en-US" smtClean="0"/>
              <a:t>일반 암살 </a:t>
            </a:r>
            <a:r>
              <a:rPr lang="en-US" altLang="ko-KR" smtClean="0"/>
              <a:t>– </a:t>
            </a:r>
            <a:r>
              <a:rPr lang="ko-KR" altLang="en-US" smtClean="0"/>
              <a:t>소리</a:t>
            </a:r>
            <a:r>
              <a:rPr lang="en-US" altLang="ko-KR"/>
              <a:t> </a:t>
            </a:r>
            <a:r>
              <a:rPr lang="ko-KR" altLang="en-US" smtClean="0"/>
              <a:t>작음</a:t>
            </a:r>
            <a:r>
              <a:rPr lang="en-US" altLang="ko-KR" smtClean="0"/>
              <a:t> – </a:t>
            </a:r>
            <a:r>
              <a:rPr lang="ko-KR" altLang="en-US" smtClean="0"/>
              <a:t>실내 </a:t>
            </a:r>
            <a:r>
              <a:rPr lang="en-US" altLang="ko-KR" smtClean="0"/>
              <a:t>- </a:t>
            </a:r>
            <a:r>
              <a:rPr lang="ko-KR" altLang="en-US" smtClean="0"/>
              <a:t>투척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일반 게임의 점프 </a:t>
            </a:r>
            <a:r>
              <a:rPr lang="en-US" altLang="ko-KR" smtClean="0"/>
              <a:t>3</a:t>
            </a:r>
            <a:r>
              <a:rPr lang="ko-KR" altLang="en-US" smtClean="0"/>
              <a:t>단계 </a:t>
            </a:r>
            <a:r>
              <a:rPr lang="en-US" altLang="ko-KR" smtClean="0"/>
              <a:t>: </a:t>
            </a:r>
            <a:r>
              <a:rPr lang="ko-KR" altLang="en-US" smtClean="0"/>
              <a:t>상승 구간 </a:t>
            </a:r>
            <a:r>
              <a:rPr lang="en-US" altLang="ko-KR" smtClean="0"/>
              <a:t>– </a:t>
            </a:r>
            <a:r>
              <a:rPr lang="ko-KR" altLang="en-US" smtClean="0"/>
              <a:t>가장 높은 곳에서 잠시 머무는 구간 </a:t>
            </a:r>
            <a:r>
              <a:rPr lang="en-US" altLang="ko-KR" smtClean="0"/>
              <a:t>– </a:t>
            </a:r>
            <a:r>
              <a:rPr lang="ko-KR" altLang="en-US" smtClean="0"/>
              <a:t>하강 구간</a:t>
            </a:r>
            <a:endParaRPr lang="en-US" altLang="ko-KR" smtClean="0"/>
          </a:p>
          <a:p>
            <a:r>
              <a:rPr lang="en-US" altLang="ko-KR" smtClean="0"/>
              <a:t>[</a:t>
            </a:r>
            <a:r>
              <a:rPr lang="ko-KR" altLang="en-US" smtClean="0"/>
              <a:t>세키로</a:t>
            </a:r>
            <a:r>
              <a:rPr lang="en-US" altLang="ko-KR" smtClean="0"/>
              <a:t>]</a:t>
            </a:r>
            <a:r>
              <a:rPr lang="ko-KR" altLang="en-US" smtClean="0"/>
              <a:t>의 점프 </a:t>
            </a:r>
            <a:r>
              <a:rPr lang="en-US" altLang="ko-KR" smtClean="0"/>
              <a:t>: + </a:t>
            </a:r>
            <a:r>
              <a:rPr lang="ko-KR" altLang="en-US" smtClean="0"/>
              <a:t>두 발 모두 땅에서 떨어졌는지</a:t>
            </a:r>
            <a:r>
              <a:rPr lang="en-US" altLang="ko-KR" smtClean="0"/>
              <a:t>/</a:t>
            </a:r>
            <a:r>
              <a:rPr lang="ko-KR" altLang="en-US" smtClean="0"/>
              <a:t>한 발이라도 땅에 닿았는 지의 상태도 확인한다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200" smtClean="0"/>
              <a:t>선생님의 분석 </a:t>
            </a:r>
            <a:r>
              <a:rPr lang="en-US" altLang="ko-KR" sz="3200" smtClean="0"/>
              <a:t>: [</a:t>
            </a:r>
            <a:r>
              <a:rPr lang="ko-KR" altLang="en-US" sz="3200" smtClean="0"/>
              <a:t>세키로</a:t>
            </a:r>
            <a:r>
              <a:rPr lang="en-US" altLang="ko-KR" sz="3200" smtClean="0"/>
              <a:t>] – </a:t>
            </a:r>
            <a:r>
              <a:rPr lang="ko-KR" altLang="en-US" sz="3200" smtClean="0"/>
              <a:t>암살 시스템의 구성요소</a:t>
            </a:r>
            <a:endParaRPr lang="ko-KR" altLang="en-US" sz="3200"/>
          </a:p>
        </p:txBody>
      </p:sp>
    </p:spTree>
    <p:extLst>
      <p:ext uri="{BB962C8B-B14F-4D97-AF65-F5344CB8AC3E}">
        <p14:creationId xmlns:p14="http://schemas.microsoft.com/office/powerpoint/2010/main" val="3087127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844330"/>
            <a:ext cx="10515598" cy="516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46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874" y="804707"/>
            <a:ext cx="3971112" cy="460549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61" y="804708"/>
            <a:ext cx="4146937" cy="460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512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809259"/>
            <a:ext cx="10679015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166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2900" y="1825625"/>
            <a:ext cx="11506200" cy="4351338"/>
          </a:xfrm>
        </p:spPr>
        <p:txBody>
          <a:bodyPr/>
          <a:lstStyle/>
          <a:p>
            <a:r>
              <a:rPr lang="ko-KR" altLang="en-US" smtClean="0"/>
              <a:t>이제 </a:t>
            </a:r>
            <a:r>
              <a:rPr lang="en-US" altLang="ko-KR" smtClean="0"/>
              <a:t>‘</a:t>
            </a:r>
            <a:r>
              <a:rPr lang="ko-KR" altLang="en-US" smtClean="0"/>
              <a:t>점프</a:t>
            </a:r>
            <a:r>
              <a:rPr lang="en-US" altLang="ko-KR" smtClean="0"/>
              <a:t>’</a:t>
            </a:r>
            <a:r>
              <a:rPr lang="ko-KR" altLang="en-US" smtClean="0"/>
              <a:t>가 보스 몬스터와 만났을 때</a:t>
            </a:r>
            <a:r>
              <a:rPr lang="en-US" altLang="ko-KR" smtClean="0"/>
              <a:t>, </a:t>
            </a:r>
            <a:r>
              <a:rPr lang="ko-KR" altLang="en-US" smtClean="0"/>
              <a:t>보스의 페이즈 </a:t>
            </a:r>
            <a:r>
              <a:rPr lang="en-US" altLang="ko-KR" smtClean="0"/>
              <a:t>2</a:t>
            </a:r>
            <a:r>
              <a:rPr lang="ko-KR" altLang="en-US" smtClean="0"/>
              <a:t>에서 </a:t>
            </a:r>
            <a:r>
              <a:rPr lang="en-US" altLang="ko-KR" smtClean="0"/>
              <a:t>‘</a:t>
            </a:r>
            <a:r>
              <a:rPr lang="ko-KR" altLang="en-US" smtClean="0"/>
              <a:t>점프</a:t>
            </a:r>
            <a:r>
              <a:rPr lang="en-US" altLang="ko-KR" smtClean="0"/>
              <a:t>’</a:t>
            </a:r>
            <a:r>
              <a:rPr lang="ko-KR" altLang="en-US" smtClean="0"/>
              <a:t>가 어떻게 쓰이는지 보자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뇌반 </a:t>
            </a:r>
            <a:r>
              <a:rPr lang="en-US" altLang="ko-KR" smtClean="0"/>
              <a:t>: </a:t>
            </a:r>
            <a:r>
              <a:rPr lang="ko-KR" altLang="en-US" smtClean="0"/>
              <a:t>점프해서 번개를 맞고 발이 땋에 닿기 전에 보스에게 번개 공격을 다시 되돌려주는 것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발에 땅이 닿으면</a:t>
            </a:r>
            <a:r>
              <a:rPr lang="en-US" altLang="ko-KR" smtClean="0"/>
              <a:t>, </a:t>
            </a:r>
            <a:r>
              <a:rPr lang="ko-KR" altLang="en-US" smtClean="0"/>
              <a:t>번개 데미지는 플레이어에게 들어올 것임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세키로</a:t>
            </a:r>
            <a:r>
              <a:rPr lang="en-US" altLang="ko-KR" smtClean="0"/>
              <a:t>] – </a:t>
            </a:r>
            <a:r>
              <a:rPr lang="ko-KR" altLang="en-US" smtClean="0"/>
              <a:t>유튜버 강한달 </a:t>
            </a:r>
            <a:r>
              <a:rPr lang="en-US" altLang="ko-KR" smtClean="0"/>
              <a:t>- </a:t>
            </a:r>
            <a:r>
              <a:rPr lang="ko-KR" altLang="en-US" smtClean="0"/>
              <a:t>점프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22226"/>
            <a:ext cx="5955548" cy="183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800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전투 시스템에서 특정 스킬에 대한 시스템을 유기적으로 구성한 것</a:t>
            </a:r>
            <a:endParaRPr lang="en-US" altLang="ko-KR" smtClean="0"/>
          </a:p>
          <a:p>
            <a:r>
              <a:rPr lang="ko-KR" altLang="en-US" smtClean="0"/>
              <a:t>이제 상위 콘텐츠에서 응용한 것을 보자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/>
              <a:t>선생님의 </a:t>
            </a:r>
            <a:r>
              <a:rPr lang="ko-KR" altLang="en-US" sz="3600"/>
              <a:t>분석 </a:t>
            </a:r>
            <a:r>
              <a:rPr lang="en-US" altLang="ko-KR" sz="3600" smtClean="0"/>
              <a:t>: [</a:t>
            </a:r>
            <a:r>
              <a:rPr lang="ko-KR" altLang="en-US" sz="3600" smtClean="0"/>
              <a:t>세키로</a:t>
            </a:r>
            <a:r>
              <a:rPr lang="en-US" altLang="ko-KR" sz="3600" smtClean="0"/>
              <a:t>] – </a:t>
            </a:r>
            <a:r>
              <a:rPr lang="ko-KR" altLang="en-US" sz="3600" smtClean="0"/>
              <a:t>유튜버 강한달 </a:t>
            </a:r>
            <a:r>
              <a:rPr lang="en-US" altLang="ko-KR" sz="3600" smtClean="0"/>
              <a:t>- </a:t>
            </a:r>
            <a:r>
              <a:rPr lang="ko-KR" altLang="en-US" sz="3600" smtClean="0"/>
              <a:t>점프</a:t>
            </a:r>
            <a:endParaRPr lang="ko-KR" altLang="en-US" sz="360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05726"/>
            <a:ext cx="4448354" cy="315227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8653" y="3706518"/>
            <a:ext cx="3739045" cy="315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682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2900" y="1825625"/>
            <a:ext cx="11506200" cy="4351338"/>
          </a:xfrm>
        </p:spPr>
        <p:txBody>
          <a:bodyPr/>
          <a:lstStyle/>
          <a:p>
            <a:r>
              <a:rPr lang="en-US" altLang="ko-KR" smtClean="0"/>
              <a:t>‘</a:t>
            </a:r>
            <a:r>
              <a:rPr lang="ko-KR" altLang="en-US" smtClean="0"/>
              <a:t>앵룡</a:t>
            </a:r>
            <a:r>
              <a:rPr lang="en-US" altLang="ko-KR" smtClean="0"/>
              <a:t>’</a:t>
            </a:r>
            <a:r>
              <a:rPr lang="ko-KR" altLang="en-US" smtClean="0"/>
              <a:t>이라는 다음 몬스터를 잡을 때 어떤 공략 패턴으로 대응하는지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뇌반을 대놓고 잘 만든 보스 스테이지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세키로</a:t>
            </a:r>
            <a:r>
              <a:rPr lang="en-US" altLang="ko-KR" smtClean="0"/>
              <a:t>] – </a:t>
            </a:r>
            <a:r>
              <a:rPr lang="ko-KR" altLang="en-US" smtClean="0"/>
              <a:t>유튜버 강한달 </a:t>
            </a:r>
            <a:r>
              <a:rPr lang="en-US" altLang="ko-KR" smtClean="0"/>
              <a:t>– </a:t>
            </a:r>
            <a:r>
              <a:rPr lang="ko-KR" altLang="en-US" smtClean="0"/>
              <a:t>점프 </a:t>
            </a:r>
            <a:r>
              <a:rPr lang="ko-KR" altLang="en-US" b="1" smtClean="0"/>
              <a:t>응용</a:t>
            </a:r>
            <a:endParaRPr lang="ko-KR" altLang="en-US" b="1"/>
          </a:p>
        </p:txBody>
      </p:sp>
      <p:pic>
        <p:nvPicPr>
          <p:cNvPr id="2" name="[세키로] - 앵룡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96000" y="3425568"/>
            <a:ext cx="6096000" cy="343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27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게임에서 </a:t>
            </a:r>
            <a:r>
              <a:rPr lang="en-US" altLang="ko-KR" smtClean="0"/>
              <a:t>‘</a:t>
            </a:r>
            <a:r>
              <a:rPr lang="ko-KR" altLang="en-US" smtClean="0"/>
              <a:t>시스템</a:t>
            </a:r>
            <a:r>
              <a:rPr lang="en-US" altLang="ko-KR" smtClean="0"/>
              <a:t>‘</a:t>
            </a:r>
            <a:r>
              <a:rPr lang="ko-KR" altLang="en-US" smtClean="0"/>
              <a:t>상 중요한 </a:t>
            </a:r>
            <a:r>
              <a:rPr lang="en-US" altLang="ko-KR" smtClean="0"/>
              <a:t>3</a:t>
            </a:r>
            <a:r>
              <a:rPr lang="ko-KR" altLang="en-US" smtClean="0"/>
              <a:t>가지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smtClean="0"/>
              <a:t>Input : </a:t>
            </a:r>
            <a:r>
              <a:rPr lang="ko-KR" altLang="en-US" b="1" smtClean="0"/>
              <a:t>플레이의 작용요소 </a:t>
            </a:r>
            <a:r>
              <a:rPr lang="en-US" altLang="ko-KR" smtClean="0"/>
              <a:t>(</a:t>
            </a:r>
            <a:r>
              <a:rPr lang="ko-KR" altLang="en-US" smtClean="0"/>
              <a:t>조작</a:t>
            </a:r>
            <a:r>
              <a:rPr lang="en-US" altLang="ko-KR" smtClean="0"/>
              <a:t>, </a:t>
            </a:r>
            <a:r>
              <a:rPr lang="ko-KR" altLang="en-US" smtClean="0"/>
              <a:t>선택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화면에 입력하는 이유 </a:t>
            </a:r>
            <a:r>
              <a:rPr lang="en-US" altLang="ko-KR" smtClean="0"/>
              <a:t>: </a:t>
            </a:r>
            <a:r>
              <a:rPr lang="ko-KR" altLang="en-US" b="1" smtClean="0"/>
              <a:t>목적</a:t>
            </a:r>
            <a:r>
              <a:rPr lang="ko-KR" altLang="en-US" smtClean="0"/>
              <a:t>을 달성하기 위해</a:t>
            </a:r>
            <a:endParaRPr lang="en-US" altLang="ko-KR" smtClean="0"/>
          </a:p>
          <a:p>
            <a:pPr lvl="1"/>
            <a:r>
              <a:rPr lang="en-US" altLang="ko-KR" smtClean="0"/>
              <a:t>Npc </a:t>
            </a:r>
            <a:r>
              <a:rPr lang="ko-KR" altLang="en-US" smtClean="0"/>
              <a:t>머리 위의 느낌표</a:t>
            </a:r>
            <a:endParaRPr lang="en-US" altLang="ko-KR"/>
          </a:p>
          <a:p>
            <a:r>
              <a:rPr lang="ko-KR" altLang="en-US" smtClean="0"/>
              <a:t>목적이 쉽게 달성되지 않게 하기 위해 </a:t>
            </a:r>
            <a:r>
              <a:rPr lang="ko-KR" altLang="en-US" b="1" smtClean="0"/>
              <a:t>방해요인</a:t>
            </a:r>
            <a:r>
              <a:rPr lang="ko-KR" altLang="en-US" smtClean="0"/>
              <a:t> </a:t>
            </a:r>
            <a:r>
              <a:rPr lang="en-US" altLang="ko-KR" smtClean="0"/>
              <a:t>(</a:t>
            </a:r>
            <a:r>
              <a:rPr lang="ko-KR" altLang="en-US" smtClean="0"/>
              <a:t>몬스터</a:t>
            </a:r>
            <a:r>
              <a:rPr lang="en-US" altLang="ko-KR" smtClean="0"/>
              <a:t>, </a:t>
            </a:r>
            <a:r>
              <a:rPr lang="ko-KR" altLang="en-US" smtClean="0"/>
              <a:t>퍼즐</a:t>
            </a:r>
            <a:r>
              <a:rPr lang="en-US" altLang="ko-KR" smtClean="0"/>
              <a:t>)</a:t>
            </a:r>
            <a:r>
              <a:rPr lang="ko-KR" altLang="en-US" smtClean="0"/>
              <a:t>이 들어가게 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게임이 너무 쉬우면 플레이어는 더 이상 게임을 플레이하지 않게 됨</a:t>
            </a:r>
            <a:endParaRPr lang="en-US" altLang="ko-KR" smtClean="0"/>
          </a:p>
          <a:p>
            <a:pPr lvl="1"/>
            <a:r>
              <a:rPr lang="ko-KR" altLang="en-US" smtClean="0"/>
              <a:t>모든 게임에는 몬스터든 퍼즐이든 등장한다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 과정에서 학습이 일어나고</a:t>
            </a:r>
            <a:r>
              <a:rPr lang="en-US" altLang="ko-KR" smtClean="0"/>
              <a:t>, </a:t>
            </a:r>
            <a:r>
              <a:rPr lang="ko-KR" altLang="en-US" smtClean="0"/>
              <a:t>게임의 난이도는 올라간다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게임은 </a:t>
            </a:r>
            <a:r>
              <a:rPr lang="en-US" altLang="ko-KR" smtClean="0"/>
              <a:t>‘</a:t>
            </a:r>
            <a:r>
              <a:rPr lang="ko-KR" altLang="en-US" smtClean="0"/>
              <a:t>놀이</a:t>
            </a:r>
            <a:r>
              <a:rPr lang="en-US" altLang="ko-KR" smtClean="0"/>
              <a:t>’</a:t>
            </a:r>
            <a:r>
              <a:rPr lang="ko-KR" altLang="en-US" smtClean="0"/>
              <a:t>이기 때문에</a:t>
            </a:r>
            <a:r>
              <a:rPr lang="en-US" altLang="ko-KR" smtClean="0"/>
              <a:t>, </a:t>
            </a:r>
            <a:r>
              <a:rPr lang="ko-KR" altLang="en-US" smtClean="0"/>
              <a:t>가장 궁극적인 목표는 </a:t>
            </a:r>
            <a:r>
              <a:rPr lang="en-US" altLang="ko-KR" smtClean="0"/>
              <a:t>‘</a:t>
            </a:r>
            <a:r>
              <a:rPr lang="ko-KR" altLang="en-US" smtClean="0"/>
              <a:t>재미</a:t>
            </a:r>
            <a:r>
              <a:rPr lang="en-US" altLang="ko-KR" smtClean="0"/>
              <a:t>‘</a:t>
            </a:r>
            <a:r>
              <a:rPr lang="ko-KR" altLang="en-US" smtClean="0"/>
              <a:t>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136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623" y="636840"/>
            <a:ext cx="4758812" cy="5584320"/>
          </a:xfrm>
          <a:prstGeom prst="rect">
            <a:avLst/>
          </a:prstGeom>
        </p:spPr>
      </p:pic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505327" y="636840"/>
            <a:ext cx="6430296" cy="5540123"/>
          </a:xfrm>
        </p:spPr>
        <p:txBody>
          <a:bodyPr>
            <a:normAutofit/>
          </a:bodyPr>
          <a:lstStyle/>
          <a:p>
            <a:r>
              <a:rPr lang="ko-KR" altLang="en-US" smtClean="0"/>
              <a:t>토끼 다음 여우가 토끼보다 약하거나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여우 다음 곰이 여우보다 약하면</a:t>
            </a:r>
            <a:r>
              <a:rPr lang="en-US" altLang="ko-KR" smtClean="0"/>
              <a:t/>
            </a:r>
            <a:br>
              <a:rPr lang="en-US" altLang="ko-KR" smtClean="0"/>
            </a:br>
            <a:endParaRPr lang="en-US" altLang="ko-KR" smtClean="0"/>
          </a:p>
          <a:p>
            <a:r>
              <a:rPr lang="ko-KR" altLang="en-US" smtClean="0"/>
              <a:t>게임은 재미없어지고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플레이어는 게임을 떠나게 된다</a:t>
            </a:r>
            <a:r>
              <a:rPr lang="en-US" altLang="ko-KR" smtClean="0"/>
              <a:t>.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843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재미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나이</a:t>
            </a:r>
            <a:r>
              <a:rPr lang="en-US" altLang="ko-KR"/>
              <a:t> </a:t>
            </a:r>
            <a:r>
              <a:rPr lang="en-US" altLang="ko-KR" smtClean="0"/>
              <a:t>/ </a:t>
            </a:r>
            <a:r>
              <a:rPr lang="ko-KR" altLang="en-US" smtClean="0"/>
              <a:t>성별 </a:t>
            </a:r>
            <a:r>
              <a:rPr lang="en-US" altLang="ko-KR" smtClean="0"/>
              <a:t>/ </a:t>
            </a:r>
            <a:r>
              <a:rPr lang="ko-KR" altLang="en-US" smtClean="0"/>
              <a:t>국가 </a:t>
            </a:r>
            <a:r>
              <a:rPr lang="en-US" altLang="ko-KR" smtClean="0"/>
              <a:t>/ </a:t>
            </a:r>
            <a:r>
              <a:rPr lang="ko-KR" altLang="en-US" smtClean="0"/>
              <a:t>시대 등에 따라 재미를 느끼는 게 다르다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pPr marL="0" indent="0">
              <a:buNone/>
            </a:pPr>
            <a:r>
              <a:rPr lang="en-US" altLang="ko-KR" smtClean="0"/>
              <a:t>&lt;</a:t>
            </a:r>
            <a:r>
              <a:rPr lang="ko-KR" altLang="en-US" smtClean="0"/>
              <a:t>라프코스터의 재미이론</a:t>
            </a:r>
            <a:r>
              <a:rPr lang="en-US" altLang="ko-KR" smtClean="0"/>
              <a:t>&gt;</a:t>
            </a:r>
          </a:p>
          <a:p>
            <a:r>
              <a:rPr lang="ko-KR" altLang="en-US" smtClean="0"/>
              <a:t>사람은 누구나 게임 화면에서 적절한 시련과 고난을 겪고</a:t>
            </a:r>
            <a:r>
              <a:rPr lang="en-US" altLang="ko-KR" smtClean="0"/>
              <a:t>, </a:t>
            </a:r>
            <a:r>
              <a:rPr lang="ko-KR" altLang="en-US" smtClean="0"/>
              <a:t>실패하면 학습을</a:t>
            </a:r>
            <a:r>
              <a:rPr lang="en-US" altLang="ko-KR" smtClean="0"/>
              <a:t>, </a:t>
            </a:r>
            <a:r>
              <a:rPr lang="ko-KR" altLang="en-US" smtClean="0"/>
              <a:t>학습을 통해 성장해서</a:t>
            </a:r>
            <a:r>
              <a:rPr lang="en-US" altLang="ko-KR" smtClean="0"/>
              <a:t>, </a:t>
            </a:r>
            <a:r>
              <a:rPr lang="ko-KR" altLang="en-US" smtClean="0"/>
              <a:t>시련과 고난을 넘어서면 희열을 느낀다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따라서 난이도는 점점 올라가야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53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학습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조작숙련도</a:t>
            </a:r>
            <a:endParaRPr lang="en-US" altLang="ko-KR" smtClean="0"/>
          </a:p>
          <a:p>
            <a:pPr lvl="1"/>
            <a:r>
              <a:rPr lang="ko-KR" altLang="en-US" smtClean="0"/>
              <a:t>피지컬적인 부분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콘텐츠 이해도</a:t>
            </a:r>
            <a:endParaRPr lang="en-US" altLang="ko-KR" smtClean="0"/>
          </a:p>
          <a:p>
            <a:pPr lvl="1"/>
            <a:r>
              <a:rPr lang="ko-KR" altLang="en-US" smtClean="0"/>
              <a:t>지식적인 부분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endParaRPr lang="en-US" altLang="ko-KR" smtClean="0"/>
          </a:p>
          <a:p>
            <a:r>
              <a:rPr lang="ko-KR" altLang="en-US" smtClean="0"/>
              <a:t>이 </a:t>
            </a:r>
            <a:r>
              <a:rPr lang="en-US" altLang="ko-KR" smtClean="0"/>
              <a:t>2</a:t>
            </a:r>
            <a:r>
              <a:rPr lang="ko-KR" altLang="en-US" smtClean="0"/>
              <a:t>가지가 게임에서 </a:t>
            </a:r>
            <a:r>
              <a:rPr lang="ko-KR" altLang="en-US" b="1" smtClean="0"/>
              <a:t>학습</a:t>
            </a:r>
            <a:r>
              <a:rPr lang="ko-KR" altLang="en-US" smtClean="0"/>
              <a:t>해야 할 요소들</a:t>
            </a:r>
            <a:endParaRPr lang="en-US" altLang="ko-KR" smtClean="0"/>
          </a:p>
          <a:p>
            <a:r>
              <a:rPr lang="ko-KR" altLang="en-US" smtClean="0"/>
              <a:t>이들을 가지고 </a:t>
            </a:r>
            <a:r>
              <a:rPr lang="ko-KR" altLang="en-US" b="1" smtClean="0"/>
              <a:t>난이도</a:t>
            </a:r>
            <a:r>
              <a:rPr lang="ko-KR" altLang="en-US" smtClean="0"/>
              <a:t>를 깨는 것</a:t>
            </a:r>
            <a:endParaRPr lang="en-US" altLang="ko-KR" smtClean="0"/>
          </a:p>
          <a:p>
            <a:r>
              <a:rPr lang="ko-KR" altLang="en-US" smtClean="0"/>
              <a:t>난이도를 깨면</a:t>
            </a:r>
            <a:r>
              <a:rPr lang="en-US" altLang="ko-KR" smtClean="0"/>
              <a:t>, </a:t>
            </a:r>
            <a:r>
              <a:rPr lang="ko-KR" altLang="en-US" b="1" smtClean="0"/>
              <a:t>목적</a:t>
            </a:r>
            <a:r>
              <a:rPr lang="ko-KR" altLang="en-US" smtClean="0"/>
              <a:t>을 달성하는 것이기 때문에 </a:t>
            </a:r>
            <a:r>
              <a:rPr lang="ko-KR" altLang="en-US" b="1" smtClean="0"/>
              <a:t>보상</a:t>
            </a:r>
            <a:r>
              <a:rPr lang="ko-KR" altLang="en-US" smtClean="0"/>
              <a:t>을 </a:t>
            </a:r>
            <a:r>
              <a:rPr lang="ko-KR" altLang="en-US" smtClean="0"/>
              <a:t>줌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366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보상 </a:t>
            </a:r>
            <a:r>
              <a:rPr lang="en-US" altLang="ko-KR" smtClean="0"/>
              <a:t>- </a:t>
            </a:r>
            <a:r>
              <a:rPr lang="ko-KR" altLang="en-US" smtClean="0"/>
              <a:t>플레이의 동기부여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아바타의 내</a:t>
            </a:r>
            <a:r>
              <a:rPr lang="en-US" altLang="ko-KR" smtClean="0"/>
              <a:t>·</a:t>
            </a:r>
            <a:r>
              <a:rPr lang="ko-KR" altLang="en-US" smtClean="0"/>
              <a:t>외적인 성장</a:t>
            </a:r>
            <a:endParaRPr lang="en-US" altLang="ko-KR" smtClean="0"/>
          </a:p>
          <a:p>
            <a:pPr lvl="1"/>
            <a:r>
              <a:rPr lang="en-US" altLang="ko-KR" smtClean="0"/>
              <a:t>[</a:t>
            </a:r>
            <a:r>
              <a:rPr lang="ko-KR" altLang="en-US" smtClean="0"/>
              <a:t>리니지 </a:t>
            </a:r>
            <a:r>
              <a:rPr lang="en-US" altLang="ko-KR" smtClean="0"/>
              <a:t>2]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스토리텔링의 경험</a:t>
            </a:r>
            <a:endParaRPr lang="en-US" altLang="ko-KR" smtClean="0"/>
          </a:p>
          <a:p>
            <a:pPr lvl="1"/>
            <a:r>
              <a:rPr lang="ko-KR" altLang="en-US" smtClean="0"/>
              <a:t>엔딩을 보고 싶게 함으로써 게임을 떠나지 못하게 한다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smtClean="0"/>
              <a:t>[</a:t>
            </a:r>
            <a:r>
              <a:rPr lang="ko-KR" altLang="en-US" smtClean="0"/>
              <a:t>라스트 오브 어스 </a:t>
            </a:r>
            <a:r>
              <a:rPr lang="en-US" altLang="ko-KR" smtClean="0"/>
              <a:t>1]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협동</a:t>
            </a:r>
            <a:r>
              <a:rPr lang="en-US" altLang="ko-KR" smtClean="0"/>
              <a:t>·</a:t>
            </a:r>
            <a:r>
              <a:rPr lang="ko-KR" altLang="en-US" smtClean="0"/>
              <a:t>경쟁의 재미</a:t>
            </a:r>
            <a:endParaRPr lang="en-US" altLang="ko-KR" smtClean="0"/>
          </a:p>
          <a:p>
            <a:pPr lvl="1"/>
            <a:r>
              <a:rPr lang="ko-KR" altLang="en-US" smtClean="0"/>
              <a:t>게임에서는 </a:t>
            </a:r>
            <a:r>
              <a:rPr lang="en-US" altLang="ko-KR" smtClean="0"/>
              <a:t>10</a:t>
            </a:r>
            <a:r>
              <a:rPr lang="ko-KR" altLang="en-US" smtClean="0"/>
              <a:t>명</a:t>
            </a:r>
            <a:r>
              <a:rPr lang="en-US" altLang="ko-KR" smtClean="0"/>
              <a:t>, 20</a:t>
            </a:r>
            <a:r>
              <a:rPr lang="ko-KR" altLang="en-US" smtClean="0"/>
              <a:t>명</a:t>
            </a:r>
            <a:r>
              <a:rPr lang="en-US" altLang="ko-KR" smtClean="0"/>
              <a:t>, </a:t>
            </a:r>
            <a:r>
              <a:rPr lang="ko-KR" altLang="en-US" smtClean="0"/>
              <a:t>수백명이 모여서 콘텐츠를 소모한다</a:t>
            </a:r>
            <a:r>
              <a:rPr lang="en-US" altLang="ko-KR" smtClean="0"/>
              <a:t>.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킬러 콘텐츠</a:t>
            </a:r>
            <a:endParaRPr lang="en-US" altLang="ko-KR" smtClean="0"/>
          </a:p>
          <a:p>
            <a:pPr lvl="1"/>
            <a:r>
              <a:rPr lang="ko-KR" altLang="en-US" smtClean="0"/>
              <a:t>그 게임만이 가지는</a:t>
            </a:r>
            <a:r>
              <a:rPr lang="en-US" altLang="ko-KR" smtClean="0"/>
              <a:t>, </a:t>
            </a:r>
            <a:r>
              <a:rPr lang="ko-KR" altLang="en-US" smtClean="0"/>
              <a:t>그 게임만의 재미있는 콘텐츠</a:t>
            </a:r>
            <a:endParaRPr lang="en-US" altLang="ko-KR" smtClean="0"/>
          </a:p>
          <a:p>
            <a:pPr lvl="1"/>
            <a:r>
              <a:rPr lang="en-US" altLang="ko-KR" smtClean="0"/>
              <a:t>[</a:t>
            </a:r>
            <a:r>
              <a:rPr lang="ko-KR" altLang="en-US" smtClean="0"/>
              <a:t>포켓몬고</a:t>
            </a:r>
            <a:r>
              <a:rPr lang="en-US" altLang="ko-KR" smtClean="0"/>
              <a:t>], [</a:t>
            </a:r>
            <a:r>
              <a:rPr lang="ko-KR" altLang="en-US" smtClean="0"/>
              <a:t>원신</a:t>
            </a:r>
            <a:r>
              <a:rPr lang="en-US" altLang="ko-KR" smtClean="0"/>
              <a:t>], [</a:t>
            </a:r>
            <a:r>
              <a:rPr lang="ko-KR" altLang="en-US" smtClean="0"/>
              <a:t>니케</a:t>
            </a:r>
            <a:r>
              <a:rPr lang="en-US" altLang="ko-KR" smtClean="0"/>
              <a:t>] </a:t>
            </a:r>
            <a:r>
              <a:rPr lang="ko-KR" altLang="en-US" smtClean="0"/>
              <a:t>등 각각의 게임을 하는 이유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 </a:t>
            </a:r>
            <a:r>
              <a:rPr lang="en-US" altLang="ko-KR" smtClean="0"/>
              <a:t>: (</a:t>
            </a:r>
            <a:r>
              <a:rPr lang="ko-KR" altLang="en-US" smtClean="0"/>
              <a:t>캐릭터</a:t>
            </a:r>
            <a:r>
              <a:rPr lang="en-US" altLang="ko-KR" smtClean="0"/>
              <a:t>, </a:t>
            </a:r>
            <a:r>
              <a:rPr lang="ko-KR" altLang="en-US" smtClean="0"/>
              <a:t>스킨</a:t>
            </a:r>
            <a:r>
              <a:rPr lang="en-US" altLang="ko-KR" smtClean="0"/>
              <a:t>, </a:t>
            </a:r>
            <a:r>
              <a:rPr lang="ko-KR" altLang="en-US" smtClean="0"/>
              <a:t>오브젝트 등을</a:t>
            </a:r>
            <a:r>
              <a:rPr lang="en-US" altLang="ko-KR" smtClean="0"/>
              <a:t>)</a:t>
            </a:r>
            <a:r>
              <a:rPr lang="ko-KR" altLang="en-US" smtClean="0"/>
              <a:t> 수집</a:t>
            </a:r>
            <a:r>
              <a:rPr lang="en-US" altLang="ko-KR" smtClean="0"/>
              <a:t>, </a:t>
            </a:r>
            <a:r>
              <a:rPr lang="ko-KR" altLang="en-US" smtClean="0"/>
              <a:t>관계 형성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20220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7" y="251342"/>
            <a:ext cx="11779046" cy="635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6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게임 플레이의 메커니즘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Main play</a:t>
            </a:r>
          </a:p>
          <a:p>
            <a:endParaRPr lang="en-US" altLang="ko-KR"/>
          </a:p>
          <a:p>
            <a:r>
              <a:rPr lang="ko-KR" altLang="en-US" smtClean="0"/>
              <a:t>시스템의 세부적인 요소들은 각각의 약속이 필요할 것이고</a:t>
            </a:r>
            <a:endParaRPr lang="en-US" altLang="ko-KR" smtClean="0"/>
          </a:p>
          <a:p>
            <a:r>
              <a:rPr lang="ko-KR" altLang="en-US" smtClean="0"/>
              <a:t>우리는 시스템의 약속들을 설계해야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988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58" y="368434"/>
            <a:ext cx="11425084" cy="612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시스템 볼륨 맵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복잡한 게임이면 </a:t>
            </a:r>
            <a:r>
              <a:rPr lang="en-US" altLang="ko-KR" smtClean="0"/>
              <a:t>3step</a:t>
            </a:r>
            <a:r>
              <a:rPr lang="ko-KR" altLang="en-US" smtClean="0"/>
              <a:t>까지 가겠지만</a:t>
            </a:r>
            <a:endParaRPr lang="en-US" altLang="ko-KR" smtClean="0"/>
          </a:p>
          <a:p>
            <a:r>
              <a:rPr lang="ko-KR" altLang="en-US" smtClean="0"/>
              <a:t>대부분의 게임은 </a:t>
            </a:r>
            <a:r>
              <a:rPr lang="en-US" altLang="ko-KR" smtClean="0"/>
              <a:t>1step, 2step</a:t>
            </a:r>
            <a:r>
              <a:rPr lang="ko-KR" altLang="en-US" smtClean="0"/>
              <a:t>까지만 가면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우리는 </a:t>
            </a:r>
            <a:r>
              <a:rPr lang="en-US" altLang="ko-KR" smtClean="0"/>
              <a:t>A</a:t>
            </a:r>
            <a:r>
              <a:rPr lang="ko-KR" altLang="en-US" smtClean="0"/>
              <a:t>라는 시스템을 만들기 위해서 필요한 주변 요소들을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2</a:t>
            </a:r>
            <a:r>
              <a:rPr lang="ko-KR" altLang="en-US" smtClean="0"/>
              <a:t>가지 </a:t>
            </a:r>
            <a:r>
              <a:rPr lang="en-US" altLang="ko-KR" smtClean="0"/>
              <a:t>step </a:t>
            </a:r>
            <a:r>
              <a:rPr lang="ko-KR" altLang="en-US" smtClean="0"/>
              <a:t>정도로 구성하면 된다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4414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 게임의 시스템 볼륨 맵</a:t>
            </a:r>
            <a:endParaRPr lang="ko-KR" altLang="en-US"/>
          </a:p>
        </p:txBody>
      </p:sp>
      <p:sp>
        <p:nvSpPr>
          <p:cNvPr id="4" name="타원 3"/>
          <p:cNvSpPr/>
          <p:nvPr/>
        </p:nvSpPr>
        <p:spPr>
          <a:xfrm>
            <a:off x="5998171" y="2841440"/>
            <a:ext cx="1645920" cy="1645920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선의</a:t>
            </a:r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4721587" y="2387816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자아마모도</a:t>
            </a:r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4820787" y="3889612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인연</a:t>
            </a:r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7612721" y="3847555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전투</a:t>
            </a:r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3505921" y="1749524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결말</a:t>
            </a:r>
            <a:r>
              <a:rPr lang="en-US" altLang="ko-KR" smtClean="0"/>
              <a:t>C</a:t>
            </a:r>
            <a:endParaRPr lang="ko-KR" altLang="en-US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668667" cy="4351338"/>
          </a:xfrm>
        </p:spPr>
        <p:txBody>
          <a:bodyPr/>
          <a:lstStyle/>
          <a:p>
            <a:r>
              <a:rPr lang="ko-KR" altLang="en-US" smtClean="0"/>
              <a:t>액션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스토리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상태</a:t>
            </a:r>
            <a:endParaRPr lang="en-US" altLang="ko-KR" smtClean="0"/>
          </a:p>
        </p:txBody>
      </p:sp>
      <p:sp>
        <p:nvSpPr>
          <p:cNvPr id="10" name="타원 9"/>
          <p:cNvSpPr/>
          <p:nvPr/>
        </p:nvSpPr>
        <p:spPr>
          <a:xfrm>
            <a:off x="2046779" y="1825625"/>
            <a:ext cx="431218" cy="431218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2027503" y="3857255"/>
            <a:ext cx="431218" cy="4312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2397761" y="2841440"/>
            <a:ext cx="431218" cy="431218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5504396" y="5125652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결말</a:t>
            </a:r>
            <a:r>
              <a:rPr lang="en-US" altLang="ko-KR" smtClean="0"/>
              <a:t>B</a:t>
            </a:r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7058227" y="5124139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진실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79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 게임의 시스템 볼륨 맵</a:t>
            </a:r>
            <a:endParaRPr lang="ko-KR" altLang="en-US"/>
          </a:p>
        </p:txBody>
      </p:sp>
      <p:sp>
        <p:nvSpPr>
          <p:cNvPr id="4" name="타원 3"/>
          <p:cNvSpPr/>
          <p:nvPr/>
        </p:nvSpPr>
        <p:spPr>
          <a:xfrm>
            <a:off x="5998171" y="2841440"/>
            <a:ext cx="1645920" cy="164592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선택지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타원 4"/>
          <p:cNvSpPr/>
          <p:nvPr/>
        </p:nvSpPr>
        <p:spPr>
          <a:xfrm>
            <a:off x="4721587" y="2387816"/>
            <a:ext cx="1276584" cy="1276584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자아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마모도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4820787" y="3889612"/>
            <a:ext cx="1276584" cy="1276584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인연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7612721" y="3847555"/>
            <a:ext cx="1276584" cy="1276584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전투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5504396" y="1228509"/>
            <a:ext cx="1276584" cy="1276584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결말</a:t>
            </a:r>
            <a:r>
              <a:rPr lang="en-US" altLang="ko-KR" smtClean="0">
                <a:solidFill>
                  <a:schemeClr val="tx1"/>
                </a:solidFill>
              </a:rPr>
              <a:t>C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668667" cy="4351338"/>
          </a:xfrm>
        </p:spPr>
        <p:txBody>
          <a:bodyPr/>
          <a:lstStyle/>
          <a:p>
            <a:r>
              <a:rPr lang="ko-KR" altLang="en-US" smtClean="0"/>
              <a:t>액션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스토리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상태</a:t>
            </a:r>
            <a:endParaRPr lang="en-US" altLang="ko-KR" smtClean="0"/>
          </a:p>
        </p:txBody>
      </p:sp>
      <p:sp>
        <p:nvSpPr>
          <p:cNvPr id="10" name="타원 9"/>
          <p:cNvSpPr/>
          <p:nvPr/>
        </p:nvSpPr>
        <p:spPr>
          <a:xfrm>
            <a:off x="2046779" y="1825625"/>
            <a:ext cx="431218" cy="431218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2027503" y="3857255"/>
            <a:ext cx="431218" cy="4312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2397761" y="2841440"/>
            <a:ext cx="431218" cy="431218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5504396" y="5125652"/>
            <a:ext cx="1276584" cy="1276584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결말</a:t>
            </a:r>
            <a:r>
              <a:rPr lang="en-US" altLang="ko-KR" smtClean="0">
                <a:solidFill>
                  <a:schemeClr val="tx1"/>
                </a:solidFill>
              </a:rPr>
              <a:t>B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7058227" y="5124139"/>
            <a:ext cx="1276584" cy="1276584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진실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1851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 게임의 시스템 볼륨 맵</a:t>
            </a:r>
            <a:endParaRPr lang="ko-KR" altLang="en-US"/>
          </a:p>
        </p:txBody>
      </p:sp>
      <p:sp>
        <p:nvSpPr>
          <p:cNvPr id="4" name="타원 3"/>
          <p:cNvSpPr/>
          <p:nvPr/>
        </p:nvSpPr>
        <p:spPr>
          <a:xfrm>
            <a:off x="5998171" y="2738362"/>
            <a:ext cx="1645920" cy="1645920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맨몸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타원 4"/>
          <p:cNvSpPr/>
          <p:nvPr/>
        </p:nvSpPr>
        <p:spPr>
          <a:xfrm>
            <a:off x="4336076" y="1461778"/>
            <a:ext cx="1276584" cy="1276584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공명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4673441" y="2774195"/>
            <a:ext cx="1276584" cy="1276584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무기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8525681" y="3057049"/>
            <a:ext cx="1276584" cy="1276584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전투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7518053" y="2135903"/>
            <a:ext cx="1276584" cy="1276584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몬스터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668667" cy="4351338"/>
          </a:xfrm>
        </p:spPr>
        <p:txBody>
          <a:bodyPr/>
          <a:lstStyle/>
          <a:p>
            <a:r>
              <a:rPr lang="ko-KR" altLang="en-US" smtClean="0"/>
              <a:t>액션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스토리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상태</a:t>
            </a:r>
            <a:endParaRPr lang="en-US" altLang="ko-KR" smtClean="0"/>
          </a:p>
        </p:txBody>
      </p:sp>
      <p:sp>
        <p:nvSpPr>
          <p:cNvPr id="10" name="타원 9"/>
          <p:cNvSpPr/>
          <p:nvPr/>
        </p:nvSpPr>
        <p:spPr>
          <a:xfrm>
            <a:off x="2046779" y="1825625"/>
            <a:ext cx="431218" cy="431218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2027503" y="3857255"/>
            <a:ext cx="431218" cy="4312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2397761" y="2841440"/>
            <a:ext cx="431218" cy="431218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3953992" y="3900363"/>
            <a:ext cx="1276584" cy="1276584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일반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5736429" y="1402942"/>
            <a:ext cx="1276584" cy="1276584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난이도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↓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5315490" y="4288473"/>
            <a:ext cx="1276584" cy="1276584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난이도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↑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004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714</Words>
  <Application>Microsoft Office PowerPoint</Application>
  <PresentationFormat>와이드스크린</PresentationFormat>
  <Paragraphs>133</Paragraphs>
  <Slides>24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오리엔테이션 (OT)</vt:lpstr>
      <vt:lpstr>포트폴리오에서 필요한 시스템</vt:lpstr>
      <vt:lpstr>PowerPoint 프레젠테이션</vt:lpstr>
      <vt:lpstr>[세키로] – 유튜버 강한달</vt:lpstr>
      <vt:lpstr>[세키로] – 유튜버 강한달</vt:lpstr>
      <vt:lpstr>선생님의 분석 : [세키로] – 암살 시스템의 구성요소</vt:lpstr>
      <vt:lpstr>PowerPoint 프레젠테이션</vt:lpstr>
      <vt:lpstr>PowerPoint 프레젠테이션</vt:lpstr>
      <vt:lpstr>PowerPoint 프레젠테이션</vt:lpstr>
      <vt:lpstr>[세키로] – 유튜버 강한달 - 점프</vt:lpstr>
      <vt:lpstr>선생님의 분석 : [세키로] – 유튜버 강한달 - 점프</vt:lpstr>
      <vt:lpstr>[세키로] – 유튜버 강한달 – 점프 응용</vt:lpstr>
      <vt:lpstr>게임에서 ‘시스템‘상 중요한 3가지</vt:lpstr>
      <vt:lpstr>PowerPoint 프레젠테이션</vt:lpstr>
      <vt:lpstr>재미</vt:lpstr>
      <vt:lpstr>학습</vt:lpstr>
      <vt:lpstr>보상 - 플레이의 동기부여</vt:lpstr>
      <vt:lpstr>PowerPoint 프레젠테이션</vt:lpstr>
      <vt:lpstr>게임 플레이의 메커니즘</vt:lpstr>
      <vt:lpstr>PowerPoint 프레젠테이션</vt:lpstr>
      <vt:lpstr>시스템 볼륨 맵</vt:lpstr>
      <vt:lpstr>내 게임의 시스템 볼륨 맵</vt:lpstr>
      <vt:lpstr>내 게임의 시스템 볼륨 맵</vt:lpstr>
      <vt:lpstr>내 게임의 시스템 볼륨 맵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12</cp:revision>
  <dcterms:created xsi:type="dcterms:W3CDTF">2026-08-12T04:46:18Z</dcterms:created>
  <dcterms:modified xsi:type="dcterms:W3CDTF">2026-08-12T06:49:55Z</dcterms:modified>
</cp:coreProperties>
</file>