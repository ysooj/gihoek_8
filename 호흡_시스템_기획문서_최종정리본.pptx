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DD9CA"/>
    <a:srgbClr val="D9F5F1"/>
    <a:srgbClr val="FFD757"/>
    <a:srgbClr val="FFF2C7"/>
    <a:srgbClr val="FF7C33"/>
    <a:srgbClr val="FFE3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78" y="1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997447E4-8E91-4C7D-B8C1-74E5006D1D8B}"/>
              </a:ext>
            </a:extLst>
          </p:cNvPr>
          <p:cNvSpPr>
            <a:spLocks noGrp="1"/>
          </p:cNvSpPr>
          <p:nvPr/>
        </p:nvSpPr>
        <p:spPr>
          <a:xfrm>
            <a:off x="-1" y="0"/>
            <a:ext cx="6096001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0E7B41D-65DF-4522-8A2C-6C77777D119D}"/>
              </a:ext>
            </a:extLst>
          </p:cNvPr>
          <p:cNvSpPr>
            <a:spLocks noGrp="1"/>
          </p:cNvSpPr>
          <p:nvPr/>
        </p:nvSpPr>
        <p:spPr>
          <a:xfrm>
            <a:off x="1523999" y="2043520"/>
            <a:ext cx="30480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2000" b="1">
                <a:solidFill>
                  <a:srgbClr val="FFFFFF"/>
                </a:solidFill>
              </a:defRPr>
            </a:pPr>
            <a:r>
              <a:rPr sz="2000" b="1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호흡</a:t>
            </a:r>
            <a:r>
              <a:rPr sz="20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시스템</a:t>
            </a:r>
            <a:r>
              <a:rPr lang="en-US" sz="20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기획</a:t>
            </a:r>
            <a:r>
              <a:rPr sz="20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</a:t>
            </a:r>
            <a:endParaRPr sz="2000" b="1" dirty="0">
              <a:solidFill>
                <a:srgbClr val="FFFFFF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1A777D3-6932-4F50-BBB5-842735D1C17E}"/>
              </a:ext>
            </a:extLst>
          </p:cNvPr>
          <p:cNvSpPr>
            <a:spLocks noGrp="1"/>
          </p:cNvSpPr>
          <p:nvPr/>
        </p:nvSpPr>
        <p:spPr>
          <a:xfrm>
            <a:off x="1523999" y="4040323"/>
            <a:ext cx="304800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50000"/>
              </a:lnSpc>
              <a:defRPr sz="1000" b="0">
                <a:solidFill>
                  <a:srgbClr val="D6E8F2"/>
                </a:solidFill>
              </a:defRPr>
            </a:pPr>
            <a:r>
              <a:rPr sz="1000" b="0" dirty="0" err="1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들이마시기</a:t>
            </a:r>
            <a:r>
              <a:rPr sz="1000" b="0" dirty="0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 · 숨 </a:t>
            </a:r>
            <a:r>
              <a:rPr sz="1000" b="0" dirty="0" err="1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참기</a:t>
            </a:r>
            <a:r>
              <a:rPr sz="1000" b="0" dirty="0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0" dirty="0" err="1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내쉬기를</a:t>
            </a:r>
            <a:r>
              <a:rPr sz="1000" b="0" dirty="0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직접</a:t>
            </a:r>
            <a:r>
              <a:rPr sz="1000" b="0" dirty="0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조절해</a:t>
            </a:r>
            <a:endParaRPr sz="1000" b="0" dirty="0">
              <a:solidFill>
                <a:srgbClr val="D6E8F2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lnSpc>
                <a:spcPct val="150000"/>
              </a:lnSpc>
              <a:defRPr sz="1000" b="0">
                <a:solidFill>
                  <a:srgbClr val="D6E8F2"/>
                </a:solidFill>
              </a:defRPr>
            </a:pPr>
            <a:r>
              <a:rPr sz="1000" b="0" dirty="0" err="1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이동</a:t>
            </a:r>
            <a:r>
              <a:rPr sz="1000" b="0" dirty="0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은신</a:t>
            </a:r>
            <a:r>
              <a:rPr sz="1000" b="0" dirty="0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소음</a:t>
            </a:r>
            <a:r>
              <a:rPr sz="1000" b="0" dirty="0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000" b="0" dirty="0" err="1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환경</a:t>
            </a:r>
            <a:r>
              <a:rPr sz="1000" b="0" dirty="0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대응을</a:t>
            </a:r>
            <a:r>
              <a:rPr sz="1000" b="0" dirty="0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연결하는</a:t>
            </a:r>
            <a:r>
              <a:rPr sz="1000" b="0" dirty="0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핵심</a:t>
            </a:r>
            <a:r>
              <a:rPr sz="1000" b="0" dirty="0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D6E8F2"/>
                </a:solidFill>
                <a:latin typeface="맑은 고딕"/>
                <a:ea typeface="맑은 고딕"/>
                <a:cs typeface="맑은 고딕"/>
              </a:rPr>
              <a:t>시스템</a:t>
            </a:r>
            <a:endParaRPr sz="1000" b="0" dirty="0">
              <a:solidFill>
                <a:srgbClr val="D6E8F2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43C8938-04FC-4CB8-8D97-E5DFA00EA410}"/>
              </a:ext>
            </a:extLst>
          </p:cNvPr>
          <p:cNvSpPr>
            <a:spLocks noGrp="1"/>
          </p:cNvSpPr>
          <p:nvPr/>
        </p:nvSpPr>
        <p:spPr>
          <a:xfrm>
            <a:off x="994609" y="5195480"/>
            <a:ext cx="4106780" cy="514350"/>
          </a:xfrm>
          <a:prstGeom prst="roundRect">
            <a:avLst>
              <a:gd name="adj" fmla="val 14815"/>
            </a:avLst>
          </a:prstGeom>
          <a:solidFill>
            <a:srgbClr val="0B4A70"/>
          </a:solidFill>
          <a:ln w="9525">
            <a:solidFill>
              <a:srgbClr val="0B4A70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호흡을 조절해</a:t>
            </a:r>
            <a:r>
              <a:rPr lang="en-US" altLang="ko-KR" sz="10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sz="1000" b="1" dirty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위험 속에서 길을 만들어라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2332F0C-5B8B-494B-8361-AF12D5BC4EB6}"/>
              </a:ext>
            </a:extLst>
          </p:cNvPr>
          <p:cNvSpPr>
            <a:spLocks noGrp="1"/>
          </p:cNvSpPr>
          <p:nvPr/>
        </p:nvSpPr>
        <p:spPr>
          <a:xfrm>
            <a:off x="9429750" y="6324600"/>
            <a:ext cx="2000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작성자  윤수진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AE32F7F7-7D35-4512-841E-FB1683574C35}"/>
              </a:ext>
            </a:extLst>
          </p:cNvPr>
          <p:cNvSpPr>
            <a:spLocks noGrp="1"/>
          </p:cNvSpPr>
          <p:nvPr/>
        </p:nvSpPr>
        <p:spPr>
          <a:xfrm>
            <a:off x="7142747" y="1314450"/>
            <a:ext cx="4000500" cy="323850"/>
          </a:xfrm>
          <a:prstGeom prst="roundRect">
            <a:avLst>
              <a:gd name="adj" fmla="val 14706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D11F447-ADAE-4A77-8ABA-3D6AA7C10C19}"/>
              </a:ext>
            </a:extLst>
          </p:cNvPr>
          <p:cNvSpPr>
            <a:spLocks noGrp="1"/>
          </p:cNvSpPr>
          <p:nvPr/>
        </p:nvSpPr>
        <p:spPr>
          <a:xfrm>
            <a:off x="7209422" y="1314450"/>
            <a:ext cx="3867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수정 이력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97A96F3-F878-432B-8D5F-AD731093354A}"/>
              </a:ext>
            </a:extLst>
          </p:cNvPr>
          <p:cNvSpPr>
            <a:spLocks noGrp="1"/>
          </p:cNvSpPr>
          <p:nvPr/>
        </p:nvSpPr>
        <p:spPr>
          <a:xfrm>
            <a:off x="7142747" y="175260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54B1CBE-57F2-4894-913E-39C2D88A02AE}"/>
              </a:ext>
            </a:extLst>
          </p:cNvPr>
          <p:cNvSpPr>
            <a:spLocks noGrp="1"/>
          </p:cNvSpPr>
          <p:nvPr/>
        </p:nvSpPr>
        <p:spPr>
          <a:xfrm>
            <a:off x="7257047" y="180022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2026.08.24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B92D9DFD-4FBB-4DC9-9530-8FCB23675D0D}"/>
              </a:ext>
            </a:extLst>
          </p:cNvPr>
          <p:cNvSpPr>
            <a:spLocks noGrp="1"/>
          </p:cNvSpPr>
          <p:nvPr/>
        </p:nvSpPr>
        <p:spPr>
          <a:xfrm>
            <a:off x="8323847" y="180022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47쪽 원본을 11쪽 핵심 문서로 재구성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3DAB228-973F-4C3A-8518-09AEBB6947BE}"/>
              </a:ext>
            </a:extLst>
          </p:cNvPr>
          <p:cNvSpPr>
            <a:spLocks noGrp="1"/>
          </p:cNvSpPr>
          <p:nvPr/>
        </p:nvSpPr>
        <p:spPr>
          <a:xfrm>
            <a:off x="7142747" y="234315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740FDC81-25BB-4EF8-A268-A3D338ECB19F}"/>
              </a:ext>
            </a:extLst>
          </p:cNvPr>
          <p:cNvSpPr>
            <a:spLocks noGrp="1"/>
          </p:cNvSpPr>
          <p:nvPr/>
        </p:nvSpPr>
        <p:spPr>
          <a:xfrm>
            <a:off x="7257047" y="239077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2026.08.24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EF95B12-99CD-43B8-9092-2ED1C70D6344}"/>
              </a:ext>
            </a:extLst>
          </p:cNvPr>
          <p:cNvSpPr>
            <a:spLocks noGrp="1"/>
          </p:cNvSpPr>
          <p:nvPr/>
        </p:nvSpPr>
        <p:spPr>
          <a:xfrm>
            <a:off x="8323847" y="239077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참고 자료의 게이지·속성·UI 피드백 추가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EAED878-32CD-4C6C-91F7-10989830DB62}"/>
              </a:ext>
            </a:extLst>
          </p:cNvPr>
          <p:cNvSpPr>
            <a:spLocks noGrp="1"/>
          </p:cNvSpPr>
          <p:nvPr/>
        </p:nvSpPr>
        <p:spPr>
          <a:xfrm>
            <a:off x="7142747" y="2933700"/>
            <a:ext cx="400050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404C84D-8F7E-4CD9-B097-C6A65811C65B}"/>
              </a:ext>
            </a:extLst>
          </p:cNvPr>
          <p:cNvSpPr>
            <a:spLocks noGrp="1"/>
          </p:cNvSpPr>
          <p:nvPr/>
        </p:nvSpPr>
        <p:spPr>
          <a:xfrm>
            <a:off x="7257047" y="2981325"/>
            <a:ext cx="95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2026.08.24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DF22705-D450-43F2-A6E0-5167828672D3}"/>
              </a:ext>
            </a:extLst>
          </p:cNvPr>
          <p:cNvSpPr>
            <a:spLocks noGrp="1"/>
          </p:cNvSpPr>
          <p:nvPr/>
        </p:nvSpPr>
        <p:spPr>
          <a:xfrm>
            <a:off x="8323847" y="2981325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핵심 순환·소음/AI·통합 플로우 도식 복원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0A9ED70-006F-41D9-BE4C-3AFAE5D5A842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80D9D1"/>
                </a:solidFill>
              </a:defRPr>
            </a:pPr>
            <a:r>
              <a:rPr sz="1000" b="1" dirty="0">
                <a:solidFill>
                  <a:srgbClr val="80D9D1"/>
                </a:solidFill>
                <a:latin typeface="맑은 고딕"/>
                <a:ea typeface="맑은 고딕"/>
                <a:cs typeface="맑은 고딕"/>
              </a:rPr>
              <a:t>SYSTEM DESIGN DOCUMENT</a:t>
            </a:r>
          </a:p>
        </p:txBody>
      </p:sp>
    </p:spTree>
    <p:extLst>
      <p:ext uri="{BB962C8B-B14F-4D97-AF65-F5344CB8AC3E}">
        <p14:creationId xmlns:p14="http://schemas.microsoft.com/office/powerpoint/2010/main" val="1635155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직사각형 38">
            <a:extLst>
              <a:ext uri="{FF2B5EF4-FFF2-40B4-BE49-F238E27FC236}">
                <a16:creationId xmlns:a16="http://schemas.microsoft.com/office/drawing/2014/main" id="{7CF81AC9-977E-4585-911B-99F56406CC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DF34D66-170F-4B19-A015-0BEF4103D84C}"/>
              </a:ext>
            </a:extLst>
          </p:cNvPr>
          <p:cNvSpPr>
            <a:spLocks noGrp="1"/>
          </p:cNvSpPr>
          <p:nvPr/>
        </p:nvSpPr>
        <p:spPr>
          <a:xfrm>
            <a:off x="457200" y="23812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DOCUMENT MAP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0ABD68-21A3-4937-8D1B-BEE4E507701F}"/>
              </a:ext>
            </a:extLst>
          </p:cNvPr>
          <p:cNvSpPr>
            <a:spLocks noGrp="1"/>
          </p:cNvSpPr>
          <p:nvPr/>
        </p:nvSpPr>
        <p:spPr>
          <a:xfrm>
            <a:off x="457200" y="476250"/>
            <a:ext cx="1028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2000" b="1">
                <a:solidFill>
                  <a:srgbClr val="073B5C"/>
                </a:solidFill>
              </a:defRPr>
            </a:pPr>
            <a:r>
              <a:rPr sz="2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FF3A480F-EFF0-4A75-BE7A-417D165F0847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4021CB4-A95A-4A3F-9A15-2D733424D9A7}"/>
              </a:ext>
            </a:extLst>
          </p:cNvPr>
          <p:cNvSpPr>
            <a:spLocks noGrp="1"/>
          </p:cNvSpPr>
          <p:nvPr/>
        </p:nvSpPr>
        <p:spPr>
          <a:xfrm>
            <a:off x="1870911" y="1873920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20A6A0"/>
                </a:solidFill>
              </a:defRPr>
            </a:pPr>
            <a:r>
              <a:rPr sz="1500" b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C1D8321-6251-4D90-B1CE-A5F1CD56E55D}"/>
              </a:ext>
            </a:extLst>
          </p:cNvPr>
          <p:cNvSpPr>
            <a:spLocks noGrp="1"/>
          </p:cNvSpPr>
          <p:nvPr/>
        </p:nvSpPr>
        <p:spPr>
          <a:xfrm>
            <a:off x="2499561" y="1873920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시스템 정의 및 설명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840D48A-8498-4CEF-9D1B-7B1D7D802226}"/>
              </a:ext>
            </a:extLst>
          </p:cNvPr>
          <p:cNvSpPr>
            <a:spLocks noGrp="1"/>
          </p:cNvSpPr>
          <p:nvPr/>
        </p:nvSpPr>
        <p:spPr>
          <a:xfrm>
            <a:off x="2499561" y="2121570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슬로건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효과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재미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볼륨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맵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603CBDE-0258-4C2D-B8E9-32ED0CD85810}"/>
              </a:ext>
            </a:extLst>
          </p:cNvPr>
          <p:cNvSpPr>
            <a:spLocks noGrp="1"/>
          </p:cNvSpPr>
          <p:nvPr/>
        </p:nvSpPr>
        <p:spPr>
          <a:xfrm>
            <a:off x="1870911" y="3256046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7D67B3"/>
                </a:solidFill>
              </a:defRPr>
            </a:pPr>
            <a:r>
              <a:rPr sz="1500" b="1" dirty="0">
                <a:solidFill>
                  <a:srgbClr val="7D67B3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4D4AFC1-8824-4ED4-B8B0-BFBB89E03026}"/>
              </a:ext>
            </a:extLst>
          </p:cNvPr>
          <p:cNvSpPr>
            <a:spLocks noGrp="1"/>
          </p:cNvSpPr>
          <p:nvPr/>
        </p:nvSpPr>
        <p:spPr>
          <a:xfrm>
            <a:off x="2499561" y="3256046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핵심 순환 구조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5AD9D5C-3AE2-4F60-9CB9-C01C53D3FB5A}"/>
              </a:ext>
            </a:extLst>
          </p:cNvPr>
          <p:cNvSpPr>
            <a:spLocks noGrp="1"/>
          </p:cNvSpPr>
          <p:nvPr/>
        </p:nvSpPr>
        <p:spPr>
          <a:xfrm>
            <a:off x="2499561" y="3503696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들이마시기부터 다시 판단까지 6단계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27E9B11-5ED8-4712-AF1B-00BDFA1C0A1C}"/>
              </a:ext>
            </a:extLst>
          </p:cNvPr>
          <p:cNvSpPr>
            <a:spLocks noGrp="1"/>
          </p:cNvSpPr>
          <p:nvPr/>
        </p:nvSpPr>
        <p:spPr>
          <a:xfrm>
            <a:off x="1870911" y="4745956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C79A20"/>
                </a:solidFill>
              </a:defRPr>
            </a:pPr>
            <a:r>
              <a:rPr sz="1500" b="1">
                <a:solidFill>
                  <a:srgbClr val="C79A20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DE6E0AC-2B41-42E8-BF23-B6CEED90F7B9}"/>
              </a:ext>
            </a:extLst>
          </p:cNvPr>
          <p:cNvSpPr>
            <a:spLocks noGrp="1"/>
          </p:cNvSpPr>
          <p:nvPr/>
        </p:nvSpPr>
        <p:spPr>
          <a:xfrm>
            <a:off x="2499561" y="4745956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플레이 화면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D24DE46-F86F-4D3E-8601-9874CF9528E5}"/>
              </a:ext>
            </a:extLst>
          </p:cNvPr>
          <p:cNvSpPr>
            <a:spLocks noGrp="1"/>
          </p:cNvSpPr>
          <p:nvPr/>
        </p:nvSpPr>
        <p:spPr>
          <a:xfrm>
            <a:off x="2499561" y="4993606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UI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요소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상태별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피드백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이미지</a:t>
            </a:r>
            <a:endParaRPr sz="1000" b="0" dirty="0">
              <a:solidFill>
                <a:srgbClr val="667B8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2F8B17A-166D-42BA-89C6-AC22F324852E}"/>
              </a:ext>
            </a:extLst>
          </p:cNvPr>
          <p:cNvSpPr>
            <a:spLocks noGrp="1"/>
          </p:cNvSpPr>
          <p:nvPr/>
        </p:nvSpPr>
        <p:spPr>
          <a:xfrm>
            <a:off x="7166811" y="1870412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D87449"/>
                </a:solidFill>
              </a:defRPr>
            </a:pPr>
            <a:r>
              <a:rPr sz="1500" b="1">
                <a:solidFill>
                  <a:srgbClr val="D87449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544F7665-43AD-4D40-88C0-D8B62028D3B6}"/>
              </a:ext>
            </a:extLst>
          </p:cNvPr>
          <p:cNvSpPr>
            <a:spLocks noGrp="1"/>
          </p:cNvSpPr>
          <p:nvPr/>
        </p:nvSpPr>
        <p:spPr>
          <a:xfrm>
            <a:off x="7795461" y="1870412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시스템 규칙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38D629A-85D0-4B34-BE8A-E2BB383BBB54}"/>
              </a:ext>
            </a:extLst>
          </p:cNvPr>
          <p:cNvSpPr>
            <a:spLocks noGrp="1"/>
          </p:cNvSpPr>
          <p:nvPr/>
        </p:nvSpPr>
        <p:spPr>
          <a:xfrm>
            <a:off x="7795461" y="2118062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기본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행동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능력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확장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연동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규칙</a:t>
            </a:r>
            <a:endParaRPr sz="1000" b="0" dirty="0">
              <a:solidFill>
                <a:srgbClr val="667B8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F949953-2772-453A-A950-AE493D0EB618}"/>
              </a:ext>
            </a:extLst>
          </p:cNvPr>
          <p:cNvSpPr>
            <a:spLocks noGrp="1"/>
          </p:cNvSpPr>
          <p:nvPr/>
        </p:nvSpPr>
        <p:spPr>
          <a:xfrm>
            <a:off x="7166811" y="325253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367DA6"/>
                </a:solidFill>
              </a:defRPr>
            </a:pPr>
            <a:r>
              <a:rPr sz="1500" b="1">
                <a:solidFill>
                  <a:srgbClr val="367DA6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9AFBA3-0688-42D7-B61C-D3EDCB771F19}"/>
              </a:ext>
            </a:extLst>
          </p:cNvPr>
          <p:cNvSpPr>
            <a:spLocks noGrp="1"/>
          </p:cNvSpPr>
          <p:nvPr/>
        </p:nvSpPr>
        <p:spPr>
          <a:xfrm>
            <a:off x="7795461" y="3252538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시스템</a:t>
            </a:r>
            <a:r>
              <a:rPr sz="15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구조도</a:t>
            </a:r>
            <a:endParaRPr sz="1500" b="1" dirty="0">
              <a:solidFill>
                <a:srgbClr val="073B5C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E83DFCE8-AACF-4F4A-A5B5-8D30B3DAB8C5}"/>
              </a:ext>
            </a:extLst>
          </p:cNvPr>
          <p:cNvSpPr>
            <a:spLocks noGrp="1"/>
          </p:cNvSpPr>
          <p:nvPr/>
        </p:nvSpPr>
        <p:spPr>
          <a:xfrm>
            <a:off x="7795461" y="3500188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소음/AI 공간 예시 · 통합 플로우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B564F5B-F309-4E9D-BDF7-3FFEA4860222}"/>
              </a:ext>
            </a:extLst>
          </p:cNvPr>
          <p:cNvSpPr>
            <a:spLocks noGrp="1"/>
          </p:cNvSpPr>
          <p:nvPr/>
        </p:nvSpPr>
        <p:spPr>
          <a:xfrm>
            <a:off x="7166811" y="4742448"/>
            <a:ext cx="476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B34F57"/>
                </a:solidFill>
              </a:defRPr>
            </a:pPr>
            <a:r>
              <a:rPr sz="1500" b="1">
                <a:solidFill>
                  <a:srgbClr val="B34F57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8B2674A-0914-4652-AB53-3B96ECADC228}"/>
              </a:ext>
            </a:extLst>
          </p:cNvPr>
          <p:cNvSpPr>
            <a:spLocks noGrp="1"/>
          </p:cNvSpPr>
          <p:nvPr/>
        </p:nvSpPr>
        <p:spPr>
          <a:xfrm>
            <a:off x="7795461" y="4742448"/>
            <a:ext cx="2857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000" lnSpcReduction="10000"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리소스 / 안전장치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2413D7A-564A-4B42-98C6-1BF39FA068D4}"/>
              </a:ext>
            </a:extLst>
          </p:cNvPr>
          <p:cNvSpPr>
            <a:spLocks noGrp="1"/>
          </p:cNvSpPr>
          <p:nvPr/>
        </p:nvSpPr>
        <p:spPr>
          <a:xfrm>
            <a:off x="7795461" y="4990098"/>
            <a:ext cx="4038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제작 리소스 · 예외 처리 우선순위</a:t>
            </a:r>
          </a:p>
        </p:txBody>
      </p:sp>
    </p:spTree>
    <p:extLst>
      <p:ext uri="{BB962C8B-B14F-4D97-AF65-F5344CB8AC3E}">
        <p14:creationId xmlns:p14="http://schemas.microsoft.com/office/powerpoint/2010/main" val="2068370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>
            <a:extLst>
              <a:ext uri="{FF2B5EF4-FFF2-40B4-BE49-F238E27FC236}">
                <a16:creationId xmlns:a16="http://schemas.microsoft.com/office/drawing/2014/main" id="{953A7769-DC26-4158-B7E9-FDC540628B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107CC768-E1D3-4B76-B00A-7BF169D64039}"/>
              </a:ext>
            </a:extLst>
          </p:cNvPr>
          <p:cNvSpPr>
            <a:spLocks noGrp="1"/>
          </p:cNvSpPr>
          <p:nvPr/>
        </p:nvSpPr>
        <p:spPr>
          <a:xfrm>
            <a:off x="457200" y="371477"/>
            <a:ext cx="3644464" cy="46672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01  </a:t>
            </a:r>
            <a:r>
              <a:rPr sz="2000" b="1" dirty="0" err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시스템</a:t>
            </a:r>
            <a:r>
              <a:rPr sz="2000" b="1" dirty="0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정의</a:t>
            </a:r>
            <a:r>
              <a:rPr sz="2000" b="1" dirty="0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 및 </a:t>
            </a:r>
            <a:r>
              <a:rPr sz="2000" b="1" dirty="0" err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설명</a:t>
            </a:r>
            <a:endParaRPr sz="2000" b="1" dirty="0">
              <a:solidFill>
                <a:srgbClr val="20A6A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3E32ECB7-C235-4799-913E-DCD375A8DB3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E3544277-B246-407C-B3D9-428D71DB3904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3333750" cy="32385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  <p:txBody>
          <a:bodyPr/>
          <a:lstStyle/>
          <a:p>
            <a:r>
              <a:rPr lang="ko-KR" altLang="en-US" sz="1500" b="1" dirty="0">
                <a:solidFill>
                  <a:schemeClr val="bg1"/>
                </a:solidFill>
                <a:latin typeface="맑은 고딕"/>
                <a:ea typeface="맑은 고딕"/>
                <a:cs typeface="맑은 고딕"/>
              </a:rPr>
              <a:t>시스템 정의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1A1A7E5-1540-4754-AEA9-6EEA994B1CBB}"/>
              </a:ext>
            </a:extLst>
          </p:cNvPr>
          <p:cNvSpPr>
            <a:spLocks noGrp="1"/>
          </p:cNvSpPr>
          <p:nvPr/>
        </p:nvSpPr>
        <p:spPr>
          <a:xfrm>
            <a:off x="552450" y="1657350"/>
            <a:ext cx="3682565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플레이어가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들이마시기·숨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참기·내쉬기를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직접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조절해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호흡량과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소음을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관리하는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핵심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행동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시스템</a:t>
            </a:r>
            <a:endParaRPr sz="1000" b="1" dirty="0">
              <a:solidFill>
                <a:srgbClr val="073B5C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07E7393-B661-4CA8-8A3C-D278CF082B4E}"/>
              </a:ext>
            </a:extLst>
          </p:cNvPr>
          <p:cNvSpPr>
            <a:spLocks noGrp="1"/>
          </p:cNvSpPr>
          <p:nvPr/>
        </p:nvSpPr>
        <p:spPr>
          <a:xfrm>
            <a:off x="457199" y="2762250"/>
            <a:ext cx="3777815" cy="742950"/>
          </a:xfrm>
          <a:prstGeom prst="roundRect">
            <a:avLst>
              <a:gd name="adj" fmla="val 10256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슬로건</a:t>
            </a:r>
            <a:endParaRPr lang="en-US" altLang="ko-KR" sz="1500" dirty="0"/>
          </a:p>
          <a:p>
            <a:pPr algn="ctr">
              <a:lnSpc>
                <a:spcPct val="150000"/>
              </a:lnSpc>
            </a:pPr>
            <a:r>
              <a:rPr lang="ko-KR" altLang="en-US" sz="1000" b="1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호흡을 조절해</a:t>
            </a:r>
            <a:r>
              <a:rPr lang="en-US" altLang="ko-KR" sz="1000" b="1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sz="1000" b="1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위험 속에서 길을 만들어라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0253244-0DC0-45C1-BF2C-6AF38406C6EE}"/>
              </a:ext>
            </a:extLst>
          </p:cNvPr>
          <p:cNvSpPr>
            <a:spLocks noGrp="1"/>
          </p:cNvSpPr>
          <p:nvPr/>
        </p:nvSpPr>
        <p:spPr>
          <a:xfrm>
            <a:off x="457199" y="3638550"/>
            <a:ext cx="3777815" cy="742950"/>
          </a:xfrm>
          <a:prstGeom prst="roundRect">
            <a:avLst>
              <a:gd name="adj" fmla="val 10256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효과</a:t>
            </a:r>
            <a:endParaRPr lang="en-US" altLang="ko-KR" sz="15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이동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은신</a:t>
            </a:r>
            <a:r>
              <a:rPr lang="en-US" altLang="ko-KR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맑은 고딕"/>
              </a:rPr>
              <a:t>환경 대응의 결과를 하나의 호흡 규칙으로 연결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D607966-7EE3-45FD-B1D9-738F8CFF176D}"/>
              </a:ext>
            </a:extLst>
          </p:cNvPr>
          <p:cNvSpPr>
            <a:spLocks noGrp="1"/>
          </p:cNvSpPr>
          <p:nvPr/>
        </p:nvSpPr>
        <p:spPr>
          <a:xfrm>
            <a:off x="457200" y="4514850"/>
            <a:ext cx="3777814" cy="742950"/>
          </a:xfrm>
          <a:prstGeom prst="roundRect">
            <a:avLst>
              <a:gd name="adj" fmla="val 10256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  <p:txBody>
          <a:bodyPr anchor="ctr"/>
          <a:lstStyle/>
          <a:p>
            <a:pPr algn="ctr">
              <a:lnSpc>
                <a:spcPct val="150000"/>
              </a:lnSpc>
            </a:pPr>
            <a:r>
              <a:rPr lang="ko-KR" altLang="en-US" sz="1500" b="1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재미</a:t>
            </a:r>
            <a:endParaRPr lang="en-US" altLang="ko-KR" sz="1500" b="1" dirty="0">
              <a:solidFill>
                <a:srgbClr val="163247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lnSpc>
                <a:spcPct val="150000"/>
              </a:lnSpc>
            </a:pPr>
            <a:r>
              <a:rPr lang="ko-KR" altLang="en-US"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언제</a:t>
            </a:r>
            <a:r>
              <a:rPr lang="en-US" altLang="ko-KR"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얼마나</a:t>
            </a:r>
            <a:r>
              <a:rPr lang="en-US" altLang="ko-KR"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lang="ko-KR" altLang="en-US"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어디서 숨 쉴지에 따라 같은 공간의 해법이 달라짐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A48534E-BF69-42F3-B8BA-FB4765ADD3D8}"/>
              </a:ext>
            </a:extLst>
          </p:cNvPr>
          <p:cNvSpPr>
            <a:spLocks noGrp="1"/>
          </p:cNvSpPr>
          <p:nvPr/>
        </p:nvSpPr>
        <p:spPr>
          <a:xfrm>
            <a:off x="552450" y="5524500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핵심 약속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EFBC71B7-1CA1-46BF-9284-7874083F1322}"/>
              </a:ext>
            </a:extLst>
          </p:cNvPr>
          <p:cNvSpPr>
            <a:spLocks noGrp="1"/>
          </p:cNvSpPr>
          <p:nvPr/>
        </p:nvSpPr>
        <p:spPr>
          <a:xfrm>
            <a:off x="552450" y="5781675"/>
            <a:ext cx="3682564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667B8B"/>
                </a:solidFill>
              </a:defRPr>
            </a:pPr>
            <a:r>
              <a:rPr sz="1000" b="1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호흡은</a:t>
            </a:r>
            <a:r>
              <a:rPr sz="1000" b="1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1000" b="1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000" b="1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게이지가</a:t>
            </a:r>
            <a:r>
              <a:rPr sz="1000" b="1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아니라</a:t>
            </a:r>
            <a:r>
              <a:rPr sz="1000" b="1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플레이어가</a:t>
            </a:r>
            <a:r>
              <a:rPr sz="1000" b="1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반복적으로</a:t>
            </a:r>
            <a:r>
              <a:rPr sz="1000" b="1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판단하고</a:t>
            </a:r>
            <a:r>
              <a:rPr sz="1000" b="1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조작하는</a:t>
            </a:r>
            <a:r>
              <a:rPr sz="1000" b="1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행동</a:t>
            </a:r>
            <a:r>
              <a:rPr sz="1000" b="1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시스템</a:t>
            </a:r>
            <a:endParaRPr sz="1000" b="1" dirty="0">
              <a:solidFill>
                <a:srgbClr val="667B8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AA2A686-9911-4175-94F9-DAD2B3D51033}"/>
              </a:ext>
            </a:extLst>
          </p:cNvPr>
          <p:cNvSpPr>
            <a:spLocks noGrp="1"/>
          </p:cNvSpPr>
          <p:nvPr/>
        </p:nvSpPr>
        <p:spPr>
          <a:xfrm>
            <a:off x="4812632" y="1257300"/>
            <a:ext cx="6807868" cy="485775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78363AF7-D771-4BA7-8228-C04B3A5777F9}"/>
              </a:ext>
            </a:extLst>
          </p:cNvPr>
          <p:cNvSpPr>
            <a:spLocks noGrp="1"/>
          </p:cNvSpPr>
          <p:nvPr/>
        </p:nvSpPr>
        <p:spPr>
          <a:xfrm>
            <a:off x="5145572" y="14287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시스템</a:t>
            </a:r>
            <a:r>
              <a:rPr sz="15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볼륨</a:t>
            </a:r>
            <a:r>
              <a:rPr sz="15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맵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01DEABE-2256-4E99-A782-1ACF74EC9746}"/>
              </a:ext>
            </a:extLst>
          </p:cNvPr>
          <p:cNvSpPr>
            <a:spLocks noGrp="1"/>
          </p:cNvSpPr>
          <p:nvPr/>
        </p:nvSpPr>
        <p:spPr>
          <a:xfrm>
            <a:off x="5145572" y="1724025"/>
            <a:ext cx="619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호흡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결과가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시스템으로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전달되고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호흡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조건을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변화시킴</a:t>
            </a:r>
            <a:endParaRPr sz="1000" b="0" dirty="0">
              <a:solidFill>
                <a:srgbClr val="667B8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84C597B7-ABDF-496E-9064-ED6F2DEDF535}"/>
              </a:ext>
            </a:extLst>
          </p:cNvPr>
          <p:cNvSpPr>
            <a:spLocks noGrp="1"/>
          </p:cNvSpPr>
          <p:nvPr/>
        </p:nvSpPr>
        <p:spPr>
          <a:xfrm>
            <a:off x="5120941" y="5572125"/>
            <a:ext cx="619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이동·환경·능력이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호흡의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소비량·안전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한계·회복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위치를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바꿈</a:t>
            </a:r>
            <a:endParaRPr sz="1000" b="1" dirty="0">
              <a:solidFill>
                <a:srgbClr val="073B5C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3" name="Oval 30">
            <a:extLst>
              <a:ext uri="{FF2B5EF4-FFF2-40B4-BE49-F238E27FC236}">
                <a16:creationId xmlns:a16="http://schemas.microsoft.com/office/drawing/2014/main" id="{2E7BA2F4-0146-4194-B3C2-DCFA8A90748F}"/>
              </a:ext>
            </a:extLst>
          </p:cNvPr>
          <p:cNvSpPr/>
          <p:nvPr/>
        </p:nvSpPr>
        <p:spPr>
          <a:xfrm>
            <a:off x="7601058" y="3247267"/>
            <a:ext cx="1329359" cy="1329359"/>
          </a:xfrm>
          <a:prstGeom prst="ellipse">
            <a:avLst/>
          </a:prstGeom>
          <a:solidFill>
            <a:srgbClr val="042D62"/>
          </a:solidFill>
          <a:ln w="25400">
            <a:solidFill>
              <a:srgbClr val="042D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rPr sz="1500">
                <a:latin typeface="맑은 고딕" panose="020B0503020000020004" pitchFamily="50" charset="-127"/>
                <a:ea typeface="맑은 고딕" panose="020B0503020000020004" pitchFamily="50" charset="-127"/>
              </a:rPr>
              <a:t>호흡</a:t>
            </a:r>
          </a:p>
        </p:txBody>
      </p:sp>
      <p:sp>
        <p:nvSpPr>
          <p:cNvPr id="46" name="Oval 33">
            <a:extLst>
              <a:ext uri="{FF2B5EF4-FFF2-40B4-BE49-F238E27FC236}">
                <a16:creationId xmlns:a16="http://schemas.microsoft.com/office/drawing/2014/main" id="{2BC18599-9F15-4C2E-9FA9-9DCD17C1219D}"/>
              </a:ext>
            </a:extLst>
          </p:cNvPr>
          <p:cNvSpPr/>
          <p:nvPr/>
        </p:nvSpPr>
        <p:spPr>
          <a:xfrm>
            <a:off x="7972467" y="2241170"/>
            <a:ext cx="908676" cy="908676"/>
          </a:xfrm>
          <a:prstGeom prst="ellipse">
            <a:avLst/>
          </a:prstGeom>
          <a:solidFill>
            <a:srgbClr val="EAF8F0"/>
          </a:solidFill>
          <a:ln w="17145">
            <a:solidFill>
              <a:srgbClr val="55AF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들이마시기</a:t>
            </a:r>
          </a:p>
        </p:txBody>
      </p:sp>
      <p:sp>
        <p:nvSpPr>
          <p:cNvPr id="47" name="Oval 34">
            <a:extLst>
              <a:ext uri="{FF2B5EF4-FFF2-40B4-BE49-F238E27FC236}">
                <a16:creationId xmlns:a16="http://schemas.microsoft.com/office/drawing/2014/main" id="{D25CAC8F-767D-4834-B087-BC2B96C9520E}"/>
              </a:ext>
            </a:extLst>
          </p:cNvPr>
          <p:cNvSpPr/>
          <p:nvPr/>
        </p:nvSpPr>
        <p:spPr>
          <a:xfrm>
            <a:off x="6653734" y="2936562"/>
            <a:ext cx="908676" cy="908676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</a:t>
            </a:r>
          </a:p>
        </p:txBody>
      </p:sp>
      <p:sp>
        <p:nvSpPr>
          <p:cNvPr id="48" name="Oval 35">
            <a:extLst>
              <a:ext uri="{FF2B5EF4-FFF2-40B4-BE49-F238E27FC236}">
                <a16:creationId xmlns:a16="http://schemas.microsoft.com/office/drawing/2014/main" id="{15EF626B-F2B4-4157-A015-41BFE679D4AB}"/>
              </a:ext>
            </a:extLst>
          </p:cNvPr>
          <p:cNvSpPr/>
          <p:nvPr/>
        </p:nvSpPr>
        <p:spPr>
          <a:xfrm>
            <a:off x="9066629" y="3070260"/>
            <a:ext cx="908676" cy="908676"/>
          </a:xfrm>
          <a:prstGeom prst="ellipse">
            <a:avLst/>
          </a:prstGeom>
          <a:solidFill>
            <a:srgbClr val="FFF2C7"/>
          </a:solidFill>
          <a:ln w="17145">
            <a:solidFill>
              <a:srgbClr val="FFD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112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내쉬기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9" name="Oval 36">
            <a:extLst>
              <a:ext uri="{FF2B5EF4-FFF2-40B4-BE49-F238E27FC236}">
                <a16:creationId xmlns:a16="http://schemas.microsoft.com/office/drawing/2014/main" id="{C12AB63C-51FA-4632-B482-3A1D2ECDACFC}"/>
              </a:ext>
            </a:extLst>
          </p:cNvPr>
          <p:cNvSpPr/>
          <p:nvPr/>
        </p:nvSpPr>
        <p:spPr>
          <a:xfrm>
            <a:off x="8905875" y="4111690"/>
            <a:ext cx="908676" cy="908676"/>
          </a:xfrm>
          <a:prstGeom prst="ellipse">
            <a:avLst/>
          </a:prstGeom>
          <a:solidFill>
            <a:srgbClr val="FFE3D4"/>
          </a:solidFill>
          <a:ln w="17145">
            <a:solidFill>
              <a:srgbClr val="FF7C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>
                <a:latin typeface="맑은 고딕" panose="020B0503020000020004" pitchFamily="50" charset="-127"/>
                <a:ea typeface="맑은 고딕" panose="020B0503020000020004" pitchFamily="50" charset="-127"/>
              </a:rPr>
              <a:t>소음</a:t>
            </a:r>
          </a:p>
        </p:txBody>
      </p:sp>
      <p:sp>
        <p:nvSpPr>
          <p:cNvPr id="50" name="Oval 37">
            <a:extLst>
              <a:ext uri="{FF2B5EF4-FFF2-40B4-BE49-F238E27FC236}">
                <a16:creationId xmlns:a16="http://schemas.microsoft.com/office/drawing/2014/main" id="{757277F1-822A-44FA-9963-56DE746576EB}"/>
              </a:ext>
            </a:extLst>
          </p:cNvPr>
          <p:cNvSpPr/>
          <p:nvPr/>
        </p:nvSpPr>
        <p:spPr>
          <a:xfrm>
            <a:off x="6342429" y="3821028"/>
            <a:ext cx="622611" cy="622611"/>
          </a:xfrm>
          <a:prstGeom prst="ellipse">
            <a:avLst/>
          </a:prstGeom>
          <a:solidFill>
            <a:srgbClr val="D9F5F1"/>
          </a:solidFill>
          <a:ln w="17145">
            <a:solidFill>
              <a:srgbClr val="6DD9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 AI</a:t>
            </a:r>
          </a:p>
        </p:txBody>
      </p:sp>
      <p:sp>
        <p:nvSpPr>
          <p:cNvPr id="51" name="Oval 38">
            <a:extLst>
              <a:ext uri="{FF2B5EF4-FFF2-40B4-BE49-F238E27FC236}">
                <a16:creationId xmlns:a16="http://schemas.microsoft.com/office/drawing/2014/main" id="{7F97BD8F-222E-40EF-A77D-7D8CA2AE24D5}"/>
              </a:ext>
            </a:extLst>
          </p:cNvPr>
          <p:cNvSpPr/>
          <p:nvPr/>
        </p:nvSpPr>
        <p:spPr>
          <a:xfrm>
            <a:off x="7241072" y="2315851"/>
            <a:ext cx="622611" cy="622611"/>
          </a:xfrm>
          <a:prstGeom prst="ellipse">
            <a:avLst/>
          </a:prstGeom>
          <a:solidFill>
            <a:srgbClr val="F1ECFF"/>
          </a:solidFill>
          <a:ln w="17145">
            <a:solidFill>
              <a:srgbClr val="8B75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 lnSpcReduction="10000"/>
          </a:bodyPr>
          <a:lstStyle/>
          <a:p>
            <a:pPr algn="ctr">
              <a:lnSpc>
                <a:spcPct val="150000"/>
              </a:lnSpc>
              <a:defRPr sz="860" b="1">
                <a:solidFill>
                  <a:srgbClr val="21252B"/>
                </a:solidFill>
                <a:latin typeface="맑은 고딕"/>
              </a:defRPr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능력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·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장비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2" name="Oval 39">
            <a:extLst>
              <a:ext uri="{FF2B5EF4-FFF2-40B4-BE49-F238E27FC236}">
                <a16:creationId xmlns:a16="http://schemas.microsoft.com/office/drawing/2014/main" id="{6443DCEA-EDE6-4425-82D8-FA5D6D5C6679}"/>
              </a:ext>
            </a:extLst>
          </p:cNvPr>
          <p:cNvSpPr/>
          <p:nvPr/>
        </p:nvSpPr>
        <p:spPr>
          <a:xfrm>
            <a:off x="9877740" y="3863809"/>
            <a:ext cx="622611" cy="622611"/>
          </a:xfrm>
          <a:prstGeom prst="ellipse">
            <a:avLst/>
          </a:prstGeom>
          <a:solidFill>
            <a:srgbClr val="FFF2C7"/>
          </a:solidFill>
          <a:ln w="17145">
            <a:solidFill>
              <a:srgbClr val="FFD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 lnSpcReduction="10000"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이동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방식</a:t>
            </a:r>
            <a:endParaRPr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3" name="Oval 40">
            <a:extLst>
              <a:ext uri="{FF2B5EF4-FFF2-40B4-BE49-F238E27FC236}">
                <a16:creationId xmlns:a16="http://schemas.microsoft.com/office/drawing/2014/main" id="{8E72BE29-349B-492C-96A0-8B37327A197E}"/>
              </a:ext>
            </a:extLst>
          </p:cNvPr>
          <p:cNvSpPr/>
          <p:nvPr/>
        </p:nvSpPr>
        <p:spPr>
          <a:xfrm>
            <a:off x="6905844" y="4248861"/>
            <a:ext cx="908676" cy="908676"/>
          </a:xfrm>
          <a:prstGeom prst="ellipse">
            <a:avLst/>
          </a:prstGeom>
          <a:solidFill>
            <a:srgbClr val="E8F8F8"/>
          </a:solidFill>
          <a:ln w="17145">
            <a:solidFill>
              <a:srgbClr val="4AB0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9144" rIns="27432" bIns="9144" rtlCol="0" anchor="ctr">
            <a:normAutofit/>
          </a:bodyPr>
          <a:lstStyle/>
          <a:p>
            <a:pPr algn="ctr">
              <a:lnSpc>
                <a:spcPct val="150000"/>
              </a:lnSpc>
              <a:defRPr sz="950" b="1">
                <a:solidFill>
                  <a:srgbClr val="21252B"/>
                </a:solidFill>
                <a:latin typeface="맑은 고딕"/>
              </a:defRPr>
            </a:pP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공기</a:t>
            </a:r>
            <a:r>
              <a:rPr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sz="10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환경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6107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9E3126-5A6B-4923-BF93-F20C5336936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E9C384D0-C813-4630-9FC7-27B61AAE7153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3D1008A-05E6-40F5-87B9-8D4F40024D2B}"/>
              </a:ext>
            </a:extLst>
          </p:cNvPr>
          <p:cNvSpPr>
            <a:spLocks noGrp="1"/>
          </p:cNvSpPr>
          <p:nvPr/>
        </p:nvSpPr>
        <p:spPr>
          <a:xfrm>
            <a:off x="552450" y="1200150"/>
            <a:ext cx="857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끝까지 참기보다 한계 전에 일부 회복하고 다시 판단하는 플레이가 숙련도를 만듦</a:t>
            </a: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485C6FA4-A8F0-468C-B24D-FC334DF8B4BB}"/>
              </a:ext>
            </a:extLst>
          </p:cNvPr>
          <p:cNvSpPr>
            <a:spLocks noGrp="1"/>
          </p:cNvSpPr>
          <p:nvPr/>
        </p:nvSpPr>
        <p:spPr>
          <a:xfrm>
            <a:off x="819150" y="6010275"/>
            <a:ext cx="10553700" cy="323850"/>
          </a:xfrm>
          <a:prstGeom prst="roundRect">
            <a:avLst>
              <a:gd name="adj" fmla="val 11765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B5DF55A-DCE4-4146-B405-8DDD7DB3A7A0}"/>
              </a:ext>
            </a:extLst>
          </p:cNvPr>
          <p:cNvSpPr>
            <a:spLocks noGrp="1"/>
          </p:cNvSpPr>
          <p:nvPr/>
        </p:nvSpPr>
        <p:spPr>
          <a:xfrm>
            <a:off x="952500" y="6019800"/>
            <a:ext cx="10287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핵심  필요한 만큼 확보 → 필요한 순간만 억제 → 안전한 위치에서 부분 회복 → 다시 판단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70C1D4B-9294-4B5F-8713-DA1807C655FE}"/>
              </a:ext>
            </a:extLst>
          </p:cNvPr>
          <p:cNvSpPr>
            <a:spLocks noGrp="1"/>
          </p:cNvSpPr>
          <p:nvPr/>
        </p:nvSpPr>
        <p:spPr>
          <a:xfrm>
            <a:off x="457200" y="376239"/>
            <a:ext cx="3200400" cy="4667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02  핵심 순환 구조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E2516436-02AC-4641-A546-085EC16910D7}"/>
              </a:ext>
            </a:extLst>
          </p:cNvPr>
          <p:cNvSpPr/>
          <p:nvPr/>
        </p:nvSpPr>
        <p:spPr>
          <a:xfrm>
            <a:off x="5480849" y="3065935"/>
            <a:ext cx="1222944" cy="1222944"/>
          </a:xfrm>
          <a:prstGeom prst="ellipse">
            <a:avLst/>
          </a:prstGeom>
          <a:noFill/>
          <a:ln>
            <a:solidFill>
              <a:srgbClr val="BDBD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984F6272-60CB-4001-AB46-5A954C6809A5}"/>
              </a:ext>
            </a:extLst>
          </p:cNvPr>
          <p:cNvSpPr/>
          <p:nvPr/>
        </p:nvSpPr>
        <p:spPr>
          <a:xfrm>
            <a:off x="1370293" y="2447421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4FCFB"/>
          </a:solidFill>
          <a:ln w="12700">
            <a:solidFill>
              <a:srgbClr val="2BA0B1"/>
            </a:solidFill>
            <a:prstDash val="solid"/>
          </a:ln>
        </p:spPr>
      </p:sp>
      <p:sp>
        <p:nvSpPr>
          <p:cNvPr id="38" name="Shape 16">
            <a:extLst>
              <a:ext uri="{FF2B5EF4-FFF2-40B4-BE49-F238E27FC236}">
                <a16:creationId xmlns:a16="http://schemas.microsoft.com/office/drawing/2014/main" id="{DE2291CC-509A-4CC3-9338-2772B8CEE888}"/>
              </a:ext>
            </a:extLst>
          </p:cNvPr>
          <p:cNvSpPr/>
          <p:nvPr/>
        </p:nvSpPr>
        <p:spPr>
          <a:xfrm>
            <a:off x="1370293" y="3956678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5F9FF"/>
          </a:solidFill>
          <a:ln w="12700">
            <a:solidFill>
              <a:srgbClr val="5893C9"/>
            </a:solidFill>
            <a:prstDash val="solid"/>
          </a:ln>
        </p:spPr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95B2108-3B56-413B-8815-646470B7BF23}"/>
              </a:ext>
            </a:extLst>
          </p:cNvPr>
          <p:cNvSpPr txBox="1"/>
          <p:nvPr/>
        </p:nvSpPr>
        <p:spPr>
          <a:xfrm>
            <a:off x="1932721" y="2607650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다시 판단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적 </a:t>
            </a:r>
            <a:r>
              <a:rPr lang="en-US" altLang="ko-KR" sz="1000" dirty="0"/>
              <a:t>AI · </a:t>
            </a:r>
            <a:r>
              <a:rPr lang="ko-KR" altLang="en-US" sz="1000" dirty="0"/>
              <a:t>환경 </a:t>
            </a:r>
            <a:r>
              <a:rPr lang="en-US" altLang="ko-KR" sz="1000" dirty="0"/>
              <a:t>· </a:t>
            </a:r>
            <a:r>
              <a:rPr lang="ko-KR" altLang="en-US" sz="1000" dirty="0"/>
              <a:t>안전한 장소 확인</a:t>
            </a:r>
          </a:p>
        </p:txBody>
      </p:sp>
      <p:sp>
        <p:nvSpPr>
          <p:cNvPr id="40" name="Shape 4">
            <a:extLst>
              <a:ext uri="{FF2B5EF4-FFF2-40B4-BE49-F238E27FC236}">
                <a16:creationId xmlns:a16="http://schemas.microsoft.com/office/drawing/2014/main" id="{68B85501-ABD4-4E25-A6BB-AF709D9322CD}"/>
              </a:ext>
            </a:extLst>
          </p:cNvPr>
          <p:cNvSpPr/>
          <p:nvPr/>
        </p:nvSpPr>
        <p:spPr>
          <a:xfrm>
            <a:off x="4832604" y="1636072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7FDFA"/>
          </a:solidFill>
          <a:ln w="12700">
            <a:solidFill>
              <a:srgbClr val="84C4A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/>
          </a:p>
        </p:txBody>
      </p:sp>
      <p:sp>
        <p:nvSpPr>
          <p:cNvPr id="41" name="Shape 7">
            <a:extLst>
              <a:ext uri="{FF2B5EF4-FFF2-40B4-BE49-F238E27FC236}">
                <a16:creationId xmlns:a16="http://schemas.microsoft.com/office/drawing/2014/main" id="{DBB33646-6088-4AC5-853D-E6A99B96C60B}"/>
              </a:ext>
            </a:extLst>
          </p:cNvPr>
          <p:cNvSpPr/>
          <p:nvPr/>
        </p:nvSpPr>
        <p:spPr>
          <a:xfrm>
            <a:off x="8294915" y="2447421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9F5FD"/>
          </a:solidFill>
          <a:ln w="12700">
            <a:solidFill>
              <a:srgbClr val="967EC4"/>
            </a:solidFill>
            <a:prstDash val="solid"/>
          </a:ln>
        </p:spPr>
      </p:sp>
      <p:sp>
        <p:nvSpPr>
          <p:cNvPr id="42" name="Shape 10">
            <a:extLst>
              <a:ext uri="{FF2B5EF4-FFF2-40B4-BE49-F238E27FC236}">
                <a16:creationId xmlns:a16="http://schemas.microsoft.com/office/drawing/2014/main" id="{BEBC2BEB-9C78-43D7-8B0B-E09E4625A44A}"/>
              </a:ext>
            </a:extLst>
          </p:cNvPr>
          <p:cNvSpPr/>
          <p:nvPr/>
        </p:nvSpPr>
        <p:spPr>
          <a:xfrm>
            <a:off x="8294915" y="3952675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DFBF4"/>
          </a:solidFill>
          <a:ln w="12700">
            <a:solidFill>
              <a:srgbClr val="F9CD5A"/>
            </a:solidFill>
            <a:prstDash val="solid"/>
          </a:ln>
        </p:spPr>
      </p:sp>
      <p:sp>
        <p:nvSpPr>
          <p:cNvPr id="43" name="Shape 13">
            <a:extLst>
              <a:ext uri="{FF2B5EF4-FFF2-40B4-BE49-F238E27FC236}">
                <a16:creationId xmlns:a16="http://schemas.microsoft.com/office/drawing/2014/main" id="{954BD46B-B2CB-4465-8D7F-F566FF90CDDB}"/>
              </a:ext>
            </a:extLst>
          </p:cNvPr>
          <p:cNvSpPr/>
          <p:nvPr/>
        </p:nvSpPr>
        <p:spPr>
          <a:xfrm>
            <a:off x="4832604" y="4764024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8F4"/>
          </a:solidFill>
          <a:ln w="12700">
            <a:solidFill>
              <a:srgbClr val="F29569"/>
            </a:solidFill>
            <a:prstDash val="solid"/>
          </a:ln>
        </p:spPr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8963E95-16F7-46D2-A06C-DEEAA2236DCC}"/>
              </a:ext>
            </a:extLst>
          </p:cNvPr>
          <p:cNvSpPr txBox="1"/>
          <p:nvPr/>
        </p:nvSpPr>
        <p:spPr>
          <a:xfrm>
            <a:off x="5395032" y="1790987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들이마시기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호흡 확보 </a:t>
            </a:r>
            <a:r>
              <a:rPr lang="en-US" altLang="ko-KR" sz="1000" dirty="0"/>
              <a:t>· </a:t>
            </a:r>
            <a:r>
              <a:rPr lang="ko-KR" altLang="en-US" sz="1000" dirty="0"/>
              <a:t>환경 공기 흡입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E592F1-5F29-4B9F-8F94-AC7D7474D431}"/>
              </a:ext>
            </a:extLst>
          </p:cNvPr>
          <p:cNvSpPr txBox="1"/>
          <p:nvPr/>
        </p:nvSpPr>
        <p:spPr>
          <a:xfrm>
            <a:off x="8869535" y="2603293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숨 참기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소음 억제 </a:t>
            </a:r>
            <a:r>
              <a:rPr lang="en-US" altLang="ko-KR" sz="1000" dirty="0"/>
              <a:t>· </a:t>
            </a:r>
            <a:r>
              <a:rPr lang="ko-KR" altLang="en-US" sz="1000" dirty="0"/>
              <a:t>게이지 감소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37BBD9-A705-4664-B692-0DBB3F9AD9D1}"/>
              </a:ext>
            </a:extLst>
          </p:cNvPr>
          <p:cNvSpPr txBox="1"/>
          <p:nvPr/>
        </p:nvSpPr>
        <p:spPr>
          <a:xfrm>
            <a:off x="8869535" y="4115985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행동 수행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이동 </a:t>
            </a:r>
            <a:r>
              <a:rPr lang="en-US" altLang="ko-KR" sz="1000" dirty="0"/>
              <a:t>· </a:t>
            </a:r>
            <a:r>
              <a:rPr lang="ko-KR" altLang="en-US" sz="1000" dirty="0"/>
              <a:t>은신 </a:t>
            </a:r>
            <a:r>
              <a:rPr lang="en-US" altLang="ko-KR" sz="1000" dirty="0"/>
              <a:t>· </a:t>
            </a:r>
            <a:r>
              <a:rPr lang="ko-KR" altLang="en-US" sz="1000" dirty="0"/>
              <a:t>능력 사용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E6C781-2588-4CF9-8122-642BA8CE8D0A}"/>
              </a:ext>
            </a:extLst>
          </p:cNvPr>
          <p:cNvSpPr txBox="1"/>
          <p:nvPr/>
        </p:nvSpPr>
        <p:spPr>
          <a:xfrm>
            <a:off x="5395032" y="4921237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부채 누적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긴장 </a:t>
            </a:r>
            <a:r>
              <a:rPr lang="en-US" altLang="ko-KR" sz="1000" dirty="0"/>
              <a:t>· </a:t>
            </a:r>
            <a:r>
              <a:rPr lang="ko-KR" altLang="en-US" sz="1000" dirty="0"/>
              <a:t>격한 행동 → 회복 부담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B8307D4-0D36-4959-90A7-108BF5F3CEA6}"/>
              </a:ext>
            </a:extLst>
          </p:cNvPr>
          <p:cNvSpPr txBox="1"/>
          <p:nvPr/>
        </p:nvSpPr>
        <p:spPr>
          <a:xfrm>
            <a:off x="1932721" y="4109913"/>
            <a:ext cx="1952172" cy="639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dirty="0"/>
              <a:t>내쉬기</a:t>
            </a:r>
            <a:endParaRPr lang="en-US" altLang="ko-KR" sz="1500" dirty="0"/>
          </a:p>
          <a:p>
            <a:pPr>
              <a:lnSpc>
                <a:spcPct val="150000"/>
              </a:lnSpc>
            </a:pPr>
            <a:r>
              <a:rPr lang="ko-KR" altLang="en-US" sz="1000" dirty="0"/>
              <a:t>부분 회복 </a:t>
            </a:r>
            <a:r>
              <a:rPr lang="en-US" altLang="ko-KR" sz="1000" dirty="0"/>
              <a:t>· </a:t>
            </a:r>
            <a:r>
              <a:rPr lang="ko-KR" altLang="en-US" sz="1000" dirty="0"/>
              <a:t>소음 발생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882454C-D725-4899-A27A-34251C34D00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CFA"/>
              </a:clrFrom>
              <a:clrTo>
                <a:srgbClr val="F9FCFA">
                  <a:alpha val="0"/>
                </a:srgbClr>
              </a:clrTo>
            </a:clrChange>
          </a:blip>
          <a:srcRect l="42116" t="23391" r="54524" b="70800"/>
          <a:stretch>
            <a:fillRect/>
          </a:stretch>
        </p:blipFill>
        <p:spPr>
          <a:xfrm>
            <a:off x="4985457" y="1908630"/>
            <a:ext cx="409575" cy="398464"/>
          </a:xfrm>
          <a:prstGeom prst="rect">
            <a:avLst/>
          </a:prstGeom>
        </p:spPr>
      </p:pic>
      <p:pic>
        <p:nvPicPr>
          <p:cNvPr id="50" name="그림 49">
            <a:extLst>
              <a:ext uri="{FF2B5EF4-FFF2-40B4-BE49-F238E27FC236}">
                <a16:creationId xmlns:a16="http://schemas.microsoft.com/office/drawing/2014/main" id="{C79785A9-BEE9-43F7-B014-6BAC35F86D7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9F8FC"/>
              </a:clrFrom>
              <a:clrTo>
                <a:srgbClr val="F9F8FC">
                  <a:alpha val="0"/>
                </a:srgbClr>
              </a:clrTo>
            </a:clrChange>
          </a:blip>
          <a:srcRect l="63884" t="39364" r="32756" b="54827"/>
          <a:stretch>
            <a:fillRect/>
          </a:stretch>
        </p:blipFill>
        <p:spPr>
          <a:xfrm>
            <a:off x="8459960" y="2721575"/>
            <a:ext cx="409575" cy="398464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2F46C6AC-D691-4B31-8898-965B4BEA3EEC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DF8"/>
              </a:clrFrom>
              <a:clrTo>
                <a:srgbClr val="FEFDF8">
                  <a:alpha val="0"/>
                </a:srgbClr>
              </a:clrTo>
            </a:clrChange>
          </a:blip>
          <a:srcRect l="63884" t="59155" r="32756" b="35036"/>
          <a:stretch>
            <a:fillRect/>
          </a:stretch>
        </p:blipFill>
        <p:spPr>
          <a:xfrm>
            <a:off x="8459960" y="4237506"/>
            <a:ext cx="409575" cy="39846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838A0851-F803-47F2-A510-1EEE58A8D70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DF8F6"/>
              </a:clrFrom>
              <a:clrTo>
                <a:srgbClr val="FDF8F6">
                  <a:alpha val="0"/>
                </a:srgbClr>
              </a:clrTo>
            </a:clrChange>
          </a:blip>
          <a:srcRect l="41945" t="72157" r="54695" b="22034"/>
          <a:stretch>
            <a:fillRect/>
          </a:stretch>
        </p:blipFill>
        <p:spPr>
          <a:xfrm>
            <a:off x="4920251" y="5037993"/>
            <a:ext cx="409575" cy="398464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FEB99E12-A3D7-4662-AD3C-050C0BEFDA1F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6FAFE"/>
              </a:clrFrom>
              <a:clrTo>
                <a:srgbClr val="F6FAFE">
                  <a:alpha val="0"/>
                </a:srgbClr>
              </a:clrTo>
            </a:clrChange>
          </a:blip>
          <a:srcRect l="20243" t="58842" r="76397" b="35349"/>
          <a:stretch>
            <a:fillRect/>
          </a:stretch>
        </p:blipFill>
        <p:spPr>
          <a:xfrm>
            <a:off x="1523146" y="4230512"/>
            <a:ext cx="409575" cy="398464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4DFB8B2D-43E0-4382-A249-3B1A0B7F3886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6FDFD"/>
              </a:clrFrom>
              <a:clrTo>
                <a:srgbClr val="F6FDFD">
                  <a:alpha val="0"/>
                </a:srgbClr>
              </a:clrTo>
            </a:clrChange>
          </a:blip>
          <a:srcRect l="20101" t="39391" r="76539" b="54800"/>
          <a:stretch>
            <a:fillRect/>
          </a:stretch>
        </p:blipFill>
        <p:spPr>
          <a:xfrm>
            <a:off x="1523146" y="2729731"/>
            <a:ext cx="409575" cy="398464"/>
          </a:xfrm>
          <a:prstGeom prst="rect">
            <a:avLst/>
          </a:prstGeom>
        </p:spPr>
      </p:pic>
      <p:cxnSp>
        <p:nvCxnSpPr>
          <p:cNvPr id="55" name="연결선: 구부러짐 54">
            <a:extLst>
              <a:ext uri="{FF2B5EF4-FFF2-40B4-BE49-F238E27FC236}">
                <a16:creationId xmlns:a16="http://schemas.microsoft.com/office/drawing/2014/main" id="{F3CED7A8-BAFF-4D77-8452-9888918985A1}"/>
              </a:ext>
            </a:extLst>
          </p:cNvPr>
          <p:cNvCxnSpPr>
            <a:stCxn id="37" idx="0"/>
            <a:endCxn id="40" idx="1"/>
          </p:cNvCxnSpPr>
          <p:nvPr/>
        </p:nvCxnSpPr>
        <p:spPr>
          <a:xfrm rot="5400000" flipH="1" flipV="1">
            <a:off x="3564454" y="1179272"/>
            <a:ext cx="331289" cy="2205011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연결선: 구부러짐 55">
            <a:extLst>
              <a:ext uri="{FF2B5EF4-FFF2-40B4-BE49-F238E27FC236}">
                <a16:creationId xmlns:a16="http://schemas.microsoft.com/office/drawing/2014/main" id="{5A416618-FCE5-48B5-B78F-95F540ECD756}"/>
              </a:ext>
            </a:extLst>
          </p:cNvPr>
          <p:cNvCxnSpPr>
            <a:cxnSpLocks/>
            <a:stCxn id="44" idx="3"/>
            <a:endCxn id="41" idx="0"/>
          </p:cNvCxnSpPr>
          <p:nvPr/>
        </p:nvCxnSpPr>
        <p:spPr>
          <a:xfrm>
            <a:off x="7347204" y="2110818"/>
            <a:ext cx="2205011" cy="336603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연결선: 구부러짐 56">
            <a:extLst>
              <a:ext uri="{FF2B5EF4-FFF2-40B4-BE49-F238E27FC236}">
                <a16:creationId xmlns:a16="http://schemas.microsoft.com/office/drawing/2014/main" id="{4A1DECD4-371B-4D60-A299-48747B5DC1F1}"/>
              </a:ext>
            </a:extLst>
          </p:cNvPr>
          <p:cNvCxnSpPr>
            <a:cxnSpLocks/>
            <a:stCxn id="42" idx="2"/>
            <a:endCxn id="47" idx="3"/>
          </p:cNvCxnSpPr>
          <p:nvPr/>
        </p:nvCxnSpPr>
        <p:spPr>
          <a:xfrm rot="5400000">
            <a:off x="8285574" y="3974426"/>
            <a:ext cx="328273" cy="2205011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연결선: 구부러짐 57">
            <a:extLst>
              <a:ext uri="{FF2B5EF4-FFF2-40B4-BE49-F238E27FC236}">
                <a16:creationId xmlns:a16="http://schemas.microsoft.com/office/drawing/2014/main" id="{A3F47866-636F-47DC-A886-D4D20866167C}"/>
              </a:ext>
            </a:extLst>
          </p:cNvPr>
          <p:cNvCxnSpPr>
            <a:cxnSpLocks/>
            <a:stCxn id="43" idx="1"/>
            <a:endCxn id="38" idx="2"/>
          </p:cNvCxnSpPr>
          <p:nvPr/>
        </p:nvCxnSpPr>
        <p:spPr>
          <a:xfrm rot="10800000">
            <a:off x="2627594" y="4916798"/>
            <a:ext cx="2205011" cy="327286"/>
          </a:xfrm>
          <a:prstGeom prst="curvedConnector2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45A9F489-BB57-4363-98F0-510506B643AB}"/>
              </a:ext>
            </a:extLst>
          </p:cNvPr>
          <p:cNvCxnSpPr>
            <a:stCxn id="41" idx="2"/>
            <a:endCxn id="42" idx="0"/>
          </p:cNvCxnSpPr>
          <p:nvPr/>
        </p:nvCxnSpPr>
        <p:spPr>
          <a:xfrm>
            <a:off x="9552215" y="3407541"/>
            <a:ext cx="0" cy="545134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165BC277-5644-43D2-8143-4BD3DC16F9B7}"/>
              </a:ext>
            </a:extLst>
          </p:cNvPr>
          <p:cNvCxnSpPr>
            <a:cxnSpLocks/>
            <a:stCxn id="38" idx="0"/>
            <a:endCxn id="37" idx="2"/>
          </p:cNvCxnSpPr>
          <p:nvPr/>
        </p:nvCxnSpPr>
        <p:spPr>
          <a:xfrm flipV="1">
            <a:off x="2627593" y="3407541"/>
            <a:ext cx="0" cy="549137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CDA0D5A8-2076-456A-BD96-60AFE4578817}"/>
              </a:ext>
            </a:extLst>
          </p:cNvPr>
          <p:cNvSpPr/>
          <p:nvPr/>
        </p:nvSpPr>
        <p:spPr>
          <a:xfrm>
            <a:off x="5556972" y="3144476"/>
            <a:ext cx="1065863" cy="1065863"/>
          </a:xfrm>
          <a:prstGeom prst="ellipse">
            <a:avLst/>
          </a:prstGeom>
          <a:solidFill>
            <a:srgbClr val="0E405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/>
              <a:t>호흡</a:t>
            </a:r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5F26632-A6D2-4D13-9406-AAE9483E658E}"/>
              </a:ext>
            </a:extLst>
          </p:cNvPr>
          <p:cNvCxnSpPr>
            <a:cxnSpLocks/>
          </p:cNvCxnSpPr>
          <p:nvPr/>
        </p:nvCxnSpPr>
        <p:spPr>
          <a:xfrm flipV="1">
            <a:off x="6092321" y="2665477"/>
            <a:ext cx="0" cy="3443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67A87B8-0DE1-45C2-BBE4-BF3AF251E00B}"/>
              </a:ext>
            </a:extLst>
          </p:cNvPr>
          <p:cNvCxnSpPr>
            <a:cxnSpLocks/>
          </p:cNvCxnSpPr>
          <p:nvPr/>
        </p:nvCxnSpPr>
        <p:spPr>
          <a:xfrm flipV="1">
            <a:off x="6089903" y="4335208"/>
            <a:ext cx="0" cy="3443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2E36885-3B11-42C4-B6DC-F40F66F4FDE5}"/>
              </a:ext>
            </a:extLst>
          </p:cNvPr>
          <p:cNvCxnSpPr>
            <a:cxnSpLocks/>
          </p:cNvCxnSpPr>
          <p:nvPr/>
        </p:nvCxnSpPr>
        <p:spPr>
          <a:xfrm flipV="1">
            <a:off x="6840788" y="2938701"/>
            <a:ext cx="1331241" cy="4800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E72093C-8483-4453-9526-8D858C0542CE}"/>
              </a:ext>
            </a:extLst>
          </p:cNvPr>
          <p:cNvCxnSpPr>
            <a:cxnSpLocks/>
          </p:cNvCxnSpPr>
          <p:nvPr/>
        </p:nvCxnSpPr>
        <p:spPr>
          <a:xfrm flipV="1">
            <a:off x="4018998" y="3949103"/>
            <a:ext cx="1331241" cy="48006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C09403F8-7884-4628-86C5-4CD916220E39}"/>
              </a:ext>
            </a:extLst>
          </p:cNvPr>
          <p:cNvCxnSpPr>
            <a:cxnSpLocks/>
          </p:cNvCxnSpPr>
          <p:nvPr/>
        </p:nvCxnSpPr>
        <p:spPr>
          <a:xfrm>
            <a:off x="4037746" y="2920807"/>
            <a:ext cx="1325764" cy="48337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55289DFB-8D5F-425F-9F37-7ACDCB08799E}"/>
              </a:ext>
            </a:extLst>
          </p:cNvPr>
          <p:cNvCxnSpPr>
            <a:cxnSpLocks/>
          </p:cNvCxnSpPr>
          <p:nvPr/>
        </p:nvCxnSpPr>
        <p:spPr>
          <a:xfrm>
            <a:off x="6788283" y="3935704"/>
            <a:ext cx="1325764" cy="483370"/>
          </a:xfrm>
          <a:prstGeom prst="line">
            <a:avLst/>
          </a:prstGeom>
          <a:ln w="12700">
            <a:solidFill>
              <a:srgbClr val="BDBD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885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직사각형 44">
            <a:extLst>
              <a:ext uri="{FF2B5EF4-FFF2-40B4-BE49-F238E27FC236}">
                <a16:creationId xmlns:a16="http://schemas.microsoft.com/office/drawing/2014/main" id="{F02FB9F8-8A73-454E-87D7-0CE9A98439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9988EE61-6B2B-4B8E-B551-6683A2F16300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pic>
        <p:nvPicPr>
          <p:cNvPr id="50" name="그림 4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472064" y="1257300"/>
            <a:ext cx="6733022" cy="3790950"/>
          </a:xfrm>
          <a:prstGeom prst="roundRect">
            <a:avLst>
              <a:gd name="adj" fmla="val 2010"/>
            </a:avLst>
          </a:prstGeom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78663A1-B0ED-4D6C-9123-5FD6EABA060A}"/>
              </a:ext>
            </a:extLst>
          </p:cNvPr>
          <p:cNvSpPr>
            <a:spLocks noGrp="1"/>
          </p:cNvSpPr>
          <p:nvPr/>
        </p:nvSpPr>
        <p:spPr>
          <a:xfrm>
            <a:off x="7391400" y="127635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48AB4CE-0B21-4791-BDD5-D777D611B0BE}"/>
              </a:ext>
            </a:extLst>
          </p:cNvPr>
          <p:cNvSpPr>
            <a:spLocks noGrp="1"/>
          </p:cNvSpPr>
          <p:nvPr/>
        </p:nvSpPr>
        <p:spPr>
          <a:xfrm>
            <a:off x="7658100" y="13430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호흡 게이지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6F7823E-07C9-46D4-B5B1-DA165BDEFCAC}"/>
              </a:ext>
            </a:extLst>
          </p:cNvPr>
          <p:cNvSpPr>
            <a:spLocks noGrp="1"/>
          </p:cNvSpPr>
          <p:nvPr/>
        </p:nvSpPr>
        <p:spPr>
          <a:xfrm>
            <a:off x="8934450" y="132397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확보량 · 소모 속도 · 한계 위험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7C1A25F8-3979-424E-8432-7B1431CD67AD}"/>
              </a:ext>
            </a:extLst>
          </p:cNvPr>
          <p:cNvSpPr>
            <a:spLocks noGrp="1"/>
          </p:cNvSpPr>
          <p:nvPr/>
        </p:nvSpPr>
        <p:spPr>
          <a:xfrm>
            <a:off x="7391400" y="205740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B8FE847-DF78-4C82-BCB1-65EB9C8B2808}"/>
              </a:ext>
            </a:extLst>
          </p:cNvPr>
          <p:cNvSpPr>
            <a:spLocks noGrp="1"/>
          </p:cNvSpPr>
          <p:nvPr/>
        </p:nvSpPr>
        <p:spPr>
          <a:xfrm>
            <a:off x="7658100" y="21240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소음 / 의심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A05D3FA-D8D1-4205-A3BC-CA5B692B2E58}"/>
              </a:ext>
            </a:extLst>
          </p:cNvPr>
          <p:cNvSpPr>
            <a:spLocks noGrp="1"/>
          </p:cNvSpPr>
          <p:nvPr/>
        </p:nvSpPr>
        <p:spPr>
          <a:xfrm>
            <a:off x="8934450" y="210502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소음 크기 · 적 AI 반응 가능성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0244A151-AEC8-43E0-A354-930CA725CF26}"/>
              </a:ext>
            </a:extLst>
          </p:cNvPr>
          <p:cNvSpPr>
            <a:spLocks noGrp="1"/>
          </p:cNvSpPr>
          <p:nvPr/>
        </p:nvSpPr>
        <p:spPr>
          <a:xfrm>
            <a:off x="7391400" y="283845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69467DD-691B-4E35-B7ED-1201020777F7}"/>
              </a:ext>
            </a:extLst>
          </p:cNvPr>
          <p:cNvSpPr>
            <a:spLocks noGrp="1"/>
          </p:cNvSpPr>
          <p:nvPr/>
        </p:nvSpPr>
        <p:spPr>
          <a:xfrm>
            <a:off x="7658100" y="290512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능력 아이콘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24F0599-B21E-4664-A964-A7635507D3BD}"/>
              </a:ext>
            </a:extLst>
          </p:cNvPr>
          <p:cNvSpPr>
            <a:spLocks noGrp="1"/>
          </p:cNvSpPr>
          <p:nvPr/>
        </p:nvSpPr>
        <p:spPr>
          <a:xfrm>
            <a:off x="8934450" y="288607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사용 가능 · 잠금 · 조건 미충족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52BF6292-CAAB-487B-901F-FE07EA116275}"/>
              </a:ext>
            </a:extLst>
          </p:cNvPr>
          <p:cNvSpPr>
            <a:spLocks noGrp="1"/>
          </p:cNvSpPr>
          <p:nvPr/>
        </p:nvSpPr>
        <p:spPr>
          <a:xfrm>
            <a:off x="7391400" y="3619500"/>
            <a:ext cx="4229100" cy="628650"/>
          </a:xfrm>
          <a:prstGeom prst="roundRect">
            <a:avLst>
              <a:gd name="adj" fmla="val 12121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D9A3A36D-C585-4B72-A417-DE8D48167D49}"/>
              </a:ext>
            </a:extLst>
          </p:cNvPr>
          <p:cNvSpPr>
            <a:spLocks noGrp="1"/>
          </p:cNvSpPr>
          <p:nvPr/>
        </p:nvSpPr>
        <p:spPr>
          <a:xfrm>
            <a:off x="7658100" y="3686175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미니맵 / 탐지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8BDF646-39C2-48AB-9BC7-B68315DBFC78}"/>
              </a:ext>
            </a:extLst>
          </p:cNvPr>
          <p:cNvSpPr>
            <a:spLocks noGrp="1"/>
          </p:cNvSpPr>
          <p:nvPr/>
        </p:nvSpPr>
        <p:spPr>
          <a:xfrm>
            <a:off x="8934450" y="3667125"/>
            <a:ext cx="25336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적 위치 · 위험 구역 · 소음 원점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3A112E8F-418A-48BF-9D05-0104F1BC64A2}"/>
              </a:ext>
            </a:extLst>
          </p:cNvPr>
          <p:cNvSpPr>
            <a:spLocks noGrp="1"/>
          </p:cNvSpPr>
          <p:nvPr/>
        </p:nvSpPr>
        <p:spPr>
          <a:xfrm>
            <a:off x="7391400" y="4533900"/>
            <a:ext cx="4229100" cy="32385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7F46EE7-058D-4955-8420-21CEA3068A0D}"/>
              </a:ext>
            </a:extLst>
          </p:cNvPr>
          <p:cNvSpPr>
            <a:spLocks noGrp="1"/>
          </p:cNvSpPr>
          <p:nvPr/>
        </p:nvSpPr>
        <p:spPr>
          <a:xfrm>
            <a:off x="7591425" y="4533900"/>
            <a:ext cx="3962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상태별 UI 피드백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8B79937D-F462-4D9D-8DD3-98C8E34BD751}"/>
              </a:ext>
            </a:extLst>
          </p:cNvPr>
          <p:cNvSpPr>
            <a:spLocks noGrp="1"/>
          </p:cNvSpPr>
          <p:nvPr/>
        </p:nvSpPr>
        <p:spPr>
          <a:xfrm>
            <a:off x="7391400" y="491490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174B8999-2146-432B-9CCB-95C17C7A0C89}"/>
              </a:ext>
            </a:extLst>
          </p:cNvPr>
          <p:cNvSpPr>
            <a:spLocks noGrp="1"/>
          </p:cNvSpPr>
          <p:nvPr/>
        </p:nvSpPr>
        <p:spPr>
          <a:xfrm>
            <a:off x="7471786" y="493395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정상 입력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93FC4AA-B2B3-4CF1-8734-D928F624FED8}"/>
              </a:ext>
            </a:extLst>
          </p:cNvPr>
          <p:cNvSpPr>
            <a:spLocks noGrp="1"/>
          </p:cNvSpPr>
          <p:nvPr/>
        </p:nvSpPr>
        <p:spPr>
          <a:xfrm>
            <a:off x="8282940" y="493395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상태색·모션·SFX 전환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B7F0D9D-6BE0-4AF7-975F-B77D5F58182F}"/>
              </a:ext>
            </a:extLst>
          </p:cNvPr>
          <p:cNvSpPr>
            <a:spLocks noGrp="1"/>
          </p:cNvSpPr>
          <p:nvPr/>
        </p:nvSpPr>
        <p:spPr>
          <a:xfrm>
            <a:off x="10248900" y="493395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입력 결과 즉시 확인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9D22C10-F782-4CC4-A692-5FAA35A8FD47}"/>
              </a:ext>
            </a:extLst>
          </p:cNvPr>
          <p:cNvSpPr>
            <a:spLocks noGrp="1"/>
          </p:cNvSpPr>
          <p:nvPr/>
        </p:nvSpPr>
        <p:spPr>
          <a:xfrm>
            <a:off x="7391400" y="535305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F44B872-5EB6-4E20-A0A0-17FE41DA7A98}"/>
              </a:ext>
            </a:extLst>
          </p:cNvPr>
          <p:cNvSpPr>
            <a:spLocks noGrp="1"/>
          </p:cNvSpPr>
          <p:nvPr/>
        </p:nvSpPr>
        <p:spPr>
          <a:xfrm>
            <a:off x="7471786" y="537210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조건 미충족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C9B46AC7-1BBF-4FF9-8EF0-BB7B32483C14}"/>
              </a:ext>
            </a:extLst>
          </p:cNvPr>
          <p:cNvSpPr>
            <a:spLocks noGrp="1"/>
          </p:cNvSpPr>
          <p:nvPr/>
        </p:nvSpPr>
        <p:spPr>
          <a:xfrm>
            <a:off x="8282940" y="537210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능력 아이콘 잠금·짧은 경고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70B5D1BD-BA16-4BBC-95BC-72727D1274F8}"/>
              </a:ext>
            </a:extLst>
          </p:cNvPr>
          <p:cNvSpPr>
            <a:spLocks noGrp="1"/>
          </p:cNvSpPr>
          <p:nvPr/>
        </p:nvSpPr>
        <p:spPr>
          <a:xfrm>
            <a:off x="10248900" y="537210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불가능한 이유 전달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70C72D9A-D07F-4DBC-B7A6-B0408834E56E}"/>
              </a:ext>
            </a:extLst>
          </p:cNvPr>
          <p:cNvSpPr>
            <a:spLocks noGrp="1"/>
          </p:cNvSpPr>
          <p:nvPr/>
        </p:nvSpPr>
        <p:spPr>
          <a:xfrm>
            <a:off x="7391400" y="5791200"/>
            <a:ext cx="4229100" cy="361950"/>
          </a:xfrm>
          <a:prstGeom prst="roundRect">
            <a:avLst>
              <a:gd name="adj" fmla="val 10526"/>
            </a:avLst>
          </a:prstGeom>
          <a:solidFill>
            <a:srgbClr val="F7D8D8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6FA3F81-0EAA-412D-BE46-EC392C8D2435}"/>
              </a:ext>
            </a:extLst>
          </p:cNvPr>
          <p:cNvSpPr>
            <a:spLocks noGrp="1"/>
          </p:cNvSpPr>
          <p:nvPr/>
        </p:nvSpPr>
        <p:spPr>
          <a:xfrm>
            <a:off x="7471786" y="581025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강제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상태</a:t>
            </a:r>
            <a:endParaRPr sz="1000" b="1" dirty="0">
              <a:solidFill>
                <a:srgbClr val="073B5C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908D883-3909-4CCD-88DC-2E6DF2B0F574}"/>
              </a:ext>
            </a:extLst>
          </p:cNvPr>
          <p:cNvSpPr>
            <a:spLocks noGrp="1"/>
          </p:cNvSpPr>
          <p:nvPr/>
        </p:nvSpPr>
        <p:spPr>
          <a:xfrm>
            <a:off x="8282940" y="5810250"/>
            <a:ext cx="1943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붉은</a:t>
            </a:r>
            <a:r>
              <a:rPr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경고·강제</a:t>
            </a:r>
            <a:r>
              <a:rPr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호흡·재입력</a:t>
            </a:r>
            <a:r>
              <a:rPr sz="1000" b="0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제한</a:t>
            </a:r>
            <a:endParaRPr sz="1000" b="0" dirty="0">
              <a:solidFill>
                <a:srgbClr val="16324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E7EC64B-2030-4A42-AB1C-963C17AD50E6}"/>
              </a:ext>
            </a:extLst>
          </p:cNvPr>
          <p:cNvSpPr>
            <a:spLocks noGrp="1"/>
          </p:cNvSpPr>
          <p:nvPr/>
        </p:nvSpPr>
        <p:spPr>
          <a:xfrm>
            <a:off x="10248900" y="5810250"/>
            <a:ext cx="1257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한계 도달 결과 전달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2EDA340-C77A-4A56-867A-CB3EB1902B4D}"/>
              </a:ext>
            </a:extLst>
          </p:cNvPr>
          <p:cNvSpPr>
            <a:spLocks noGrp="1"/>
          </p:cNvSpPr>
          <p:nvPr/>
        </p:nvSpPr>
        <p:spPr>
          <a:xfrm>
            <a:off x="590550" y="525780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1000" b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화면 판단 흐름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07F9B50-9C49-47A8-BA0F-2E061B01B3F2}"/>
              </a:ext>
            </a:extLst>
          </p:cNvPr>
          <p:cNvSpPr>
            <a:spLocks noGrp="1"/>
          </p:cNvSpPr>
          <p:nvPr/>
        </p:nvSpPr>
        <p:spPr>
          <a:xfrm>
            <a:off x="59055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17ABB12-1F16-43F7-BAF8-F7FF6FACD181}"/>
              </a:ext>
            </a:extLst>
          </p:cNvPr>
          <p:cNvSpPr>
            <a:spLocks noGrp="1"/>
          </p:cNvSpPr>
          <p:nvPr/>
        </p:nvSpPr>
        <p:spPr>
          <a:xfrm>
            <a:off x="62865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상태 확인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E32F716-B5C4-40E1-872F-39C0D7276E91}"/>
              </a:ext>
            </a:extLst>
          </p:cNvPr>
          <p:cNvSpPr>
            <a:spLocks noGrp="1"/>
          </p:cNvSpPr>
          <p:nvPr/>
        </p:nvSpPr>
        <p:spPr>
          <a:xfrm>
            <a:off x="182880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5E42B5BD-962D-4B9F-A7DF-033E85843EC8}"/>
              </a:ext>
            </a:extLst>
          </p:cNvPr>
          <p:cNvSpPr>
            <a:spLocks noGrp="1"/>
          </p:cNvSpPr>
          <p:nvPr/>
        </p:nvSpPr>
        <p:spPr>
          <a:xfrm>
            <a:off x="215265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02785CF5-98EF-477F-9F6B-C5629E3ACD10}"/>
              </a:ext>
            </a:extLst>
          </p:cNvPr>
          <p:cNvSpPr>
            <a:spLocks noGrp="1"/>
          </p:cNvSpPr>
          <p:nvPr/>
        </p:nvSpPr>
        <p:spPr>
          <a:xfrm>
            <a:off x="219075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위험 예측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4C8FA7E6-F2AD-49C6-B6F7-A7722E72EEA5}"/>
              </a:ext>
            </a:extLst>
          </p:cNvPr>
          <p:cNvSpPr>
            <a:spLocks noGrp="1"/>
          </p:cNvSpPr>
          <p:nvPr/>
        </p:nvSpPr>
        <p:spPr>
          <a:xfrm>
            <a:off x="339090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46154FF-A5C1-44A2-B118-EDCDF8EF7C1B}"/>
              </a:ext>
            </a:extLst>
          </p:cNvPr>
          <p:cNvSpPr>
            <a:spLocks noGrp="1"/>
          </p:cNvSpPr>
          <p:nvPr/>
        </p:nvSpPr>
        <p:spPr>
          <a:xfrm>
            <a:off x="3714750" y="5572125"/>
            <a:ext cx="1428750" cy="400050"/>
          </a:xfrm>
          <a:prstGeom prst="roundRect">
            <a:avLst>
              <a:gd name="adj" fmla="val 19048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E6E7EA66-E4C7-4E5B-809F-76FF27888F7B}"/>
              </a:ext>
            </a:extLst>
          </p:cNvPr>
          <p:cNvSpPr>
            <a:spLocks noGrp="1"/>
          </p:cNvSpPr>
          <p:nvPr/>
        </p:nvSpPr>
        <p:spPr>
          <a:xfrm>
            <a:off x="3752850" y="5591175"/>
            <a:ext cx="13525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회복 위치 선택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7E57072B-212D-4975-BF15-579D2BE4B4BF}"/>
              </a:ext>
            </a:extLst>
          </p:cNvPr>
          <p:cNvSpPr>
            <a:spLocks noGrp="1"/>
          </p:cNvSpPr>
          <p:nvPr/>
        </p:nvSpPr>
        <p:spPr>
          <a:xfrm>
            <a:off x="5162550" y="562927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6EF354D-CE1F-4D6C-A6F0-C9CF58EFA22E}"/>
              </a:ext>
            </a:extLst>
          </p:cNvPr>
          <p:cNvSpPr>
            <a:spLocks noGrp="1"/>
          </p:cNvSpPr>
          <p:nvPr/>
        </p:nvSpPr>
        <p:spPr>
          <a:xfrm>
            <a:off x="5486400" y="5572125"/>
            <a:ext cx="1219200" cy="400050"/>
          </a:xfrm>
          <a:prstGeom prst="roundRect">
            <a:avLst>
              <a:gd name="adj" fmla="val 19048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3BC9308-AB0D-498D-9EA1-A20F1B37232D}"/>
              </a:ext>
            </a:extLst>
          </p:cNvPr>
          <p:cNvSpPr>
            <a:spLocks noGrp="1"/>
          </p:cNvSpPr>
          <p:nvPr/>
        </p:nvSpPr>
        <p:spPr>
          <a:xfrm>
            <a:off x="5524500" y="5591175"/>
            <a:ext cx="1143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호흡 실행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F09E2BA2-8710-4E6B-8DAF-75DD8ECB76C6}"/>
              </a:ext>
            </a:extLst>
          </p:cNvPr>
          <p:cNvSpPr>
            <a:spLocks noGrp="1"/>
          </p:cNvSpPr>
          <p:nvPr/>
        </p:nvSpPr>
        <p:spPr>
          <a:xfrm>
            <a:off x="457200" y="423865"/>
            <a:ext cx="2542674" cy="37147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03  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8075055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직사각형 69">
            <a:extLst>
              <a:ext uri="{FF2B5EF4-FFF2-40B4-BE49-F238E27FC236}">
                <a16:creationId xmlns:a16="http://schemas.microsoft.com/office/drawing/2014/main" id="{C9589AA7-8B76-4FA8-A79B-CEE94410C2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0767E75A-5E28-4FE2-A55A-CCF3FF4308A2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D377EEDD-78D8-489F-AE71-8F7291A5E91D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57DC13D-4700-4445-8475-8522626641D0}"/>
              </a:ext>
            </a:extLst>
          </p:cNvPr>
          <p:cNvSpPr>
            <a:spLocks noGrp="1"/>
          </p:cNvSpPr>
          <p:nvPr/>
        </p:nvSpPr>
        <p:spPr>
          <a:xfrm>
            <a:off x="552450" y="1285875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RULE 01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FCDD0BF-1A80-418A-AD7F-4A5FAC6462DD}"/>
              </a:ext>
            </a:extLst>
          </p:cNvPr>
          <p:cNvSpPr>
            <a:spLocks noGrp="1"/>
          </p:cNvSpPr>
          <p:nvPr/>
        </p:nvSpPr>
        <p:spPr>
          <a:xfrm>
            <a:off x="1333500" y="1285875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호흡량은 직접 조절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7AD8542B-BF0A-40E3-B202-AEBFBD4AF185}"/>
              </a:ext>
            </a:extLst>
          </p:cNvPr>
          <p:cNvSpPr>
            <a:spLocks noGrp="1"/>
          </p:cNvSpPr>
          <p:nvPr/>
        </p:nvSpPr>
        <p:spPr>
          <a:xfrm>
            <a:off x="424815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6CB2C13-7A60-4AD7-A807-BEE4DC4E0C9F}"/>
              </a:ext>
            </a:extLst>
          </p:cNvPr>
          <p:cNvSpPr>
            <a:spLocks noGrp="1"/>
          </p:cNvSpPr>
          <p:nvPr/>
        </p:nvSpPr>
        <p:spPr>
          <a:xfrm>
            <a:off x="4343400" y="1285875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RULE 02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4A258F7-942D-4B88-8358-A28068E4D1D8}"/>
              </a:ext>
            </a:extLst>
          </p:cNvPr>
          <p:cNvSpPr>
            <a:spLocks noGrp="1"/>
          </p:cNvSpPr>
          <p:nvPr/>
        </p:nvSpPr>
        <p:spPr>
          <a:xfrm>
            <a:off x="5124450" y="1285875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숨 참기는 확보 호흡 소비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B9CDA48-2AB5-40FD-845C-946F05BFC8C4}"/>
              </a:ext>
            </a:extLst>
          </p:cNvPr>
          <p:cNvSpPr>
            <a:spLocks noGrp="1"/>
          </p:cNvSpPr>
          <p:nvPr/>
        </p:nvSpPr>
        <p:spPr>
          <a:xfrm>
            <a:off x="8039100" y="125730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CC85C343-86E9-4540-A2EB-879E45DA923F}"/>
              </a:ext>
            </a:extLst>
          </p:cNvPr>
          <p:cNvSpPr>
            <a:spLocks noGrp="1"/>
          </p:cNvSpPr>
          <p:nvPr/>
        </p:nvSpPr>
        <p:spPr>
          <a:xfrm>
            <a:off x="8134350" y="1285875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RULE 03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7E3D53C-A34D-432D-9473-024D6A2408DD}"/>
              </a:ext>
            </a:extLst>
          </p:cNvPr>
          <p:cNvSpPr>
            <a:spLocks noGrp="1"/>
          </p:cNvSpPr>
          <p:nvPr/>
        </p:nvSpPr>
        <p:spPr>
          <a:xfrm>
            <a:off x="8915400" y="1285875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내쉬기는 필요한 만큼 회복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A0715399-A1B5-43FE-A08C-FF9D7F816971}"/>
              </a:ext>
            </a:extLst>
          </p:cNvPr>
          <p:cNvSpPr>
            <a:spLocks noGrp="1"/>
          </p:cNvSpPr>
          <p:nvPr/>
        </p:nvSpPr>
        <p:spPr>
          <a:xfrm>
            <a:off x="45720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8E7877E-E98A-489C-8CD4-6BA9A0A94A20}"/>
              </a:ext>
            </a:extLst>
          </p:cNvPr>
          <p:cNvSpPr>
            <a:spLocks noGrp="1"/>
          </p:cNvSpPr>
          <p:nvPr/>
        </p:nvSpPr>
        <p:spPr>
          <a:xfrm>
            <a:off x="552450" y="1838325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RULE 04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AC5A7A-3A1C-4867-B18A-0D7DBFE7D008}"/>
              </a:ext>
            </a:extLst>
          </p:cNvPr>
          <p:cNvSpPr>
            <a:spLocks noGrp="1"/>
          </p:cNvSpPr>
          <p:nvPr/>
        </p:nvSpPr>
        <p:spPr>
          <a:xfrm>
            <a:off x="1333500" y="1838325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한계 초과 시 강제 호흡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DC0E0996-D5ED-4732-9641-42BCCE00D70C}"/>
              </a:ext>
            </a:extLst>
          </p:cNvPr>
          <p:cNvSpPr>
            <a:spLocks noGrp="1"/>
          </p:cNvSpPr>
          <p:nvPr/>
        </p:nvSpPr>
        <p:spPr>
          <a:xfrm>
            <a:off x="424815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A4263E-4FE5-4EE4-8B42-F33466912F4B}"/>
              </a:ext>
            </a:extLst>
          </p:cNvPr>
          <p:cNvSpPr>
            <a:spLocks noGrp="1"/>
          </p:cNvSpPr>
          <p:nvPr/>
        </p:nvSpPr>
        <p:spPr>
          <a:xfrm>
            <a:off x="4343400" y="1838325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RULE 05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03B1BFA-AB66-4F3B-B01B-062F42055E97}"/>
              </a:ext>
            </a:extLst>
          </p:cNvPr>
          <p:cNvSpPr>
            <a:spLocks noGrp="1"/>
          </p:cNvSpPr>
          <p:nvPr/>
        </p:nvSpPr>
        <p:spPr>
          <a:xfrm>
            <a:off x="5124450" y="1838325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호흡 결과는 소음으로 전달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08DBDC3-12CD-4E58-B72F-7E014C60BBF6}"/>
              </a:ext>
            </a:extLst>
          </p:cNvPr>
          <p:cNvSpPr>
            <a:spLocks noGrp="1"/>
          </p:cNvSpPr>
          <p:nvPr/>
        </p:nvSpPr>
        <p:spPr>
          <a:xfrm>
            <a:off x="8039100" y="1809750"/>
            <a:ext cx="3524250" cy="438150"/>
          </a:xfrm>
          <a:prstGeom prst="roundRect">
            <a:avLst>
              <a:gd name="adj" fmla="val 13043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3E1AE882-F1C6-45F4-B2C4-1D92C157DB73}"/>
              </a:ext>
            </a:extLst>
          </p:cNvPr>
          <p:cNvSpPr>
            <a:spLocks noGrp="1"/>
          </p:cNvSpPr>
          <p:nvPr/>
        </p:nvSpPr>
        <p:spPr>
          <a:xfrm>
            <a:off x="8134350" y="1838325"/>
            <a:ext cx="742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RULE 06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77FDB53-F11C-4E67-97E7-0222519F1B69}"/>
              </a:ext>
            </a:extLst>
          </p:cNvPr>
          <p:cNvSpPr>
            <a:spLocks noGrp="1"/>
          </p:cNvSpPr>
          <p:nvPr/>
        </p:nvSpPr>
        <p:spPr>
          <a:xfrm>
            <a:off x="8915400" y="1838325"/>
            <a:ext cx="25146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시작 상태에 따라 결과 변화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62E080B-72B5-44A7-8358-19B56CA23A4A}"/>
              </a:ext>
            </a:extLst>
          </p:cNvPr>
          <p:cNvSpPr>
            <a:spLocks noGrp="1"/>
          </p:cNvSpPr>
          <p:nvPr/>
        </p:nvSpPr>
        <p:spPr>
          <a:xfrm>
            <a:off x="45720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C7C83CB-065B-4E7A-8677-65FA54A5065F}"/>
              </a:ext>
            </a:extLst>
          </p:cNvPr>
          <p:cNvSpPr>
            <a:spLocks noGrp="1"/>
          </p:cNvSpPr>
          <p:nvPr/>
        </p:nvSpPr>
        <p:spPr>
          <a:xfrm>
            <a:off x="45720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BD2BB49E-F807-4DFB-8513-3815200599B0}"/>
              </a:ext>
            </a:extLst>
          </p:cNvPr>
          <p:cNvSpPr>
            <a:spLocks noGrp="1"/>
          </p:cNvSpPr>
          <p:nvPr/>
        </p:nvSpPr>
        <p:spPr>
          <a:xfrm>
            <a:off x="62865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들이마시기</a:t>
            </a:r>
            <a:endParaRPr sz="1500" b="1" dirty="0">
              <a:solidFill>
                <a:srgbClr val="073B5C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923EFED-B3AE-4E25-BBEF-DE32866519B1}"/>
              </a:ext>
            </a:extLst>
          </p:cNvPr>
          <p:cNvSpPr>
            <a:spLocks noGrp="1"/>
          </p:cNvSpPr>
          <p:nvPr/>
        </p:nvSpPr>
        <p:spPr>
          <a:xfrm>
            <a:off x="193357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r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준비 · 회수 · 저장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4BB34A3-68B1-4AED-A78D-6B2EEC24BF55}"/>
              </a:ext>
            </a:extLst>
          </p:cNvPr>
          <p:cNvSpPr>
            <a:spLocks noGrp="1"/>
          </p:cNvSpPr>
          <p:nvPr/>
        </p:nvSpPr>
        <p:spPr>
          <a:xfrm>
            <a:off x="64770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기본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51A2099A-4E28-4C74-8162-E1ED1600878D}"/>
              </a:ext>
            </a:extLst>
          </p:cNvPr>
          <p:cNvSpPr>
            <a:spLocks noGrp="1"/>
          </p:cNvSpPr>
          <p:nvPr/>
        </p:nvSpPr>
        <p:spPr>
          <a:xfrm>
            <a:off x="150495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입력 시간만큼 호흡 확보</a:t>
            </a:r>
          </a:p>
        </p:txBody>
      </p:sp>
      <p:sp>
        <p:nvSpPr>
          <p:cNvPr id="30" name="직선 연결선 29">
            <a:extLst>
              <a:ext uri="{FF2B5EF4-FFF2-40B4-BE49-F238E27FC236}">
                <a16:creationId xmlns:a16="http://schemas.microsoft.com/office/drawing/2014/main" id="{10CD23A3-4CDA-4A46-85D0-7A80B1FA40BB}"/>
              </a:ext>
            </a:extLst>
          </p:cNvPr>
          <p:cNvSpPr>
            <a:spLocks noGrp="1"/>
          </p:cNvSpPr>
          <p:nvPr/>
        </p:nvSpPr>
        <p:spPr>
          <a:xfrm>
            <a:off x="64770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01D7AC85-530E-4E8D-BECD-15E58D4D18AF}"/>
              </a:ext>
            </a:extLst>
          </p:cNvPr>
          <p:cNvSpPr>
            <a:spLocks noGrp="1"/>
          </p:cNvSpPr>
          <p:nvPr/>
        </p:nvSpPr>
        <p:spPr>
          <a:xfrm>
            <a:off x="64770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흡인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2D4EC3E-5611-41C2-9B8A-5145E76FCFC6}"/>
              </a:ext>
            </a:extLst>
          </p:cNvPr>
          <p:cNvSpPr>
            <a:spLocks noGrp="1"/>
          </p:cNvSpPr>
          <p:nvPr/>
        </p:nvSpPr>
        <p:spPr>
          <a:xfrm>
            <a:off x="150495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주변 오브젝트 회수 / 탐색</a:t>
            </a:r>
          </a:p>
        </p:txBody>
      </p:sp>
      <p:sp>
        <p:nvSpPr>
          <p:cNvPr id="33" name="직선 연결선 32">
            <a:extLst>
              <a:ext uri="{FF2B5EF4-FFF2-40B4-BE49-F238E27FC236}">
                <a16:creationId xmlns:a16="http://schemas.microsoft.com/office/drawing/2014/main" id="{09334A7D-FC5A-481A-ADBA-2A7471CB1888}"/>
              </a:ext>
            </a:extLst>
          </p:cNvPr>
          <p:cNvSpPr>
            <a:spLocks noGrp="1"/>
          </p:cNvSpPr>
          <p:nvPr/>
        </p:nvSpPr>
        <p:spPr>
          <a:xfrm>
            <a:off x="64770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909A077-D7EE-495F-9DF5-42AFD1548D12}"/>
              </a:ext>
            </a:extLst>
          </p:cNvPr>
          <p:cNvSpPr>
            <a:spLocks noGrp="1"/>
          </p:cNvSpPr>
          <p:nvPr/>
        </p:nvSpPr>
        <p:spPr>
          <a:xfrm>
            <a:off x="64770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흡음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89698775-9298-450B-A816-57A8BF377CA8}"/>
              </a:ext>
            </a:extLst>
          </p:cNvPr>
          <p:cNvSpPr>
            <a:spLocks noGrp="1"/>
          </p:cNvSpPr>
          <p:nvPr/>
        </p:nvSpPr>
        <p:spPr>
          <a:xfrm>
            <a:off x="150495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큰 소음 저장 후 다른 위치에서 방출</a:t>
            </a:r>
          </a:p>
        </p:txBody>
      </p:sp>
      <p:sp>
        <p:nvSpPr>
          <p:cNvPr id="36" name="직선 연결선 35">
            <a:extLst>
              <a:ext uri="{FF2B5EF4-FFF2-40B4-BE49-F238E27FC236}">
                <a16:creationId xmlns:a16="http://schemas.microsoft.com/office/drawing/2014/main" id="{6CB640E5-5323-4A34-B7CC-D39F0B63244C}"/>
              </a:ext>
            </a:extLst>
          </p:cNvPr>
          <p:cNvSpPr>
            <a:spLocks noGrp="1"/>
          </p:cNvSpPr>
          <p:nvPr/>
        </p:nvSpPr>
        <p:spPr>
          <a:xfrm>
            <a:off x="64770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05EF5D7-25C7-46AE-8226-8C59CB49AABD}"/>
              </a:ext>
            </a:extLst>
          </p:cNvPr>
          <p:cNvSpPr>
            <a:spLocks noGrp="1"/>
          </p:cNvSpPr>
          <p:nvPr/>
        </p:nvSpPr>
        <p:spPr>
          <a:xfrm>
            <a:off x="64770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흡기 도약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7759A8C7-F344-41FE-9AB8-85DB32DD7D41}"/>
              </a:ext>
            </a:extLst>
          </p:cNvPr>
          <p:cNvSpPr>
            <a:spLocks noGrp="1"/>
          </p:cNvSpPr>
          <p:nvPr/>
        </p:nvSpPr>
        <p:spPr>
          <a:xfrm>
            <a:off x="150495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점프 시작 시 수평 거리 증가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6F9F3D09-9ACC-42A0-8435-9861A735260E}"/>
              </a:ext>
            </a:extLst>
          </p:cNvPr>
          <p:cNvSpPr>
            <a:spLocks noGrp="1"/>
          </p:cNvSpPr>
          <p:nvPr/>
        </p:nvSpPr>
        <p:spPr>
          <a:xfrm>
            <a:off x="424815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F1E5A67-8CCE-4878-9BAE-A233D2353761}"/>
              </a:ext>
            </a:extLst>
          </p:cNvPr>
          <p:cNvSpPr>
            <a:spLocks noGrp="1"/>
          </p:cNvSpPr>
          <p:nvPr/>
        </p:nvSpPr>
        <p:spPr>
          <a:xfrm>
            <a:off x="424815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C2946533-5D26-43BB-A5E6-A8FEBF856441}"/>
              </a:ext>
            </a:extLst>
          </p:cNvPr>
          <p:cNvSpPr>
            <a:spLocks noGrp="1"/>
          </p:cNvSpPr>
          <p:nvPr/>
        </p:nvSpPr>
        <p:spPr>
          <a:xfrm>
            <a:off x="441960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숨 참기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F623E12-6579-42A9-9B96-CE7CA7582FD2}"/>
              </a:ext>
            </a:extLst>
          </p:cNvPr>
          <p:cNvSpPr>
            <a:spLocks noGrp="1"/>
          </p:cNvSpPr>
          <p:nvPr/>
        </p:nvSpPr>
        <p:spPr>
          <a:xfrm>
            <a:off x="572452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r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은폐 · 유지 · 정지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24694B9A-40F3-4660-8990-101308C463CB}"/>
              </a:ext>
            </a:extLst>
          </p:cNvPr>
          <p:cNvSpPr>
            <a:spLocks noGrp="1"/>
          </p:cNvSpPr>
          <p:nvPr/>
        </p:nvSpPr>
        <p:spPr>
          <a:xfrm>
            <a:off x="443865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기본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D13C897-985C-4D7D-9F0C-0F6AA56E5B74}"/>
              </a:ext>
            </a:extLst>
          </p:cNvPr>
          <p:cNvSpPr>
            <a:spLocks noGrp="1"/>
          </p:cNvSpPr>
          <p:nvPr/>
        </p:nvSpPr>
        <p:spPr>
          <a:xfrm>
            <a:off x="529590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호흡 소음 억제 · 게이지 소모</a:t>
            </a:r>
          </a:p>
        </p:txBody>
      </p:sp>
      <p:sp>
        <p:nvSpPr>
          <p:cNvPr id="45" name="직선 연결선 44">
            <a:extLst>
              <a:ext uri="{FF2B5EF4-FFF2-40B4-BE49-F238E27FC236}">
                <a16:creationId xmlns:a16="http://schemas.microsoft.com/office/drawing/2014/main" id="{77D030B7-9D08-4647-B622-A02CB29E72B2}"/>
              </a:ext>
            </a:extLst>
          </p:cNvPr>
          <p:cNvSpPr>
            <a:spLocks noGrp="1"/>
          </p:cNvSpPr>
          <p:nvPr/>
        </p:nvSpPr>
        <p:spPr>
          <a:xfrm>
            <a:off x="443865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8F53C2BF-C0FE-455A-866C-D1F62532A4F6}"/>
              </a:ext>
            </a:extLst>
          </p:cNvPr>
          <p:cNvSpPr>
            <a:spLocks noGrp="1"/>
          </p:cNvSpPr>
          <p:nvPr/>
        </p:nvSpPr>
        <p:spPr>
          <a:xfrm>
            <a:off x="443865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기척 소거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67409B37-5A61-4561-AA01-3C6B0E85E1D9}"/>
              </a:ext>
            </a:extLst>
          </p:cNvPr>
          <p:cNvSpPr>
            <a:spLocks noGrp="1"/>
          </p:cNvSpPr>
          <p:nvPr/>
        </p:nvSpPr>
        <p:spPr>
          <a:xfrm>
            <a:off x="529590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시각 탐지 회피; 물리 소음 유지</a:t>
            </a:r>
          </a:p>
        </p:txBody>
      </p:sp>
      <p:sp>
        <p:nvSpPr>
          <p:cNvPr id="48" name="직선 연결선 47">
            <a:extLst>
              <a:ext uri="{FF2B5EF4-FFF2-40B4-BE49-F238E27FC236}">
                <a16:creationId xmlns:a16="http://schemas.microsoft.com/office/drawing/2014/main" id="{33D977D9-D87B-4B92-B3B9-BE3204D02541}"/>
              </a:ext>
            </a:extLst>
          </p:cNvPr>
          <p:cNvSpPr>
            <a:spLocks noGrp="1"/>
          </p:cNvSpPr>
          <p:nvPr/>
        </p:nvSpPr>
        <p:spPr>
          <a:xfrm>
            <a:off x="443865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515967D-47A4-4CFF-8B7A-7F05EFE5C886}"/>
              </a:ext>
            </a:extLst>
          </p:cNvPr>
          <p:cNvSpPr>
            <a:spLocks noGrp="1"/>
          </p:cNvSpPr>
          <p:nvPr/>
        </p:nvSpPr>
        <p:spPr>
          <a:xfrm>
            <a:off x="443865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공중 부유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1EEA1C2-F8FB-463E-BE4D-93487A83585D}"/>
              </a:ext>
            </a:extLst>
          </p:cNvPr>
          <p:cNvSpPr>
            <a:spLocks noGrp="1"/>
          </p:cNvSpPr>
          <p:nvPr/>
        </p:nvSpPr>
        <p:spPr>
          <a:xfrm>
            <a:off x="529590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공중에서 시작할 때만 높이 유지</a:t>
            </a:r>
          </a:p>
        </p:txBody>
      </p:sp>
      <p:sp>
        <p:nvSpPr>
          <p:cNvPr id="51" name="직선 연결선 50">
            <a:extLst>
              <a:ext uri="{FF2B5EF4-FFF2-40B4-BE49-F238E27FC236}">
                <a16:creationId xmlns:a16="http://schemas.microsoft.com/office/drawing/2014/main" id="{8B819366-21D8-4536-981D-7949700F9F94}"/>
              </a:ext>
            </a:extLst>
          </p:cNvPr>
          <p:cNvSpPr>
            <a:spLocks noGrp="1"/>
          </p:cNvSpPr>
          <p:nvPr/>
        </p:nvSpPr>
        <p:spPr>
          <a:xfrm>
            <a:off x="443865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ADDF91F6-CB9D-4B0D-82C8-8F2178B2472D}"/>
              </a:ext>
            </a:extLst>
          </p:cNvPr>
          <p:cNvSpPr>
            <a:spLocks noGrp="1"/>
          </p:cNvSpPr>
          <p:nvPr/>
        </p:nvSpPr>
        <p:spPr>
          <a:xfrm>
            <a:off x="443865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시간 정지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1297BB8-EC08-4449-9558-D93C82548D70}"/>
              </a:ext>
            </a:extLst>
          </p:cNvPr>
          <p:cNvSpPr>
            <a:spLocks noGrp="1"/>
          </p:cNvSpPr>
          <p:nvPr/>
        </p:nvSpPr>
        <p:spPr>
          <a:xfrm>
            <a:off x="529590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후반 능력 · 매우 큰 호흡 소모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3DAED365-16D3-4A14-9AA0-6A2697544A48}"/>
              </a:ext>
            </a:extLst>
          </p:cNvPr>
          <p:cNvSpPr>
            <a:spLocks noGrp="1"/>
          </p:cNvSpPr>
          <p:nvPr/>
        </p:nvSpPr>
        <p:spPr>
          <a:xfrm>
            <a:off x="8039100" y="2724150"/>
            <a:ext cx="3524250" cy="3143250"/>
          </a:xfrm>
          <a:prstGeom prst="roundRect">
            <a:avLst>
              <a:gd name="adj" fmla="val 303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9B7A6F10-222E-4065-8DB9-DD94A6B6E686}"/>
              </a:ext>
            </a:extLst>
          </p:cNvPr>
          <p:cNvSpPr>
            <a:spLocks noGrp="1"/>
          </p:cNvSpPr>
          <p:nvPr/>
        </p:nvSpPr>
        <p:spPr>
          <a:xfrm>
            <a:off x="8039100" y="2724150"/>
            <a:ext cx="3524250" cy="628650"/>
          </a:xfrm>
          <a:prstGeom prst="roundRect">
            <a:avLst>
              <a:gd name="adj" fmla="val 15152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D436C7F2-13AC-4140-AC04-7AE2B79691B0}"/>
              </a:ext>
            </a:extLst>
          </p:cNvPr>
          <p:cNvSpPr>
            <a:spLocks noGrp="1"/>
          </p:cNvSpPr>
          <p:nvPr/>
        </p:nvSpPr>
        <p:spPr>
          <a:xfrm>
            <a:off x="8210550" y="2914650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내쉬기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C7FADA2A-75E5-47F4-9583-B1603923784C}"/>
              </a:ext>
            </a:extLst>
          </p:cNvPr>
          <p:cNvSpPr>
            <a:spLocks noGrp="1"/>
          </p:cNvSpPr>
          <p:nvPr/>
        </p:nvSpPr>
        <p:spPr>
          <a:xfrm>
            <a:off x="9515475" y="2838450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r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방출 · 공명 · 기만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19225A4-9F6A-44D0-BC21-0DC07EE7B404}"/>
              </a:ext>
            </a:extLst>
          </p:cNvPr>
          <p:cNvSpPr>
            <a:spLocks noGrp="1"/>
          </p:cNvSpPr>
          <p:nvPr/>
        </p:nvSpPr>
        <p:spPr>
          <a:xfrm>
            <a:off x="8229600" y="34861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기본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B5429B6-D05E-4D32-A1E9-5D4BA5F68E19}"/>
              </a:ext>
            </a:extLst>
          </p:cNvPr>
          <p:cNvSpPr>
            <a:spLocks noGrp="1"/>
          </p:cNvSpPr>
          <p:nvPr/>
        </p:nvSpPr>
        <p:spPr>
          <a:xfrm>
            <a:off x="9086850" y="34861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필요한 양만 부분 회복</a:t>
            </a:r>
          </a:p>
        </p:txBody>
      </p:sp>
      <p:sp>
        <p:nvSpPr>
          <p:cNvPr id="60" name="직선 연결선 59">
            <a:extLst>
              <a:ext uri="{FF2B5EF4-FFF2-40B4-BE49-F238E27FC236}">
                <a16:creationId xmlns:a16="http://schemas.microsoft.com/office/drawing/2014/main" id="{E65A8368-8470-40E0-9B81-07AC02AC5CD9}"/>
              </a:ext>
            </a:extLst>
          </p:cNvPr>
          <p:cNvSpPr>
            <a:spLocks noGrp="1"/>
          </p:cNvSpPr>
          <p:nvPr/>
        </p:nvSpPr>
        <p:spPr>
          <a:xfrm>
            <a:off x="8229600" y="39528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FEDC65D8-D5BB-49EA-83C6-5739385D8E52}"/>
              </a:ext>
            </a:extLst>
          </p:cNvPr>
          <p:cNvSpPr>
            <a:spLocks noGrp="1"/>
          </p:cNvSpPr>
          <p:nvPr/>
        </p:nvSpPr>
        <p:spPr>
          <a:xfrm>
            <a:off x="8229600" y="40386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공명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49D7ACE-6695-4267-9C47-F2C93A9D3095}"/>
              </a:ext>
            </a:extLst>
          </p:cNvPr>
          <p:cNvSpPr>
            <a:spLocks noGrp="1"/>
          </p:cNvSpPr>
          <p:nvPr/>
        </p:nvSpPr>
        <p:spPr>
          <a:xfrm>
            <a:off x="9086850" y="40386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환경·적 위치를 파동으로 탐색</a:t>
            </a:r>
          </a:p>
        </p:txBody>
      </p:sp>
      <p:sp>
        <p:nvSpPr>
          <p:cNvPr id="63" name="직선 연결선 62">
            <a:extLst>
              <a:ext uri="{FF2B5EF4-FFF2-40B4-BE49-F238E27FC236}">
                <a16:creationId xmlns:a16="http://schemas.microsoft.com/office/drawing/2014/main" id="{FCA51E17-B231-42DD-BB24-65B5ED7D49D7}"/>
              </a:ext>
            </a:extLst>
          </p:cNvPr>
          <p:cNvSpPr>
            <a:spLocks noGrp="1"/>
          </p:cNvSpPr>
          <p:nvPr/>
        </p:nvSpPr>
        <p:spPr>
          <a:xfrm>
            <a:off x="8229600" y="450532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E8129C-7EAD-4BB6-AEE3-DDA85FEF2DFB}"/>
              </a:ext>
            </a:extLst>
          </p:cNvPr>
          <p:cNvSpPr>
            <a:spLocks noGrp="1"/>
          </p:cNvSpPr>
          <p:nvPr/>
        </p:nvSpPr>
        <p:spPr>
          <a:xfrm>
            <a:off x="8229600" y="459105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잔기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146EF02A-4B92-4714-9738-49106C5E69AF}"/>
              </a:ext>
            </a:extLst>
          </p:cNvPr>
          <p:cNvSpPr>
            <a:spLocks noGrp="1"/>
          </p:cNvSpPr>
          <p:nvPr/>
        </p:nvSpPr>
        <p:spPr>
          <a:xfrm>
            <a:off x="9086850" y="459105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가짜 기척을 남겨 적 판단 왜곡</a:t>
            </a:r>
          </a:p>
        </p:txBody>
      </p:sp>
      <p:sp>
        <p:nvSpPr>
          <p:cNvPr id="66" name="직선 연결선 65">
            <a:extLst>
              <a:ext uri="{FF2B5EF4-FFF2-40B4-BE49-F238E27FC236}">
                <a16:creationId xmlns:a16="http://schemas.microsoft.com/office/drawing/2014/main" id="{F15B7C06-3D58-4D95-8A14-642E490D691C}"/>
              </a:ext>
            </a:extLst>
          </p:cNvPr>
          <p:cNvSpPr>
            <a:spLocks noGrp="1"/>
          </p:cNvSpPr>
          <p:nvPr/>
        </p:nvSpPr>
        <p:spPr>
          <a:xfrm>
            <a:off x="8229600" y="5057775"/>
            <a:ext cx="31242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4C3181AC-FBA2-4ACB-9AA6-5CA907E7D2F3}"/>
              </a:ext>
            </a:extLst>
          </p:cNvPr>
          <p:cNvSpPr>
            <a:spLocks noGrp="1"/>
          </p:cNvSpPr>
          <p:nvPr/>
        </p:nvSpPr>
        <p:spPr>
          <a:xfrm>
            <a:off x="8229600" y="5143500"/>
            <a:ext cx="8382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소음 방출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D90D3C54-3859-480A-9055-5975E267C612}"/>
              </a:ext>
            </a:extLst>
          </p:cNvPr>
          <p:cNvSpPr>
            <a:spLocks noGrp="1"/>
          </p:cNvSpPr>
          <p:nvPr/>
        </p:nvSpPr>
        <p:spPr>
          <a:xfrm>
            <a:off x="9086850" y="5143500"/>
            <a:ext cx="2266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저장 소음을 내보내 호흡 복구</a:t>
            </a:r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4172B677-C1A6-44E2-BFE9-D31FAA392374}"/>
              </a:ext>
            </a:extLst>
          </p:cNvPr>
          <p:cNvSpPr>
            <a:spLocks noGrp="1"/>
          </p:cNvSpPr>
          <p:nvPr/>
        </p:nvSpPr>
        <p:spPr>
          <a:xfrm>
            <a:off x="457200" y="6134100"/>
            <a:ext cx="11144250" cy="285750"/>
          </a:xfrm>
          <a:prstGeom prst="rect">
            <a:avLst/>
          </a:prstGeom>
          <a:solidFill>
            <a:srgbClr val="F7D8D8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9B3940"/>
                </a:solidFill>
              </a:defRPr>
            </a:pPr>
            <a:r>
              <a:rPr sz="1000" b="1">
                <a:solidFill>
                  <a:srgbClr val="9B3940"/>
                </a:solidFill>
                <a:latin typeface="맑은 고딕"/>
                <a:ea typeface="맑은 고딕"/>
                <a:cs typeface="맑은 고딕"/>
              </a:rPr>
              <a:t>금지 규칙  새 버튼을 계속 추가하거나, 한 번 시작한 호흡을 끝까지 강제하는 구조로 만들지 않음</a:t>
            </a:r>
          </a:p>
        </p:txBody>
      </p: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00291E10-C18D-4A75-89AC-BC03ADE8B782}"/>
              </a:ext>
            </a:extLst>
          </p:cNvPr>
          <p:cNvSpPr>
            <a:spLocks noGrp="1"/>
          </p:cNvSpPr>
          <p:nvPr/>
        </p:nvSpPr>
        <p:spPr>
          <a:xfrm>
            <a:off x="457200" y="447675"/>
            <a:ext cx="2542674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04  시스템 규칙</a:t>
            </a:r>
          </a:p>
        </p:txBody>
      </p:sp>
    </p:spTree>
    <p:extLst>
      <p:ext uri="{BB962C8B-B14F-4D97-AF65-F5344CB8AC3E}">
        <p14:creationId xmlns:p14="http://schemas.microsoft.com/office/powerpoint/2010/main" val="1034871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직사각형 64">
            <a:extLst>
              <a:ext uri="{FF2B5EF4-FFF2-40B4-BE49-F238E27FC236}">
                <a16:creationId xmlns:a16="http://schemas.microsoft.com/office/drawing/2014/main" id="{C5CB5293-F945-4FE8-9387-9384985BF9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7CAB377A-75C0-4B28-8EBF-9B0915B09835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A588AD5-B486-426C-A623-B0EA68DE5447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6096000" cy="323850"/>
          </a:xfrm>
          <a:prstGeom prst="roundRect">
            <a:avLst>
              <a:gd name="adj" fmla="val 14706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1F34321-F74D-4D68-89F0-54DD9E699814}"/>
              </a:ext>
            </a:extLst>
          </p:cNvPr>
          <p:cNvSpPr>
            <a:spLocks noGrp="1"/>
          </p:cNvSpPr>
          <p:nvPr/>
        </p:nvSpPr>
        <p:spPr>
          <a:xfrm>
            <a:off x="523875" y="1257300"/>
            <a:ext cx="5962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공기 환경 속성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4141EAF8-CDD6-4167-B370-7AB8D0408F36}"/>
              </a:ext>
            </a:extLst>
          </p:cNvPr>
          <p:cNvSpPr>
            <a:spLocks noGrp="1"/>
          </p:cNvSpPr>
          <p:nvPr/>
        </p:nvSpPr>
        <p:spPr>
          <a:xfrm>
            <a:off x="457200" y="16573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0542229-0648-4E20-9C38-74EC5194AC03}"/>
              </a:ext>
            </a:extLst>
          </p:cNvPr>
          <p:cNvSpPr>
            <a:spLocks noGrp="1"/>
          </p:cNvSpPr>
          <p:nvPr/>
        </p:nvSpPr>
        <p:spPr>
          <a:xfrm>
            <a:off x="571500" y="16859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DFFEDFD-8A7F-4F48-AE6B-66592F5D6C73}"/>
              </a:ext>
            </a:extLst>
          </p:cNvPr>
          <p:cNvSpPr>
            <a:spLocks noGrp="1"/>
          </p:cNvSpPr>
          <p:nvPr/>
        </p:nvSpPr>
        <p:spPr>
          <a:xfrm>
            <a:off x="1524000" y="16859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안전 한계 100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97ED0CB-7DF8-453C-A99D-89AD2DE8322F}"/>
              </a:ext>
            </a:extLst>
          </p:cNvPr>
          <p:cNvSpPr>
            <a:spLocks noGrp="1"/>
          </p:cNvSpPr>
          <p:nvPr/>
        </p:nvSpPr>
        <p:spPr>
          <a:xfrm>
            <a:off x="3638550" y="16859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제약 없음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4C4E72C-B900-43DB-B15D-0981EC2CC8DF}"/>
              </a:ext>
            </a:extLst>
          </p:cNvPr>
          <p:cNvSpPr>
            <a:spLocks noGrp="1"/>
          </p:cNvSpPr>
          <p:nvPr/>
        </p:nvSpPr>
        <p:spPr>
          <a:xfrm>
            <a:off x="457200" y="21336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D1A912-93CF-4BAB-902B-5554F410717D}"/>
              </a:ext>
            </a:extLst>
          </p:cNvPr>
          <p:cNvSpPr>
            <a:spLocks noGrp="1"/>
          </p:cNvSpPr>
          <p:nvPr/>
        </p:nvSpPr>
        <p:spPr>
          <a:xfrm>
            <a:off x="571500" y="21621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먼지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4B23F07-1F93-4953-8C33-49760092803C}"/>
              </a:ext>
            </a:extLst>
          </p:cNvPr>
          <p:cNvSpPr>
            <a:spLocks noGrp="1"/>
          </p:cNvSpPr>
          <p:nvPr/>
        </p:nvSpPr>
        <p:spPr>
          <a:xfrm>
            <a:off x="1524000" y="21621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안전 한계 감소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C85D9F8-D8BB-4CB6-A0B3-8E91CD40C7DA}"/>
              </a:ext>
            </a:extLst>
          </p:cNvPr>
          <p:cNvSpPr>
            <a:spLocks noGrp="1"/>
          </p:cNvSpPr>
          <p:nvPr/>
        </p:nvSpPr>
        <p:spPr>
          <a:xfrm>
            <a:off x="3638550" y="21621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기침 자극 누적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DBF3BBCF-B4EA-4C69-952A-966FD0A83DB7}"/>
              </a:ext>
            </a:extLst>
          </p:cNvPr>
          <p:cNvSpPr>
            <a:spLocks noGrp="1"/>
          </p:cNvSpPr>
          <p:nvPr/>
        </p:nvSpPr>
        <p:spPr>
          <a:xfrm>
            <a:off x="457200" y="26098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9C8E9F58-DAE2-4F5D-9938-C9010BD58872}"/>
              </a:ext>
            </a:extLst>
          </p:cNvPr>
          <p:cNvSpPr>
            <a:spLocks noGrp="1"/>
          </p:cNvSpPr>
          <p:nvPr/>
        </p:nvSpPr>
        <p:spPr>
          <a:xfrm>
            <a:off x="571500" y="26384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꽃가루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34B228C-3B74-4AF4-B947-77C9750BB7BB}"/>
              </a:ext>
            </a:extLst>
          </p:cNvPr>
          <p:cNvSpPr>
            <a:spLocks noGrp="1"/>
          </p:cNvSpPr>
          <p:nvPr/>
        </p:nvSpPr>
        <p:spPr>
          <a:xfrm>
            <a:off x="1524000" y="26384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안전 한계 감소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363D7A5-0909-4D37-9D88-BB27B69DC35A}"/>
              </a:ext>
            </a:extLst>
          </p:cNvPr>
          <p:cNvSpPr>
            <a:spLocks noGrp="1"/>
          </p:cNvSpPr>
          <p:nvPr/>
        </p:nvSpPr>
        <p:spPr>
          <a:xfrm>
            <a:off x="3638550" y="26384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재채기 자극 누적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DB13501-BC31-44D1-B8AD-B4891493C209}"/>
              </a:ext>
            </a:extLst>
          </p:cNvPr>
          <p:cNvSpPr>
            <a:spLocks noGrp="1"/>
          </p:cNvSpPr>
          <p:nvPr/>
        </p:nvSpPr>
        <p:spPr>
          <a:xfrm>
            <a:off x="457200" y="30861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BB9713F-2C87-47A4-9D47-3ADB45599521}"/>
              </a:ext>
            </a:extLst>
          </p:cNvPr>
          <p:cNvSpPr>
            <a:spLocks noGrp="1"/>
          </p:cNvSpPr>
          <p:nvPr/>
        </p:nvSpPr>
        <p:spPr>
          <a:xfrm>
            <a:off x="571500" y="31146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연기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A4BE54A-D101-4B09-96ED-0BEC3B562CBE}"/>
              </a:ext>
            </a:extLst>
          </p:cNvPr>
          <p:cNvSpPr>
            <a:spLocks noGrp="1"/>
          </p:cNvSpPr>
          <p:nvPr/>
        </p:nvSpPr>
        <p:spPr>
          <a:xfrm>
            <a:off x="1524000" y="31146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들이마시기 크게 제한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F60928A7-1CB6-4A76-BBC7-E50DA54EC04C}"/>
              </a:ext>
            </a:extLst>
          </p:cNvPr>
          <p:cNvSpPr>
            <a:spLocks noGrp="1"/>
          </p:cNvSpPr>
          <p:nvPr/>
        </p:nvSpPr>
        <p:spPr>
          <a:xfrm>
            <a:off x="3638550" y="31146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/>
                <a:ea typeface="맑은 고딕"/>
                <a:cs typeface="맑은 고딕"/>
              </a:rPr>
              <a:t>기침 · 시야 저하</a:t>
            </a: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03581F8-4F88-482A-B76E-E8BFC4927117}"/>
              </a:ext>
            </a:extLst>
          </p:cNvPr>
          <p:cNvSpPr>
            <a:spLocks noGrp="1"/>
          </p:cNvSpPr>
          <p:nvPr/>
        </p:nvSpPr>
        <p:spPr>
          <a:xfrm>
            <a:off x="457200" y="356235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BCCEBCF-6DE1-4184-BDBA-1DDFA630707A}"/>
              </a:ext>
            </a:extLst>
          </p:cNvPr>
          <p:cNvSpPr>
            <a:spLocks noGrp="1"/>
          </p:cNvSpPr>
          <p:nvPr/>
        </p:nvSpPr>
        <p:spPr>
          <a:xfrm>
            <a:off x="571500" y="359092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독가스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113F0A4-B2AD-4853-8C86-0610115D5729}"/>
              </a:ext>
            </a:extLst>
          </p:cNvPr>
          <p:cNvSpPr>
            <a:spLocks noGrp="1"/>
          </p:cNvSpPr>
          <p:nvPr/>
        </p:nvSpPr>
        <p:spPr>
          <a:xfrm>
            <a:off x="1524000" y="359092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들이마시기 불가에 가까움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6A05666-C412-402B-8600-3577809809F2}"/>
              </a:ext>
            </a:extLst>
          </p:cNvPr>
          <p:cNvSpPr>
            <a:spLocks noGrp="1"/>
          </p:cNvSpPr>
          <p:nvPr/>
        </p:nvSpPr>
        <p:spPr>
          <a:xfrm>
            <a:off x="3638550" y="359092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/>
                <a:ea typeface="맑은 고딕"/>
                <a:cs typeface="맑은 고딕"/>
              </a:rPr>
              <a:t>피해 · 상태이상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B40F0325-7DC3-42D5-97EB-77F2C73D4AD7}"/>
              </a:ext>
            </a:extLst>
          </p:cNvPr>
          <p:cNvSpPr>
            <a:spLocks noGrp="1"/>
          </p:cNvSpPr>
          <p:nvPr/>
        </p:nvSpPr>
        <p:spPr>
          <a:xfrm>
            <a:off x="457200" y="4038600"/>
            <a:ext cx="6096000" cy="400050"/>
          </a:xfrm>
          <a:prstGeom prst="roundRect">
            <a:avLst>
              <a:gd name="adj" fmla="val 7143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B746302-60BB-4D2D-8FEC-90A8EB753934}"/>
              </a:ext>
            </a:extLst>
          </p:cNvPr>
          <p:cNvSpPr>
            <a:spLocks noGrp="1"/>
          </p:cNvSpPr>
          <p:nvPr/>
        </p:nvSpPr>
        <p:spPr>
          <a:xfrm>
            <a:off x="571500" y="4067175"/>
            <a:ext cx="857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수중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41F331D-16DD-4A5D-B1E0-F2211D29A01C}"/>
              </a:ext>
            </a:extLst>
          </p:cNvPr>
          <p:cNvSpPr>
            <a:spLocks noGrp="1"/>
          </p:cNvSpPr>
          <p:nvPr/>
        </p:nvSpPr>
        <p:spPr>
          <a:xfrm>
            <a:off x="1524000" y="4067175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들이마시기 불가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3C1CC68-B4CE-433F-9C4E-A82A3E85A601}"/>
              </a:ext>
            </a:extLst>
          </p:cNvPr>
          <p:cNvSpPr>
            <a:spLocks noGrp="1"/>
          </p:cNvSpPr>
          <p:nvPr/>
        </p:nvSpPr>
        <p:spPr>
          <a:xfrm>
            <a:off x="3638550" y="4067175"/>
            <a:ext cx="2781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/>
                <a:ea typeface="맑은 고딕"/>
                <a:cs typeface="맑은 고딕"/>
              </a:rPr>
              <a:t>보유 호흡만 사용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7377AADA-6483-4ACA-9A53-10AB424DAA79}"/>
              </a:ext>
            </a:extLst>
          </p:cNvPr>
          <p:cNvSpPr>
            <a:spLocks noGrp="1"/>
          </p:cNvSpPr>
          <p:nvPr/>
        </p:nvSpPr>
        <p:spPr>
          <a:xfrm>
            <a:off x="6934200" y="1257300"/>
            <a:ext cx="4686300" cy="323850"/>
          </a:xfrm>
          <a:prstGeom prst="roundRect">
            <a:avLst>
              <a:gd name="adj" fmla="val 14706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78F8741-8950-4626-A387-8275097D2249}"/>
              </a:ext>
            </a:extLst>
          </p:cNvPr>
          <p:cNvSpPr>
            <a:spLocks noGrp="1"/>
          </p:cNvSpPr>
          <p:nvPr/>
        </p:nvSpPr>
        <p:spPr>
          <a:xfrm>
            <a:off x="7000875" y="1257300"/>
            <a:ext cx="4552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적 의심 게이지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B828AB7E-A9F0-4B99-BF24-1624CC7C0D54}"/>
              </a:ext>
            </a:extLst>
          </p:cNvPr>
          <p:cNvSpPr>
            <a:spLocks noGrp="1"/>
          </p:cNvSpPr>
          <p:nvPr/>
        </p:nvSpPr>
        <p:spPr>
          <a:xfrm>
            <a:off x="7143750" y="1781175"/>
            <a:ext cx="1047750" cy="285750"/>
          </a:xfrm>
          <a:prstGeom prst="rect">
            <a:avLst/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287FD48-2B2F-452C-9090-97E52D59744C}"/>
              </a:ext>
            </a:extLst>
          </p:cNvPr>
          <p:cNvSpPr>
            <a:spLocks noGrp="1"/>
          </p:cNvSpPr>
          <p:nvPr/>
        </p:nvSpPr>
        <p:spPr>
          <a:xfrm>
            <a:off x="8191500" y="1781175"/>
            <a:ext cx="1047750" cy="285750"/>
          </a:xfrm>
          <a:prstGeom prst="rect">
            <a:avLst/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42DEAB6-966A-4F62-B6EE-6EDF74CE700B}"/>
              </a:ext>
            </a:extLst>
          </p:cNvPr>
          <p:cNvSpPr>
            <a:spLocks noGrp="1"/>
          </p:cNvSpPr>
          <p:nvPr/>
        </p:nvSpPr>
        <p:spPr>
          <a:xfrm>
            <a:off x="9239250" y="1781175"/>
            <a:ext cx="1047750" cy="285750"/>
          </a:xfrm>
          <a:prstGeom prst="rect">
            <a:avLst/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B105406B-A5C9-415F-974B-FF2BA2536574}"/>
              </a:ext>
            </a:extLst>
          </p:cNvPr>
          <p:cNvSpPr>
            <a:spLocks noGrp="1"/>
          </p:cNvSpPr>
          <p:nvPr/>
        </p:nvSpPr>
        <p:spPr>
          <a:xfrm>
            <a:off x="10287000" y="1781175"/>
            <a:ext cx="1047750" cy="285750"/>
          </a:xfrm>
          <a:prstGeom prst="rect">
            <a:avLst/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B1CDE48-7A54-46E2-BAF9-FD8CB0F938B4}"/>
              </a:ext>
            </a:extLst>
          </p:cNvPr>
          <p:cNvSpPr>
            <a:spLocks noGrp="1"/>
          </p:cNvSpPr>
          <p:nvPr/>
        </p:nvSpPr>
        <p:spPr>
          <a:xfrm>
            <a:off x="7143750" y="1781175"/>
            <a:ext cx="4191000" cy="285750"/>
          </a:xfrm>
          <a:prstGeom prst="roundRect">
            <a:avLst>
              <a:gd name="adj" fmla="val 13333"/>
            </a:avLst>
          </a:prstGeom>
          <a:noFill/>
          <a:ln w="9525">
            <a:solidFill>
              <a:srgbClr val="073B5C"/>
            </a:solidFill>
            <a:prstDash val="solid"/>
          </a:ln>
        </p:spPr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BAFC3A5-9163-4BA6-B420-D12D4FBD4230}"/>
              </a:ext>
            </a:extLst>
          </p:cNvPr>
          <p:cNvSpPr>
            <a:spLocks noGrp="1"/>
          </p:cNvSpPr>
          <p:nvPr/>
        </p:nvSpPr>
        <p:spPr>
          <a:xfrm>
            <a:off x="714375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0–24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2031B65-9905-4526-9BF5-196F5CF82381}"/>
              </a:ext>
            </a:extLst>
          </p:cNvPr>
          <p:cNvSpPr>
            <a:spLocks noGrp="1"/>
          </p:cNvSpPr>
          <p:nvPr/>
        </p:nvSpPr>
        <p:spPr>
          <a:xfrm>
            <a:off x="714375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미탐지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84A1AB4-F32F-420A-AA32-7B2FD87B8803}"/>
              </a:ext>
            </a:extLst>
          </p:cNvPr>
          <p:cNvSpPr>
            <a:spLocks noGrp="1"/>
          </p:cNvSpPr>
          <p:nvPr/>
        </p:nvSpPr>
        <p:spPr>
          <a:xfrm>
            <a:off x="819150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25–49</a:t>
            </a: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208CB134-B3BD-4F78-913F-3E6B99474B30}"/>
              </a:ext>
            </a:extLst>
          </p:cNvPr>
          <p:cNvSpPr>
            <a:spLocks noGrp="1"/>
          </p:cNvSpPr>
          <p:nvPr/>
        </p:nvSpPr>
        <p:spPr>
          <a:xfrm>
            <a:off x="819150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의심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4BE6374-F3A2-4521-B05E-6510913C1666}"/>
              </a:ext>
            </a:extLst>
          </p:cNvPr>
          <p:cNvSpPr>
            <a:spLocks noGrp="1"/>
          </p:cNvSpPr>
          <p:nvPr/>
        </p:nvSpPr>
        <p:spPr>
          <a:xfrm>
            <a:off x="923925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50–74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301ADF3-F74B-421E-AC00-07ED4044ADC7}"/>
              </a:ext>
            </a:extLst>
          </p:cNvPr>
          <p:cNvSpPr>
            <a:spLocks noGrp="1"/>
          </p:cNvSpPr>
          <p:nvPr/>
        </p:nvSpPr>
        <p:spPr>
          <a:xfrm>
            <a:off x="923925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위치 조사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1B82325A-7A02-42A4-9B61-81166BE1F44B}"/>
              </a:ext>
            </a:extLst>
          </p:cNvPr>
          <p:cNvSpPr>
            <a:spLocks noGrp="1"/>
          </p:cNvSpPr>
          <p:nvPr/>
        </p:nvSpPr>
        <p:spPr>
          <a:xfrm>
            <a:off x="10287000" y="2114550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75–100</a:t>
            </a: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682DB708-37CE-4FA3-82DB-646719224A9E}"/>
              </a:ext>
            </a:extLst>
          </p:cNvPr>
          <p:cNvSpPr>
            <a:spLocks noGrp="1"/>
          </p:cNvSpPr>
          <p:nvPr/>
        </p:nvSpPr>
        <p:spPr>
          <a:xfrm>
            <a:off x="10287000" y="2324100"/>
            <a:ext cx="1000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발견 / 추격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FCA477B1-8B3F-447A-9CA6-58FA6FBD9C20}"/>
              </a:ext>
            </a:extLst>
          </p:cNvPr>
          <p:cNvSpPr>
            <a:spLocks noGrp="1"/>
          </p:cNvSpPr>
          <p:nvPr/>
        </p:nvSpPr>
        <p:spPr>
          <a:xfrm>
            <a:off x="6934200" y="2743200"/>
            <a:ext cx="4686300" cy="1571625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495BE82-7BA7-4C0C-B0A8-487FFEA95309}"/>
              </a:ext>
            </a:extLst>
          </p:cNvPr>
          <p:cNvSpPr>
            <a:spLocks noGrp="1"/>
          </p:cNvSpPr>
          <p:nvPr/>
        </p:nvSpPr>
        <p:spPr>
          <a:xfrm>
            <a:off x="7105650" y="28765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충전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BC170232-214D-48AE-AF6D-E59CD9AB3D07}"/>
              </a:ext>
            </a:extLst>
          </p:cNvPr>
          <p:cNvSpPr>
            <a:spLocks noGrp="1"/>
          </p:cNvSpPr>
          <p:nvPr/>
        </p:nvSpPr>
        <p:spPr>
          <a:xfrm>
            <a:off x="7810500" y="2857500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호흡·발소리·충돌 소음이 청각 범위에 들어오면 상승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56CF97CD-BDBE-4CE6-95A7-102F1D47BCEE}"/>
              </a:ext>
            </a:extLst>
          </p:cNvPr>
          <p:cNvSpPr>
            <a:spLocks noGrp="1"/>
          </p:cNvSpPr>
          <p:nvPr/>
        </p:nvSpPr>
        <p:spPr>
          <a:xfrm>
            <a:off x="7105650" y="327660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전환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F4E941A6-CCB0-48ED-95D9-AC9EA87D1048}"/>
              </a:ext>
            </a:extLst>
          </p:cNvPr>
          <p:cNvSpPr>
            <a:spLocks noGrp="1"/>
          </p:cNvSpPr>
          <p:nvPr/>
        </p:nvSpPr>
        <p:spPr>
          <a:xfrm>
            <a:off x="7810500" y="3257550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임계값을 넘을 때 의심 → 조사 → 추격으로 행동 변경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A473FE5-B969-41E8-82D0-43F46DBB5524}"/>
              </a:ext>
            </a:extLst>
          </p:cNvPr>
          <p:cNvSpPr>
            <a:spLocks noGrp="1"/>
          </p:cNvSpPr>
          <p:nvPr/>
        </p:nvSpPr>
        <p:spPr>
          <a:xfrm>
            <a:off x="7105650" y="3676650"/>
            <a:ext cx="685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감소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31CAB71-DB59-43F8-B33C-A04D6B12FCF4}"/>
              </a:ext>
            </a:extLst>
          </p:cNvPr>
          <p:cNvSpPr>
            <a:spLocks noGrp="1"/>
          </p:cNvSpPr>
          <p:nvPr/>
        </p:nvSpPr>
        <p:spPr>
          <a:xfrm>
            <a:off x="7810500" y="3657600"/>
            <a:ext cx="3619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추가 기척이 없으면 시간 경과에 따라 감소·순찰 복귀</a:t>
            </a: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7E7D21D2-5628-4E18-A77C-AEFF27396290}"/>
              </a:ext>
            </a:extLst>
          </p:cNvPr>
          <p:cNvSpPr>
            <a:spLocks noGrp="1"/>
          </p:cNvSpPr>
          <p:nvPr/>
        </p:nvSpPr>
        <p:spPr>
          <a:xfrm>
            <a:off x="457200" y="4762500"/>
            <a:ext cx="11163300" cy="323850"/>
          </a:xfrm>
          <a:prstGeom prst="roundRect">
            <a:avLst>
              <a:gd name="adj" fmla="val 14706"/>
            </a:avLst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8B240E20-5575-4C52-BDC6-45BB6B97A95F}"/>
              </a:ext>
            </a:extLst>
          </p:cNvPr>
          <p:cNvSpPr>
            <a:spLocks noGrp="1"/>
          </p:cNvSpPr>
          <p:nvPr/>
        </p:nvSpPr>
        <p:spPr>
          <a:xfrm>
            <a:off x="523875" y="4762500"/>
            <a:ext cx="11029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중복 / 덮어쓰기 규칙</a:t>
            </a: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512397AA-A767-4D99-A5D4-B159387C863C}"/>
              </a:ext>
            </a:extLst>
          </p:cNvPr>
          <p:cNvSpPr>
            <a:spLocks noGrp="1"/>
          </p:cNvSpPr>
          <p:nvPr/>
        </p:nvSpPr>
        <p:spPr>
          <a:xfrm>
            <a:off x="457200" y="5181600"/>
            <a:ext cx="3543300" cy="685800"/>
          </a:xfrm>
          <a:prstGeom prst="roundRect">
            <a:avLst>
              <a:gd name="adj" fmla="val 9722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706638F-69AA-44BD-BC99-4514874C196D}"/>
              </a:ext>
            </a:extLst>
          </p:cNvPr>
          <p:cNvSpPr>
            <a:spLocks noGrp="1"/>
          </p:cNvSpPr>
          <p:nvPr/>
        </p:nvSpPr>
        <p:spPr>
          <a:xfrm>
            <a:off x="571500" y="5324475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5418F2C-7B26-4B0F-8952-D60F5DDF54CE}"/>
              </a:ext>
            </a:extLst>
          </p:cNvPr>
          <p:cNvSpPr>
            <a:spLocks noGrp="1"/>
          </p:cNvSpPr>
          <p:nvPr/>
        </p:nvSpPr>
        <p:spPr>
          <a:xfrm>
            <a:off x="914400" y="5238750"/>
            <a:ext cx="2952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우선순위</a:t>
            </a:r>
            <a:r>
              <a:rPr sz="1000" b="1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 </a:t>
            </a:r>
            <a:r>
              <a:rPr sz="1000" b="1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수중</a:t>
            </a:r>
            <a:r>
              <a:rPr sz="1000" b="1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독가스</a:t>
            </a:r>
            <a:r>
              <a:rPr sz="1000" b="1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연기</a:t>
            </a:r>
            <a:r>
              <a:rPr sz="1000" b="1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꽃가루</a:t>
            </a:r>
            <a:r>
              <a:rPr sz="1000" b="1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먼지</a:t>
            </a:r>
            <a:r>
              <a:rPr sz="1000" b="1" dirty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 &gt; </a:t>
            </a:r>
            <a:r>
              <a:rPr sz="1000" b="1" dirty="0" err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정상</a:t>
            </a:r>
            <a:endParaRPr sz="1000" b="1" dirty="0">
              <a:solidFill>
                <a:srgbClr val="16324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849D4C82-EECC-4028-BFB4-83577C193EB3}"/>
              </a:ext>
            </a:extLst>
          </p:cNvPr>
          <p:cNvSpPr>
            <a:spLocks noGrp="1"/>
          </p:cNvSpPr>
          <p:nvPr/>
        </p:nvSpPr>
        <p:spPr>
          <a:xfrm>
            <a:off x="4171950" y="5181600"/>
            <a:ext cx="3543300" cy="685800"/>
          </a:xfrm>
          <a:prstGeom prst="roundRect">
            <a:avLst>
              <a:gd name="adj" fmla="val 9722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18B8F697-B17B-4975-B5D3-5DAE5A00547D}"/>
              </a:ext>
            </a:extLst>
          </p:cNvPr>
          <p:cNvSpPr>
            <a:spLocks noGrp="1"/>
          </p:cNvSpPr>
          <p:nvPr/>
        </p:nvSpPr>
        <p:spPr>
          <a:xfrm>
            <a:off x="4286250" y="5324475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47FB78-AC1F-4C50-A475-D830BA1DA07C}"/>
              </a:ext>
            </a:extLst>
          </p:cNvPr>
          <p:cNvSpPr>
            <a:spLocks noGrp="1"/>
          </p:cNvSpPr>
          <p:nvPr/>
        </p:nvSpPr>
        <p:spPr>
          <a:xfrm>
            <a:off x="4629150" y="5238750"/>
            <a:ext cx="2952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동일 단계 중복  안전 한계는 최저값 적용 · 자극도는 누적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40326957-1D8C-4B6A-8205-F4432892F103}"/>
              </a:ext>
            </a:extLst>
          </p:cNvPr>
          <p:cNvSpPr>
            <a:spLocks noGrp="1"/>
          </p:cNvSpPr>
          <p:nvPr/>
        </p:nvSpPr>
        <p:spPr>
          <a:xfrm>
            <a:off x="7886700" y="5181600"/>
            <a:ext cx="3543300" cy="685800"/>
          </a:xfrm>
          <a:prstGeom prst="roundRect">
            <a:avLst>
              <a:gd name="adj" fmla="val 9722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A9994C3C-6228-4252-A68B-056346FA69AA}"/>
              </a:ext>
            </a:extLst>
          </p:cNvPr>
          <p:cNvSpPr>
            <a:spLocks noGrp="1"/>
          </p:cNvSpPr>
          <p:nvPr/>
        </p:nvSpPr>
        <p:spPr>
          <a:xfrm>
            <a:off x="8001000" y="5324475"/>
            <a:ext cx="304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1B9E7A-A1F0-45AC-8CEC-2460F02AE170}"/>
              </a:ext>
            </a:extLst>
          </p:cNvPr>
          <p:cNvSpPr>
            <a:spLocks noGrp="1"/>
          </p:cNvSpPr>
          <p:nvPr/>
        </p:nvSpPr>
        <p:spPr>
          <a:xfrm>
            <a:off x="8343900" y="5238750"/>
            <a:ext cx="2952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lnSpc>
                <a:spcPct val="150000"/>
              </a:lnSpc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구역 이탈  환경 효과 해제 · 이미 누적된 자극도는 시간에 따라 감소</a:t>
            </a:r>
          </a:p>
        </p:txBody>
      </p:sp>
      <p:sp>
        <p:nvSpPr>
          <p:cNvPr id="66" name="직사각형 65">
            <a:extLst>
              <a:ext uri="{FF2B5EF4-FFF2-40B4-BE49-F238E27FC236}">
                <a16:creationId xmlns:a16="http://schemas.microsoft.com/office/drawing/2014/main" id="{4BCDA269-C267-4BCE-BF56-2834A48C7F17}"/>
              </a:ext>
            </a:extLst>
          </p:cNvPr>
          <p:cNvSpPr>
            <a:spLocks noGrp="1"/>
          </p:cNvSpPr>
          <p:nvPr/>
        </p:nvSpPr>
        <p:spPr>
          <a:xfrm>
            <a:off x="457200" y="447675"/>
            <a:ext cx="2542674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04  </a:t>
            </a:r>
            <a:r>
              <a:rPr lang="ko-KR" altLang="en-US" sz="2000" b="1" dirty="0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연동</a:t>
            </a:r>
            <a:r>
              <a:rPr sz="2000" b="1" dirty="0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규칙</a:t>
            </a:r>
            <a:endParaRPr sz="2000" b="1" dirty="0">
              <a:solidFill>
                <a:srgbClr val="20A6A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6984140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직사각형 89">
            <a:extLst>
              <a:ext uri="{FF2B5EF4-FFF2-40B4-BE49-F238E27FC236}">
                <a16:creationId xmlns:a16="http://schemas.microsoft.com/office/drawing/2014/main" id="{6EB57ACE-C6F2-46FB-9D14-BB9F6FE590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F9F3C63D-571C-4BCE-BC37-BC20612D7DCE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04C9F5D-6276-44A7-8958-15D82899D9E4}"/>
              </a:ext>
            </a:extLst>
          </p:cNvPr>
          <p:cNvSpPr>
            <a:spLocks noGrp="1"/>
          </p:cNvSpPr>
          <p:nvPr/>
        </p:nvSpPr>
        <p:spPr>
          <a:xfrm>
            <a:off x="514350" y="1333500"/>
            <a:ext cx="323850" cy="32385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71DF36B-299F-442D-9D53-7796E8E54CF9}"/>
              </a:ext>
            </a:extLst>
          </p:cNvPr>
          <p:cNvSpPr>
            <a:spLocks noGrp="1"/>
          </p:cNvSpPr>
          <p:nvPr/>
        </p:nvSpPr>
        <p:spPr>
          <a:xfrm>
            <a:off x="933450" y="1295400"/>
            <a:ext cx="2000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상태 전이 흐름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5059CE5-956D-4785-899E-8D05041CC266}"/>
              </a:ext>
            </a:extLst>
          </p:cNvPr>
          <p:cNvSpPr>
            <a:spLocks noGrp="1"/>
          </p:cNvSpPr>
          <p:nvPr/>
        </p:nvSpPr>
        <p:spPr>
          <a:xfrm>
            <a:off x="933450" y="1647825"/>
            <a:ext cx="3015114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추가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기척을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끊으면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의심도가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감소해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순찰로</a:t>
            </a:r>
            <a:r>
              <a:rPr sz="1000" b="0" dirty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0" dirty="0" err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복귀함</a:t>
            </a:r>
            <a:endParaRPr sz="1000" b="0" dirty="0">
              <a:solidFill>
                <a:srgbClr val="667B8B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0BB3075D-5594-4804-89E0-96DBC94D622E}"/>
              </a:ext>
            </a:extLst>
          </p:cNvPr>
          <p:cNvSpPr>
            <a:spLocks noGrp="1"/>
          </p:cNvSpPr>
          <p:nvPr/>
        </p:nvSpPr>
        <p:spPr>
          <a:xfrm>
            <a:off x="4166701" y="1314450"/>
            <a:ext cx="1285875" cy="838200"/>
          </a:xfrm>
          <a:prstGeom prst="roundRect">
            <a:avLst>
              <a:gd name="adj" fmla="val 9091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3F07DA6-6385-4523-B412-070768B94677}"/>
              </a:ext>
            </a:extLst>
          </p:cNvPr>
          <p:cNvSpPr>
            <a:spLocks noGrp="1"/>
          </p:cNvSpPr>
          <p:nvPr/>
        </p:nvSpPr>
        <p:spPr>
          <a:xfrm>
            <a:off x="4204801" y="1333500"/>
            <a:ext cx="1209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미탐지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424321A-F1A6-4710-811E-CE41AE0E583A}"/>
              </a:ext>
            </a:extLst>
          </p:cNvPr>
          <p:cNvSpPr>
            <a:spLocks noGrp="1"/>
          </p:cNvSpPr>
          <p:nvPr/>
        </p:nvSpPr>
        <p:spPr>
          <a:xfrm>
            <a:off x="4223851" y="1790700"/>
            <a:ext cx="11715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평상시 순찰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22771D2-050B-4655-9AE0-B68D44547AD2}"/>
              </a:ext>
            </a:extLst>
          </p:cNvPr>
          <p:cNvSpPr>
            <a:spLocks noGrp="1"/>
          </p:cNvSpPr>
          <p:nvPr/>
        </p:nvSpPr>
        <p:spPr>
          <a:xfrm>
            <a:off x="5471626" y="1581150"/>
            <a:ext cx="2190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9E6E4592-C786-427C-B869-A09EF6FA6959}"/>
              </a:ext>
            </a:extLst>
          </p:cNvPr>
          <p:cNvSpPr>
            <a:spLocks noGrp="1"/>
          </p:cNvSpPr>
          <p:nvPr/>
        </p:nvSpPr>
        <p:spPr>
          <a:xfrm>
            <a:off x="5690701" y="1314450"/>
            <a:ext cx="1285875" cy="838200"/>
          </a:xfrm>
          <a:prstGeom prst="roundRect">
            <a:avLst>
              <a:gd name="adj" fmla="val 9091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09CFECD-8C9C-4A63-8F48-AC6C912DD3CB}"/>
              </a:ext>
            </a:extLst>
          </p:cNvPr>
          <p:cNvSpPr>
            <a:spLocks noGrp="1"/>
          </p:cNvSpPr>
          <p:nvPr/>
        </p:nvSpPr>
        <p:spPr>
          <a:xfrm>
            <a:off x="5728801" y="1333500"/>
            <a:ext cx="1209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소음 감지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48A5070-116F-4A6A-B1A8-F74E86C7F93D}"/>
              </a:ext>
            </a:extLst>
          </p:cNvPr>
          <p:cNvSpPr>
            <a:spLocks noGrp="1"/>
          </p:cNvSpPr>
          <p:nvPr/>
        </p:nvSpPr>
        <p:spPr>
          <a:xfrm>
            <a:off x="5747851" y="1790700"/>
            <a:ext cx="11715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발생 위치 기록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1D60253-EB63-4ABB-8152-9300B5AC3EF3}"/>
              </a:ext>
            </a:extLst>
          </p:cNvPr>
          <p:cNvSpPr>
            <a:spLocks noGrp="1"/>
          </p:cNvSpPr>
          <p:nvPr/>
        </p:nvSpPr>
        <p:spPr>
          <a:xfrm>
            <a:off x="6995626" y="1581150"/>
            <a:ext cx="2190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598ED97-EC08-485E-861A-4379D68B922C}"/>
              </a:ext>
            </a:extLst>
          </p:cNvPr>
          <p:cNvSpPr>
            <a:spLocks noGrp="1"/>
          </p:cNvSpPr>
          <p:nvPr/>
        </p:nvSpPr>
        <p:spPr>
          <a:xfrm>
            <a:off x="7214701" y="1314450"/>
            <a:ext cx="1285875" cy="838200"/>
          </a:xfrm>
          <a:prstGeom prst="roundRect">
            <a:avLst>
              <a:gd name="adj" fmla="val 9091"/>
            </a:avLst>
          </a:prstGeom>
          <a:solidFill>
            <a:srgbClr val="FFF2C7"/>
          </a:solidFill>
          <a:ln w="9525">
            <a:solidFill>
              <a:srgbClr val="FFF2C7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3FEDE07-63C2-4317-9A06-20A31B795B0F}"/>
              </a:ext>
            </a:extLst>
          </p:cNvPr>
          <p:cNvSpPr>
            <a:spLocks noGrp="1"/>
          </p:cNvSpPr>
          <p:nvPr/>
        </p:nvSpPr>
        <p:spPr>
          <a:xfrm>
            <a:off x="7252801" y="1333500"/>
            <a:ext cx="1209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의심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ACCAE94-357A-4614-A51B-2070474AF496}"/>
              </a:ext>
            </a:extLst>
          </p:cNvPr>
          <p:cNvSpPr>
            <a:spLocks noGrp="1"/>
          </p:cNvSpPr>
          <p:nvPr/>
        </p:nvSpPr>
        <p:spPr>
          <a:xfrm>
            <a:off x="7271851" y="1790700"/>
            <a:ext cx="11715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낮은 의심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941F831-4AB3-4663-A646-A3DA7E32601E}"/>
              </a:ext>
            </a:extLst>
          </p:cNvPr>
          <p:cNvSpPr>
            <a:spLocks noGrp="1"/>
          </p:cNvSpPr>
          <p:nvPr/>
        </p:nvSpPr>
        <p:spPr>
          <a:xfrm>
            <a:off x="8519626" y="1581150"/>
            <a:ext cx="2190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81DFF6B-63AD-4B25-8D36-DA6D75A3E375}"/>
              </a:ext>
            </a:extLst>
          </p:cNvPr>
          <p:cNvSpPr>
            <a:spLocks noGrp="1"/>
          </p:cNvSpPr>
          <p:nvPr/>
        </p:nvSpPr>
        <p:spPr>
          <a:xfrm>
            <a:off x="8738701" y="1314450"/>
            <a:ext cx="1285875" cy="838200"/>
          </a:xfrm>
          <a:prstGeom prst="roundRect">
            <a:avLst>
              <a:gd name="adj" fmla="val 9091"/>
            </a:avLst>
          </a:prstGeom>
          <a:solidFill>
            <a:srgbClr val="DDEEFF"/>
          </a:solidFill>
          <a:ln w="9525">
            <a:solidFill>
              <a:srgbClr val="DDEEFF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475F6C5A-5811-447C-B2BD-0157D9B29548}"/>
              </a:ext>
            </a:extLst>
          </p:cNvPr>
          <p:cNvSpPr>
            <a:spLocks noGrp="1"/>
          </p:cNvSpPr>
          <p:nvPr/>
        </p:nvSpPr>
        <p:spPr>
          <a:xfrm>
            <a:off x="8776801" y="1333500"/>
            <a:ext cx="1209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위치 조사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4F035489-F70E-4873-BBAF-F918CD10E3A9}"/>
              </a:ext>
            </a:extLst>
          </p:cNvPr>
          <p:cNvSpPr>
            <a:spLocks noGrp="1"/>
          </p:cNvSpPr>
          <p:nvPr/>
        </p:nvSpPr>
        <p:spPr>
          <a:xfrm>
            <a:off x="8795851" y="1790700"/>
            <a:ext cx="11715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소리 위치 확인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9D25AD7-90BA-4486-8A1F-707A5BBE3FD7}"/>
              </a:ext>
            </a:extLst>
          </p:cNvPr>
          <p:cNvSpPr>
            <a:spLocks noGrp="1"/>
          </p:cNvSpPr>
          <p:nvPr/>
        </p:nvSpPr>
        <p:spPr>
          <a:xfrm>
            <a:off x="10043626" y="1581150"/>
            <a:ext cx="2190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972"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7203993D-593F-4498-BD2D-70AE2144CCDC}"/>
              </a:ext>
            </a:extLst>
          </p:cNvPr>
          <p:cNvSpPr>
            <a:spLocks noGrp="1"/>
          </p:cNvSpPr>
          <p:nvPr/>
        </p:nvSpPr>
        <p:spPr>
          <a:xfrm>
            <a:off x="10262701" y="1314450"/>
            <a:ext cx="1285875" cy="838200"/>
          </a:xfrm>
          <a:prstGeom prst="roundRect">
            <a:avLst>
              <a:gd name="adj" fmla="val 9091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2461B41-39C0-4BF1-8C66-DADCA9D44507}"/>
              </a:ext>
            </a:extLst>
          </p:cNvPr>
          <p:cNvSpPr>
            <a:spLocks noGrp="1"/>
          </p:cNvSpPr>
          <p:nvPr/>
        </p:nvSpPr>
        <p:spPr>
          <a:xfrm>
            <a:off x="10300801" y="1333500"/>
            <a:ext cx="1209675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발견 / 추격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4BDC95E-9519-45E7-9531-F7DCD7FA3512}"/>
              </a:ext>
            </a:extLst>
          </p:cNvPr>
          <p:cNvSpPr>
            <a:spLocks noGrp="1"/>
          </p:cNvSpPr>
          <p:nvPr/>
        </p:nvSpPr>
        <p:spPr>
          <a:xfrm>
            <a:off x="10319851" y="1790700"/>
            <a:ext cx="11715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시야 확보 시 공격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2DF2D9AD-C105-4282-B746-2BA83049A4C2}"/>
              </a:ext>
            </a:extLst>
          </p:cNvPr>
          <p:cNvSpPr>
            <a:spLocks noGrp="1"/>
          </p:cNvSpPr>
          <p:nvPr/>
        </p:nvSpPr>
        <p:spPr>
          <a:xfrm>
            <a:off x="514350" y="3009900"/>
            <a:ext cx="323850" cy="32385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D2035FC-75D1-4599-B0D7-43A6C747B2E9}"/>
              </a:ext>
            </a:extLst>
          </p:cNvPr>
          <p:cNvSpPr>
            <a:spLocks noGrp="1"/>
          </p:cNvSpPr>
          <p:nvPr/>
        </p:nvSpPr>
        <p:spPr>
          <a:xfrm>
            <a:off x="933450" y="2971800"/>
            <a:ext cx="1714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공간 예시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931D36A-9D7A-41AE-A5E4-280077871ED0}"/>
              </a:ext>
            </a:extLst>
          </p:cNvPr>
          <p:cNvSpPr>
            <a:spLocks noGrp="1"/>
          </p:cNvSpPr>
          <p:nvPr/>
        </p:nvSpPr>
        <p:spPr>
          <a:xfrm>
            <a:off x="933450" y="3333750"/>
            <a:ext cx="2692066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청각 범위와 시야·엄폐 관계에 따른 판정 예시</a:t>
            </a:r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00DDDC44-8F59-4735-8F4E-7C239C33B8E0}"/>
              </a:ext>
            </a:extLst>
          </p:cNvPr>
          <p:cNvSpPr>
            <a:spLocks noGrp="1"/>
          </p:cNvSpPr>
          <p:nvPr/>
        </p:nvSpPr>
        <p:spPr>
          <a:xfrm>
            <a:off x="2203900" y="6103070"/>
            <a:ext cx="7746100" cy="360177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판정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호흡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소음·발소리·충돌음은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별도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계산하며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환경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소음과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겹치면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탐지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반경이</a:t>
            </a:r>
            <a:r>
              <a:rPr sz="1000" b="1" dirty="0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000" b="1" dirty="0" err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감소함</a:t>
            </a:r>
            <a:endParaRPr sz="1000" b="1" dirty="0">
              <a:solidFill>
                <a:srgbClr val="073B5C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537D932E-9490-4B87-BAB5-65E7973634F3}"/>
              </a:ext>
            </a:extLst>
          </p:cNvPr>
          <p:cNvSpPr>
            <a:spLocks noGrp="1"/>
          </p:cNvSpPr>
          <p:nvPr/>
        </p:nvSpPr>
        <p:spPr>
          <a:xfrm>
            <a:off x="457200" y="366713"/>
            <a:ext cx="2857500" cy="4857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05  </a:t>
            </a:r>
            <a:r>
              <a:rPr sz="2000" b="1" dirty="0" err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소음</a:t>
            </a:r>
            <a:r>
              <a:rPr sz="2000" b="1" dirty="0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 / 적 AI </a:t>
            </a:r>
            <a:r>
              <a:rPr sz="2000" b="1" dirty="0" err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규칙</a:t>
            </a:r>
            <a:endParaRPr sz="2000" b="1" dirty="0">
              <a:solidFill>
                <a:srgbClr val="20A6A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3" name="Shape 4">
            <a:extLst>
              <a:ext uri="{FF2B5EF4-FFF2-40B4-BE49-F238E27FC236}">
                <a16:creationId xmlns:a16="http://schemas.microsoft.com/office/drawing/2014/main" id="{757FDA1E-13C2-4753-96A4-92FBA4DC76CE}"/>
              </a:ext>
            </a:extLst>
          </p:cNvPr>
          <p:cNvSpPr/>
          <p:nvPr/>
        </p:nvSpPr>
        <p:spPr>
          <a:xfrm>
            <a:off x="4184921" y="5467173"/>
            <a:ext cx="3072384" cy="205003"/>
          </a:xfrm>
          <a:prstGeom prst="roundRect">
            <a:avLst>
              <a:gd name="adj" fmla="val 7619"/>
            </a:avLst>
          </a:prstGeom>
          <a:solidFill>
            <a:srgbClr val="F7FDFA"/>
          </a:solidFill>
          <a:ln w="12700">
            <a:solidFill>
              <a:srgbClr val="84C4AC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/>
          </a:p>
        </p:txBody>
      </p:sp>
      <p:pic>
        <p:nvPicPr>
          <p:cNvPr id="94" name="그림 93">
            <a:extLst>
              <a:ext uri="{FF2B5EF4-FFF2-40B4-BE49-F238E27FC236}">
                <a16:creationId xmlns:a16="http://schemas.microsoft.com/office/drawing/2014/main" id="{349B3AC7-C90B-45C3-B4B4-CEC7D22463F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1" r="50091" b="59334"/>
          <a:stretch/>
        </p:blipFill>
        <p:spPr>
          <a:xfrm>
            <a:off x="4303260" y="3061376"/>
            <a:ext cx="2835322" cy="2100450"/>
          </a:xfrm>
          <a:prstGeom prst="rect">
            <a:avLst/>
          </a:prstGeom>
        </p:spPr>
      </p:pic>
      <p:sp>
        <p:nvSpPr>
          <p:cNvPr id="95" name="Shape 4">
            <a:extLst>
              <a:ext uri="{FF2B5EF4-FFF2-40B4-BE49-F238E27FC236}">
                <a16:creationId xmlns:a16="http://schemas.microsoft.com/office/drawing/2014/main" id="{226ABB4C-ED36-41CA-B159-3F13B4921705}"/>
              </a:ext>
            </a:extLst>
          </p:cNvPr>
          <p:cNvSpPr/>
          <p:nvPr/>
        </p:nvSpPr>
        <p:spPr>
          <a:xfrm>
            <a:off x="4114800" y="2553856"/>
            <a:ext cx="3212241" cy="3203385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2D1C2CA-DBEC-438A-BB07-9E8ED47C0EFD}"/>
              </a:ext>
            </a:extLst>
          </p:cNvPr>
          <p:cNvSpPr/>
          <p:nvPr/>
        </p:nvSpPr>
        <p:spPr>
          <a:xfrm flipV="1">
            <a:off x="4660921" y="3725656"/>
            <a:ext cx="1216222" cy="1216222"/>
          </a:xfrm>
          <a:prstGeom prst="ellipse">
            <a:avLst/>
          </a:prstGeom>
          <a:solidFill>
            <a:srgbClr val="89D3C6">
              <a:alpha val="29804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타원 96">
            <a:extLst>
              <a:ext uri="{FF2B5EF4-FFF2-40B4-BE49-F238E27FC236}">
                <a16:creationId xmlns:a16="http://schemas.microsoft.com/office/drawing/2014/main" id="{367FCF8B-0D5C-4486-BE0F-6DB8056CB6D2}"/>
              </a:ext>
            </a:extLst>
          </p:cNvPr>
          <p:cNvSpPr/>
          <p:nvPr/>
        </p:nvSpPr>
        <p:spPr>
          <a:xfrm>
            <a:off x="5566288" y="3420309"/>
            <a:ext cx="1582538" cy="1582532"/>
          </a:xfrm>
          <a:prstGeom prst="ellipse">
            <a:avLst/>
          </a:prstGeom>
          <a:solidFill>
            <a:srgbClr val="F6C579">
              <a:alpha val="29804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8" name="타원 97">
            <a:extLst>
              <a:ext uri="{FF2B5EF4-FFF2-40B4-BE49-F238E27FC236}">
                <a16:creationId xmlns:a16="http://schemas.microsoft.com/office/drawing/2014/main" id="{339C8DE4-9DA6-4E92-90B4-C06B3FCA8E5A}"/>
              </a:ext>
            </a:extLst>
          </p:cNvPr>
          <p:cNvSpPr/>
          <p:nvPr/>
        </p:nvSpPr>
        <p:spPr>
          <a:xfrm>
            <a:off x="5188850" y="4246427"/>
            <a:ext cx="160365" cy="160365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89D0E425-D7A3-4E7E-BE50-1D6A504A6499}"/>
              </a:ext>
            </a:extLst>
          </p:cNvPr>
          <p:cNvSpPr/>
          <p:nvPr/>
        </p:nvSpPr>
        <p:spPr>
          <a:xfrm>
            <a:off x="6252751" y="4106769"/>
            <a:ext cx="209612" cy="209612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6C37814-2736-4A08-A850-A6A37BB44116}"/>
              </a:ext>
            </a:extLst>
          </p:cNvPr>
          <p:cNvSpPr txBox="1"/>
          <p:nvPr/>
        </p:nvSpPr>
        <p:spPr>
          <a:xfrm>
            <a:off x="4707221" y="2617394"/>
            <a:ext cx="2312290" cy="3939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 </a:t>
            </a:r>
            <a:r>
              <a:rPr lang="ko-KR" altLang="en-US" sz="1500" b="1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겹침</a:t>
            </a:r>
            <a:endParaRPr lang="en-US" altLang="ko-KR" sz="1000" b="1" dirty="0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5CD50E5F-E34A-4A03-BC32-B7B7D8ECA260}"/>
              </a:ext>
            </a:extLst>
          </p:cNvPr>
          <p:cNvSpPr/>
          <p:nvPr/>
        </p:nvSpPr>
        <p:spPr>
          <a:xfrm>
            <a:off x="4388205" y="2687133"/>
            <a:ext cx="272716" cy="272716"/>
          </a:xfrm>
          <a:prstGeom prst="ellipse">
            <a:avLst/>
          </a:prstGeom>
          <a:solidFill>
            <a:srgbClr val="84C4A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/>
              <a:t>1</a:t>
            </a:r>
            <a:endParaRPr lang="ko-KR" altLang="en-US" sz="1500" b="1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C6C754C6-72EC-482F-BBF7-D1284A9CB8BD}"/>
              </a:ext>
            </a:extLst>
          </p:cNvPr>
          <p:cNvSpPr txBox="1"/>
          <p:nvPr/>
        </p:nvSpPr>
        <p:spPr>
          <a:xfrm>
            <a:off x="4599308" y="5152894"/>
            <a:ext cx="1291009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 소음 범위</a:t>
            </a:r>
            <a:endParaRPr lang="en-US" altLang="ko-KR" sz="1000" dirty="0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6AF9397-49FC-4722-B53B-D97918F6E4F3}"/>
              </a:ext>
            </a:extLst>
          </p:cNvPr>
          <p:cNvSpPr/>
          <p:nvPr/>
        </p:nvSpPr>
        <p:spPr>
          <a:xfrm flipV="1">
            <a:off x="4472614" y="5219663"/>
            <a:ext cx="168443" cy="168443"/>
          </a:xfrm>
          <a:prstGeom prst="ellipse">
            <a:avLst/>
          </a:prstGeom>
          <a:solidFill>
            <a:srgbClr val="89D3C6">
              <a:alpha val="29804"/>
            </a:srgbClr>
          </a:solidFill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8E33E34E-A450-4424-A824-F7251053D506}"/>
              </a:ext>
            </a:extLst>
          </p:cNvPr>
          <p:cNvSpPr/>
          <p:nvPr/>
        </p:nvSpPr>
        <p:spPr>
          <a:xfrm>
            <a:off x="5954500" y="5246860"/>
            <a:ext cx="168443" cy="168442"/>
          </a:xfrm>
          <a:prstGeom prst="ellipse">
            <a:avLst/>
          </a:prstGeom>
          <a:solidFill>
            <a:srgbClr val="F6C579">
              <a:alpha val="29804"/>
            </a:srgbClr>
          </a:solidFill>
          <a:ln>
            <a:solidFill>
              <a:srgbClr val="F6C57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5E23CA1-9D7F-4144-BDED-8C86151A83F4}"/>
              </a:ext>
            </a:extLst>
          </p:cNvPr>
          <p:cNvSpPr txBox="1"/>
          <p:nvPr/>
        </p:nvSpPr>
        <p:spPr>
          <a:xfrm>
            <a:off x="6122943" y="5165754"/>
            <a:ext cx="946327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탐지 범위</a:t>
            </a:r>
            <a:endParaRPr lang="en-US" altLang="ko-KR" sz="10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510472D-BAC4-43A4-AF0E-B9746277DC76}"/>
              </a:ext>
            </a:extLst>
          </p:cNvPr>
          <p:cNvSpPr txBox="1"/>
          <p:nvPr/>
        </p:nvSpPr>
        <p:spPr>
          <a:xfrm>
            <a:off x="4995176" y="5422628"/>
            <a:ext cx="1451488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청각 감지 발생</a:t>
            </a:r>
            <a:endParaRPr lang="en-US" altLang="ko-KR" sz="1000" b="1" dirty="0"/>
          </a:p>
        </p:txBody>
      </p:sp>
      <p:sp>
        <p:nvSpPr>
          <p:cNvPr id="107" name="Shape 4">
            <a:extLst>
              <a:ext uri="{FF2B5EF4-FFF2-40B4-BE49-F238E27FC236}">
                <a16:creationId xmlns:a16="http://schemas.microsoft.com/office/drawing/2014/main" id="{98846CFC-5F86-4A07-A12F-320B7E4C2A9F}"/>
              </a:ext>
            </a:extLst>
          </p:cNvPr>
          <p:cNvSpPr/>
          <p:nvPr/>
        </p:nvSpPr>
        <p:spPr>
          <a:xfrm>
            <a:off x="8210157" y="5467173"/>
            <a:ext cx="3072384" cy="205003"/>
          </a:xfrm>
          <a:prstGeom prst="roundRect">
            <a:avLst>
              <a:gd name="adj" fmla="val 7619"/>
            </a:avLst>
          </a:prstGeom>
          <a:solidFill>
            <a:srgbClr val="F9F5FD"/>
          </a:solidFill>
          <a:ln w="12700">
            <a:solidFill>
              <a:srgbClr val="967EC4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/>
          </a:p>
        </p:txBody>
      </p:sp>
      <p:pic>
        <p:nvPicPr>
          <p:cNvPr id="108" name="그림 107">
            <a:extLst>
              <a:ext uri="{FF2B5EF4-FFF2-40B4-BE49-F238E27FC236}">
                <a16:creationId xmlns:a16="http://schemas.microsoft.com/office/drawing/2014/main" id="{834C9A6F-D5B7-4F0E-9A3C-1EE54C46A7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" t="1" r="50091" b="59334"/>
          <a:stretch/>
        </p:blipFill>
        <p:spPr>
          <a:xfrm>
            <a:off x="8328496" y="3061376"/>
            <a:ext cx="2835322" cy="2100450"/>
          </a:xfrm>
          <a:prstGeom prst="rect">
            <a:avLst/>
          </a:prstGeom>
        </p:spPr>
      </p:pic>
      <p:sp>
        <p:nvSpPr>
          <p:cNvPr id="109" name="Shape 4">
            <a:extLst>
              <a:ext uri="{FF2B5EF4-FFF2-40B4-BE49-F238E27FC236}">
                <a16:creationId xmlns:a16="http://schemas.microsoft.com/office/drawing/2014/main" id="{7D441702-2AF5-49ED-B4ED-B96916EB85B7}"/>
              </a:ext>
            </a:extLst>
          </p:cNvPr>
          <p:cNvSpPr/>
          <p:nvPr/>
        </p:nvSpPr>
        <p:spPr>
          <a:xfrm>
            <a:off x="8140036" y="2553856"/>
            <a:ext cx="3212241" cy="3203385"/>
          </a:xfrm>
          <a:prstGeom prst="roundRect">
            <a:avLst>
              <a:gd name="adj" fmla="val 3754"/>
            </a:avLst>
          </a:prstGeom>
          <a:noFill/>
          <a:ln w="12700">
            <a:solidFill>
              <a:srgbClr val="E7E9EB"/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1500" dirty="0"/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F11E9E76-62BC-48A2-A6F9-9DFF5F0DDE1B}"/>
              </a:ext>
            </a:extLst>
          </p:cNvPr>
          <p:cNvSpPr/>
          <p:nvPr/>
        </p:nvSpPr>
        <p:spPr>
          <a:xfrm flipV="1">
            <a:off x="8786916" y="4045884"/>
            <a:ext cx="290242" cy="290242"/>
          </a:xfrm>
          <a:prstGeom prst="ellipse">
            <a:avLst/>
          </a:prstGeom>
          <a:noFill/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37474FEE-25D9-4967-8C60-6B6B08A92BA0}"/>
              </a:ext>
            </a:extLst>
          </p:cNvPr>
          <p:cNvSpPr/>
          <p:nvPr/>
        </p:nvSpPr>
        <p:spPr>
          <a:xfrm>
            <a:off x="9591524" y="3420309"/>
            <a:ext cx="1582538" cy="1582532"/>
          </a:xfrm>
          <a:prstGeom prst="ellipse">
            <a:avLst/>
          </a:prstGeom>
          <a:noFill/>
          <a:ln>
            <a:solidFill>
              <a:srgbClr val="F6C57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FCA39C40-E206-41CF-AADE-75F4696D78DC}"/>
              </a:ext>
            </a:extLst>
          </p:cNvPr>
          <p:cNvSpPr/>
          <p:nvPr/>
        </p:nvSpPr>
        <p:spPr>
          <a:xfrm>
            <a:off x="8851855" y="4103665"/>
            <a:ext cx="160365" cy="160365"/>
          </a:xfrm>
          <a:prstGeom prst="ellipse">
            <a:avLst/>
          </a:prstGeom>
          <a:solidFill>
            <a:srgbClr val="BCDAF6"/>
          </a:solidFill>
          <a:ln>
            <a:solidFill>
              <a:srgbClr val="78B5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C6E68E6E-AB19-4B5B-A132-87D7E444AC5D}"/>
              </a:ext>
            </a:extLst>
          </p:cNvPr>
          <p:cNvSpPr/>
          <p:nvPr/>
        </p:nvSpPr>
        <p:spPr>
          <a:xfrm>
            <a:off x="10277987" y="4106769"/>
            <a:ext cx="209612" cy="209612"/>
          </a:xfrm>
          <a:prstGeom prst="rect">
            <a:avLst/>
          </a:prstGeom>
          <a:solidFill>
            <a:srgbClr val="F8CCCF"/>
          </a:solidFill>
          <a:ln>
            <a:solidFill>
              <a:srgbClr val="EE89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AE2F64D4-F9DF-42C6-A3BB-AE4E7C662BDF}"/>
              </a:ext>
            </a:extLst>
          </p:cNvPr>
          <p:cNvSpPr/>
          <p:nvPr/>
        </p:nvSpPr>
        <p:spPr>
          <a:xfrm>
            <a:off x="8413441" y="2687133"/>
            <a:ext cx="272716" cy="272716"/>
          </a:xfrm>
          <a:prstGeom prst="ellipse">
            <a:avLst/>
          </a:prstGeom>
          <a:solidFill>
            <a:srgbClr val="967EC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/>
              <a:t>2</a:t>
            </a:r>
            <a:endParaRPr lang="ko-KR" altLang="en-US" sz="1500" b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10F1376-2997-47C3-A254-A24888E72EC8}"/>
              </a:ext>
            </a:extLst>
          </p:cNvPr>
          <p:cNvSpPr txBox="1"/>
          <p:nvPr/>
        </p:nvSpPr>
        <p:spPr>
          <a:xfrm>
            <a:off x="8624544" y="5152894"/>
            <a:ext cx="1291009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탐지 범위</a:t>
            </a:r>
            <a:endParaRPr lang="en-US" altLang="ko-KR" sz="1000" dirty="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21231A13-A0DD-4353-A7EF-CF44A7BF7F96}"/>
              </a:ext>
            </a:extLst>
          </p:cNvPr>
          <p:cNvSpPr txBox="1"/>
          <p:nvPr/>
        </p:nvSpPr>
        <p:spPr>
          <a:xfrm>
            <a:off x="10148179" y="5165754"/>
            <a:ext cx="946327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이동 경로</a:t>
            </a:r>
            <a:endParaRPr lang="en-US" altLang="ko-KR" sz="1000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AB552B1E-3C4A-4235-9C27-3C9879402D20}"/>
              </a:ext>
            </a:extLst>
          </p:cNvPr>
          <p:cNvSpPr txBox="1"/>
          <p:nvPr/>
        </p:nvSpPr>
        <p:spPr>
          <a:xfrm>
            <a:off x="9020412" y="5422628"/>
            <a:ext cx="1451488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000" b="1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위치 조사</a:t>
            </a:r>
            <a:endParaRPr lang="en-US" altLang="ko-KR" sz="1000" b="1" dirty="0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992C5127-4D87-43FD-8632-4D4F898826D8}"/>
              </a:ext>
            </a:extLst>
          </p:cNvPr>
          <p:cNvSpPr txBox="1"/>
          <p:nvPr/>
        </p:nvSpPr>
        <p:spPr>
          <a:xfrm>
            <a:off x="8662560" y="2609850"/>
            <a:ext cx="2431946" cy="3939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 b="1" dirty="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 단계</a:t>
            </a:r>
            <a:endParaRPr lang="en-US" altLang="ko-KR" sz="1000" b="1" dirty="0"/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ED8C71F5-9F4D-410F-88FA-8A2656011F7C}"/>
              </a:ext>
            </a:extLst>
          </p:cNvPr>
          <p:cNvSpPr/>
          <p:nvPr/>
        </p:nvSpPr>
        <p:spPr>
          <a:xfrm flipV="1">
            <a:off x="8714927" y="3973895"/>
            <a:ext cx="434220" cy="434220"/>
          </a:xfrm>
          <a:prstGeom prst="ellipse">
            <a:avLst/>
          </a:prstGeom>
          <a:noFill/>
          <a:ln>
            <a:solidFill>
              <a:srgbClr val="89D3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3CC3B4DF-3BD0-4461-8694-9778789D8092}"/>
              </a:ext>
            </a:extLst>
          </p:cNvPr>
          <p:cNvCxnSpPr>
            <a:cxnSpLocks/>
            <a:stCxn id="113" idx="1"/>
          </p:cNvCxnSpPr>
          <p:nvPr/>
        </p:nvCxnSpPr>
        <p:spPr>
          <a:xfrm flipH="1">
            <a:off x="9214086" y="4211575"/>
            <a:ext cx="1063901" cy="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BF7D3794-2B55-479C-8C96-B1F8B9DFFFC0}"/>
              </a:ext>
            </a:extLst>
          </p:cNvPr>
          <p:cNvSpPr txBox="1"/>
          <p:nvPr/>
        </p:nvSpPr>
        <p:spPr>
          <a:xfrm>
            <a:off x="8503642" y="4406792"/>
            <a:ext cx="1291009" cy="29341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발생 지점</a:t>
            </a:r>
            <a:endParaRPr lang="en-US" altLang="ko-KR" sz="1000" dirty="0"/>
          </a:p>
        </p:txBody>
      </p:sp>
      <p:sp>
        <p:nvSpPr>
          <p:cNvPr id="122" name="타원 121">
            <a:extLst>
              <a:ext uri="{FF2B5EF4-FFF2-40B4-BE49-F238E27FC236}">
                <a16:creationId xmlns:a16="http://schemas.microsoft.com/office/drawing/2014/main" id="{DEA472C6-A258-4FFD-8EE6-F9233A7B6225}"/>
              </a:ext>
            </a:extLst>
          </p:cNvPr>
          <p:cNvSpPr/>
          <p:nvPr/>
        </p:nvSpPr>
        <p:spPr>
          <a:xfrm>
            <a:off x="8449146" y="5204174"/>
            <a:ext cx="201306" cy="201305"/>
          </a:xfrm>
          <a:prstGeom prst="ellipse">
            <a:avLst/>
          </a:prstGeom>
          <a:noFill/>
          <a:ln>
            <a:solidFill>
              <a:srgbClr val="F6C57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AD3AA24B-2D1E-4034-A321-49C8A1CC5CC5}"/>
              </a:ext>
            </a:extLst>
          </p:cNvPr>
          <p:cNvCxnSpPr>
            <a:cxnSpLocks/>
          </p:cNvCxnSpPr>
          <p:nvPr/>
        </p:nvCxnSpPr>
        <p:spPr>
          <a:xfrm flipH="1">
            <a:off x="9963173" y="5331081"/>
            <a:ext cx="249114" cy="0"/>
          </a:xfrm>
          <a:prstGeom prst="straightConnector1">
            <a:avLst/>
          </a:prstGeom>
          <a:ln w="12700">
            <a:solidFill>
              <a:srgbClr val="F6C579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27678888-EE2F-4D93-AAAD-5527E7D9B3C9}"/>
              </a:ext>
            </a:extLst>
          </p:cNvPr>
          <p:cNvCxnSpPr>
            <a:cxnSpLocks/>
            <a:stCxn id="95" idx="3"/>
            <a:endCxn id="109" idx="1"/>
          </p:cNvCxnSpPr>
          <p:nvPr/>
        </p:nvCxnSpPr>
        <p:spPr>
          <a:xfrm>
            <a:off x="7327041" y="4155549"/>
            <a:ext cx="812995" cy="0"/>
          </a:xfrm>
          <a:prstGeom prst="straightConnector1">
            <a:avLst/>
          </a:prstGeom>
          <a:ln w="12700">
            <a:solidFill>
              <a:srgbClr val="0E405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101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직사각형 80">
            <a:extLst>
              <a:ext uri="{FF2B5EF4-FFF2-40B4-BE49-F238E27FC236}">
                <a16:creationId xmlns:a16="http://schemas.microsoft.com/office/drawing/2014/main" id="{241AFEE7-B1DB-4024-B288-8DEF1257CD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2047B8B6-801B-477E-B342-1AA1071CBD5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80299336-002D-40C9-A6CD-7D331BBA6BE1}"/>
              </a:ext>
            </a:extLst>
          </p:cNvPr>
          <p:cNvSpPr>
            <a:spLocks noGrp="1"/>
          </p:cNvSpPr>
          <p:nvPr/>
        </p:nvSpPr>
        <p:spPr>
          <a:xfrm>
            <a:off x="457200" y="347663"/>
            <a:ext cx="2895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05  시스템 플로우 차트</a:t>
            </a:r>
          </a:p>
        </p:txBody>
      </p:sp>
      <p:sp>
        <p:nvSpPr>
          <p:cNvPr id="84" name="Text 15">
            <a:extLst>
              <a:ext uri="{FF2B5EF4-FFF2-40B4-BE49-F238E27FC236}">
                <a16:creationId xmlns:a16="http://schemas.microsoft.com/office/drawing/2014/main" id="{DE9A7E39-5578-41AF-9048-4DFFACC445F9}"/>
              </a:ext>
            </a:extLst>
          </p:cNvPr>
          <p:cNvSpPr/>
          <p:nvPr/>
        </p:nvSpPr>
        <p:spPr>
          <a:xfrm>
            <a:off x="551790" y="1546674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5" name="Text 15">
            <a:extLst>
              <a:ext uri="{FF2B5EF4-FFF2-40B4-BE49-F238E27FC236}">
                <a16:creationId xmlns:a16="http://schemas.microsoft.com/office/drawing/2014/main" id="{0B005191-7FAA-48BB-A107-9D1C2FF448C4}"/>
              </a:ext>
            </a:extLst>
          </p:cNvPr>
          <p:cNvSpPr/>
          <p:nvPr/>
        </p:nvSpPr>
        <p:spPr>
          <a:xfrm>
            <a:off x="1812742" y="1546674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들이마시기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6" name="순서도: 문서 85">
            <a:extLst>
              <a:ext uri="{FF2B5EF4-FFF2-40B4-BE49-F238E27FC236}">
                <a16:creationId xmlns:a16="http://schemas.microsoft.com/office/drawing/2014/main" id="{B7A879E0-825F-45EE-B3E5-502EF1A82C54}"/>
              </a:ext>
            </a:extLst>
          </p:cNvPr>
          <p:cNvSpPr/>
          <p:nvPr/>
        </p:nvSpPr>
        <p:spPr>
          <a:xfrm>
            <a:off x="3073694" y="1535444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87" name="Text 14">
            <a:extLst>
              <a:ext uri="{FF2B5EF4-FFF2-40B4-BE49-F238E27FC236}">
                <a16:creationId xmlns:a16="http://schemas.microsoft.com/office/drawing/2014/main" id="{4E11CD25-811E-45CA-9868-C81087D525B6}"/>
              </a:ext>
            </a:extLst>
          </p:cNvPr>
          <p:cNvSpPr/>
          <p:nvPr/>
        </p:nvSpPr>
        <p:spPr>
          <a:xfrm>
            <a:off x="4734095" y="1449619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공기가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정상적인가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8" name="Text 15">
            <a:extLst>
              <a:ext uri="{FF2B5EF4-FFF2-40B4-BE49-F238E27FC236}">
                <a16:creationId xmlns:a16="http://schemas.microsoft.com/office/drawing/2014/main" id="{2FA279F8-C121-44D0-854B-F8A24D2C7753}"/>
              </a:ext>
            </a:extLst>
          </p:cNvPr>
          <p:cNvSpPr/>
          <p:nvPr/>
        </p:nvSpPr>
        <p:spPr>
          <a:xfrm>
            <a:off x="6394496" y="1546674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입력 시간만큼 호흡 게이지 충전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원하는 지점에서 중단 가능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깊게 들이마실수록 더 많은 호흡 확보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9" name="순서도: 문서 88">
            <a:extLst>
              <a:ext uri="{FF2B5EF4-FFF2-40B4-BE49-F238E27FC236}">
                <a16:creationId xmlns:a16="http://schemas.microsoft.com/office/drawing/2014/main" id="{235719C2-2B9A-4ECF-850D-16841C195498}"/>
              </a:ext>
            </a:extLst>
          </p:cNvPr>
          <p:cNvSpPr/>
          <p:nvPr/>
        </p:nvSpPr>
        <p:spPr>
          <a:xfrm>
            <a:off x="9250596" y="1546674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호흡 게이지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들숨 연출 출력</a:t>
            </a: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33336B50-BCCB-4FE0-A938-01625CC4F888}"/>
              </a:ext>
            </a:extLst>
          </p:cNvPr>
          <p:cNvSpPr/>
          <p:nvPr/>
        </p:nvSpPr>
        <p:spPr>
          <a:xfrm>
            <a:off x="10910997" y="1529828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입력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 진입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1" name="Shape 6">
            <a:extLst>
              <a:ext uri="{FF2B5EF4-FFF2-40B4-BE49-F238E27FC236}">
                <a16:creationId xmlns:a16="http://schemas.microsoft.com/office/drawing/2014/main" id="{F639C1AB-C992-430A-AC7A-A4C6CDD58B78}"/>
              </a:ext>
            </a:extLst>
          </p:cNvPr>
          <p:cNvSpPr/>
          <p:nvPr/>
        </p:nvSpPr>
        <p:spPr>
          <a:xfrm>
            <a:off x="1505653" y="18635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2" name="Shape 6">
            <a:extLst>
              <a:ext uri="{FF2B5EF4-FFF2-40B4-BE49-F238E27FC236}">
                <a16:creationId xmlns:a16="http://schemas.microsoft.com/office/drawing/2014/main" id="{0A11A9F0-DFC7-4761-8865-77D85E0647FF}"/>
              </a:ext>
            </a:extLst>
          </p:cNvPr>
          <p:cNvSpPr/>
          <p:nvPr/>
        </p:nvSpPr>
        <p:spPr>
          <a:xfrm>
            <a:off x="2766605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3" name="Shape 6">
            <a:extLst>
              <a:ext uri="{FF2B5EF4-FFF2-40B4-BE49-F238E27FC236}">
                <a16:creationId xmlns:a16="http://schemas.microsoft.com/office/drawing/2014/main" id="{F6A61CAF-9207-448F-9324-497DC6CC364D}"/>
              </a:ext>
            </a:extLst>
          </p:cNvPr>
          <p:cNvSpPr/>
          <p:nvPr/>
        </p:nvSpPr>
        <p:spPr>
          <a:xfrm>
            <a:off x="4427006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4" name="Shape 6">
            <a:extLst>
              <a:ext uri="{FF2B5EF4-FFF2-40B4-BE49-F238E27FC236}">
                <a16:creationId xmlns:a16="http://schemas.microsoft.com/office/drawing/2014/main" id="{F16D1D8A-8EC8-4D8B-9CA4-D3153D191E65}"/>
              </a:ext>
            </a:extLst>
          </p:cNvPr>
          <p:cNvSpPr/>
          <p:nvPr/>
        </p:nvSpPr>
        <p:spPr>
          <a:xfrm>
            <a:off x="6103406" y="1887569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95" name="Shape 6">
            <a:extLst>
              <a:ext uri="{FF2B5EF4-FFF2-40B4-BE49-F238E27FC236}">
                <a16:creationId xmlns:a16="http://schemas.microsoft.com/office/drawing/2014/main" id="{BF9AFFC6-7A85-4480-8167-F48318104CEA}"/>
              </a:ext>
            </a:extLst>
          </p:cNvPr>
          <p:cNvSpPr/>
          <p:nvPr/>
        </p:nvSpPr>
        <p:spPr>
          <a:xfrm>
            <a:off x="8943507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6" name="Shape 6">
            <a:extLst>
              <a:ext uri="{FF2B5EF4-FFF2-40B4-BE49-F238E27FC236}">
                <a16:creationId xmlns:a16="http://schemas.microsoft.com/office/drawing/2014/main" id="{7983CE49-DD5D-44B4-8DEA-25959E56A4C7}"/>
              </a:ext>
            </a:extLst>
          </p:cNvPr>
          <p:cNvSpPr/>
          <p:nvPr/>
        </p:nvSpPr>
        <p:spPr>
          <a:xfrm>
            <a:off x="10603908" y="188756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7" name="Text 15">
            <a:extLst>
              <a:ext uri="{FF2B5EF4-FFF2-40B4-BE49-F238E27FC236}">
                <a16:creationId xmlns:a16="http://schemas.microsoft.com/office/drawing/2014/main" id="{02FB67E2-A1CD-41AC-A77D-080414BAE3B0}"/>
              </a:ext>
            </a:extLst>
          </p:cNvPr>
          <p:cNvSpPr/>
          <p:nvPr/>
        </p:nvSpPr>
        <p:spPr>
          <a:xfrm>
            <a:off x="9315849" y="2447036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소음 억제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+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 지속 소모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이동 행동에 따라 소비 속도 변화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80550" algn="ctr"/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걷기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달리기 </a:t>
            </a:r>
            <a:r>
              <a:rPr lang="en-US" altLang="ko-KR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&lt; </a:t>
            </a:r>
            <a:r>
              <a:rPr lang="ko-KR" altLang="en-US" sz="1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전력질주</a:t>
            </a:r>
            <a:endParaRPr lang="en-US" sz="1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8" name="Text 15">
            <a:extLst>
              <a:ext uri="{FF2B5EF4-FFF2-40B4-BE49-F238E27FC236}">
                <a16:creationId xmlns:a16="http://schemas.microsoft.com/office/drawing/2014/main" id="{D5947E74-7E09-4D6A-B6DF-DFAA0D5478E5}"/>
              </a:ext>
            </a:extLst>
          </p:cNvPr>
          <p:cNvSpPr/>
          <p:nvPr/>
        </p:nvSpPr>
        <p:spPr>
          <a:xfrm>
            <a:off x="3306044" y="2570845"/>
            <a:ext cx="2549011" cy="873494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 err="1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환경별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 들숨 규칙 적용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먼지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기침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꽃가루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재채기 위험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연기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호흡 방해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독가스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피해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상태이상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9" name="Text 15">
            <a:extLst>
              <a:ext uri="{FF2B5EF4-FFF2-40B4-BE49-F238E27FC236}">
                <a16:creationId xmlns:a16="http://schemas.microsoft.com/office/drawing/2014/main" id="{0E608DAE-BA93-45AA-AC9F-9F58310226B1}"/>
              </a:ext>
            </a:extLst>
          </p:cNvPr>
          <p:cNvSpPr/>
          <p:nvPr/>
        </p:nvSpPr>
        <p:spPr>
          <a:xfrm>
            <a:off x="551790" y="2948955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0" name="Text 14">
            <a:extLst>
              <a:ext uri="{FF2B5EF4-FFF2-40B4-BE49-F238E27FC236}">
                <a16:creationId xmlns:a16="http://schemas.microsoft.com/office/drawing/2014/main" id="{9AD80A58-2E6E-48C6-BFBD-F5555CAFEFB1}"/>
              </a:ext>
            </a:extLst>
          </p:cNvPr>
          <p:cNvSpPr/>
          <p:nvPr/>
        </p:nvSpPr>
        <p:spPr>
          <a:xfrm>
            <a:off x="350707" y="4351237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발생 소음이 적 탐지 기준 이상인가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1" name="순서도: 문서 100">
            <a:extLst>
              <a:ext uri="{FF2B5EF4-FFF2-40B4-BE49-F238E27FC236}">
                <a16:creationId xmlns:a16="http://schemas.microsoft.com/office/drawing/2014/main" id="{E5DE5BB5-EE9E-4D12-95D3-63386DFC3B0B}"/>
              </a:ext>
            </a:extLst>
          </p:cNvPr>
          <p:cNvSpPr/>
          <p:nvPr/>
        </p:nvSpPr>
        <p:spPr>
          <a:xfrm>
            <a:off x="2019465" y="4437062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현재 공기 환경</a:t>
            </a:r>
            <a:endParaRPr lang="en-US" altLang="ko-KR" sz="1000" dirty="0"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데이터 호흡</a:t>
            </a:r>
          </a:p>
        </p:txBody>
      </p:sp>
      <p:sp>
        <p:nvSpPr>
          <p:cNvPr id="102" name="Shape 6">
            <a:extLst>
              <a:ext uri="{FF2B5EF4-FFF2-40B4-BE49-F238E27FC236}">
                <a16:creationId xmlns:a16="http://schemas.microsoft.com/office/drawing/2014/main" id="{1867E52B-7C16-46DC-A9F3-1A0704F32788}"/>
              </a:ext>
            </a:extLst>
          </p:cNvPr>
          <p:cNvSpPr/>
          <p:nvPr/>
        </p:nvSpPr>
        <p:spPr>
          <a:xfrm>
            <a:off x="1712376" y="474105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03" name="Text 15">
            <a:extLst>
              <a:ext uri="{FF2B5EF4-FFF2-40B4-BE49-F238E27FC236}">
                <a16:creationId xmlns:a16="http://schemas.microsoft.com/office/drawing/2014/main" id="{144A32E6-4D2C-4255-BF5E-7B92C34A6FE2}"/>
              </a:ext>
            </a:extLst>
          </p:cNvPr>
          <p:cNvSpPr/>
          <p:nvPr/>
        </p:nvSpPr>
        <p:spPr>
          <a:xfrm>
            <a:off x="3679866" y="4329579"/>
            <a:ext cx="2549011" cy="82296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현재 상태에 따라 호흡 소음 계산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짧은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작은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거친 날숨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강제 호흡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매우 큰 소음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4" name="Text 15">
            <a:extLst>
              <a:ext uri="{FF2B5EF4-FFF2-40B4-BE49-F238E27FC236}">
                <a16:creationId xmlns:a16="http://schemas.microsoft.com/office/drawing/2014/main" id="{0ED6C0A4-A38B-4402-AE75-D9B588436931}"/>
              </a:ext>
            </a:extLst>
          </p:cNvPr>
          <p:cNvSpPr/>
          <p:nvPr/>
        </p:nvSpPr>
        <p:spPr>
          <a:xfrm>
            <a:off x="6519849" y="4419816"/>
            <a:ext cx="2549011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내쉬기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회복 시작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필요한 양만 회복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회복 도중 다시 숨 참기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5" name="Text 14">
            <a:extLst>
              <a:ext uri="{FF2B5EF4-FFF2-40B4-BE49-F238E27FC236}">
                <a16:creationId xmlns:a16="http://schemas.microsoft.com/office/drawing/2014/main" id="{CEED59E7-2FC8-4AE1-856A-5EFAF7A527DA}"/>
              </a:ext>
            </a:extLst>
          </p:cNvPr>
          <p:cNvSpPr/>
          <p:nvPr/>
        </p:nvSpPr>
        <p:spPr>
          <a:xfrm>
            <a:off x="9797690" y="3398217"/>
            <a:ext cx="1585328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호흡 게이지가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남았는가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?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6" name="Text 15">
            <a:extLst>
              <a:ext uri="{FF2B5EF4-FFF2-40B4-BE49-F238E27FC236}">
                <a16:creationId xmlns:a16="http://schemas.microsoft.com/office/drawing/2014/main" id="{596674FC-BCA5-4AFC-997B-23B45C6C6B5E}"/>
              </a:ext>
            </a:extLst>
          </p:cNvPr>
          <p:cNvSpPr/>
          <p:nvPr/>
        </p:nvSpPr>
        <p:spPr>
          <a:xfrm>
            <a:off x="8536738" y="348965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숨 참기 상태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계속 유지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7" name="Shape 6">
            <a:extLst>
              <a:ext uri="{FF2B5EF4-FFF2-40B4-BE49-F238E27FC236}">
                <a16:creationId xmlns:a16="http://schemas.microsoft.com/office/drawing/2014/main" id="{B1DD116A-8509-4CC9-83D3-A493B8D65318}"/>
              </a:ext>
            </a:extLst>
          </p:cNvPr>
          <p:cNvSpPr/>
          <p:nvPr/>
        </p:nvSpPr>
        <p:spPr>
          <a:xfrm>
            <a:off x="9490601" y="3809697"/>
            <a:ext cx="307089" cy="0"/>
          </a:xfrm>
          <a:prstGeom prst="line">
            <a:avLst/>
          </a:prstGeom>
          <a:noFill/>
          <a:ln w="15240">
            <a:solidFill>
              <a:srgbClr val="46AFF0"/>
            </a:solidFill>
            <a:prstDash val="solid"/>
            <a:headEnd type="triangle"/>
            <a:tailEnd type="none"/>
          </a:ln>
        </p:spPr>
      </p:sp>
      <p:sp>
        <p:nvSpPr>
          <p:cNvPr id="108" name="Text 15">
            <a:extLst>
              <a:ext uri="{FF2B5EF4-FFF2-40B4-BE49-F238E27FC236}">
                <a16:creationId xmlns:a16="http://schemas.microsoft.com/office/drawing/2014/main" id="{C4E1B3D8-F7A5-4867-A14C-9A972346E6F9}"/>
              </a:ext>
            </a:extLst>
          </p:cNvPr>
          <p:cNvSpPr/>
          <p:nvPr/>
        </p:nvSpPr>
        <p:spPr>
          <a:xfrm>
            <a:off x="6654167" y="3489657"/>
            <a:ext cx="157300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숨 참기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/ </a:t>
            </a: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내쉬기 시작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9" name="Shape 6">
            <a:extLst>
              <a:ext uri="{FF2B5EF4-FFF2-40B4-BE49-F238E27FC236}">
                <a16:creationId xmlns:a16="http://schemas.microsoft.com/office/drawing/2014/main" id="{9891D70C-4226-4EE0-85C9-F222BE5DBE8B}"/>
              </a:ext>
            </a:extLst>
          </p:cNvPr>
          <p:cNvSpPr/>
          <p:nvPr/>
        </p:nvSpPr>
        <p:spPr>
          <a:xfrm>
            <a:off x="8229649" y="380969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10" name="Shape 6">
            <a:extLst>
              <a:ext uri="{FF2B5EF4-FFF2-40B4-BE49-F238E27FC236}">
                <a16:creationId xmlns:a16="http://schemas.microsoft.com/office/drawing/2014/main" id="{579A26C6-6D25-4099-8F75-2CFB139E55A1}"/>
              </a:ext>
            </a:extLst>
          </p:cNvPr>
          <p:cNvSpPr/>
          <p:nvPr/>
        </p:nvSpPr>
        <p:spPr>
          <a:xfrm rot="5400000">
            <a:off x="10450364" y="3240661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5BCC90C3-7482-430B-9ECE-D9C7B1186A3B}"/>
              </a:ext>
            </a:extLst>
          </p:cNvPr>
          <p:cNvCxnSpPr>
            <a:cxnSpLocks/>
            <a:stCxn id="90" idx="2"/>
            <a:endCxn id="97" idx="0"/>
          </p:cNvCxnSpPr>
          <p:nvPr/>
        </p:nvCxnSpPr>
        <p:spPr>
          <a:xfrm rot="5400000">
            <a:off x="10850578" y="1909685"/>
            <a:ext cx="277128" cy="797574"/>
          </a:xfrm>
          <a:prstGeom prst="bentConnector3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hape 6">
            <a:extLst>
              <a:ext uri="{FF2B5EF4-FFF2-40B4-BE49-F238E27FC236}">
                <a16:creationId xmlns:a16="http://schemas.microsoft.com/office/drawing/2014/main" id="{66AF860F-1299-4CF5-88C4-519F91A61053}"/>
              </a:ext>
            </a:extLst>
          </p:cNvPr>
          <p:cNvSpPr/>
          <p:nvPr/>
        </p:nvSpPr>
        <p:spPr>
          <a:xfrm rot="5400000">
            <a:off x="7336862" y="4283518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3" name="Shape 6">
            <a:extLst>
              <a:ext uri="{FF2B5EF4-FFF2-40B4-BE49-F238E27FC236}">
                <a16:creationId xmlns:a16="http://schemas.microsoft.com/office/drawing/2014/main" id="{0EF002A7-DC6A-4CAA-B31D-4B8004721FB6}"/>
              </a:ext>
            </a:extLst>
          </p:cNvPr>
          <p:cNvSpPr/>
          <p:nvPr/>
        </p:nvSpPr>
        <p:spPr>
          <a:xfrm>
            <a:off x="3372777" y="4706970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14" name="Shape 6">
            <a:extLst>
              <a:ext uri="{FF2B5EF4-FFF2-40B4-BE49-F238E27FC236}">
                <a16:creationId xmlns:a16="http://schemas.microsoft.com/office/drawing/2014/main" id="{F27DFA0E-3497-4937-97FF-7F2E87BD07FD}"/>
              </a:ext>
            </a:extLst>
          </p:cNvPr>
          <p:cNvSpPr/>
          <p:nvPr/>
        </p:nvSpPr>
        <p:spPr>
          <a:xfrm>
            <a:off x="6212760" y="4741059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cxnSp>
        <p:nvCxnSpPr>
          <p:cNvPr id="115" name="연결선: 꺾임 114">
            <a:extLst>
              <a:ext uri="{FF2B5EF4-FFF2-40B4-BE49-F238E27FC236}">
                <a16:creationId xmlns:a16="http://schemas.microsoft.com/office/drawing/2014/main" id="{A5003045-B6F1-4A13-9CDE-94DFECE59574}"/>
              </a:ext>
            </a:extLst>
          </p:cNvPr>
          <p:cNvCxnSpPr>
            <a:cxnSpLocks/>
            <a:stCxn id="99" idx="0"/>
            <a:endCxn id="85" idx="2"/>
          </p:cNvCxnSpPr>
          <p:nvPr/>
        </p:nvCxnSpPr>
        <p:spPr>
          <a:xfrm rot="5400000" flipH="1" flipV="1">
            <a:off x="1278098" y="1937379"/>
            <a:ext cx="762201" cy="1260952"/>
          </a:xfrm>
          <a:prstGeom prst="bentConnector3">
            <a:avLst>
              <a:gd name="adj1" fmla="val 50000"/>
            </a:avLst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Shape 6">
            <a:extLst>
              <a:ext uri="{FF2B5EF4-FFF2-40B4-BE49-F238E27FC236}">
                <a16:creationId xmlns:a16="http://schemas.microsoft.com/office/drawing/2014/main" id="{525C733C-5A6E-407A-A074-9A7FDFB0ACAD}"/>
              </a:ext>
            </a:extLst>
          </p:cNvPr>
          <p:cNvSpPr/>
          <p:nvPr/>
        </p:nvSpPr>
        <p:spPr>
          <a:xfrm rot="16200000">
            <a:off x="657090" y="3959307"/>
            <a:ext cx="740545" cy="0"/>
          </a:xfrm>
          <a:prstGeom prst="line">
            <a:avLst/>
          </a:prstGeom>
          <a:noFill/>
          <a:ln w="19050">
            <a:solidFill>
              <a:srgbClr val="F77D7D"/>
            </a:solidFill>
            <a:prstDash val="solid"/>
            <a:headEnd type="none"/>
            <a:tailEnd type="triangle"/>
          </a:ln>
        </p:spPr>
      </p:sp>
      <p:cxnSp>
        <p:nvCxnSpPr>
          <p:cNvPr id="117" name="연결선: 꺾임 116">
            <a:extLst>
              <a:ext uri="{FF2B5EF4-FFF2-40B4-BE49-F238E27FC236}">
                <a16:creationId xmlns:a16="http://schemas.microsoft.com/office/drawing/2014/main" id="{D077F3E3-E496-4C10-91C1-B14FA8009C58}"/>
              </a:ext>
            </a:extLst>
          </p:cNvPr>
          <p:cNvCxnSpPr>
            <a:cxnSpLocks/>
            <a:stCxn id="105" idx="3"/>
            <a:endCxn id="130" idx="3"/>
          </p:cNvCxnSpPr>
          <p:nvPr/>
        </p:nvCxnSpPr>
        <p:spPr>
          <a:xfrm flipH="1">
            <a:off x="11258167" y="3809697"/>
            <a:ext cx="124851" cy="1997766"/>
          </a:xfrm>
          <a:prstGeom prst="bentConnector3">
            <a:avLst>
              <a:gd name="adj1" fmla="val -183098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Shape 6">
            <a:extLst>
              <a:ext uri="{FF2B5EF4-FFF2-40B4-BE49-F238E27FC236}">
                <a16:creationId xmlns:a16="http://schemas.microsoft.com/office/drawing/2014/main" id="{24B08A1E-2328-4507-A019-E7C4A108E2D3}"/>
              </a:ext>
            </a:extLst>
          </p:cNvPr>
          <p:cNvSpPr/>
          <p:nvPr/>
        </p:nvSpPr>
        <p:spPr>
          <a:xfrm rot="5400000">
            <a:off x="875177" y="5327742"/>
            <a:ext cx="307089" cy="0"/>
          </a:xfrm>
          <a:prstGeom prst="line">
            <a:avLst/>
          </a:prstGeom>
          <a:noFill/>
          <a:ln w="19050">
            <a:solidFill>
              <a:srgbClr val="46AFF0"/>
            </a:solidFill>
            <a:prstDash val="solid"/>
            <a:headEnd type="none"/>
            <a:tailEnd type="triangle"/>
          </a:ln>
        </p:spPr>
      </p:sp>
      <p:sp>
        <p:nvSpPr>
          <p:cNvPr id="119" name="Text 15">
            <a:extLst>
              <a:ext uri="{FF2B5EF4-FFF2-40B4-BE49-F238E27FC236}">
                <a16:creationId xmlns:a16="http://schemas.microsoft.com/office/drawing/2014/main" id="{B0D44568-EEE8-4797-8C10-D4E2C5E7D56A}"/>
              </a:ext>
            </a:extLst>
          </p:cNvPr>
          <p:cNvSpPr/>
          <p:nvPr/>
        </p:nvSpPr>
        <p:spPr>
          <a:xfrm>
            <a:off x="551790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적 </a:t>
            </a:r>
            <a:r>
              <a:rPr lang="en-US" altLang="ko-KR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AI</a:t>
            </a: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의심도 상승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0" name="Text 15">
            <a:extLst>
              <a:ext uri="{FF2B5EF4-FFF2-40B4-BE49-F238E27FC236}">
                <a16:creationId xmlns:a16="http://schemas.microsoft.com/office/drawing/2014/main" id="{3BA99028-7180-4C0B-8B35-C434DFCE2331}"/>
              </a:ext>
            </a:extLst>
          </p:cNvPr>
          <p:cNvSpPr/>
          <p:nvPr/>
        </p:nvSpPr>
        <p:spPr>
          <a:xfrm>
            <a:off x="1812743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소리 발생 위치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조사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1" name="Text 15">
            <a:extLst>
              <a:ext uri="{FF2B5EF4-FFF2-40B4-BE49-F238E27FC236}">
                <a16:creationId xmlns:a16="http://schemas.microsoft.com/office/drawing/2014/main" id="{3D14EEAA-F091-4061-8E4C-2F603BA7924E}"/>
              </a:ext>
            </a:extLst>
          </p:cNvPr>
          <p:cNvSpPr/>
          <p:nvPr/>
        </p:nvSpPr>
        <p:spPr>
          <a:xfrm>
            <a:off x="3073693" y="5481287"/>
            <a:ext cx="179623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플레이어가 다시 숨을 죽이면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추가 위치 정보 제공 중단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2" name="Text 15">
            <a:extLst>
              <a:ext uri="{FF2B5EF4-FFF2-40B4-BE49-F238E27FC236}">
                <a16:creationId xmlns:a16="http://schemas.microsoft.com/office/drawing/2014/main" id="{C3299763-3468-4A3C-95E1-51FDA5C2E58B}"/>
              </a:ext>
            </a:extLst>
          </p:cNvPr>
          <p:cNvSpPr/>
          <p:nvPr/>
        </p:nvSpPr>
        <p:spPr>
          <a:xfrm>
            <a:off x="5177012" y="5481287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시간 경과 →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의심도 감소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3" name="Shape 6">
            <a:extLst>
              <a:ext uri="{FF2B5EF4-FFF2-40B4-BE49-F238E27FC236}">
                <a16:creationId xmlns:a16="http://schemas.microsoft.com/office/drawing/2014/main" id="{0FC59469-B7A6-425F-85BC-14C94888EDA7}"/>
              </a:ext>
            </a:extLst>
          </p:cNvPr>
          <p:cNvSpPr/>
          <p:nvPr/>
        </p:nvSpPr>
        <p:spPr>
          <a:xfrm>
            <a:off x="1505652" y="57933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4" name="Shape 6">
            <a:extLst>
              <a:ext uri="{FF2B5EF4-FFF2-40B4-BE49-F238E27FC236}">
                <a16:creationId xmlns:a16="http://schemas.microsoft.com/office/drawing/2014/main" id="{E04F2D7B-66D7-4C7D-B58B-F49B7960D65B}"/>
              </a:ext>
            </a:extLst>
          </p:cNvPr>
          <p:cNvSpPr/>
          <p:nvPr/>
        </p:nvSpPr>
        <p:spPr>
          <a:xfrm>
            <a:off x="2766606" y="58013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5" name="Shape 6">
            <a:extLst>
              <a:ext uri="{FF2B5EF4-FFF2-40B4-BE49-F238E27FC236}">
                <a16:creationId xmlns:a16="http://schemas.microsoft.com/office/drawing/2014/main" id="{C0525D66-9C65-4504-89C3-4879E4E2F5FD}"/>
              </a:ext>
            </a:extLst>
          </p:cNvPr>
          <p:cNvSpPr/>
          <p:nvPr/>
        </p:nvSpPr>
        <p:spPr>
          <a:xfrm>
            <a:off x="4869923" y="5793306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6" name="Text 15">
            <a:extLst>
              <a:ext uri="{FF2B5EF4-FFF2-40B4-BE49-F238E27FC236}">
                <a16:creationId xmlns:a16="http://schemas.microsoft.com/office/drawing/2014/main" id="{556EC088-8214-4179-A5DD-F0A90FB81BDF}"/>
              </a:ext>
            </a:extLst>
          </p:cNvPr>
          <p:cNvSpPr/>
          <p:nvPr/>
        </p:nvSpPr>
        <p:spPr>
          <a:xfrm>
            <a:off x="6437964" y="5490110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다시 호흡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조작 가능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7" name="Shape 6">
            <a:extLst>
              <a:ext uri="{FF2B5EF4-FFF2-40B4-BE49-F238E27FC236}">
                <a16:creationId xmlns:a16="http://schemas.microsoft.com/office/drawing/2014/main" id="{92EB00C9-940D-461D-A105-457E0B854B0B}"/>
              </a:ext>
            </a:extLst>
          </p:cNvPr>
          <p:cNvSpPr/>
          <p:nvPr/>
        </p:nvSpPr>
        <p:spPr>
          <a:xfrm>
            <a:off x="6130875" y="580132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8" name="Text 15">
            <a:extLst>
              <a:ext uri="{FF2B5EF4-FFF2-40B4-BE49-F238E27FC236}">
                <a16:creationId xmlns:a16="http://schemas.microsoft.com/office/drawing/2014/main" id="{BB7EB767-2BC5-4C19-AE54-5FB65EBC9ABF}"/>
              </a:ext>
            </a:extLst>
          </p:cNvPr>
          <p:cNvSpPr/>
          <p:nvPr/>
        </p:nvSpPr>
        <p:spPr>
          <a:xfrm>
            <a:off x="9797690" y="4504782"/>
            <a:ext cx="1585328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강제 호흡 실행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숨 참기 강제 해제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52000" indent="-171450"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재입력 일시 제한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9" name="Shape 6">
            <a:extLst>
              <a:ext uri="{FF2B5EF4-FFF2-40B4-BE49-F238E27FC236}">
                <a16:creationId xmlns:a16="http://schemas.microsoft.com/office/drawing/2014/main" id="{6104E184-B2C0-4B5C-87DC-B3C1F6153318}"/>
              </a:ext>
            </a:extLst>
          </p:cNvPr>
          <p:cNvSpPr/>
          <p:nvPr/>
        </p:nvSpPr>
        <p:spPr>
          <a:xfrm rot="5400000">
            <a:off x="10427967" y="435123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0" name="순서도: 문서 129">
            <a:extLst>
              <a:ext uri="{FF2B5EF4-FFF2-40B4-BE49-F238E27FC236}">
                <a16:creationId xmlns:a16="http://schemas.microsoft.com/office/drawing/2014/main" id="{FE53CCD7-9BD1-4FEE-8155-2074B9625F80}"/>
              </a:ext>
            </a:extLst>
          </p:cNvPr>
          <p:cNvSpPr/>
          <p:nvPr/>
        </p:nvSpPr>
        <p:spPr>
          <a:xfrm>
            <a:off x="9904855" y="5481808"/>
            <a:ext cx="1353312" cy="651309"/>
          </a:xfrm>
          <a:prstGeom prst="flowChartDocument">
            <a:avLst/>
          </a:prstGeom>
          <a:solidFill>
            <a:srgbClr val="EAF7EE"/>
          </a:solidFill>
          <a:ln>
            <a:solidFill>
              <a:srgbClr val="2D8D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큰 호흡 </a:t>
            </a:r>
            <a:r>
              <a:rPr lang="en-US" altLang="ko-KR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SFX</a:t>
            </a: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연출 출력</a:t>
            </a:r>
          </a:p>
        </p:txBody>
      </p:sp>
      <p:sp>
        <p:nvSpPr>
          <p:cNvPr id="131" name="Text 15">
            <a:extLst>
              <a:ext uri="{FF2B5EF4-FFF2-40B4-BE49-F238E27FC236}">
                <a16:creationId xmlns:a16="http://schemas.microsoft.com/office/drawing/2014/main" id="{D1D7DA67-19AA-4818-B682-F78BA681852D}"/>
              </a:ext>
            </a:extLst>
          </p:cNvPr>
          <p:cNvSpPr/>
          <p:nvPr/>
        </p:nvSpPr>
        <p:spPr>
          <a:xfrm>
            <a:off x="8643902" y="5490110"/>
            <a:ext cx="953863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  <a:cs typeface="맑은 고딕" pitchFamily="34" charset="-120"/>
              </a:rPr>
              <a:t>큰 소음</a:t>
            </a:r>
            <a:endParaRPr lang="en-US" altLang="ko-KR" sz="1000" dirty="0">
              <a:latin typeface="맑은 고딕" panose="020B0503020000020004" pitchFamily="50" charset="-127"/>
              <a:ea typeface="맑은 고딕" panose="020B0503020000020004" pitchFamily="50" charset="-127"/>
              <a:cs typeface="맑은 고딕" pitchFamily="34" charset="-120"/>
            </a:endParaRPr>
          </a:p>
          <a:p>
            <a:pPr marL="0" indent="0" algn="ctr">
              <a:buNone/>
            </a:pPr>
            <a:r>
              <a:rPr lang="ko-KR" altLang="en-US" sz="10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데이터 발생</a:t>
            </a:r>
            <a:endParaRPr lang="en-US" sz="1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2" name="Shape 6">
            <a:extLst>
              <a:ext uri="{FF2B5EF4-FFF2-40B4-BE49-F238E27FC236}">
                <a16:creationId xmlns:a16="http://schemas.microsoft.com/office/drawing/2014/main" id="{84022D61-A172-4191-A337-8AD675DC52BE}"/>
              </a:ext>
            </a:extLst>
          </p:cNvPr>
          <p:cNvSpPr/>
          <p:nvPr/>
        </p:nvSpPr>
        <p:spPr>
          <a:xfrm>
            <a:off x="9597765" y="5805457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33" name="Shape 6">
            <a:extLst>
              <a:ext uri="{FF2B5EF4-FFF2-40B4-BE49-F238E27FC236}">
                <a16:creationId xmlns:a16="http://schemas.microsoft.com/office/drawing/2014/main" id="{31AB6512-9277-4E3A-B59E-F8CB60D118B1}"/>
              </a:ext>
            </a:extLst>
          </p:cNvPr>
          <p:cNvSpPr/>
          <p:nvPr/>
        </p:nvSpPr>
        <p:spPr>
          <a:xfrm>
            <a:off x="7391827" y="5793306"/>
            <a:ext cx="1252075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triangle"/>
            <a:tailEnd type="none"/>
          </a:ln>
        </p:spPr>
      </p:sp>
      <p:sp>
        <p:nvSpPr>
          <p:cNvPr id="134" name="Shape 6">
            <a:extLst>
              <a:ext uri="{FF2B5EF4-FFF2-40B4-BE49-F238E27FC236}">
                <a16:creationId xmlns:a16="http://schemas.microsoft.com/office/drawing/2014/main" id="{CB5CE83B-72A6-4876-ACC3-96160854D1DD}"/>
              </a:ext>
            </a:extLst>
          </p:cNvPr>
          <p:cNvSpPr/>
          <p:nvPr/>
        </p:nvSpPr>
        <p:spPr>
          <a:xfrm rot="5400000">
            <a:off x="10411924" y="5313335"/>
            <a:ext cx="307089" cy="0"/>
          </a:xfrm>
          <a:prstGeom prst="line">
            <a:avLst/>
          </a:prstGeom>
          <a:noFill/>
          <a:ln w="19050">
            <a:solidFill>
              <a:srgbClr val="073B5A"/>
            </a:solidFill>
            <a:prstDash val="solid"/>
            <a:headEnd type="none"/>
            <a:tailEnd type="triangle"/>
          </a:ln>
        </p:spPr>
      </p:sp>
      <p:cxnSp>
        <p:nvCxnSpPr>
          <p:cNvPr id="135" name="연결선: 꺾임 134">
            <a:extLst>
              <a:ext uri="{FF2B5EF4-FFF2-40B4-BE49-F238E27FC236}">
                <a16:creationId xmlns:a16="http://schemas.microsoft.com/office/drawing/2014/main" id="{710F7839-C7D0-4DD8-BB14-C8771454C9E2}"/>
              </a:ext>
            </a:extLst>
          </p:cNvPr>
          <p:cNvCxnSpPr>
            <a:cxnSpLocks/>
            <a:stCxn id="98" idx="3"/>
            <a:endCxn id="88" idx="2"/>
          </p:cNvCxnSpPr>
          <p:nvPr/>
        </p:nvCxnSpPr>
        <p:spPr>
          <a:xfrm flipV="1">
            <a:off x="5855055" y="2186754"/>
            <a:ext cx="1813947" cy="820838"/>
          </a:xfrm>
          <a:prstGeom prst="bentConnector2">
            <a:avLst/>
          </a:prstGeom>
          <a:ln w="19050">
            <a:solidFill>
              <a:srgbClr val="07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연결선: 꺾임 135">
            <a:extLst>
              <a:ext uri="{FF2B5EF4-FFF2-40B4-BE49-F238E27FC236}">
                <a16:creationId xmlns:a16="http://schemas.microsoft.com/office/drawing/2014/main" id="{3364558A-C331-4883-A81A-E645928ABDC5}"/>
              </a:ext>
            </a:extLst>
          </p:cNvPr>
          <p:cNvCxnSpPr>
            <a:cxnSpLocks/>
            <a:stCxn id="87" idx="2"/>
            <a:endCxn id="98" idx="0"/>
          </p:cNvCxnSpPr>
          <p:nvPr/>
        </p:nvCxnSpPr>
        <p:spPr>
          <a:xfrm rot="5400000">
            <a:off x="4846518" y="2006612"/>
            <a:ext cx="298266" cy="830201"/>
          </a:xfrm>
          <a:prstGeom prst="bentConnector3">
            <a:avLst>
              <a:gd name="adj1" fmla="val 50000"/>
            </a:avLst>
          </a:prstGeom>
          <a:ln w="19050">
            <a:solidFill>
              <a:srgbClr val="F77D7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933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직사각형 50">
            <a:extLst>
              <a:ext uri="{FF2B5EF4-FFF2-40B4-BE49-F238E27FC236}">
                <a16:creationId xmlns:a16="http://schemas.microsoft.com/office/drawing/2014/main" id="{336D7DBE-1ED0-48F9-B7B5-C47410B6F9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D112CAD2-3C3F-4532-90A0-C046C061DD6D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8367EF5A-1600-46C1-89E3-ACA507907678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57" name="그림 5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90693" y="1333500"/>
            <a:ext cx="961764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B5C6B3E2-282B-4173-9830-8F9864523D16}"/>
              </a:ext>
            </a:extLst>
          </p:cNvPr>
          <p:cNvSpPr>
            <a:spLocks noGrp="1"/>
          </p:cNvSpPr>
          <p:nvPr/>
        </p:nvSpPr>
        <p:spPr>
          <a:xfrm>
            <a:off x="533400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들이마시기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D0D87ABC-6B83-4E93-AC14-F1E827497955}"/>
              </a:ext>
            </a:extLst>
          </p:cNvPr>
          <p:cNvSpPr>
            <a:spLocks noGrp="1"/>
          </p:cNvSpPr>
          <p:nvPr/>
        </p:nvSpPr>
        <p:spPr>
          <a:xfrm>
            <a:off x="2028825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0" name="그림 5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143125" y="1333500"/>
            <a:ext cx="1200150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676FF645-AA87-4609-8494-F7D1BABBB416}"/>
              </a:ext>
            </a:extLst>
          </p:cNvPr>
          <p:cNvSpPr>
            <a:spLocks noGrp="1"/>
          </p:cNvSpPr>
          <p:nvPr/>
        </p:nvSpPr>
        <p:spPr>
          <a:xfrm>
            <a:off x="2105025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숨 참기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E4DE0B0-A884-44D5-BCD2-417BF2C9F4D6}"/>
              </a:ext>
            </a:extLst>
          </p:cNvPr>
          <p:cNvSpPr>
            <a:spLocks noGrp="1"/>
          </p:cNvSpPr>
          <p:nvPr/>
        </p:nvSpPr>
        <p:spPr>
          <a:xfrm>
            <a:off x="3600450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3" name="그림 6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676650" y="1349415"/>
            <a:ext cx="1276350" cy="1168320"/>
          </a:xfrm>
          <a:prstGeom prst="roundRect">
            <a:avLst>
              <a:gd name="adj" fmla="val 6349"/>
            </a:avLst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84B1337F-82F6-47F8-9E6B-566E9058DF0F}"/>
              </a:ext>
            </a:extLst>
          </p:cNvPr>
          <p:cNvSpPr>
            <a:spLocks noGrp="1"/>
          </p:cNvSpPr>
          <p:nvPr/>
        </p:nvSpPr>
        <p:spPr>
          <a:xfrm>
            <a:off x="3676650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호흡 한계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FBF5FF68-0066-4952-BC50-206B64A95B9A}"/>
              </a:ext>
            </a:extLst>
          </p:cNvPr>
          <p:cNvSpPr>
            <a:spLocks noGrp="1"/>
          </p:cNvSpPr>
          <p:nvPr/>
        </p:nvSpPr>
        <p:spPr>
          <a:xfrm>
            <a:off x="5172075" y="1257300"/>
            <a:ext cx="1428750" cy="16954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6" name="그림 65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405568" y="1333500"/>
            <a:ext cx="961764" cy="1200150"/>
          </a:xfrm>
          <a:prstGeom prst="roundRect">
            <a:avLst>
              <a:gd name="adj" fmla="val 6349"/>
            </a:avLst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6B0F76-7CA6-4B14-9782-FD0C5AFC422C}"/>
              </a:ext>
            </a:extLst>
          </p:cNvPr>
          <p:cNvSpPr>
            <a:spLocks noGrp="1"/>
          </p:cNvSpPr>
          <p:nvPr/>
        </p:nvSpPr>
        <p:spPr>
          <a:xfrm>
            <a:off x="5248275" y="2571750"/>
            <a:ext cx="1276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내쉬기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C9BE367-212D-4E72-AC5B-5015EE08F0DB}"/>
              </a:ext>
            </a:extLst>
          </p:cNvPr>
          <p:cNvSpPr>
            <a:spLocks noGrp="1"/>
          </p:cNvSpPr>
          <p:nvPr/>
        </p:nvSpPr>
        <p:spPr>
          <a:xfrm>
            <a:off x="7000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69" name="그림 6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7191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01BB1CD1-47EA-4019-9433-E5F6BECD2BBB}"/>
              </a:ext>
            </a:extLst>
          </p:cNvPr>
          <p:cNvSpPr>
            <a:spLocks noGrp="1"/>
          </p:cNvSpPr>
          <p:nvPr/>
        </p:nvSpPr>
        <p:spPr>
          <a:xfrm>
            <a:off x="7096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먼지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2DA3588-65EE-4230-8D87-47470A8D6B78}"/>
              </a:ext>
            </a:extLst>
          </p:cNvPr>
          <p:cNvSpPr>
            <a:spLocks noGrp="1"/>
          </p:cNvSpPr>
          <p:nvPr/>
        </p:nvSpPr>
        <p:spPr>
          <a:xfrm>
            <a:off x="7096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기침 위험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93A892D3-9122-460E-AA9D-F23D0AEA5CC1}"/>
              </a:ext>
            </a:extLst>
          </p:cNvPr>
          <p:cNvSpPr>
            <a:spLocks noGrp="1"/>
          </p:cNvSpPr>
          <p:nvPr/>
        </p:nvSpPr>
        <p:spPr>
          <a:xfrm>
            <a:off x="8524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73" name="그림 72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8715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28D2812A-ECAF-4D75-93E1-72EFDCCE315D}"/>
              </a:ext>
            </a:extLst>
          </p:cNvPr>
          <p:cNvSpPr>
            <a:spLocks noGrp="1"/>
          </p:cNvSpPr>
          <p:nvPr/>
        </p:nvSpPr>
        <p:spPr>
          <a:xfrm>
            <a:off x="8620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꽃가루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A6B296A-74C4-4F74-94C8-7414940998D9}"/>
              </a:ext>
            </a:extLst>
          </p:cNvPr>
          <p:cNvSpPr>
            <a:spLocks noGrp="1"/>
          </p:cNvSpPr>
          <p:nvPr/>
        </p:nvSpPr>
        <p:spPr>
          <a:xfrm>
            <a:off x="8620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재채기 위험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3E2BEBB-396D-49CC-9B2D-214E017D26BE}"/>
              </a:ext>
            </a:extLst>
          </p:cNvPr>
          <p:cNvSpPr>
            <a:spLocks noGrp="1"/>
          </p:cNvSpPr>
          <p:nvPr/>
        </p:nvSpPr>
        <p:spPr>
          <a:xfrm>
            <a:off x="10048875" y="1257300"/>
            <a:ext cx="1381125" cy="169545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pic>
        <p:nvPicPr>
          <p:cNvPr id="77" name="그림 76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39375" y="1352550"/>
            <a:ext cx="1000125" cy="1000125"/>
          </a:xfrm>
          <a:prstGeom prst="roundRect">
            <a:avLst>
              <a:gd name="adj" fmla="val 7619"/>
            </a:avLst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C186C54-2BE2-4EE5-BADE-38DF6235BAE0}"/>
              </a:ext>
            </a:extLst>
          </p:cNvPr>
          <p:cNvSpPr>
            <a:spLocks noGrp="1"/>
          </p:cNvSpPr>
          <p:nvPr/>
        </p:nvSpPr>
        <p:spPr>
          <a:xfrm>
            <a:off x="10144125" y="2362200"/>
            <a:ext cx="1190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연기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BC19331-72DC-4242-95C6-7AC2EA08B019}"/>
              </a:ext>
            </a:extLst>
          </p:cNvPr>
          <p:cNvSpPr>
            <a:spLocks noGrp="1"/>
          </p:cNvSpPr>
          <p:nvPr/>
        </p:nvSpPr>
        <p:spPr>
          <a:xfrm>
            <a:off x="10144125" y="2600325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들이마시기 제한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6CB36998-56A2-42B8-8F4D-A2B71F8B35F6}"/>
              </a:ext>
            </a:extLst>
          </p:cNvPr>
          <p:cNvSpPr>
            <a:spLocks noGrp="1"/>
          </p:cNvSpPr>
          <p:nvPr/>
        </p:nvSpPr>
        <p:spPr>
          <a:xfrm>
            <a:off x="457200" y="32956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4D6BABF1-40AE-4872-ADA3-9D80C81058E1}"/>
              </a:ext>
            </a:extLst>
          </p:cNvPr>
          <p:cNvSpPr>
            <a:spLocks noGrp="1"/>
          </p:cNvSpPr>
          <p:nvPr/>
        </p:nvSpPr>
        <p:spPr>
          <a:xfrm>
            <a:off x="590550" y="33242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UI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C91749A-FE22-44B1-870A-9A498B9543C4}"/>
              </a:ext>
            </a:extLst>
          </p:cNvPr>
          <p:cNvSpPr>
            <a:spLocks noGrp="1"/>
          </p:cNvSpPr>
          <p:nvPr/>
        </p:nvSpPr>
        <p:spPr>
          <a:xfrm>
            <a:off x="1952625" y="33242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호흡 게이지 · 안전 한계선 · 소음/의심 표시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09BF2B91-D789-45CA-9CFF-80417BD143A1}"/>
              </a:ext>
            </a:extLst>
          </p:cNvPr>
          <p:cNvSpPr>
            <a:spLocks noGrp="1"/>
          </p:cNvSpPr>
          <p:nvPr/>
        </p:nvSpPr>
        <p:spPr>
          <a:xfrm>
            <a:off x="6858000" y="33242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현재 상태와 다음 판단 전달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AC2167BC-8772-4611-A1AB-1E81CF0D4EA5}"/>
              </a:ext>
            </a:extLst>
          </p:cNvPr>
          <p:cNvSpPr>
            <a:spLocks noGrp="1"/>
          </p:cNvSpPr>
          <p:nvPr/>
        </p:nvSpPr>
        <p:spPr>
          <a:xfrm>
            <a:off x="457200" y="381000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667BA7A2-090C-4D0E-94AF-5F0979252410}"/>
              </a:ext>
            </a:extLst>
          </p:cNvPr>
          <p:cNvSpPr>
            <a:spLocks noGrp="1"/>
          </p:cNvSpPr>
          <p:nvPr/>
        </p:nvSpPr>
        <p:spPr>
          <a:xfrm>
            <a:off x="590550" y="383857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애니메이션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42CFDA2-97F1-4045-BEB2-66AD30E385F7}"/>
              </a:ext>
            </a:extLst>
          </p:cNvPr>
          <p:cNvSpPr>
            <a:spLocks noGrp="1"/>
          </p:cNvSpPr>
          <p:nvPr/>
        </p:nvSpPr>
        <p:spPr>
          <a:xfrm>
            <a:off x="1952625" y="383857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들이마시기 · 숨 참기 · 내쉬기 · 흡음/공명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15919085-8570-40AC-84DF-0592E3B0D7CE}"/>
              </a:ext>
            </a:extLst>
          </p:cNvPr>
          <p:cNvSpPr>
            <a:spLocks noGrp="1"/>
          </p:cNvSpPr>
          <p:nvPr/>
        </p:nvSpPr>
        <p:spPr>
          <a:xfrm>
            <a:off x="6858000" y="383857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행동·한계·능력 사용 구분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7033F5A-A841-4F0D-9567-C56AE64527A3}"/>
              </a:ext>
            </a:extLst>
          </p:cNvPr>
          <p:cNvSpPr>
            <a:spLocks noGrp="1"/>
          </p:cNvSpPr>
          <p:nvPr/>
        </p:nvSpPr>
        <p:spPr>
          <a:xfrm>
            <a:off x="457200" y="43243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B57865C-E3DB-4A19-AE4F-29568BF5F56A}"/>
              </a:ext>
            </a:extLst>
          </p:cNvPr>
          <p:cNvSpPr>
            <a:spLocks noGrp="1"/>
          </p:cNvSpPr>
          <p:nvPr/>
        </p:nvSpPr>
        <p:spPr>
          <a:xfrm>
            <a:off x="590550" y="43529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SFX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488CF974-01ED-4756-ACAB-9B9EF192FFD6}"/>
              </a:ext>
            </a:extLst>
          </p:cNvPr>
          <p:cNvSpPr>
            <a:spLocks noGrp="1"/>
          </p:cNvSpPr>
          <p:nvPr/>
        </p:nvSpPr>
        <p:spPr>
          <a:xfrm>
            <a:off x="1952625" y="43529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짧은/깊은 들숨 · 날숨 · 한계 호흡 · 재채기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14868AF2-98D3-4C42-A7B1-CAD11E3F8EB6}"/>
              </a:ext>
            </a:extLst>
          </p:cNvPr>
          <p:cNvSpPr>
            <a:spLocks noGrp="1"/>
          </p:cNvSpPr>
          <p:nvPr/>
        </p:nvSpPr>
        <p:spPr>
          <a:xfrm>
            <a:off x="6858000" y="43529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소음 단계와 AI 반응 기준 전달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C2F0A3A8-E043-40B6-B57C-E3C03C8D1A39}"/>
              </a:ext>
            </a:extLst>
          </p:cNvPr>
          <p:cNvSpPr>
            <a:spLocks noGrp="1"/>
          </p:cNvSpPr>
          <p:nvPr/>
        </p:nvSpPr>
        <p:spPr>
          <a:xfrm>
            <a:off x="457200" y="483870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589C39A-475A-4792-9B24-407F95FE6169}"/>
              </a:ext>
            </a:extLst>
          </p:cNvPr>
          <p:cNvSpPr>
            <a:spLocks noGrp="1"/>
          </p:cNvSpPr>
          <p:nvPr/>
        </p:nvSpPr>
        <p:spPr>
          <a:xfrm>
            <a:off x="590550" y="486727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VFX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C58167A3-F1AD-4867-9767-997327031E1C}"/>
              </a:ext>
            </a:extLst>
          </p:cNvPr>
          <p:cNvSpPr>
            <a:spLocks noGrp="1"/>
          </p:cNvSpPr>
          <p:nvPr/>
        </p:nvSpPr>
        <p:spPr>
          <a:xfrm>
            <a:off x="1952625" y="486727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먼지 · 꽃가루 · 연기 · 소리 파동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76A6EC2-2650-45ED-9E10-9964E5106A25}"/>
              </a:ext>
            </a:extLst>
          </p:cNvPr>
          <p:cNvSpPr>
            <a:spLocks noGrp="1"/>
          </p:cNvSpPr>
          <p:nvPr/>
        </p:nvSpPr>
        <p:spPr>
          <a:xfrm>
            <a:off x="6858000" y="486727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환경 위험과 능력 범위 전달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496DC62F-757D-4602-B111-3CF7A7B57B5A}"/>
              </a:ext>
            </a:extLst>
          </p:cNvPr>
          <p:cNvSpPr>
            <a:spLocks noGrp="1"/>
          </p:cNvSpPr>
          <p:nvPr/>
        </p:nvSpPr>
        <p:spPr>
          <a:xfrm>
            <a:off x="457200" y="5353050"/>
            <a:ext cx="11144250" cy="4191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E1CDCB4B-E031-43B8-A732-3D5E329E73E6}"/>
              </a:ext>
            </a:extLst>
          </p:cNvPr>
          <p:cNvSpPr>
            <a:spLocks noGrp="1"/>
          </p:cNvSpPr>
          <p:nvPr/>
        </p:nvSpPr>
        <p:spPr>
          <a:xfrm>
            <a:off x="590550" y="5381625"/>
            <a:ext cx="1238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E830091-4C37-4962-B54B-654B19A57E30}"/>
              </a:ext>
            </a:extLst>
          </p:cNvPr>
          <p:cNvSpPr>
            <a:spLocks noGrp="1"/>
          </p:cNvSpPr>
          <p:nvPr/>
        </p:nvSpPr>
        <p:spPr>
          <a:xfrm>
            <a:off x="1952625" y="5381625"/>
            <a:ext cx="476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환경별 안전 한계 · 적 청각 범위 · 소비/회복량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CAA7F657-6314-4135-8674-49AE5F24F3E1}"/>
              </a:ext>
            </a:extLst>
          </p:cNvPr>
          <p:cNvSpPr>
            <a:spLocks noGrp="1"/>
          </p:cNvSpPr>
          <p:nvPr/>
        </p:nvSpPr>
        <p:spPr>
          <a:xfrm>
            <a:off x="6858000" y="5381625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667B8B"/>
                </a:solidFill>
              </a:defRPr>
            </a:pPr>
            <a:r>
              <a:rPr sz="1000" b="0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레벨·AI 밸런싱 기준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92AAB7B5-1E67-42E7-A94B-E02DD95EA515}"/>
              </a:ext>
            </a:extLst>
          </p:cNvPr>
          <p:cNvSpPr>
            <a:spLocks noGrp="1"/>
          </p:cNvSpPr>
          <p:nvPr/>
        </p:nvSpPr>
        <p:spPr>
          <a:xfrm>
            <a:off x="457200" y="6019800"/>
            <a:ext cx="1114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제작 우선순위  UI 상태색 → 기본 호흡 모션/SFX → 위험 환경 VFX → 특수 능력 모션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3BDF16E0-2998-4066-82CF-96CD587C5885}"/>
              </a:ext>
            </a:extLst>
          </p:cNvPr>
          <p:cNvSpPr>
            <a:spLocks noGrp="1"/>
          </p:cNvSpPr>
          <p:nvPr/>
        </p:nvSpPr>
        <p:spPr>
          <a:xfrm>
            <a:off x="457199" y="366714"/>
            <a:ext cx="2886075" cy="5143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06  리소스</a:t>
            </a:r>
          </a:p>
        </p:txBody>
      </p:sp>
    </p:spTree>
    <p:extLst>
      <p:ext uri="{BB962C8B-B14F-4D97-AF65-F5344CB8AC3E}">
        <p14:creationId xmlns:p14="http://schemas.microsoft.com/office/powerpoint/2010/main" val="245235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직사각형 44">
            <a:extLst>
              <a:ext uri="{FF2B5EF4-FFF2-40B4-BE49-F238E27FC236}">
                <a16:creationId xmlns:a16="http://schemas.microsoft.com/office/drawing/2014/main" id="{4959CA51-30F0-4CDB-835E-86705CEBA3A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073B5C"/>
          </a:solidFill>
          <a:ln w="9525">
            <a:solidFill>
              <a:srgbClr val="073B5C"/>
            </a:solidFill>
            <a:prstDash val="solid"/>
          </a:ln>
        </p:spPr>
      </p:sp>
      <p:sp>
        <p:nvSpPr>
          <p:cNvPr id="4" name="직선 연결선 3">
            <a:extLst>
              <a:ext uri="{FF2B5EF4-FFF2-40B4-BE49-F238E27FC236}">
                <a16:creationId xmlns:a16="http://schemas.microsoft.com/office/drawing/2014/main" id="{D8CB2A6A-2D46-469D-9FC6-FF6C20B90C76}"/>
              </a:ext>
            </a:extLst>
          </p:cNvPr>
          <p:cNvSpPr>
            <a:spLocks noGrp="1"/>
          </p:cNvSpPr>
          <p:nvPr/>
        </p:nvSpPr>
        <p:spPr>
          <a:xfrm>
            <a:off x="457200" y="971550"/>
            <a:ext cx="11239500" cy="0"/>
          </a:xfrm>
          <a:prstGeom prst="line">
            <a:avLst/>
          </a:prstGeom>
          <a:noFill/>
          <a:ln w="9525">
            <a:solidFill>
              <a:srgbClr val="D8E3EA"/>
            </a:solidFill>
            <a:prstDash val="solid"/>
          </a:ln>
        </p:spPr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EF73A7-BC59-4262-98A3-13DE0168C67D}"/>
              </a:ext>
            </a:extLst>
          </p:cNvPr>
          <p:cNvSpPr>
            <a:spLocks noGrp="1"/>
          </p:cNvSpPr>
          <p:nvPr/>
        </p:nvSpPr>
        <p:spPr>
          <a:xfrm>
            <a:off x="552450" y="1333500"/>
            <a:ext cx="266700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예외 상황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90B1572-EA95-499D-B272-3EA4F05BE3F8}"/>
              </a:ext>
            </a:extLst>
          </p:cNvPr>
          <p:cNvSpPr>
            <a:spLocks noGrp="1"/>
          </p:cNvSpPr>
          <p:nvPr/>
        </p:nvSpPr>
        <p:spPr>
          <a:xfrm>
            <a:off x="3333750" y="1333500"/>
            <a:ext cx="371475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발생 문제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E5A7272-4179-40DF-A7AA-5C4D3BBA94B8}"/>
              </a:ext>
            </a:extLst>
          </p:cNvPr>
          <p:cNvSpPr>
            <a:spLocks noGrp="1"/>
          </p:cNvSpPr>
          <p:nvPr/>
        </p:nvSpPr>
        <p:spPr>
          <a:xfrm>
            <a:off x="7162800" y="1333500"/>
            <a:ext cx="4343400" cy="304800"/>
          </a:xfrm>
          <a:prstGeom prst="rect">
            <a:avLst/>
          </a:prstGeom>
          <a:solidFill>
            <a:srgbClr val="073B5C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안전 장치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33F33DAE-5534-4D3C-A635-A83510EE641A}"/>
              </a:ext>
            </a:extLst>
          </p:cNvPr>
          <p:cNvSpPr>
            <a:spLocks noGrp="1"/>
          </p:cNvSpPr>
          <p:nvPr/>
        </p:nvSpPr>
        <p:spPr>
          <a:xfrm>
            <a:off x="457200" y="16954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41ABD98-8369-467B-932C-48E2D62EEBD7}"/>
              </a:ext>
            </a:extLst>
          </p:cNvPr>
          <p:cNvSpPr>
            <a:spLocks noGrp="1"/>
          </p:cNvSpPr>
          <p:nvPr/>
        </p:nvSpPr>
        <p:spPr>
          <a:xfrm>
            <a:off x="590550" y="17430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흡음 중 추가 흡음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05E8684-09BC-4A66-82A1-970B44F2C369}"/>
              </a:ext>
            </a:extLst>
          </p:cNvPr>
          <p:cNvSpPr>
            <a:spLocks noGrp="1"/>
          </p:cNvSpPr>
          <p:nvPr/>
        </p:nvSpPr>
        <p:spPr>
          <a:xfrm>
            <a:off x="3333750" y="17430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호흡 잠금과 저장 충돌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F3C44E7-F9AB-4166-8CF1-7B354FE49116}"/>
              </a:ext>
            </a:extLst>
          </p:cNvPr>
          <p:cNvSpPr>
            <a:spLocks noGrp="1"/>
          </p:cNvSpPr>
          <p:nvPr/>
        </p:nvSpPr>
        <p:spPr>
          <a:xfrm>
            <a:off x="7162800" y="17430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/>
                <a:ea typeface="맑은 고딕"/>
                <a:cs typeface="맑은 고딕"/>
              </a:rPr>
              <a:t>추가 흡음 불가 · HUD 경고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42F8D10D-EF50-469A-B627-4AE82638B599}"/>
              </a:ext>
            </a:extLst>
          </p:cNvPr>
          <p:cNvSpPr>
            <a:spLocks noGrp="1"/>
          </p:cNvSpPr>
          <p:nvPr/>
        </p:nvSpPr>
        <p:spPr>
          <a:xfrm>
            <a:off x="457200" y="22860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364E692-CA29-4B58-9F93-C78E2E4B5431}"/>
              </a:ext>
            </a:extLst>
          </p:cNvPr>
          <p:cNvSpPr>
            <a:spLocks noGrp="1"/>
          </p:cNvSpPr>
          <p:nvPr/>
        </p:nvSpPr>
        <p:spPr>
          <a:xfrm>
            <a:off x="590550" y="23336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공중 부유 중 게이지 0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FC7F87A-A029-4738-A7AD-E2DF6323A846}"/>
              </a:ext>
            </a:extLst>
          </p:cNvPr>
          <p:cNvSpPr>
            <a:spLocks noGrp="1"/>
          </p:cNvSpPr>
          <p:nvPr/>
        </p:nvSpPr>
        <p:spPr>
          <a:xfrm>
            <a:off x="3333750" y="23336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공중 정지 유지 불가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9F6CF8F0-9A03-4234-861F-F02E57BE8FCE}"/>
              </a:ext>
            </a:extLst>
          </p:cNvPr>
          <p:cNvSpPr>
            <a:spLocks noGrp="1"/>
          </p:cNvSpPr>
          <p:nvPr/>
        </p:nvSpPr>
        <p:spPr>
          <a:xfrm>
            <a:off x="7162800" y="23336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/>
                <a:ea typeface="맑은 고딕"/>
                <a:cs typeface="맑은 고딕"/>
              </a:rPr>
              <a:t>강제 호흡 후 즉시 낙하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81551CF-4DD5-4A90-B5EA-48BB692FAEDE}"/>
              </a:ext>
            </a:extLst>
          </p:cNvPr>
          <p:cNvSpPr>
            <a:spLocks noGrp="1"/>
          </p:cNvSpPr>
          <p:nvPr/>
        </p:nvSpPr>
        <p:spPr>
          <a:xfrm>
            <a:off x="457200" y="28765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C0B99E1F-508E-4079-81D3-B5C4D908DD87}"/>
              </a:ext>
            </a:extLst>
          </p:cNvPr>
          <p:cNvSpPr>
            <a:spLocks noGrp="1"/>
          </p:cNvSpPr>
          <p:nvPr/>
        </p:nvSpPr>
        <p:spPr>
          <a:xfrm>
            <a:off x="590550" y="29241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재채기 직전 수중 진입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64984A1F-B5AE-427C-A52A-F65F5CF15DDD}"/>
              </a:ext>
            </a:extLst>
          </p:cNvPr>
          <p:cNvSpPr>
            <a:spLocks noGrp="1"/>
          </p:cNvSpPr>
          <p:nvPr/>
        </p:nvSpPr>
        <p:spPr>
          <a:xfrm>
            <a:off x="3333750" y="29241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자극 출력과 환경 우선순위 충돌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07865854-9A5D-4DD5-AAB8-96D44306B569}"/>
              </a:ext>
            </a:extLst>
          </p:cNvPr>
          <p:cNvSpPr>
            <a:spLocks noGrp="1"/>
          </p:cNvSpPr>
          <p:nvPr/>
        </p:nvSpPr>
        <p:spPr>
          <a:xfrm>
            <a:off x="7162800" y="29241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A14C39"/>
                </a:solidFill>
              </a:defRPr>
            </a:pPr>
            <a:r>
              <a:rPr sz="1000" b="1">
                <a:solidFill>
                  <a:srgbClr val="A14C39"/>
                </a:solidFill>
                <a:latin typeface="맑은 고딕"/>
                <a:ea typeface="맑은 고딕"/>
                <a:cs typeface="맑은 고딕"/>
              </a:rPr>
              <a:t>재채기 취소 · 기침 상태 전환</a:t>
            </a: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6E0701F8-59F9-4EAE-9A4E-C3490F6E9AFF}"/>
              </a:ext>
            </a:extLst>
          </p:cNvPr>
          <p:cNvSpPr>
            <a:spLocks noGrp="1"/>
          </p:cNvSpPr>
          <p:nvPr/>
        </p:nvSpPr>
        <p:spPr>
          <a:xfrm>
            <a:off x="457200" y="34671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2F239A4-3268-4CEA-8DB8-82CE366ED1AB}"/>
              </a:ext>
            </a:extLst>
          </p:cNvPr>
          <p:cNvSpPr>
            <a:spLocks noGrp="1"/>
          </p:cNvSpPr>
          <p:nvPr/>
        </p:nvSpPr>
        <p:spPr>
          <a:xfrm>
            <a:off x="590550" y="35147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기척 소거 중 충돌</a:t>
            </a: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23C754A3-BA1E-4429-A5D4-629F1F700D75}"/>
              </a:ext>
            </a:extLst>
          </p:cNvPr>
          <p:cNvSpPr>
            <a:spLocks noGrp="1"/>
          </p:cNvSpPr>
          <p:nvPr/>
        </p:nvSpPr>
        <p:spPr>
          <a:xfrm>
            <a:off x="3333750" y="35147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시각 은신과 물리 흔적 충돌</a:t>
            </a: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770A778-F66D-4633-ABD1-EF2A9FFCE018}"/>
              </a:ext>
            </a:extLst>
          </p:cNvPr>
          <p:cNvSpPr>
            <a:spLocks noGrp="1"/>
          </p:cNvSpPr>
          <p:nvPr/>
        </p:nvSpPr>
        <p:spPr>
          <a:xfrm>
            <a:off x="7162800" y="35147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충돌음 유지 · 적 의심 증가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1F41BE4E-1B7B-4238-857A-E20ED5114F43}"/>
              </a:ext>
            </a:extLst>
          </p:cNvPr>
          <p:cNvSpPr>
            <a:spLocks noGrp="1"/>
          </p:cNvSpPr>
          <p:nvPr/>
        </p:nvSpPr>
        <p:spPr>
          <a:xfrm>
            <a:off x="457200" y="405765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8A27E8ED-F672-4CF9-A48E-308757897C83}"/>
              </a:ext>
            </a:extLst>
          </p:cNvPr>
          <p:cNvSpPr>
            <a:spLocks noGrp="1"/>
          </p:cNvSpPr>
          <p:nvPr/>
        </p:nvSpPr>
        <p:spPr>
          <a:xfrm>
            <a:off x="590550" y="410527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비상 호흡 연속 사용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B629375-DA26-48DE-855E-4A9D13898928}"/>
              </a:ext>
            </a:extLst>
          </p:cNvPr>
          <p:cNvSpPr>
            <a:spLocks noGrp="1"/>
          </p:cNvSpPr>
          <p:nvPr/>
        </p:nvSpPr>
        <p:spPr>
          <a:xfrm>
            <a:off x="3333750" y="410527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무한 숨 참기 가능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DFB0653-D4DF-4541-8060-830C743EC903}"/>
              </a:ext>
            </a:extLst>
          </p:cNvPr>
          <p:cNvSpPr>
            <a:spLocks noGrp="1"/>
          </p:cNvSpPr>
          <p:nvPr/>
        </p:nvSpPr>
        <p:spPr>
          <a:xfrm>
            <a:off x="7162800" y="41052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한 호흡 사이클당 1회 제한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18A21DB-39ED-422F-B75D-FED05E3F85C6}"/>
              </a:ext>
            </a:extLst>
          </p:cNvPr>
          <p:cNvSpPr>
            <a:spLocks noGrp="1"/>
          </p:cNvSpPr>
          <p:nvPr/>
        </p:nvSpPr>
        <p:spPr>
          <a:xfrm>
            <a:off x="457200" y="4648200"/>
            <a:ext cx="11144250" cy="495300"/>
          </a:xfrm>
          <a:prstGeom prst="roundRect">
            <a:avLst>
              <a:gd name="adj" fmla="val 7692"/>
            </a:avLst>
          </a:prstGeom>
          <a:solidFill>
            <a:srgbClr val="FBFCFD"/>
          </a:solidFill>
          <a:ln w="9525">
            <a:solidFill>
              <a:srgbClr val="D8E3EA"/>
            </a:solidFill>
            <a:prstDash val="solid"/>
          </a:ln>
        </p:spPr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D17E64F-64E5-48D1-A5DC-6DA961409FFA}"/>
              </a:ext>
            </a:extLst>
          </p:cNvPr>
          <p:cNvSpPr>
            <a:spLocks noGrp="1"/>
          </p:cNvSpPr>
          <p:nvPr/>
        </p:nvSpPr>
        <p:spPr>
          <a:xfrm>
            <a:off x="590550" y="4695825"/>
            <a:ext cx="26289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073B5C"/>
                </a:solidFill>
              </a:defRPr>
            </a:pPr>
            <a:r>
              <a:rPr sz="10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필수 구간 소음 방출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7370FE6A-DCF4-4791-8536-2201C1E9716C}"/>
              </a:ext>
            </a:extLst>
          </p:cNvPr>
          <p:cNvSpPr>
            <a:spLocks noGrp="1"/>
          </p:cNvSpPr>
          <p:nvPr/>
        </p:nvSpPr>
        <p:spPr>
          <a:xfrm>
            <a:off x="3333750" y="4695825"/>
            <a:ext cx="3714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0">
                <a:solidFill>
                  <a:srgbClr val="163247"/>
                </a:solidFill>
              </a:defRPr>
            </a:pPr>
            <a:r>
              <a:rPr sz="1000" b="0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적 과다 유입으로 진행 불가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233CB5-8C0D-4A04-9DCD-C407D24D5B27}"/>
              </a:ext>
            </a:extLst>
          </p:cNvPr>
          <p:cNvSpPr>
            <a:spLocks noGrp="1"/>
          </p:cNvSpPr>
          <p:nvPr/>
        </p:nvSpPr>
        <p:spPr>
          <a:xfrm>
            <a:off x="7162800" y="469582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방출 위치 제한 · 안전 구역 배치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8EC055CD-D187-4B20-A2E2-68A871374E37}"/>
              </a:ext>
            </a:extLst>
          </p:cNvPr>
          <p:cNvSpPr>
            <a:spLocks noGrp="1"/>
          </p:cNvSpPr>
          <p:nvPr/>
        </p:nvSpPr>
        <p:spPr>
          <a:xfrm>
            <a:off x="876300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F7D8D8"/>
          </a:solidFill>
          <a:ln w="9525">
            <a:solidFill>
              <a:srgbClr val="F7D8D8"/>
            </a:solidFill>
            <a:prstDash val="solid"/>
          </a:ln>
        </p:spPr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EEC12486-695B-4C89-9AFB-1464CB79392C}"/>
              </a:ext>
            </a:extLst>
          </p:cNvPr>
          <p:cNvSpPr>
            <a:spLocks noGrp="1"/>
          </p:cNvSpPr>
          <p:nvPr/>
        </p:nvSpPr>
        <p:spPr>
          <a:xfrm>
            <a:off x="914400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1  생존 / 진행 보장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1503D43-5A9F-405C-B742-7D95DAB73D71}"/>
              </a:ext>
            </a:extLst>
          </p:cNvPr>
          <p:cNvSpPr>
            <a:spLocks noGrp="1"/>
          </p:cNvSpPr>
          <p:nvPr/>
        </p:nvSpPr>
        <p:spPr>
          <a:xfrm>
            <a:off x="3352800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318BA806-8808-4EAD-BADB-027198983FB9}"/>
              </a:ext>
            </a:extLst>
          </p:cNvPr>
          <p:cNvSpPr>
            <a:spLocks noGrp="1"/>
          </p:cNvSpPr>
          <p:nvPr/>
        </p:nvSpPr>
        <p:spPr>
          <a:xfrm>
            <a:off x="3857625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FFE3D4"/>
          </a:solidFill>
          <a:ln w="9525">
            <a:solidFill>
              <a:srgbClr val="FFE3D4"/>
            </a:solidFill>
            <a:prstDash val="solid"/>
          </a:ln>
        </p:spPr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5D2C561-82BE-40DB-AB25-C38520771C96}"/>
              </a:ext>
            </a:extLst>
          </p:cNvPr>
          <p:cNvSpPr>
            <a:spLocks noGrp="1"/>
          </p:cNvSpPr>
          <p:nvPr/>
        </p:nvSpPr>
        <p:spPr>
          <a:xfrm>
            <a:off x="3895725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2  강제 상태 처리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55CEA9F-6C8B-4B20-9518-A9419177A386}"/>
              </a:ext>
            </a:extLst>
          </p:cNvPr>
          <p:cNvSpPr>
            <a:spLocks noGrp="1"/>
          </p:cNvSpPr>
          <p:nvPr/>
        </p:nvSpPr>
        <p:spPr>
          <a:xfrm>
            <a:off x="6334125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3F321847-384D-41E2-943B-9DD3C90C73E8}"/>
              </a:ext>
            </a:extLst>
          </p:cNvPr>
          <p:cNvSpPr>
            <a:spLocks noGrp="1"/>
          </p:cNvSpPr>
          <p:nvPr/>
        </p:nvSpPr>
        <p:spPr>
          <a:xfrm>
            <a:off x="6838950" y="5600700"/>
            <a:ext cx="2381250" cy="438150"/>
          </a:xfrm>
          <a:prstGeom prst="roundRect">
            <a:avLst>
              <a:gd name="adj" fmla="val 17391"/>
            </a:avLst>
          </a:prstGeom>
          <a:solidFill>
            <a:srgbClr val="EDE4FA"/>
          </a:solidFill>
          <a:ln w="9525">
            <a:solidFill>
              <a:srgbClr val="EDE4FA"/>
            </a:solidFill>
            <a:prstDash val="solid"/>
          </a:ln>
        </p:spPr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BF9E696-F77B-4CD7-A8E4-3EFA122F48C3}"/>
              </a:ext>
            </a:extLst>
          </p:cNvPr>
          <p:cNvSpPr>
            <a:spLocks noGrp="1"/>
          </p:cNvSpPr>
          <p:nvPr/>
        </p:nvSpPr>
        <p:spPr>
          <a:xfrm>
            <a:off x="6877050" y="5619750"/>
            <a:ext cx="2305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3  능력·환경 효과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6138F982-AD3E-4415-A227-A652E64C8A20}"/>
              </a:ext>
            </a:extLst>
          </p:cNvPr>
          <p:cNvSpPr>
            <a:spLocks noGrp="1"/>
          </p:cNvSpPr>
          <p:nvPr/>
        </p:nvSpPr>
        <p:spPr>
          <a:xfrm>
            <a:off x="9315450" y="5686425"/>
            <a:ext cx="285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00" b="1">
                <a:solidFill>
                  <a:srgbClr val="073B5C"/>
                </a:solidFill>
              </a:defRPr>
            </a:pPr>
            <a:r>
              <a:rPr sz="1500" b="1">
                <a:solidFill>
                  <a:srgbClr val="073B5C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FFFD087-0929-49A0-929D-113FAAA9CA1E}"/>
              </a:ext>
            </a:extLst>
          </p:cNvPr>
          <p:cNvSpPr>
            <a:spLocks noGrp="1"/>
          </p:cNvSpPr>
          <p:nvPr/>
        </p:nvSpPr>
        <p:spPr>
          <a:xfrm>
            <a:off x="9667875" y="5600700"/>
            <a:ext cx="1809750" cy="438150"/>
          </a:xfrm>
          <a:prstGeom prst="roundRect">
            <a:avLst>
              <a:gd name="adj" fmla="val 17391"/>
            </a:avLst>
          </a:prstGeom>
          <a:solidFill>
            <a:srgbClr val="D9F5F1"/>
          </a:solidFill>
          <a:ln w="9525">
            <a:solidFill>
              <a:srgbClr val="D9F5F1"/>
            </a:solidFill>
            <a:prstDash val="solid"/>
          </a:ln>
        </p:spPr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1E2C2078-6663-48D9-8D6E-5190C2CB9A70}"/>
              </a:ext>
            </a:extLst>
          </p:cNvPr>
          <p:cNvSpPr>
            <a:spLocks noGrp="1"/>
          </p:cNvSpPr>
          <p:nvPr/>
        </p:nvSpPr>
        <p:spPr>
          <a:xfrm>
            <a:off x="9705975" y="5619750"/>
            <a:ext cx="1733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163247"/>
                </a:solidFill>
              </a:defRPr>
            </a:pPr>
            <a:r>
              <a:rPr sz="1000" b="1">
                <a:solidFill>
                  <a:srgbClr val="163247"/>
                </a:solidFill>
                <a:latin typeface="맑은 고딕"/>
                <a:ea typeface="맑은 고딕"/>
                <a:cs typeface="맑은 고딕"/>
              </a:rPr>
              <a:t>4  일반 입력 복귀</a:t>
            </a: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DC9564E-4655-4FC5-9F40-B43616C5D471}"/>
              </a:ext>
            </a:extLst>
          </p:cNvPr>
          <p:cNvSpPr>
            <a:spLocks noGrp="1"/>
          </p:cNvSpPr>
          <p:nvPr/>
        </p:nvSpPr>
        <p:spPr>
          <a:xfrm>
            <a:off x="457200" y="6210300"/>
            <a:ext cx="11144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000" b="1">
                <a:solidFill>
                  <a:srgbClr val="667B8B"/>
                </a:solidFill>
              </a:defRPr>
            </a:pPr>
            <a:r>
              <a:rPr sz="1000" b="1">
                <a:solidFill>
                  <a:srgbClr val="667B8B"/>
                </a:solidFill>
                <a:latin typeface="맑은 고딕"/>
                <a:ea typeface="맑은 고딕"/>
                <a:cs typeface="맑은 고딕"/>
              </a:rPr>
              <a:t>안전장치는 규칙을 약하게 만드는 예외가 아니라, 규칙끼리 충돌해 플레이가 망가지지 않게 하는 처리 기준</a:t>
            </a: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02B5F65-1279-47FF-8B0A-7AF40FD8897B}"/>
              </a:ext>
            </a:extLst>
          </p:cNvPr>
          <p:cNvSpPr>
            <a:spLocks noGrp="1"/>
          </p:cNvSpPr>
          <p:nvPr/>
        </p:nvSpPr>
        <p:spPr>
          <a:xfrm>
            <a:off x="457200" y="400050"/>
            <a:ext cx="3181350" cy="4381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defRPr sz="1000" b="1">
                <a:solidFill>
                  <a:srgbClr val="20A6A0"/>
                </a:solidFill>
              </a:defRPr>
            </a:pPr>
            <a:r>
              <a:rPr sz="2000" b="1" dirty="0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06  </a:t>
            </a:r>
            <a:r>
              <a:rPr sz="2000" b="1" dirty="0" err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예외사항</a:t>
            </a:r>
            <a:r>
              <a:rPr sz="2000" b="1" dirty="0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 / </a:t>
            </a:r>
            <a:r>
              <a:rPr sz="2000" b="1" dirty="0" err="1">
                <a:solidFill>
                  <a:srgbClr val="20A6A0"/>
                </a:solidFill>
                <a:latin typeface="맑은 고딕"/>
                <a:ea typeface="맑은 고딕"/>
                <a:cs typeface="맑은 고딕"/>
              </a:rPr>
              <a:t>안전장치</a:t>
            </a:r>
            <a:endParaRPr sz="2000" b="1" dirty="0">
              <a:solidFill>
                <a:srgbClr val="20A6A0"/>
              </a:solidFill>
              <a:latin typeface="맑은 고딕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24781393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1271</Words>
  <Application>Microsoft Office PowerPoint</Application>
  <DocSecurity>0</DocSecurity>
  <PresentationFormat>와이드스크린</PresentationFormat>
  <Paragraphs>334</Paragraphs>
  <Slides>11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5" baseType="lpstr">
      <vt:lpstr>맑은 고딕</vt:lpstr>
      <vt:lpstr>Arial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3</cp:revision>
  <dcterms:created xsi:type="dcterms:W3CDTF">2026-08-24T02:49:00Z</dcterms:created>
  <dcterms:modified xsi:type="dcterms:W3CDTF">2026-08-24T04:55:34Z</dcterms:modified>
</cp:coreProperties>
</file>