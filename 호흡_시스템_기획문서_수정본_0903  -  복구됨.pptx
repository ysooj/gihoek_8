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9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78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시스템 기획 문서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21792" y="124358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E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조작을 이동 · 은신 · 소음 · 환경 대응으로 확장한 잠입 · 액션 핵심 시스템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호흡을 조절해, 위험 속에서 길을 만들어라</a:t>
            </a:r>
            <a:endParaRPr lang="en-US" sz="1500" dirty="0"/>
          </a:p>
        </p:txBody>
      </p:sp>
      <p:pic>
        <p:nvPicPr>
          <p:cNvPr id="5" name="Image 0" descr="/mnt/data/orig_media/ppt/media/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6868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4572000"/>
            <a:ext cx="3108960" cy="1005840"/>
          </a:xfrm>
          <a:prstGeom prst="rect">
            <a:avLst/>
          </a:prstGeom>
          <a:solidFill>
            <a:srgbClr val="203438"/>
          </a:solidFill>
          <a:ln w="12700">
            <a:solidFill>
              <a:srgbClr val="365A60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윤수진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유형  시스템 기획 포트폴리오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  26.09.03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4160520"/>
            <a:ext cx="1097280" cy="241663"/>
          </a:xfrm>
          <a:prstGeom prst="rect">
            <a:avLst/>
          </a:prstGeom>
          <a:solidFill>
            <a:srgbClr val="2B6D72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수정일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858000" y="4160520"/>
            <a:ext cx="4297680" cy="241663"/>
          </a:xfrm>
          <a:prstGeom prst="rect">
            <a:avLst/>
          </a:prstGeom>
          <a:solidFill>
            <a:srgbClr val="2B6D72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변경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760720" y="4402183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26.08.24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858000" y="4402183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 및 문서 구성 정리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760720" y="4643846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26.08.26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858000" y="4643846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활용 스토리보드 보완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760720" y="4885509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26.08.27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858000" y="4885509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연출 · UI 시각화 추가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760720" y="5127171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26.09.01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858000" y="5127171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 속도 정리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760720" y="5368834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26.09.02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58000" y="5368834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판정 · 기침 게이지 보완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760720" y="5610497"/>
            <a:ext cx="10972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26.09.03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858000" y="5610497"/>
            <a:ext cx="4297680" cy="241663"/>
          </a:xfrm>
          <a:prstGeom prst="rect">
            <a:avLst/>
          </a:prstGeom>
          <a:solidFill>
            <a:srgbClr val="EEF6F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정리 · 핵심 능력 재정의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1792" y="6355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8EA7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15~20페이지 기준으로 중복 페이지를 통합한 최종 구성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25880"/>
            <a:ext cx="438912" cy="43891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3350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· 시스템 개요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60934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소개 / 시스템 정의 / 핵심 순환 구조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61320" y="1435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3–5p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1938528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29968"/>
            <a:ext cx="438912" cy="438912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03911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화면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3134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정보 구조 / UI 상세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61320" y="2139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6–7p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642616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34056"/>
            <a:ext cx="438912" cy="43891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74320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규칙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0175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규칙 / 세부 판정 / 활용 스토리보드 / 환경·AI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61320" y="28437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8–12p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346704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38144"/>
            <a:ext cx="438912" cy="438912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44728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372160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플로우 / 호흡 플로우 / 환경 플로우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61320" y="35478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13–15p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" y="4050792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142232"/>
            <a:ext cx="438912" cy="43891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15137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명세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4425696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/ 리소스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6132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16–17p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" y="4754880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846320"/>
            <a:ext cx="438912" cy="438912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25880" y="485546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분석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25880" y="512978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Death Stranding 비교 / 차별화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61320" y="49560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" y="5458968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550408"/>
            <a:ext cx="438912" cy="43891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25880" y="555955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예시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25880" y="58338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연출 / 맵 적용 예시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61320" y="56601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6163056"/>
            <a:ext cx="10698480" cy="0"/>
          </a:xfrm>
          <a:prstGeom prst="line">
            <a:avLst/>
          </a:prstGeom>
          <a:noFill/>
          <a:ln w="7620">
            <a:solidFill>
              <a:srgbClr val="E3DAC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조작을 핵심으로 한 잠입 · 액션 어드벤처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960120" cy="374904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234440"/>
            <a:ext cx="2880360" cy="374904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609344"/>
            <a:ext cx="96012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609344"/>
            <a:ext cx="288036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그들은 숨소리를 듣는다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984248"/>
            <a:ext cx="96012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984248"/>
            <a:ext cx="288036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잠입 · 액션 어드벤처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359152"/>
            <a:ext cx="96012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방식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359152"/>
            <a:ext cx="288036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2.5D 횡스크롤 · 환경 탐색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734056"/>
            <a:ext cx="96012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목표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2734056"/>
            <a:ext cx="2880360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호흡을 조절해 적과 위험 요소를 돌파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1417320" cy="9144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· 환경 · 회복 위치 파악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2011680"/>
            <a:ext cx="21031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629400" y="1554480"/>
            <a:ext cx="1417320" cy="91440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선택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· 숨 참기 · 내쉬기 조절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2011680"/>
            <a:ext cx="21031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321040" y="1554480"/>
            <a:ext cx="1417320" cy="9144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활용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은신 · 체공 · 오브젝트 조작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38360" y="2011680"/>
            <a:ext cx="21031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012680" y="1554480"/>
            <a:ext cx="1417320" cy="91440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돌파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맞는 경로 확보</a:t>
            </a:r>
            <a:endParaRPr lang="en-US" sz="900" dirty="0"/>
          </a:p>
        </p:txBody>
      </p:sp>
      <p:pic>
        <p:nvPicPr>
          <p:cNvPr id="25" name="Image 0" descr="/mnt/data/orig_media/ppt/media/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1280160" cy="1280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743200" y="3429000"/>
            <a:ext cx="8046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경험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플레이어는 숨을 언제 확보하고, 언제 참으며, 언제 내쉴지를 반복적으로 판단한다.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공간도 호흡 선택에 따라 은신, 회피, 소음 유도, 환경 대응 방식이 달라진다.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정의 및 설명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호흡은 자동 회복 게이지가 아니라 플레이어가 직접 조작하는 행동 시스템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정의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플레이어가 들이마시기 · 숨 참기 · 내쉬기를 직접 조절해 호흡량과 소음을 관리하는 핵심 행동 시스템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3657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호흡을 행동 선택의 비용이자 정보로 활용해 이동 · 은신 · 환경 대응을 하나의 반복 판단 구조로 연결함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2011680" cy="822960"/>
          </a:xfrm>
          <a:prstGeom prst="rect">
            <a:avLst/>
          </a:prstGeom>
          <a:solidFill>
            <a:srgbClr val="152326"/>
          </a:solidFill>
          <a:ln w="12700">
            <a:solidFill>
              <a:srgbClr val="1523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· 숨 참기 · 내쉬기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방식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141732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 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464040" y="297180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0" y="457200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457200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971800"/>
            <a:ext cx="1371600" cy="5029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피드백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5715000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볼륨 맵: 호흡 결과가 다른 시스템으로 전달되고, 다시 호흡 조건을 변화시킴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순환 구조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만큼 확보하고, 필요한 순간만 억제한 뒤 다시 판단하는 반복 구조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1737360" cy="73152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판단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위치 · 환경 · 회복 지점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234440"/>
            <a:ext cx="1737360" cy="7315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호흡 확보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34440"/>
            <a:ext cx="1737360" cy="7315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억제 · 게이지 소모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1234440"/>
            <a:ext cx="1737360" cy="7315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수행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은신 · 능력 사용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4251960"/>
            <a:ext cx="1737360" cy="73152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 방출 · 일반 상태 복귀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32004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600200"/>
            <a:ext cx="68580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600200"/>
            <a:ext cx="68580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23960" y="1965960"/>
            <a:ext cx="0" cy="228600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4572000"/>
            <a:ext cx="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5440680"/>
            <a:ext cx="9509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호흡은 한 번에 끝까지 쓰는 자원이 아니라, 상황에 맞게 확보·억제·방출하며 계속 재판단하는 조작 구조다.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화면 / HUD 정보 구조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현재 호흡 상태와 다음 판단에 필요한 정보만 빠르게 전달함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6675120" cy="4297680"/>
          </a:xfrm>
          <a:prstGeom prst="rect">
            <a:avLst/>
          </a:prstGeom>
          <a:solidFill>
            <a:srgbClr val="0D1517"/>
          </a:solidFill>
          <a:ln w="12700">
            <a:solidFill>
              <a:srgbClr val="334E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280160"/>
            <a:ext cx="6583680" cy="4206240"/>
          </a:xfrm>
          <a:prstGeom prst="rect">
            <a:avLst/>
          </a:prstGeom>
          <a:solidFill>
            <a:srgbClr val="152428"/>
          </a:solidFill>
          <a:ln w="12700">
            <a:solidFill>
              <a:srgbClr val="1524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4800600"/>
            <a:ext cx="6583680" cy="685800"/>
          </a:xfrm>
          <a:prstGeom prst="rect">
            <a:avLst/>
          </a:prstGeom>
          <a:solidFill>
            <a:srgbClr val="0B1011"/>
          </a:solidFill>
          <a:ln w="12700">
            <a:solidFill>
              <a:srgbClr val="0B1011"/>
            </a:solidFill>
            <a:prstDash val="solid"/>
          </a:ln>
        </p:spPr>
      </p:sp>
      <p:pic>
        <p:nvPicPr>
          <p:cNvPr id="11" name="Image 0" descr="/mnt/data/orig_media/ppt/media/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66160"/>
            <a:ext cx="685800" cy="685800"/>
          </a:xfrm>
          <a:prstGeom prst="rect">
            <a:avLst/>
          </a:prstGeom>
        </p:spPr>
      </p:pic>
      <p:pic>
        <p:nvPicPr>
          <p:cNvPr id="12" name="Image 1" descr="/mnt/data/orig_media/ppt/media/imag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38328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4813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1508760" y="1508760"/>
            <a:ext cx="2926080" cy="109728"/>
          </a:xfrm>
          <a:prstGeom prst="rect">
            <a:avLst/>
          </a:prstGeom>
          <a:solidFill>
            <a:srgbClr val="1FA5AA"/>
          </a:solidFill>
          <a:ln w="12700">
            <a:solidFill>
              <a:srgbClr val="1FA5A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34840" y="1508760"/>
            <a:ext cx="1280160" cy="109728"/>
          </a:xfrm>
          <a:prstGeom prst="rect">
            <a:avLst/>
          </a:prstGeom>
          <a:solidFill>
            <a:srgbClr val="242F32"/>
          </a:solidFill>
          <a:ln w="12700">
            <a:solidFill>
              <a:srgbClr val="242F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0" y="50017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[Space]  |  숨 참기 [S]  |  내쉬기 [X]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818120" y="1234440"/>
            <a:ext cx="3429000" cy="53035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확보량 · 소모 속도 · 한계 위험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818120" y="1993392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환경 누적 · 강제 기침 조건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818120" y="2752344"/>
            <a:ext cx="3429000" cy="53035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/ 의심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크기 · 적 AI 반응 가능성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818120" y="3511296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아이콘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가능 · 조건 미충족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818120" y="4270248"/>
            <a:ext cx="3429000" cy="53035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미니맵 / 탐지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위치 · 위험 구역 · 소음 원점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상세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입력 상태, 게이지 변화, 강제 상태를 즉시 구분할 수 있게 구성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34440"/>
            <a:ext cx="1234440" cy="45720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0" y="1234440"/>
            <a:ext cx="868680" cy="45720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조작키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80360" y="1234440"/>
            <a:ext cx="1143000" cy="45720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변화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0" y="1234440"/>
            <a:ext cx="2240280" cy="45720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피드백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1234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691640"/>
            <a:ext cx="868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80360" y="16916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0" y="1691640"/>
            <a:ext cx="2240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상승 / 환경 판정 표시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1234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2148840"/>
            <a:ext cx="868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80360" y="21488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느리게 감소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0" y="2148840"/>
            <a:ext cx="2240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억제 / 은신 유지 표시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2606040"/>
            <a:ext cx="1234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11680" y="2606040"/>
            <a:ext cx="868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80360" y="26060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감소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0" y="2606040"/>
            <a:ext cx="2240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 방출 / 일반 상태 복귀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" y="3063240"/>
            <a:ext cx="1234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3063240"/>
            <a:ext cx="868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80360" y="30632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제한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0" y="3063240"/>
            <a:ext cx="2240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소음 / 숨 고르기 모션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3520440"/>
            <a:ext cx="1234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11680" y="3520440"/>
            <a:ext cx="8686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80360" y="35204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초기화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23360" y="3520440"/>
            <a:ext cx="22402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소음 / 0.5초 후딜레이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12280" y="1417320"/>
            <a:ext cx="4297680" cy="749808"/>
          </a:xfrm>
          <a:prstGeom prst="rect">
            <a:avLst/>
          </a:prstGeom>
          <a:solidFill>
            <a:srgbClr val="DBEAD6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입력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상태색 · 모션 · SFX 전환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결과 즉시 확인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423160"/>
            <a:ext cx="4297680" cy="749808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미충족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 잠금 · 짧은 경고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 이유 전달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3429000"/>
            <a:ext cx="4297680" cy="749808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상태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경고 · 재입력 제한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도달 결과 전달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4983480"/>
            <a:ext cx="9692640" cy="594360"/>
          </a:xfrm>
          <a:prstGeom prst="rect">
            <a:avLst/>
          </a:prstGeom>
          <a:solidFill>
            <a:srgbClr val="152326"/>
          </a:solidFill>
          <a:ln w="12700">
            <a:solidFill>
              <a:srgbClr val="1523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판단 흐름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확인 → 위험 예측 → 회복 위치 선택 → 호흡 실행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기본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행동 3개를 유지하고, 파생 능력은 직관적인 물리 조작 중심으로 정리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2011680" cy="274320"/>
          </a:xfrm>
          <a:prstGeom prst="rect">
            <a:avLst/>
          </a:prstGeom>
          <a:solidFill>
            <a:srgbClr val="CFEAEC"/>
          </a:solidFill>
          <a:ln>
            <a:solidFill>
              <a:srgbClr val="CFEAE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27632"/>
            <a:ext cx="3246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시간만큼 호흡 확보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흡입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근거리의 가벼운 오브젝트를 플레이어 쪽으로 끌어당김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234440"/>
            <a:ext cx="2011680" cy="274320"/>
          </a:xfrm>
          <a:prstGeom prst="rect">
            <a:avLst/>
          </a:prstGeom>
          <a:solidFill>
            <a:srgbClr val="FFF0C7"/>
          </a:solidFill>
          <a:ln>
            <a:solidFill>
              <a:srgbClr val="FFF0C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27632"/>
            <a:ext cx="3246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소음 억제 · 게이지 소모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기척 소거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탐지 회피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공중 부유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공중에서 일정 시간 체공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1234440"/>
            <a:ext cx="2011680" cy="274320"/>
          </a:xfrm>
          <a:prstGeom prst="rect">
            <a:avLst/>
          </a:prstGeom>
          <a:solidFill>
            <a:srgbClr val="CFEAEC"/>
          </a:solidFill>
          <a:ln>
            <a:solidFill>
              <a:srgbClr val="CFEAEC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1627632"/>
            <a:ext cx="3246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호흡을 방출해 일반 상태로 복귀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강한 날숨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근거리 오브젝트를 밀어내 소음 유도/환경 조작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9966960" cy="566928"/>
          </a:xfrm>
          <a:prstGeom prst="rect">
            <a:avLst/>
          </a:prstGeom>
          <a:solidFill>
            <a:srgbClr val="152326"/>
          </a:solidFill>
          <a:ln w="12700">
            <a:solidFill>
              <a:srgbClr val="1523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규칙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버튼을 계속 추가하거나, 한 번 시작한 호흡을 끝까지 강제하는 구조로 만들지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세부 규칙 및 판정 기준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플로우차트에서 사용하는 핵심 수치와 조건을 한 장에서 확인하는 명세 페이지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61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호흡 행동별 게이지 변화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74520" y="14630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변화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1463040"/>
            <a:ext cx="123444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51960" y="1463040"/>
            <a:ext cx="155448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결과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74520" y="18288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+33.3/s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7520" y="182880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182880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확보 / 환경 판정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1945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21945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-11/s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0" y="219456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51960" y="219456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억제 / 은신 유지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74520" y="25603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-50/s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17520" y="256032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51960" y="256032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 방출 / 일반 상태 복귀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29260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100 유지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74520" y="29260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17520" y="292608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1.5초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51960" y="292608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발동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1161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환경별 판정 기준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1463040"/>
            <a:ext cx="8229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95160" y="1463040"/>
            <a:ext cx="96012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55280" y="1463040"/>
            <a:ext cx="10515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06840" y="1463040"/>
            <a:ext cx="237744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위험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72200" y="1809206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95160" y="1809206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955280" y="1809206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006840" y="1809206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유지 시 강제 호흡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72200" y="2155371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95160" y="2155371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955280" y="2155371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006840" y="2155371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72200" y="2501537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꽃가루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95160" y="2501537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955280" y="2501537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006840" y="2501537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72200" y="2847703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995160" y="2847703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955280" y="2847703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006840" y="2847703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시야 저하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172200" y="3193869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95160" y="3193869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955280" y="3193869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006840" y="3193869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들숨 중 HP 감소 + 잔류 피해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172200" y="3540034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995160" y="3540034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955280" y="3540034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006840" y="3540034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호흡만 사용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152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기침 판정 기준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" y="4434840"/>
            <a:ext cx="1417320" cy="530352"/>
          </a:xfrm>
          <a:prstGeom prst="rect">
            <a:avLst/>
          </a:prstGeom>
          <a:solidFill>
            <a:srgbClr val="F8D7D7"/>
          </a:solidFill>
          <a:ln w="12700">
            <a:solidFill>
              <a:srgbClr val="C94C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0" y="47000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2743200" y="44348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60520" y="47000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4617720" y="44348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이벤트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35040" y="47000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6492240" y="44348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09560" y="47000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8366760" y="44348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고르기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0.5초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68680" y="5486400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피해는 “독가스 환경 + 들이마시기 입력”이 동시에 성립할 때만 적용함.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활용 스토리보드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호흡 게이지를 공유하지만 상황별로 다른 전술 기능으로 분기됨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pic>
        <p:nvPicPr>
          <p:cNvPr id="8" name="Image 0" descr="/mnt/data/orig_media/ppt/media/image39.png"/>
          <p:cNvPicPr>
            <a:picLocks noChangeAspect="1"/>
          </p:cNvPicPr>
          <p:nvPr/>
        </p:nvPicPr>
        <p:blipFill>
          <a:blip r:embed="rId3"/>
          <a:srcRect l="341" r="341"/>
          <a:stretch/>
        </p:blipFill>
        <p:spPr>
          <a:xfrm>
            <a:off x="731520" y="1188720"/>
            <a:ext cx="548640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234440"/>
            <a:ext cx="4297680" cy="59436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기척 소거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 → 은신 상태 유지 → 적 시야 통과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205740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 부유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점프 + 숨 참기 → 체공 유지 → 지면 위협 회피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0" y="2880360"/>
            <a:ext cx="4297680" cy="59436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흡입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→ 가벼운 오브젝트를 끌어당김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0" y="370332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날숨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 → 오브젝트를 밀어 소음 유도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0" y="4709160"/>
            <a:ext cx="4297680" cy="960120"/>
          </a:xfrm>
          <a:prstGeom prst="rect">
            <a:avLst/>
          </a:prstGeom>
          <a:solidFill>
            <a:srgbClr val="152326"/>
          </a:solidFill>
          <a:ln w="12700">
            <a:solidFill>
              <a:srgbClr val="1523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조작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 능력 발동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회피 / 경로 확보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· AI 연동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들이마시기 판정과 기침 게이지에 영향을 주고, 소음은 적 AI 상태를 변화시킴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1005840" cy="404949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 환경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91640" y="1234440"/>
            <a:ext cx="4297680" cy="404949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규칙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639389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91640" y="1639389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없음 / 호흡 게이지 100 유지 시 강제 호흡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044337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91640" y="2044337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누적 / 기침 가능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449286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꽃가루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91640" y="2449286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누적 / 기침 가능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854234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854234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누적 / 들이마시기 제한 / 시야 저하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3259183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91640" y="3259183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누적 / 들숨 중 HP 감소 / 짧은 잔류 피해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3664131"/>
            <a:ext cx="100584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91640" y="3664131"/>
            <a:ext cx="4297680" cy="404949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불가 / 보유 호흡만 사용 / 기침 게이지 제외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1234440"/>
            <a:ext cx="1188720" cy="384048"/>
          </a:xfrm>
          <a:prstGeom prst="rect">
            <a:avLst/>
          </a:prstGeom>
          <a:solidFill>
            <a:srgbClr val="F2B84B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의심 게이지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1234440"/>
            <a:ext cx="2103120" cy="384048"/>
          </a:xfrm>
          <a:prstGeom prst="rect">
            <a:avLst/>
          </a:prstGeom>
          <a:solidFill>
            <a:srgbClr val="F2B84B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1618488"/>
            <a:ext cx="1188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0" y="1618488"/>
            <a:ext cx="21031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002536"/>
            <a:ext cx="1188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25–49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2002536"/>
            <a:ext cx="21031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386584"/>
            <a:ext cx="1188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50–74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2386584"/>
            <a:ext cx="21031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조사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770632"/>
            <a:ext cx="1188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75–100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0" y="2770632"/>
            <a:ext cx="21031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/ 추격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4617720"/>
            <a:ext cx="10149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/ 덮어쓰기 규칙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우선순위: 수중 &gt; 독가스 &gt; 연기 &gt; 꽃가루 &gt; 먼지 &gt; 정상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동일 단계 중복: 안전 한계는 최저값 적용 · 기침 게이지는 누적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구역 이탈: 환경 효과 해제, 누적 기침 게이지는 시간에 따라 감소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/ 적 AI 판정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소음은 적의 상태를 변화시키는 이벤트이며, 의심 게이지가 누적되면 조사·추격으로 전환됨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1828800" cy="6858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평상시 순찰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664208"/>
            <a:ext cx="50292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1828800" cy="6858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의심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1664208"/>
            <a:ext cx="50292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35040" y="1325880"/>
            <a:ext cx="1828800" cy="68580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조사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위치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1664208"/>
            <a:ext cx="50292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41080" y="1325880"/>
            <a:ext cx="1828800" cy="68580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/ 추격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시야 확보 시 공격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감지 = 상태가 아니라 전이 트리거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소음 · 발소리 · 충돌음이 청각 범위에 들어오면 의심 게이지가 상승함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소음 규칙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소음이 큰 환경에서는 적이 플레이어 소리를 듣는 범위가 줄어든다.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920240" cy="4572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소음 범위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4251960"/>
            <a:ext cx="1920240" cy="45720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청각 범위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4133088"/>
            <a:ext cx="1828800" cy="68580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겹침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의심 상승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133088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엄폐물 있음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시야 미발견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4480560"/>
            <a:ext cx="36576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4480560"/>
            <a:ext cx="36576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4480560"/>
            <a:ext cx="41148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시스템 플로우차트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수치가 아니라 입력→판정→결과의 큰 흐름만 보여주는 상위 구조도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입력 시작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3258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환경 확인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60520" y="13258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상태 판정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97880" y="13258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규칙 적용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2926080"/>
            <a:ext cx="150876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상태 조건?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150876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/ 강제 기침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45262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발생 판정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60520" y="4526280"/>
            <a:ext cx="150876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탐지 기준 이상?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의심도 상승 / 조사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32520" y="4526280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 유지 / 복귀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1600200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31920" y="1600200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1600200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29400" y="1874520"/>
            <a:ext cx="0" cy="1033272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3200400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89120" y="3474720"/>
            <a:ext cx="0" cy="1033272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0" y="4800600"/>
            <a:ext cx="6583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4800600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09560" y="4800600"/>
            <a:ext cx="77724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YES: 강제 상태 또는 AI 반응으로 이동 / NO: 일반 상태 유지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플로우차트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 변화와 강제 호흡 조건을 분리해 표시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증가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1508760" cy="566928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1508760" cy="566928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1.5초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1417320"/>
            <a:ext cx="1508760" cy="566928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소음 · 2.5초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315468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느리게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3154680"/>
            <a:ext cx="1508760" cy="566928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남았는가?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315468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315468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빠르게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1700784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77640" y="170078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97880" y="170078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18120" y="170078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40280" y="3438144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77640" y="343814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97880" y="343814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3438144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79408" y="3721608"/>
            <a:ext cx="0" cy="1060704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989320" y="4800600"/>
            <a:ext cx="1508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 해제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38928" y="3721608"/>
            <a:ext cx="850392" cy="135331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0" y="5084064"/>
            <a:ext cx="71323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68680" y="5715000"/>
            <a:ext cx="8778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게이지는 들이마시기로 확보한 호흡량이며, 숨 참기와 내쉬기에 따라 감소한다.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점검 플로우차트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시작 후 현재 환경을 빠르게 판정하고, 환경 변경 시 즉시 재판정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32588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0.1초 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파악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60520" y="1325880"/>
            <a:ext cx="141732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수중인가?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32588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2743200"/>
            <a:ext cx="141732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정상인가?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들숨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60520" y="4160520"/>
            <a:ext cx="141732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환경인가?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416052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160520"/>
            <a:ext cx="1417320" cy="5486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100%인가?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46920" y="416052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초기화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1600200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94760" y="1600200"/>
            <a:ext cx="34747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77840" y="1600200"/>
            <a:ext cx="43891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64608" y="187452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77840" y="301752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64608" y="329184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443484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4434840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81160" y="4434840"/>
            <a:ext cx="34747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512064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추가 규칙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환경에서 들이마시는 동안 HP가 지속 감소하며, 입력 종료 후 약 1초 동안 잔류 피해가 유지된다.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553212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전환 예시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 65% → 꽃가루 진입 → 기침 게이지 65% 유지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및 안전장치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규칙끼리 충돌해 플레이가 망가지지 않도록 우선 처리 기준을 정의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1874520" cy="46863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2560320" y="1188720"/>
            <a:ext cx="3017520" cy="46863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규칙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1965960" cy="46863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685800" y="165735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중 환경 전환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2560320" y="165735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 환경으로 즉시 재판정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577840" y="165735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불일치 방지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685800" y="212598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환경 간 이동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560320" y="212598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 누적값 유지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577840" y="212598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경계선 악용 방지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85800" y="259461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 100 유지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560320" y="259461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충전 제한 → 1.5초 후 강제 호흡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5577840" y="259461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들숨 방지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 발동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2560320" y="306324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초기화 → 숨 고르기 0.5초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발동 방지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685800" y="353187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 처리 중 재충족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2560320" y="353187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처리 종료까지 추가 발동 무시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5577840" y="353187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중복 방지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685800" y="400050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이탈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2560320" y="400050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들숨 종료 후 약 1초 잔류 피해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577840" y="400050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이탈 악용 완화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685800" y="4469130"/>
            <a:ext cx="1874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 부유 중 게이지 소진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2560320" y="4469130"/>
            <a:ext cx="301752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부유 해제 → 낙하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5577840" y="4469130"/>
            <a:ext cx="1965960" cy="46863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충돌 방지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8229600" y="1600200"/>
            <a:ext cx="1417320" cy="530352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46920" y="1865376"/>
            <a:ext cx="50292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149840" y="1600200"/>
            <a:ext cx="1188720" cy="53035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환경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3063240"/>
            <a:ext cx="1417320" cy="530352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처리 중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46920" y="3328416"/>
            <a:ext cx="50292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0149840" y="3063240"/>
            <a:ext cx="1188720" cy="530352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발동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5623560"/>
            <a:ext cx="9875520" cy="457200"/>
          </a:xfrm>
          <a:prstGeom prst="rect">
            <a:avLst/>
          </a:prstGeom>
          <a:solidFill>
            <a:srgbClr val="152326"/>
          </a:solidFill>
          <a:ln w="12700">
            <a:solidFill>
              <a:srgbClr val="1523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안전장치는 규칙을 약하게 만드는 예외가 아니라, 시스템 충돌을 막는 처리 기준이다.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리소스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후드 캐릭터를 기준으로 UI · 모션 · SFX · VFX · 데이터 리소스를 통일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pic>
        <p:nvPicPr>
          <p:cNvPr id="8" name="Image 0" descr="/mnt/data/orig_media/ppt/media/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86868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234440"/>
            <a:ext cx="1051560" cy="54864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737360" y="1234440"/>
            <a:ext cx="3749040" cy="54864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리소스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5486400" y="1234440"/>
            <a:ext cx="3749040" cy="54864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685800" y="1783080"/>
            <a:ext cx="105156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1737360" y="178308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 · 기침 게이지 · 의심 표시 · 능력 조건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5486400" y="178308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상태와 다음 판단 전달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685800" y="2331720"/>
            <a:ext cx="105156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1737360" y="233172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· 숨 참기 · 내쉬기 · 강제 호흡 · 강제 기침 · 흡입/강한 날숨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5486400" y="233172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행동·한계·능력 사용 구분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685800" y="2880360"/>
            <a:ext cx="105156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SFX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1737360" y="288036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짧은/깊은 들숨 · 날숨 · 거친 호흡 · 강제 기침 · 독가스 피격 · 수중 기포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5486400" y="288036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단계와 AI 반응 기준 전달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685800" y="3429000"/>
            <a:ext cx="105156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VFX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1737360" y="342900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 · 꽃가루 · 연기 · 독가스 · 수중 · 소리 파동 · 오브젝트 이동 방향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5486400" y="342900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위험과 능력 범위 전달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685800" y="3977640"/>
            <a:ext cx="105156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1737360" y="397764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환경별 안전 한계 · 기침 누적량 · HP 피해량 · 적 청각 범위 · 소비/회복량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5486400" y="3977640"/>
            <a:ext cx="3749040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레벨·AI 밸런싱 기준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914400" y="5074920"/>
            <a:ext cx="9966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우선순위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상태색 → 기본 호흡 모션/SFX → 위험 환경 VFX → 핵심 능력 모션 → AI 반응 연출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분석 · 차별화 포인트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&lt;DEATH STRANDING&gt;의 검증된 신체 자원 관리 구조를 호흡 조작 중심으로 재해석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1280160" cy="457200"/>
          </a:xfrm>
          <a:prstGeom prst="rect">
            <a:avLst/>
          </a:prstGeom>
          <a:solidFill>
            <a:srgbClr val="15232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965960" y="1234440"/>
            <a:ext cx="4023360" cy="457200"/>
          </a:xfrm>
          <a:prstGeom prst="rect">
            <a:avLst/>
          </a:prstGeom>
          <a:solidFill>
            <a:srgbClr val="15232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&lt;DEATH STRANDING&gt;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5989320" y="1234440"/>
            <a:ext cx="5394960" cy="457200"/>
          </a:xfrm>
          <a:prstGeom prst="rect">
            <a:avLst/>
          </a:prstGeom>
          <a:solidFill>
            <a:srgbClr val="152326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호흡 시스템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12801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자원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965960" y="169164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· 균형 · 스태미나 · 상황 자원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5989320" y="1691640"/>
            <a:ext cx="53949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게이지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12801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사용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965960" y="214884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 구간 등 특정 위협에서 숨 참기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5989320" y="2148840"/>
            <a:ext cx="53949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 · 숨 참기 · 내쉬기 전반 조작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85800" y="2606040"/>
            <a:ext cx="12801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대응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965960" y="260604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· 적 · BT 구간 대응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989320" y="2606040"/>
            <a:ext cx="53949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 · 꽃가루 · 연기 · 독가스 · 수중 대응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12801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연결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965960" y="306324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안정성 · 은신 · 생존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5989320" y="3063240"/>
            <a:ext cx="53949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은신 · 소음 · 환경 퍼즐 · 강제 상태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12801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965960" y="352044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상황형 보조 메커니즘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5989320" y="3520440"/>
            <a:ext cx="53949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전반을 관통하는 중심 순환 메커니즘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868680" y="4572000"/>
            <a:ext cx="3154680" cy="68580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 상태와 자원 관리가 이동·은신 판단에 영향을 주는 구조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246120" cy="68580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호흡을 특정 상황의 보조 행동이 아니라 반복 조작 가능한 핵심 자원으로 확장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4572000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낫다는 비교보다 “호흡 중심으로 더 자주·능동적으로 판단하게 만든 확장”을 어필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473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Kojima Productions 공식 팁 / PlayStation Blog 공식 가이드</a:t>
            </a:r>
            <a:endParaRPr lang="en-US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379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DESIGN PORTFOLIO</a:t>
            </a:r>
            <a:endParaRPr lang="en-US" sz="5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34440" y="292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연출 · 맵 적용 예시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규칙을 실제 레벨 안에서 소음 유도, 위험 구간 돌파, 동선 선택으로 연결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11201400" cy="0"/>
          </a:xfrm>
          <a:prstGeom prst="line">
            <a:avLst/>
          </a:prstGeom>
          <a:noFill/>
          <a:ln w="12700">
            <a:solidFill>
              <a:srgbClr val="D6CDBD"/>
            </a:solidFill>
            <a:prstDash val="solid"/>
          </a:ln>
        </p:spPr>
      </p:sp>
      <p:pic>
        <p:nvPicPr>
          <p:cNvPr id="8" name="Image 0" descr="/mnt/data/orig_media/ppt/media/image41.png"/>
          <p:cNvPicPr>
            <a:picLocks noChangeAspect="1"/>
          </p:cNvPicPr>
          <p:nvPr/>
        </p:nvPicPr>
        <p:blipFill>
          <a:blip r:embed="rId3"/>
          <a:srcRect l="9812" r="9812"/>
          <a:stretch/>
        </p:blipFill>
        <p:spPr>
          <a:xfrm>
            <a:off x="594360" y="1143000"/>
            <a:ext cx="498348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1234440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유도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· 출구 · 오브젝트 위치 확인 → 강한 날숨으로 오브젝트 충돌 → 적이 소음 지점을 조사 → 반대 경로 이탈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80760" y="2331720"/>
            <a:ext cx="5074920" cy="777240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 구간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파리 수 증가로 위험 구간 예고 → 들이마시기 후 숨 참기 유지 → 안전 구간에서 내쉬기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3429000"/>
            <a:ext cx="5074920" cy="7772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적용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환경, 엄폐물, 오브젝트, 적 시야, 회복 가능 지점을 배치해 호흡 판단을 유도</a:t>
            </a:r>
            <a:endParaRPr lang="en-US" sz="900" dirty="0"/>
          </a:p>
        </p:txBody>
      </p:sp>
      <p:pic>
        <p:nvPicPr>
          <p:cNvPr id="12" name="Image 1" descr="/mnt/data/orig_media/ppt/media/image23.png"/>
          <p:cNvPicPr>
            <a:picLocks noChangeAspect="1"/>
          </p:cNvPicPr>
          <p:nvPr/>
        </p:nvPicPr>
        <p:blipFill>
          <a:blip r:embed="rId4"/>
          <a:srcRect t="10295" b="10295"/>
          <a:stretch/>
        </p:blipFill>
        <p:spPr>
          <a:xfrm>
            <a:off x="6080760" y="4617720"/>
            <a:ext cx="2834640" cy="1325880"/>
          </a:xfrm>
          <a:prstGeom prst="rect">
            <a:avLst/>
          </a:prstGeom>
        </p:spPr>
      </p:pic>
      <p:pic>
        <p:nvPicPr>
          <p:cNvPr id="13" name="Image 2" descr="/mnt/data/orig_media/ppt/media/image39.png"/>
          <p:cNvPicPr>
            <a:picLocks noChangeAspect="1"/>
          </p:cNvPicPr>
          <p:nvPr/>
        </p:nvPicPr>
        <p:blipFill>
          <a:blip r:embed="rId5"/>
          <a:srcRect l="5364" r="5364"/>
          <a:stretch/>
        </p:blipFill>
        <p:spPr>
          <a:xfrm>
            <a:off x="9098280" y="4617720"/>
            <a:ext cx="2103120" cy="1325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2065</Words>
  <Application>Microsoft Office PowerPoint</Application>
  <PresentationFormat>와이드스크린</PresentationFormat>
  <Paragraphs>536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SYSTEM DESIGN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 문서</dc:title>
  <dc:subject>호흡 시스템 기획 문서 수정본</dc:subject>
  <dc:creator>윤수진</dc:creator>
  <cp:lastModifiedBy>musukie52@gmail.com</cp:lastModifiedBy>
  <cp:revision>2</cp:revision>
  <dcterms:created xsi:type="dcterms:W3CDTF">2026-09-03T04:00:35Z</dcterms:created>
  <dcterms:modified xsi:type="dcterms:W3CDTF">2026-09-04T02:20:17Z</dcterms:modified>
</cp:coreProperties>
</file>