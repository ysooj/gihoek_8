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86" r:id="rId6"/>
    <p:sldId id="287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E2FF"/>
    <a:srgbClr val="EAF3FF"/>
    <a:srgbClr val="07376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5" d="100"/>
          <a:sy n="45" d="100"/>
        </p:scale>
        <p:origin x="15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4036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7880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3635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76656" y="2719383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기획 문서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76656" y="3322887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 · 숨 참기 · 내쉬기를 조절하는 잠입/탐색 핵심 시스템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42232" y="52578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ko-KR" altLang="en-US" sz="1500" smtClean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</a:rPr>
              <a:t>작성자 </a:t>
            </a:r>
            <a:r>
              <a:rPr lang="en-US" altLang="ko-KR" sz="1500" smtClean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</a:rPr>
              <a:t>: </a:t>
            </a:r>
            <a:r>
              <a:rPr lang="ko-KR" altLang="en-US" sz="1500" smtClean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</a:rPr>
              <a:t>윤수진</a:t>
            </a:r>
            <a:endParaRPr lang="en-US" sz="1500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7D3DEE91-8CA7-42B6-A370-FA15A33B4A97}"/>
              </a:ext>
            </a:extLst>
          </p:cNvPr>
          <p:cNvCxnSpPr/>
          <p:nvPr/>
        </p:nvCxnSpPr>
        <p:spPr>
          <a:xfrm>
            <a:off x="676656" y="713232"/>
            <a:ext cx="10835640" cy="1"/>
          </a:xfrm>
          <a:prstGeom prst="line">
            <a:avLst/>
          </a:prstGeom>
          <a:ln w="38100" cap="rnd">
            <a:solidFill>
              <a:srgbClr val="0737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13232" y="70475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15865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호흡 시스템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13232" y="1934000"/>
            <a:ext cx="3246120" cy="1193624"/>
          </a:xfrm>
          <a:prstGeom prst="roundRect">
            <a:avLst>
              <a:gd name="adj" fmla="val 4459"/>
            </a:avLst>
          </a:prstGeom>
          <a:solidFill>
            <a:srgbClr val="EAF3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43728"/>
            <a:ext cx="302666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목적</a:t>
            </a:r>
            <a:endParaRPr lang="en-US" sz="1000" dirty="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정의</a:t>
            </a:r>
            <a:endParaRPr lang="en-US" sz="1000" dirty="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</a:t>
            </a: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플레이 경험</a:t>
            </a:r>
            <a:endParaRPr lang="en-US" sz="1000" dirty="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</a:t>
            </a: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대상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62272" y="15865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호흡 시스템 플레이 화면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62272" y="1934000"/>
            <a:ext cx="3246120" cy="1193624"/>
          </a:xfrm>
          <a:prstGeom prst="roundRect">
            <a:avLst>
              <a:gd name="adj" fmla="val 445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043728"/>
            <a:ext cx="302666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화면 목업</a:t>
            </a:r>
            <a:endParaRPr lang="en-US" sz="1000" dirty="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HUD 구성</a:t>
            </a:r>
            <a:endParaRPr lang="en-US" sz="1000" dirty="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플레이 피드백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11312" y="15865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시스템 규칙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11312" y="1934000"/>
            <a:ext cx="3246120" cy="1193624"/>
          </a:xfrm>
          <a:prstGeom prst="roundRect">
            <a:avLst>
              <a:gd name="adj" fmla="val 4459"/>
            </a:avLst>
          </a:prstGeom>
          <a:solidFill>
            <a:srgbClr val="EAF3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043728"/>
            <a:ext cx="302666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구조</a:t>
            </a:r>
            <a:endParaRPr lang="en-US" sz="1000" dirty="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들이마시기·숨 참기·내쉬기</a:t>
            </a:r>
            <a:endParaRPr lang="en-US" sz="1000" dirty="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게이지·호흡 부채</a:t>
            </a:r>
            <a:endParaRPr lang="en-US" sz="1000" dirty="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소음·어그로 규칙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349309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시스템 구조도(Unity)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3232" y="3840564"/>
            <a:ext cx="3246120" cy="1193624"/>
          </a:xfrm>
          <a:prstGeom prst="roundRect">
            <a:avLst>
              <a:gd name="adj" fmla="val 445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950292"/>
            <a:ext cx="302666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볼륨 맵</a:t>
            </a:r>
            <a:endParaRPr lang="en-US" sz="1000" dirty="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순환 구조</a:t>
            </a:r>
            <a:endParaRPr lang="en-US" sz="1000" dirty="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컴포넌트/데이터 구조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62272" y="349309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리소스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462272" y="3840564"/>
            <a:ext cx="3246120" cy="1193624"/>
          </a:xfrm>
          <a:prstGeom prst="roundRect">
            <a:avLst>
              <a:gd name="adj" fmla="val 4459"/>
            </a:avLst>
          </a:prstGeom>
          <a:solidFill>
            <a:srgbClr val="EAF3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3950292"/>
            <a:ext cx="302666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 / SFX / VFX</a:t>
            </a:r>
            <a:endParaRPr lang="en-US" sz="1000" dirty="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애니메이션</a:t>
            </a:r>
            <a:endParaRPr lang="en-US" sz="1000" dirty="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환경/적/장비 리소스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11312" y="349309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예외사항 안전장치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11312" y="3840564"/>
            <a:ext cx="3246120" cy="1193624"/>
          </a:xfrm>
          <a:prstGeom prst="roundRect">
            <a:avLst>
              <a:gd name="adj" fmla="val 445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3950292"/>
            <a:ext cx="302666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 구간 보호</a:t>
            </a:r>
            <a:endParaRPr lang="en-US" sz="1000" dirty="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오작동 방지</a:t>
            </a:r>
            <a:endParaRPr lang="en-US" sz="1000" dirty="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게이지/능력 악용 방지</a:t>
            </a:r>
            <a:endParaRPr lang="en-US" sz="1000" dirty="0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1F69F93-8ED0-4076-B4C8-EB139017E829}"/>
              </a:ext>
            </a:extLst>
          </p:cNvPr>
          <p:cNvCxnSpPr/>
          <p:nvPr/>
        </p:nvCxnSpPr>
        <p:spPr>
          <a:xfrm>
            <a:off x="676656" y="1180246"/>
            <a:ext cx="10835640" cy="1"/>
          </a:xfrm>
          <a:prstGeom prst="line">
            <a:avLst/>
          </a:prstGeom>
          <a:ln w="38100" cap="rnd">
            <a:solidFill>
              <a:srgbClr val="0737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995802"/>
              </p:ext>
            </p:extLst>
          </p:nvPr>
        </p:nvGraphicFramePr>
        <p:xfrm>
          <a:off x="713232" y="5457774"/>
          <a:ext cx="10744200" cy="9601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983956">
                  <a:extLst>
                    <a:ext uri="{9D8B030D-6E8A-4147-A177-3AD203B41FA5}">
                      <a16:colId xmlns:a16="http://schemas.microsoft.com/office/drawing/2014/main" val="3816087846"/>
                    </a:ext>
                  </a:extLst>
                </a:gridCol>
                <a:gridCol w="7760244">
                  <a:extLst>
                    <a:ext uri="{9D8B030D-6E8A-4147-A177-3AD203B41FA5}">
                      <a16:colId xmlns:a16="http://schemas.microsoft.com/office/drawing/2014/main" val="1921075597"/>
                    </a:ext>
                  </a:extLst>
                </a:gridCol>
              </a:tblGrid>
              <a:tr h="314342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smtClean="0">
                          <a:solidFill>
                            <a:schemeClr val="bg1"/>
                          </a:solidFill>
                        </a:rPr>
                        <a:t>작성 날짜</a:t>
                      </a:r>
                      <a:endParaRPr lang="ko-KR" altLang="en-US" sz="10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smtClean="0">
                          <a:solidFill>
                            <a:schemeClr val="bg1"/>
                          </a:solidFill>
                        </a:rPr>
                        <a:t>수정 내용</a:t>
                      </a:r>
                      <a:endParaRPr lang="ko-KR" altLang="en-US" sz="10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941116"/>
                  </a:ext>
                </a:extLst>
              </a:tr>
              <a:tr h="314342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0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0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9899246"/>
                  </a:ext>
                </a:extLst>
              </a:tr>
              <a:tr h="314342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0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0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977143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13232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호흡 시스템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86384" y="1458468"/>
            <a:ext cx="713232" cy="713232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19072" y="1723645"/>
            <a:ext cx="7132320" cy="288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들이마시기·숨 참기·내쉬기를 </a:t>
            </a:r>
            <a:r>
              <a:rPr lang="en-US" sz="1000" b="1" dirty="0" err="1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</a:t>
            </a: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조절하여</a:t>
            </a: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호흡량과</a:t>
            </a: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소음, 기척을 관리하는 핵심 플레이 시스템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19072" y="2679673"/>
            <a:ext cx="1865376" cy="411480"/>
          </a:xfrm>
          <a:prstGeom prst="roundRect">
            <a:avLst>
              <a:gd name="adj" fmla="val 15556"/>
            </a:avLst>
          </a:prstGeom>
          <a:solidFill>
            <a:srgbClr val="EAF3FF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84448" y="2885413"/>
            <a:ext cx="164592" cy="0"/>
          </a:xfrm>
          <a:prstGeom prst="line">
            <a:avLst/>
          </a:prstGeom>
          <a:noFill/>
          <a:ln w="15240">
            <a:solidFill>
              <a:srgbClr val="AAB7C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749040" y="2679673"/>
            <a:ext cx="1865376" cy="411480"/>
          </a:xfrm>
          <a:prstGeom prst="roundRect">
            <a:avLst>
              <a:gd name="adj" fmla="val 15556"/>
            </a:avLst>
          </a:prstGeom>
          <a:solidFill>
            <a:srgbClr val="E9F8EF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14416" y="2885413"/>
            <a:ext cx="164592" cy="0"/>
          </a:xfrm>
          <a:prstGeom prst="line">
            <a:avLst/>
          </a:prstGeom>
          <a:noFill/>
          <a:ln w="15240">
            <a:solidFill>
              <a:srgbClr val="AAB7C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779008" y="2679673"/>
            <a:ext cx="1865376" cy="411480"/>
          </a:xfrm>
          <a:prstGeom prst="roundRect">
            <a:avLst>
              <a:gd name="adj" fmla="val 15556"/>
            </a:avLst>
          </a:prstGeom>
          <a:solidFill>
            <a:srgbClr val="FFF1E7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내쉬기/회복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644384" y="2885413"/>
            <a:ext cx="164592" cy="0"/>
          </a:xfrm>
          <a:prstGeom prst="line">
            <a:avLst/>
          </a:prstGeom>
          <a:noFill/>
          <a:ln w="15240">
            <a:solidFill>
              <a:srgbClr val="AAB7C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808976" y="2679673"/>
            <a:ext cx="1865376" cy="411480"/>
          </a:xfrm>
          <a:prstGeom prst="roundRect">
            <a:avLst>
              <a:gd name="adj" fmla="val 15556"/>
            </a:avLst>
          </a:prstGeom>
          <a:solidFill>
            <a:srgbClr val="F0ECFF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호흡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" y="35664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슬로건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49808" y="3913871"/>
            <a:ext cx="3291840" cy="718635"/>
          </a:xfrm>
          <a:prstGeom prst="roundRect">
            <a:avLst>
              <a:gd name="adj" fmla="val 5738"/>
            </a:avLst>
          </a:prstGeom>
          <a:solidFill>
            <a:srgbClr val="EAF3FF"/>
          </a:solidFill>
          <a:ln w="12700">
            <a:solidFill>
              <a:srgbClr val="BFD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4023600"/>
            <a:ext cx="3072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숨을 쉬어야 살 수 </a:t>
            </a:r>
            <a:r>
              <a:rPr lang="en-US" sz="1000" dirty="0" err="1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있지만</a:t>
            </a: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en-US" sz="1000" dirty="0" err="1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살아남으려면</a:t>
            </a: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숨을 죽여야 한다.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07408" y="35664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407408" y="3913871"/>
            <a:ext cx="3291840" cy="718635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17136" y="4023600"/>
            <a:ext cx="3072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상태가 이동, 은신, 소음, 환경 대응, 적 AI 반응을 연쇄적으로 변화시킨다.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65008" y="35664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재미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065008" y="3913871"/>
            <a:ext cx="3291840" cy="718635"/>
          </a:xfrm>
          <a:prstGeom prst="roundRect">
            <a:avLst>
              <a:gd name="adj" fmla="val 5738"/>
            </a:avLst>
          </a:prstGeom>
          <a:solidFill>
            <a:srgbClr val="E9F8EF"/>
          </a:solidFill>
          <a:ln w="12700">
            <a:solidFill>
              <a:srgbClr val="C7EFD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74736" y="4023600"/>
            <a:ext cx="3072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플레이어는 언제, 얼마나, 어디에서 숨을 쉴지 스스로 판단한다.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3232" y="5363786"/>
            <a:ext cx="10789920" cy="347472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b="1" dirty="0" err="1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</a:t>
            </a: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숨을 쉴 것인가? / 얼마나 들이마실 것인가? / 어디에서 회복할 것인가?</a:t>
            </a:r>
            <a:endParaRPr lang="en-US" sz="1000" dirty="0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BDB48A4F-76CD-440A-AFC0-0DAAD60ED563}"/>
              </a:ext>
            </a:extLst>
          </p:cNvPr>
          <p:cNvCxnSpPr/>
          <p:nvPr/>
        </p:nvCxnSpPr>
        <p:spPr>
          <a:xfrm>
            <a:off x="676656" y="832102"/>
            <a:ext cx="10835640" cy="1"/>
          </a:xfrm>
          <a:prstGeom prst="line">
            <a:avLst/>
          </a:prstGeom>
          <a:ln w="38100" cap="rnd">
            <a:solidFill>
              <a:srgbClr val="0737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FA0B366-D973-4064-9129-5785A200F784}"/>
              </a:ext>
            </a:extLst>
          </p:cNvPr>
          <p:cNvCxnSpPr/>
          <p:nvPr/>
        </p:nvCxnSpPr>
        <p:spPr>
          <a:xfrm>
            <a:off x="676656" y="832102"/>
            <a:ext cx="10835640" cy="1"/>
          </a:xfrm>
          <a:prstGeom prst="line">
            <a:avLst/>
          </a:prstGeom>
          <a:ln w="38100" cap="rnd">
            <a:solidFill>
              <a:srgbClr val="0737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099E88BF-45BB-4F8A-8A9A-B7508D2CD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183" y="1153768"/>
            <a:ext cx="9420586" cy="5301896"/>
          </a:xfrm>
          <a:prstGeom prst="rect">
            <a:avLst/>
          </a:prstGeom>
        </p:spPr>
      </p:pic>
      <p:sp>
        <p:nvSpPr>
          <p:cNvPr id="12" name="Text 2">
            <a:extLst>
              <a:ext uri="{FF2B5EF4-FFF2-40B4-BE49-F238E27FC236}">
                <a16:creationId xmlns:a16="http://schemas.microsoft.com/office/drawing/2014/main" id="{BB77EA34-D450-4A7B-BBE2-7CBA2F04D8FB}"/>
              </a:ext>
            </a:extLst>
          </p:cNvPr>
          <p:cNvSpPr/>
          <p:nvPr/>
        </p:nvSpPr>
        <p:spPr>
          <a:xfrm>
            <a:off x="713232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호흡 시스템 플레이 화면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FA0B366-D973-4064-9129-5785A200F784}"/>
              </a:ext>
            </a:extLst>
          </p:cNvPr>
          <p:cNvCxnSpPr/>
          <p:nvPr/>
        </p:nvCxnSpPr>
        <p:spPr>
          <a:xfrm>
            <a:off x="676656" y="832102"/>
            <a:ext cx="10835640" cy="1"/>
          </a:xfrm>
          <a:prstGeom prst="line">
            <a:avLst/>
          </a:prstGeom>
          <a:ln w="38100" cap="rnd">
            <a:solidFill>
              <a:srgbClr val="0737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2">
            <a:extLst>
              <a:ext uri="{FF2B5EF4-FFF2-40B4-BE49-F238E27FC236}">
                <a16:creationId xmlns:a16="http://schemas.microsoft.com/office/drawing/2014/main" id="{BB77EA34-D450-4A7B-BBE2-7CBA2F04D8FB}"/>
              </a:ext>
            </a:extLst>
          </p:cNvPr>
          <p:cNvSpPr/>
          <p:nvPr/>
        </p:nvSpPr>
        <p:spPr>
          <a:xfrm>
            <a:off x="713232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r>
              <a:rPr lang="en-US" sz="2000" b="1" smtClean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ko-KR" altLang="en-US" sz="2000" b="1" smtClean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규칙</a:t>
            </a:r>
            <a:endParaRPr lang="en-US" sz="2000" dirty="0"/>
          </a:p>
        </p:txBody>
      </p:sp>
      <p:sp>
        <p:nvSpPr>
          <p:cNvPr id="5" name="Text 8"/>
          <p:cNvSpPr/>
          <p:nvPr/>
        </p:nvSpPr>
        <p:spPr>
          <a:xfrm>
            <a:off x="713232" y="1112241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smtClean="0">
                <a:solidFill>
                  <a:srgbClr val="073763"/>
                </a:solidFill>
              </a:rPr>
              <a:t>01. </a:t>
            </a:r>
            <a:r>
              <a:rPr lang="ko-KR" altLang="en-US" sz="1500" b="1" smtClean="0">
                <a:solidFill>
                  <a:srgbClr val="073763"/>
                </a:solidFill>
              </a:rPr>
              <a:t>호흡량은 플레이어가 직접 조절한다</a:t>
            </a:r>
            <a:r>
              <a:rPr lang="en-US" altLang="ko-KR" sz="1500" b="1" smtClean="0">
                <a:solidFill>
                  <a:srgbClr val="073763"/>
                </a:solidFill>
              </a:rPr>
              <a:t>.</a:t>
            </a:r>
            <a:endParaRPr lang="en-US" sz="1500" b="1" dirty="0">
              <a:solidFill>
                <a:srgbClr val="073763"/>
              </a:solidFill>
            </a:endParaRPr>
          </a:p>
        </p:txBody>
      </p:sp>
      <p:sp>
        <p:nvSpPr>
          <p:cNvPr id="6" name="Shape 9"/>
          <p:cNvSpPr/>
          <p:nvPr/>
        </p:nvSpPr>
        <p:spPr>
          <a:xfrm>
            <a:off x="713232" y="1459713"/>
            <a:ext cx="10799064" cy="394855"/>
          </a:xfrm>
          <a:prstGeom prst="roundRect">
            <a:avLst>
              <a:gd name="adj" fmla="val 3535"/>
            </a:avLst>
          </a:prstGeom>
          <a:noFill/>
          <a:ln w="12700">
            <a:solidFill>
              <a:srgbClr val="D9DEE7"/>
            </a:solidFill>
            <a:prstDash val="solid"/>
          </a:ln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들이마시기 입력 시간에 비례해 호흡 게이지가 충전되며</a:t>
            </a:r>
            <a:r>
              <a:rPr lang="en-US" altLang="ko-KR" sz="1000" smtClean="0"/>
              <a:t>, </a:t>
            </a:r>
            <a:r>
              <a:rPr lang="ko-KR" altLang="en-US" sz="1000" smtClean="0"/>
              <a:t>플레이어는 원하는 지점에서 입력을 종료할 수 있다</a:t>
            </a:r>
            <a:r>
              <a:rPr lang="en-US" altLang="ko-KR" sz="1000" smtClean="0"/>
              <a:t>.</a:t>
            </a:r>
            <a:endParaRPr lang="ko-KR" altLang="en-US" sz="1000"/>
          </a:p>
        </p:txBody>
      </p:sp>
      <p:sp>
        <p:nvSpPr>
          <p:cNvPr id="7" name="Text 8"/>
          <p:cNvSpPr/>
          <p:nvPr/>
        </p:nvSpPr>
        <p:spPr>
          <a:xfrm>
            <a:off x="713232" y="205261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smtClean="0">
                <a:solidFill>
                  <a:srgbClr val="073763"/>
                </a:solidFill>
              </a:rPr>
              <a:t>02. </a:t>
            </a:r>
            <a:r>
              <a:rPr lang="ko-KR" altLang="en-US" sz="1500" b="1" smtClean="0">
                <a:solidFill>
                  <a:srgbClr val="073763"/>
                </a:solidFill>
              </a:rPr>
              <a:t>숨 참기는 확보한 호흡을 소비한다</a:t>
            </a:r>
            <a:r>
              <a:rPr lang="en-US" altLang="ko-KR" sz="1500" b="1" smtClean="0">
                <a:solidFill>
                  <a:srgbClr val="073763"/>
                </a:solidFill>
              </a:rPr>
              <a:t>.</a:t>
            </a:r>
            <a:endParaRPr lang="en-US" sz="1500" b="1" dirty="0">
              <a:solidFill>
                <a:srgbClr val="073763"/>
              </a:solidFill>
            </a:endParaRPr>
          </a:p>
        </p:txBody>
      </p:sp>
      <p:sp>
        <p:nvSpPr>
          <p:cNvPr id="9" name="Shape 9"/>
          <p:cNvSpPr/>
          <p:nvPr/>
        </p:nvSpPr>
        <p:spPr>
          <a:xfrm>
            <a:off x="713232" y="2400090"/>
            <a:ext cx="10799064" cy="394855"/>
          </a:xfrm>
          <a:prstGeom prst="roundRect">
            <a:avLst>
              <a:gd name="adj" fmla="val 3535"/>
            </a:avLst>
          </a:prstGeom>
          <a:noFill/>
          <a:ln w="12700">
            <a:solidFill>
              <a:srgbClr val="D9DEE7"/>
            </a:solidFill>
            <a:prstDash val="solid"/>
          </a:ln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숨을 참는 동안 호흡 게이지가 감소하며</a:t>
            </a:r>
            <a:r>
              <a:rPr lang="en-US" altLang="ko-KR" sz="1000" smtClean="0"/>
              <a:t>, </a:t>
            </a:r>
            <a:r>
              <a:rPr lang="ko-KR" altLang="en-US" sz="1000" smtClean="0"/>
              <a:t>이동</a:t>
            </a:r>
            <a:r>
              <a:rPr lang="en-US" altLang="ko-KR" sz="1000" smtClean="0"/>
              <a:t>·</a:t>
            </a:r>
            <a:r>
              <a:rPr lang="ko-KR" altLang="en-US" sz="1000" smtClean="0"/>
              <a:t>격한 행동에 따라 소비 속도가 증가한다</a:t>
            </a:r>
            <a:r>
              <a:rPr lang="en-US" altLang="ko-KR" sz="1000" smtClean="0"/>
              <a:t>.</a:t>
            </a:r>
            <a:endParaRPr lang="ko-KR" altLang="en-US" sz="1000"/>
          </a:p>
        </p:txBody>
      </p:sp>
      <p:sp>
        <p:nvSpPr>
          <p:cNvPr id="10" name="Text 8"/>
          <p:cNvSpPr/>
          <p:nvPr/>
        </p:nvSpPr>
        <p:spPr>
          <a:xfrm>
            <a:off x="713232" y="2992995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smtClean="0">
                <a:solidFill>
                  <a:srgbClr val="073763"/>
                </a:solidFill>
              </a:rPr>
              <a:t>03. </a:t>
            </a:r>
            <a:r>
              <a:rPr lang="ko-KR" altLang="en-US" sz="1500" b="1" smtClean="0">
                <a:solidFill>
                  <a:srgbClr val="073763"/>
                </a:solidFill>
              </a:rPr>
              <a:t>숨은 원하는 시점에 다시 쉴 수 있다</a:t>
            </a:r>
            <a:r>
              <a:rPr lang="en-US" altLang="ko-KR" sz="1500" b="1" smtClean="0">
                <a:solidFill>
                  <a:srgbClr val="073763"/>
                </a:solidFill>
              </a:rPr>
              <a:t>.</a:t>
            </a:r>
            <a:endParaRPr lang="en-US" sz="1500" b="1" dirty="0">
              <a:solidFill>
                <a:srgbClr val="073763"/>
              </a:solidFill>
            </a:endParaRPr>
          </a:p>
        </p:txBody>
      </p:sp>
      <p:sp>
        <p:nvSpPr>
          <p:cNvPr id="13" name="Shape 9"/>
          <p:cNvSpPr/>
          <p:nvPr/>
        </p:nvSpPr>
        <p:spPr>
          <a:xfrm>
            <a:off x="713232" y="3340467"/>
            <a:ext cx="10799064" cy="394855"/>
          </a:xfrm>
          <a:prstGeom prst="roundRect">
            <a:avLst>
              <a:gd name="adj" fmla="val 3535"/>
            </a:avLst>
          </a:prstGeom>
          <a:noFill/>
          <a:ln w="12700">
            <a:solidFill>
              <a:srgbClr val="D9DEE7"/>
            </a:solidFill>
            <a:prstDash val="solid"/>
          </a:ln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호흡을 전부 회복할 필요 없이 필요한 만큼만 회복한 뒤 다시 숨을 참을 수 있다</a:t>
            </a:r>
            <a:r>
              <a:rPr lang="en-US" altLang="ko-KR" sz="1000" smtClean="0"/>
              <a:t>.</a:t>
            </a:r>
            <a:endParaRPr lang="ko-KR" altLang="en-US" sz="1000"/>
          </a:p>
        </p:txBody>
      </p:sp>
      <p:sp>
        <p:nvSpPr>
          <p:cNvPr id="22" name="Text 8"/>
          <p:cNvSpPr/>
          <p:nvPr/>
        </p:nvSpPr>
        <p:spPr>
          <a:xfrm>
            <a:off x="713232" y="393337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smtClean="0">
                <a:solidFill>
                  <a:srgbClr val="073763"/>
                </a:solidFill>
              </a:rPr>
              <a:t>04. </a:t>
            </a:r>
            <a:r>
              <a:rPr lang="ko-KR" altLang="en-US" sz="1500" b="1" smtClean="0">
                <a:solidFill>
                  <a:srgbClr val="073763"/>
                </a:solidFill>
              </a:rPr>
              <a:t>한계를 넘으면 통제권을 잃는다</a:t>
            </a:r>
            <a:r>
              <a:rPr lang="en-US" altLang="ko-KR" sz="1500" b="1" smtClean="0">
                <a:solidFill>
                  <a:srgbClr val="073763"/>
                </a:solidFill>
              </a:rPr>
              <a:t>.</a:t>
            </a:r>
            <a:endParaRPr lang="en-US" sz="1500" b="1" dirty="0">
              <a:solidFill>
                <a:srgbClr val="073763"/>
              </a:solidFill>
            </a:endParaRPr>
          </a:p>
        </p:txBody>
      </p:sp>
      <p:sp>
        <p:nvSpPr>
          <p:cNvPr id="23" name="Shape 9"/>
          <p:cNvSpPr/>
          <p:nvPr/>
        </p:nvSpPr>
        <p:spPr>
          <a:xfrm>
            <a:off x="713232" y="4280844"/>
            <a:ext cx="10799064" cy="394855"/>
          </a:xfrm>
          <a:prstGeom prst="roundRect">
            <a:avLst>
              <a:gd name="adj" fmla="val 3535"/>
            </a:avLst>
          </a:prstGeom>
          <a:noFill/>
          <a:ln w="12700">
            <a:solidFill>
              <a:srgbClr val="D9DEE7"/>
            </a:solidFill>
            <a:prstDash val="solid"/>
          </a:ln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호흡 게이지가 </a:t>
            </a:r>
            <a:r>
              <a:rPr lang="en-US" altLang="ko-KR" sz="1000" smtClean="0"/>
              <a:t>0</a:t>
            </a:r>
            <a:r>
              <a:rPr lang="ko-KR" altLang="en-US" sz="1000" smtClean="0"/>
              <a:t>에 도달하면 숨 참기 입력을 유지하고 있어도 강제 호흡이 발생한다</a:t>
            </a:r>
            <a:r>
              <a:rPr lang="en-US" altLang="ko-KR" sz="1000" smtClean="0"/>
              <a:t>.</a:t>
            </a:r>
            <a:endParaRPr lang="ko-KR" altLang="en-US" sz="1000"/>
          </a:p>
        </p:txBody>
      </p:sp>
      <p:sp>
        <p:nvSpPr>
          <p:cNvPr id="24" name="Text 8"/>
          <p:cNvSpPr/>
          <p:nvPr/>
        </p:nvSpPr>
        <p:spPr>
          <a:xfrm>
            <a:off x="713232" y="4874719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smtClean="0">
                <a:solidFill>
                  <a:srgbClr val="073763"/>
                </a:solidFill>
              </a:rPr>
              <a:t>05. </a:t>
            </a:r>
            <a:r>
              <a:rPr lang="ko-KR" altLang="en-US" sz="1500" b="1" smtClean="0">
                <a:solidFill>
                  <a:srgbClr val="073763"/>
                </a:solidFill>
              </a:rPr>
              <a:t>호흡의 결과는 소음으로 월드에 전달된다</a:t>
            </a:r>
            <a:r>
              <a:rPr lang="en-US" altLang="ko-KR" sz="1500" b="1" smtClean="0">
                <a:solidFill>
                  <a:srgbClr val="073763"/>
                </a:solidFill>
              </a:rPr>
              <a:t>.</a:t>
            </a:r>
            <a:endParaRPr lang="en-US" sz="1500" b="1" dirty="0">
              <a:solidFill>
                <a:srgbClr val="073763"/>
              </a:solidFill>
            </a:endParaRPr>
          </a:p>
        </p:txBody>
      </p:sp>
      <p:sp>
        <p:nvSpPr>
          <p:cNvPr id="25" name="Shape 9"/>
          <p:cNvSpPr/>
          <p:nvPr/>
        </p:nvSpPr>
        <p:spPr>
          <a:xfrm>
            <a:off x="713232" y="5222191"/>
            <a:ext cx="10799064" cy="394855"/>
          </a:xfrm>
          <a:prstGeom prst="roundRect">
            <a:avLst>
              <a:gd name="adj" fmla="val 3535"/>
            </a:avLst>
          </a:prstGeom>
          <a:noFill/>
          <a:ln w="12700">
            <a:solidFill>
              <a:srgbClr val="D9DEE7"/>
            </a:solidFill>
            <a:prstDash val="solid"/>
          </a:ln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들이마시기</a:t>
            </a:r>
            <a:r>
              <a:rPr lang="en-US" altLang="ko-KR" sz="1000" smtClean="0"/>
              <a:t>·</a:t>
            </a:r>
            <a:r>
              <a:rPr lang="ko-KR" altLang="en-US" sz="1000" smtClean="0"/>
              <a:t>내쉬기</a:t>
            </a:r>
            <a:r>
              <a:rPr lang="en-US" altLang="ko-KR" sz="1000" smtClean="0"/>
              <a:t>·</a:t>
            </a:r>
            <a:r>
              <a:rPr lang="ko-KR" altLang="en-US" sz="1000" smtClean="0"/>
              <a:t>거친 호흡</a:t>
            </a:r>
            <a:r>
              <a:rPr lang="en-US" altLang="ko-KR" sz="1000" smtClean="0"/>
              <a:t>·</a:t>
            </a:r>
            <a:r>
              <a:rPr lang="ko-KR" altLang="en-US" sz="1000" smtClean="0"/>
              <a:t>재채기 등의 소음이 적 </a:t>
            </a:r>
            <a:r>
              <a:rPr lang="en-US" altLang="ko-KR" sz="1000" smtClean="0"/>
              <a:t>AI</a:t>
            </a:r>
            <a:r>
              <a:rPr lang="ko-KR" altLang="en-US" sz="1000" smtClean="0"/>
              <a:t>의 탐지와 의심 상태에 영향을 준다</a:t>
            </a:r>
            <a:r>
              <a:rPr lang="en-US" altLang="ko-KR" sz="1000" smtClean="0"/>
              <a:t>.</a:t>
            </a:r>
            <a:endParaRPr lang="ko-KR" altLang="en-US" sz="1000"/>
          </a:p>
        </p:txBody>
      </p:sp>
      <p:sp>
        <p:nvSpPr>
          <p:cNvPr id="26" name="Text 8"/>
          <p:cNvSpPr/>
          <p:nvPr/>
        </p:nvSpPr>
        <p:spPr>
          <a:xfrm>
            <a:off x="713232" y="581606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smtClean="0">
                <a:solidFill>
                  <a:srgbClr val="073763"/>
                </a:solidFill>
              </a:rPr>
              <a:t>06. </a:t>
            </a:r>
            <a:r>
              <a:rPr lang="ko-KR" altLang="en-US" sz="1500" b="1" smtClean="0">
                <a:solidFill>
                  <a:srgbClr val="073763"/>
                </a:solidFill>
              </a:rPr>
              <a:t>같은 호흡도 시작 상태에 따라 결과가 달라진다</a:t>
            </a:r>
            <a:r>
              <a:rPr lang="en-US" altLang="ko-KR" sz="1500" b="1" smtClean="0">
                <a:solidFill>
                  <a:srgbClr val="073763"/>
                </a:solidFill>
              </a:rPr>
              <a:t>.</a:t>
            </a:r>
            <a:endParaRPr lang="en-US" sz="1500" b="1" dirty="0">
              <a:solidFill>
                <a:srgbClr val="073763"/>
              </a:solidFill>
            </a:endParaRPr>
          </a:p>
        </p:txBody>
      </p:sp>
      <p:sp>
        <p:nvSpPr>
          <p:cNvPr id="27" name="Shape 9"/>
          <p:cNvSpPr/>
          <p:nvPr/>
        </p:nvSpPr>
        <p:spPr>
          <a:xfrm>
            <a:off x="713232" y="6163538"/>
            <a:ext cx="10799064" cy="394855"/>
          </a:xfrm>
          <a:prstGeom prst="roundRect">
            <a:avLst>
              <a:gd name="adj" fmla="val 3535"/>
            </a:avLst>
          </a:prstGeom>
          <a:noFill/>
          <a:ln w="12700">
            <a:solidFill>
              <a:srgbClr val="D9DEE7"/>
            </a:solidFill>
            <a:prstDash val="solid"/>
          </a:ln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플레이어의 이동</a:t>
            </a:r>
            <a:r>
              <a:rPr lang="en-US" altLang="ko-KR" sz="1000" smtClean="0"/>
              <a:t>·</a:t>
            </a:r>
            <a:r>
              <a:rPr lang="ko-KR" altLang="en-US" sz="1000" smtClean="0"/>
              <a:t>공중 여부</a:t>
            </a:r>
            <a:r>
              <a:rPr lang="en-US" altLang="ko-KR" sz="1000" smtClean="0"/>
              <a:t>·</a:t>
            </a:r>
            <a:r>
              <a:rPr lang="ko-KR" altLang="en-US" sz="1000" smtClean="0"/>
              <a:t>환경</a:t>
            </a:r>
            <a:r>
              <a:rPr lang="en-US" altLang="ko-KR" sz="1000" smtClean="0"/>
              <a:t>·</a:t>
            </a:r>
            <a:r>
              <a:rPr lang="ko-KR" altLang="en-US" sz="1000" smtClean="0"/>
              <a:t>획득 능력에 따라 동일한 호흡 입력이 다른 행동으로 확장된다</a:t>
            </a:r>
            <a:r>
              <a:rPr lang="en-US" altLang="ko-KR" sz="1000" smtClean="0"/>
              <a:t>.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2035549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FA0B366-D973-4064-9129-5785A200F784}"/>
              </a:ext>
            </a:extLst>
          </p:cNvPr>
          <p:cNvCxnSpPr/>
          <p:nvPr/>
        </p:nvCxnSpPr>
        <p:spPr>
          <a:xfrm>
            <a:off x="676656" y="832102"/>
            <a:ext cx="10835640" cy="1"/>
          </a:xfrm>
          <a:prstGeom prst="line">
            <a:avLst/>
          </a:prstGeom>
          <a:ln w="38100" cap="rnd">
            <a:solidFill>
              <a:srgbClr val="0737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2">
            <a:extLst>
              <a:ext uri="{FF2B5EF4-FFF2-40B4-BE49-F238E27FC236}">
                <a16:creationId xmlns:a16="http://schemas.microsoft.com/office/drawing/2014/main" id="{BB77EA34-D450-4A7B-BBE2-7CBA2F04D8FB}"/>
              </a:ext>
            </a:extLst>
          </p:cNvPr>
          <p:cNvSpPr/>
          <p:nvPr/>
        </p:nvSpPr>
        <p:spPr>
          <a:xfrm>
            <a:off x="713232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r>
              <a:rPr lang="en-US" sz="2000" b="1" smtClean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ko-KR" altLang="en-US" sz="2000" b="1" smtClean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규칙</a:t>
            </a:r>
            <a:endParaRPr lang="en-US" sz="2000" dirty="0"/>
          </a:p>
        </p:txBody>
      </p:sp>
      <p:sp>
        <p:nvSpPr>
          <p:cNvPr id="18" name="Shape 18"/>
          <p:cNvSpPr/>
          <p:nvPr/>
        </p:nvSpPr>
        <p:spPr>
          <a:xfrm>
            <a:off x="749808" y="1965379"/>
            <a:ext cx="2625159" cy="1126956"/>
          </a:xfrm>
          <a:prstGeom prst="roundRect">
            <a:avLst>
              <a:gd name="adj" fmla="val 5983"/>
            </a:avLst>
          </a:prstGeom>
          <a:solidFill>
            <a:srgbClr val="EAF3FF"/>
          </a:solidFill>
          <a:ln w="12700">
            <a:solidFill>
              <a:srgbClr val="BFDFFF"/>
            </a:solidFill>
            <a:prstDash val="solid"/>
          </a:ln>
        </p:spPr>
        <p:txBody>
          <a:bodyPr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mtClean="0"/>
              <a:t>호흡 게이지 확보</a:t>
            </a:r>
            <a:endParaRPr lang="en-US" altLang="ko-KR" sz="100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mtClean="0"/>
              <a:t>입력 시간만큼 충전</a:t>
            </a:r>
            <a:endParaRPr lang="en-US" altLang="ko-KR" sz="100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mtClean="0"/>
              <a:t>깊은 들숨일수록 준비시간 증가</a:t>
            </a:r>
            <a:endParaRPr lang="en-US" altLang="ko-KR" sz="100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mtClean="0"/>
              <a:t>환경 공기를 함께 흡입</a:t>
            </a:r>
            <a:endParaRPr lang="ko-KR" altLang="en-US" sz="1000"/>
          </a:p>
        </p:txBody>
      </p:sp>
      <p:sp>
        <p:nvSpPr>
          <p:cNvPr id="19" name="Shape 21"/>
          <p:cNvSpPr/>
          <p:nvPr/>
        </p:nvSpPr>
        <p:spPr>
          <a:xfrm>
            <a:off x="4486379" y="1965379"/>
            <a:ext cx="2625159" cy="1126956"/>
          </a:xfrm>
          <a:prstGeom prst="roundRect">
            <a:avLst>
              <a:gd name="adj" fmla="val 5983"/>
            </a:avLst>
          </a:prstGeom>
          <a:solidFill>
            <a:srgbClr val="E9F8EF"/>
          </a:solidFill>
          <a:ln w="12700">
            <a:solidFill>
              <a:srgbClr val="C7EFD7"/>
            </a:solidFill>
            <a:prstDash val="solid"/>
          </a:ln>
        </p:spPr>
        <p:txBody>
          <a:bodyPr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mtClean="0"/>
              <a:t>호흡 게이지 소비</a:t>
            </a:r>
            <a:endParaRPr lang="en-US" altLang="ko-KR" sz="100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mtClean="0"/>
              <a:t>호흡 소음 억제</a:t>
            </a:r>
            <a:endParaRPr lang="en-US" altLang="ko-KR" sz="100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smtClean="0"/>
              <a:t>0</a:t>
            </a:r>
            <a:r>
              <a:rPr lang="ko-KR" altLang="en-US" sz="1000" smtClean="0"/>
              <a:t>도달 시 강제 해제</a:t>
            </a:r>
            <a:endParaRPr lang="en-US" altLang="ko-KR" sz="100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mtClean="0"/>
              <a:t>행동에 따라 소비량 변화 </a:t>
            </a:r>
            <a:endParaRPr lang="ko-KR" altLang="en-US" sz="1000"/>
          </a:p>
        </p:txBody>
      </p:sp>
      <p:sp>
        <p:nvSpPr>
          <p:cNvPr id="20" name="Shape 24"/>
          <p:cNvSpPr/>
          <p:nvPr/>
        </p:nvSpPr>
        <p:spPr>
          <a:xfrm>
            <a:off x="8222948" y="1965830"/>
            <a:ext cx="2625159" cy="1126956"/>
          </a:xfrm>
          <a:prstGeom prst="roundRect">
            <a:avLst>
              <a:gd name="adj" fmla="val 5983"/>
            </a:avLst>
          </a:prstGeom>
          <a:solidFill>
            <a:srgbClr val="F0ECFF"/>
          </a:solidFill>
          <a:ln w="12700">
            <a:solidFill>
              <a:srgbClr val="D9D1FF"/>
            </a:solidFill>
            <a:prstDash val="solid"/>
          </a:ln>
        </p:spPr>
        <p:txBody>
          <a:bodyPr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mtClean="0"/>
              <a:t>호흡 상태 회복</a:t>
            </a:r>
            <a:endParaRPr lang="en-US" altLang="ko-KR" sz="100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mtClean="0"/>
              <a:t>참은 정도에 따라 소음 발생</a:t>
            </a:r>
            <a:endParaRPr lang="en-US" altLang="ko-KR" sz="100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mtClean="0"/>
              <a:t>중간에 다시 숨 참기 가능</a:t>
            </a:r>
            <a:endParaRPr lang="en-US" altLang="ko-KR" sz="100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mtClean="0"/>
              <a:t>환경 소음으로 소리 은폐 가능</a:t>
            </a:r>
            <a:endParaRPr lang="ko-KR" altLang="en-US" sz="1000"/>
          </a:p>
        </p:txBody>
      </p:sp>
      <p:sp>
        <p:nvSpPr>
          <p:cNvPr id="3" name="TextBox 2"/>
          <p:cNvSpPr txBox="1"/>
          <p:nvPr/>
        </p:nvSpPr>
        <p:spPr>
          <a:xfrm>
            <a:off x="4486378" y="1554035"/>
            <a:ext cx="262515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smtClean="0"/>
              <a:t>숨 참기</a:t>
            </a:r>
            <a:endParaRPr lang="ko-KR" altLang="en-US" sz="1500" b="1"/>
          </a:p>
        </p:txBody>
      </p:sp>
      <p:sp>
        <p:nvSpPr>
          <p:cNvPr id="28" name="TextBox 27"/>
          <p:cNvSpPr txBox="1"/>
          <p:nvPr/>
        </p:nvSpPr>
        <p:spPr>
          <a:xfrm>
            <a:off x="8222948" y="1554035"/>
            <a:ext cx="262515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smtClean="0"/>
              <a:t>내쉬기</a:t>
            </a:r>
            <a:endParaRPr lang="ko-KR" altLang="en-US" sz="1500" b="1"/>
          </a:p>
        </p:txBody>
      </p:sp>
      <p:sp>
        <p:nvSpPr>
          <p:cNvPr id="29" name="TextBox 28"/>
          <p:cNvSpPr txBox="1"/>
          <p:nvPr/>
        </p:nvSpPr>
        <p:spPr>
          <a:xfrm>
            <a:off x="749808" y="1556779"/>
            <a:ext cx="262515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smtClean="0"/>
              <a:t>들이마시기</a:t>
            </a:r>
            <a:endParaRPr lang="ko-KR" altLang="en-US" sz="1500" b="1"/>
          </a:p>
        </p:txBody>
      </p:sp>
      <p:sp>
        <p:nvSpPr>
          <p:cNvPr id="4" name="오른쪽 화살표 3"/>
          <p:cNvSpPr/>
          <p:nvPr/>
        </p:nvSpPr>
        <p:spPr>
          <a:xfrm>
            <a:off x="3631413" y="2310938"/>
            <a:ext cx="598517" cy="382386"/>
          </a:xfrm>
          <a:prstGeom prst="rightArrow">
            <a:avLst>
              <a:gd name="adj1" fmla="val 50000"/>
              <a:gd name="adj2" fmla="val 72418"/>
            </a:avLst>
          </a:prstGeom>
          <a:noFill/>
          <a:ln>
            <a:solidFill>
              <a:srgbClr val="0737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오른쪽 화살표 29"/>
          <p:cNvSpPr/>
          <p:nvPr/>
        </p:nvSpPr>
        <p:spPr>
          <a:xfrm>
            <a:off x="7367984" y="2310938"/>
            <a:ext cx="598517" cy="382386"/>
          </a:xfrm>
          <a:prstGeom prst="rightArrow">
            <a:avLst>
              <a:gd name="adj1" fmla="val 50000"/>
              <a:gd name="adj2" fmla="val 72418"/>
            </a:avLst>
          </a:prstGeom>
          <a:noFill/>
          <a:ln>
            <a:solidFill>
              <a:srgbClr val="0737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749807" y="4452378"/>
            <a:ext cx="262515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smtClean="0"/>
              <a:t>호흡 게이지</a:t>
            </a:r>
            <a:endParaRPr lang="ko-KR" altLang="en-US" sz="1500" b="1"/>
          </a:p>
        </p:txBody>
      </p:sp>
      <p:sp>
        <p:nvSpPr>
          <p:cNvPr id="32" name="TextBox 31"/>
          <p:cNvSpPr txBox="1"/>
          <p:nvPr/>
        </p:nvSpPr>
        <p:spPr>
          <a:xfrm>
            <a:off x="610156" y="5133232"/>
            <a:ext cx="5469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smtClean="0"/>
              <a:t>0</a:t>
            </a:r>
            <a:endParaRPr lang="ko-KR" altLang="en-US" sz="1500"/>
          </a:p>
        </p:txBody>
      </p:sp>
      <p:sp>
        <p:nvSpPr>
          <p:cNvPr id="33" name="TextBox 32"/>
          <p:cNvSpPr txBox="1"/>
          <p:nvPr/>
        </p:nvSpPr>
        <p:spPr>
          <a:xfrm>
            <a:off x="4212889" y="5133231"/>
            <a:ext cx="5469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smtClean="0"/>
              <a:t>100</a:t>
            </a:r>
            <a:endParaRPr lang="ko-KR" altLang="en-US" sz="1500"/>
          </a:p>
        </p:txBody>
      </p:sp>
      <p:sp>
        <p:nvSpPr>
          <p:cNvPr id="34" name="직사각형 33"/>
          <p:cNvSpPr/>
          <p:nvPr/>
        </p:nvSpPr>
        <p:spPr>
          <a:xfrm>
            <a:off x="765683" y="4940308"/>
            <a:ext cx="2009775" cy="97206"/>
          </a:xfrm>
          <a:prstGeom prst="rect">
            <a:avLst/>
          </a:prstGeom>
          <a:solidFill>
            <a:srgbClr val="CDE2FF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749808" y="4921135"/>
            <a:ext cx="3674226" cy="116379"/>
          </a:xfrm>
          <a:prstGeom prst="rect">
            <a:avLst/>
          </a:prstGeom>
          <a:noFill/>
          <a:ln w="38100">
            <a:solidFill>
              <a:srgbClr val="0737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598142" y="5387770"/>
            <a:ext cx="21773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▲</a:t>
            </a:r>
            <a:endParaRPr lang="en-US" altLang="ko-KR" sz="1000" smtClean="0"/>
          </a:p>
          <a:p>
            <a:pPr>
              <a:lnSpc>
                <a:spcPct val="150000"/>
              </a:lnSpc>
            </a:pPr>
            <a:r>
              <a:rPr lang="ko-KR" altLang="en-US" sz="1000" smtClean="0"/>
              <a:t>위험</a:t>
            </a:r>
            <a:endParaRPr lang="ko-KR" altLang="en-US" sz="1000"/>
          </a:p>
        </p:txBody>
      </p:sp>
      <p:sp>
        <p:nvSpPr>
          <p:cNvPr id="36" name="TextBox 35"/>
          <p:cNvSpPr txBox="1"/>
          <p:nvPr/>
        </p:nvSpPr>
        <p:spPr>
          <a:xfrm>
            <a:off x="2623270" y="5122433"/>
            <a:ext cx="2177316" cy="52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▲</a:t>
            </a:r>
            <a:endParaRPr lang="en-US" altLang="ko-KR" sz="1000" smtClean="0"/>
          </a:p>
          <a:p>
            <a:pPr>
              <a:lnSpc>
                <a:spcPct val="150000"/>
              </a:lnSpc>
            </a:pPr>
            <a:r>
              <a:rPr lang="ko-KR" altLang="en-US" sz="1000" smtClean="0"/>
              <a:t>현재 호흡량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2067091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13232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4.1 시스템 볼륨 맵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68112" y="2351015"/>
            <a:ext cx="1024128" cy="1024128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72388" y="3194234"/>
            <a:ext cx="768096" cy="768096"/>
          </a:xfrm>
          <a:prstGeom prst="ellipse">
            <a:avLst/>
          </a:prstGeom>
          <a:solidFill>
            <a:srgbClr val="EAF3FF"/>
          </a:solidFill>
          <a:ln w="12700">
            <a:solidFill>
              <a:srgbClr val="BCC8DA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마시기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08124" y="4622669"/>
            <a:ext cx="768096" cy="768096"/>
          </a:xfrm>
          <a:prstGeom prst="ellipse">
            <a:avLst/>
          </a:prstGeom>
          <a:solidFill>
            <a:srgbClr val="E9F8EF"/>
          </a:solidFill>
          <a:ln w="12700">
            <a:solidFill>
              <a:srgbClr val="BCC8DA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게이지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96128" y="3614858"/>
            <a:ext cx="768096" cy="768096"/>
          </a:xfrm>
          <a:prstGeom prst="ellipse">
            <a:avLst/>
          </a:prstGeom>
          <a:solidFill>
            <a:srgbClr val="F0ECFF"/>
          </a:solidFill>
          <a:ln w="12700">
            <a:solidFill>
              <a:srgbClr val="BCC8DA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04104" y="1437411"/>
            <a:ext cx="768096" cy="768096"/>
          </a:xfrm>
          <a:prstGeom prst="ellipse">
            <a:avLst/>
          </a:prstGeom>
          <a:solidFill>
            <a:srgbClr val="FFF1E7"/>
          </a:solidFill>
          <a:ln w="12700">
            <a:solidFill>
              <a:srgbClr val="BCC8DA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19868" y="3191340"/>
            <a:ext cx="768096" cy="768096"/>
          </a:xfrm>
          <a:prstGeom prst="ellipse">
            <a:avLst/>
          </a:prstGeom>
          <a:solidFill>
            <a:srgbClr val="FFF8D9"/>
          </a:solidFill>
          <a:ln w="12700">
            <a:solidFill>
              <a:srgbClr val="BCC8DA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내쉬기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53712" y="2200473"/>
            <a:ext cx="768096" cy="768096"/>
          </a:xfrm>
          <a:prstGeom prst="ellipse">
            <a:avLst/>
          </a:prstGeom>
          <a:solidFill>
            <a:srgbClr val="FFEDED"/>
          </a:solidFill>
          <a:ln w="12700">
            <a:solidFill>
              <a:srgbClr val="BCC8DA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86016" y="2543039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AD4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78677" y="1901952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AD4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50040" y="4183004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AD4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28032" y="4163751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AD4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은신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20114" y="4987132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AD4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 AI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40282" y="2883591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AD4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69812" y="3268979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AD4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재채기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80362" y="1380075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AD4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특수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능력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" y="6094207"/>
            <a:ext cx="10789920" cy="347472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→ 소음 → 적 AI뿐 아니라, 이동·환경·장비·능력이 서로의 조건과 결과가 되어 다시 호흡으로 돌아온다.</a:t>
            </a:r>
            <a:endParaRPr lang="en-US" sz="1000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BAB4A12-22AF-4E32-8E22-582BFA34CC7F}"/>
              </a:ext>
            </a:extLst>
          </p:cNvPr>
          <p:cNvCxnSpPr/>
          <p:nvPr/>
        </p:nvCxnSpPr>
        <p:spPr>
          <a:xfrm>
            <a:off x="676656" y="832102"/>
            <a:ext cx="10835640" cy="1"/>
          </a:xfrm>
          <a:prstGeom prst="line">
            <a:avLst/>
          </a:prstGeom>
          <a:ln w="38100" cap="rnd">
            <a:solidFill>
              <a:srgbClr val="0737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13232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4.2 전체 순환 구조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1042164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호흡은 한 번 누르는 기능이 아니라, 위험을 관리하고 다음 행동을 준비하는 순환 장치다.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1471932"/>
            <a:ext cx="1387275" cy="502920"/>
          </a:xfrm>
          <a:prstGeom prst="roundRect">
            <a:avLst>
              <a:gd name="adj" fmla="val 12727"/>
            </a:avLst>
          </a:prstGeom>
          <a:solidFill>
            <a:srgbClr val="EAF3FF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확보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37083" y="1723392"/>
            <a:ext cx="164592" cy="0"/>
          </a:xfrm>
          <a:prstGeom prst="line">
            <a:avLst/>
          </a:prstGeom>
          <a:noFill/>
          <a:ln w="15240">
            <a:solidFill>
              <a:srgbClr val="AAB7C8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301675" y="1471932"/>
            <a:ext cx="1387275" cy="502920"/>
          </a:xfrm>
          <a:prstGeom prst="roundRect">
            <a:avLst>
              <a:gd name="adj" fmla="val 12727"/>
            </a:avLst>
          </a:prstGeom>
          <a:solidFill>
            <a:srgbClr val="E9F8EF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88951" y="1723392"/>
            <a:ext cx="164592" cy="0"/>
          </a:xfrm>
          <a:prstGeom prst="line">
            <a:avLst/>
          </a:prstGeom>
          <a:noFill/>
          <a:ln w="15240">
            <a:solidFill>
              <a:srgbClr val="AAB7C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853543" y="1471932"/>
            <a:ext cx="1387275" cy="502920"/>
          </a:xfrm>
          <a:prstGeom prst="roundRect">
            <a:avLst>
              <a:gd name="adj" fmla="val 12727"/>
            </a:avLst>
          </a:prstGeom>
          <a:solidFill>
            <a:srgbClr val="FFF1E7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이동/은신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40818" y="1723392"/>
            <a:ext cx="164592" cy="0"/>
          </a:xfrm>
          <a:prstGeom prst="line">
            <a:avLst/>
          </a:prstGeom>
          <a:noFill/>
          <a:ln w="15240">
            <a:solidFill>
              <a:srgbClr val="AAB7C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405410" y="1471932"/>
            <a:ext cx="1387275" cy="502920"/>
          </a:xfrm>
          <a:prstGeom prst="roundRect">
            <a:avLst>
              <a:gd name="adj" fmla="val 12727"/>
            </a:avLst>
          </a:prstGeom>
          <a:solidFill>
            <a:srgbClr val="F0ECFF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부채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92686" y="1723392"/>
            <a:ext cx="164592" cy="0"/>
          </a:xfrm>
          <a:prstGeom prst="line">
            <a:avLst/>
          </a:prstGeom>
          <a:noFill/>
          <a:ln w="15240">
            <a:solidFill>
              <a:srgbClr val="AAB7C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957278" y="1471932"/>
            <a:ext cx="1387275" cy="502920"/>
          </a:xfrm>
          <a:prstGeom prst="roundRect">
            <a:avLst>
              <a:gd name="adj" fmla="val 12727"/>
            </a:avLst>
          </a:prstGeom>
          <a:solidFill>
            <a:srgbClr val="FFF8D9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내쉬기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44553" y="1723392"/>
            <a:ext cx="164592" cy="0"/>
          </a:xfrm>
          <a:prstGeom prst="line">
            <a:avLst/>
          </a:prstGeom>
          <a:noFill/>
          <a:ln w="15240">
            <a:solidFill>
              <a:srgbClr val="AAB7C8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509145" y="1471932"/>
            <a:ext cx="1387275" cy="502920"/>
          </a:xfrm>
          <a:prstGeom prst="roundRect">
            <a:avLst>
              <a:gd name="adj" fmla="val 12727"/>
            </a:avLst>
          </a:prstGeom>
          <a:solidFill>
            <a:srgbClr val="EAF3FF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소음/어그로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896421" y="1723392"/>
            <a:ext cx="164592" cy="0"/>
          </a:xfrm>
          <a:prstGeom prst="line">
            <a:avLst/>
          </a:prstGeom>
          <a:noFill/>
          <a:ln w="15240">
            <a:solidFill>
              <a:srgbClr val="AAB7C8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0061013" y="1471932"/>
            <a:ext cx="1387275" cy="502920"/>
          </a:xfrm>
          <a:prstGeom prst="roundRect">
            <a:avLst>
              <a:gd name="adj" fmla="val 12727"/>
            </a:avLst>
          </a:prstGeom>
          <a:solidFill>
            <a:srgbClr val="E9F8EF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재은신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" y="261543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</a:t>
            </a:r>
            <a:r>
              <a:rPr lang="en-US" sz="1500" b="1" dirty="0" err="1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순환</a:t>
            </a: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 : 은신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49808" y="2962908"/>
            <a:ext cx="5166360" cy="704088"/>
          </a:xfrm>
          <a:prstGeom prst="roundRect">
            <a:avLst>
              <a:gd name="adj" fmla="val 5983"/>
            </a:avLst>
          </a:prstGeom>
          <a:solidFill>
            <a:srgbClr val="EAF3FF"/>
          </a:solidFill>
          <a:ln w="12700">
            <a:solidFill>
              <a:srgbClr val="BFD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3072636"/>
            <a:ext cx="49469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 → 소음 제거 → 적 통과 → 호흡 부채 증가 → 안전 타이밍에 내쉬기 → 다시 숨 참기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36208" y="261543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</a:t>
            </a:r>
            <a:r>
              <a:rPr lang="en-US" sz="1500" b="1" dirty="0" err="1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순환</a:t>
            </a: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2 : 환경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36208" y="2962908"/>
            <a:ext cx="5166360" cy="704088"/>
          </a:xfrm>
          <a:prstGeom prst="roundRect">
            <a:avLst>
              <a:gd name="adj" fmla="val 5983"/>
            </a:avLst>
          </a:prstGeom>
          <a:solidFill>
            <a:srgbClr val="E9F8EF"/>
          </a:solidFill>
          <a:ln w="12700">
            <a:solidFill>
              <a:srgbClr val="C7EF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45936" y="3072636"/>
            <a:ext cx="49469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 환경 → 들이마시기 제한 → 재채기 위험 → 소음 발생 → 적 AI 의심 → 안전한 호흡 지점 탐색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9808" y="439851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</a:t>
            </a:r>
            <a:r>
              <a:rPr lang="en-US" sz="1500" b="1" dirty="0" err="1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순환</a:t>
            </a: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 : 능력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49808" y="4745988"/>
            <a:ext cx="5166360" cy="704088"/>
          </a:xfrm>
          <a:prstGeom prst="roundRect">
            <a:avLst>
              <a:gd name="adj" fmla="val 5983"/>
            </a:avLst>
          </a:prstGeom>
          <a:solidFill>
            <a:srgbClr val="F0ECFF"/>
          </a:solidFill>
          <a:ln w="12700">
            <a:solidFill>
              <a:srgbClr val="D9D1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4855716"/>
            <a:ext cx="49469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참기/내쉬기/들이마시기 능력은 독립 스킬이 아니라, 기존 호흡 규칙의 결과를 확장한다.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36208" y="439851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의도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36208" y="4745988"/>
            <a:ext cx="5166360" cy="704088"/>
          </a:xfrm>
          <a:prstGeom prst="roundRect">
            <a:avLst>
              <a:gd name="adj" fmla="val 598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45936" y="4855716"/>
            <a:ext cx="49469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위험을 완전히 삭제하지 않고, 숨을 언제 회복하고 어디서 소음을 처리할지 계획하게 만든다.</a:t>
            </a:r>
            <a:endParaRPr lang="en-US" sz="1000" dirty="0"/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8DD2961E-4C40-48F9-8333-E1B9AE787AC6}"/>
              </a:ext>
            </a:extLst>
          </p:cNvPr>
          <p:cNvCxnSpPr/>
          <p:nvPr/>
        </p:nvCxnSpPr>
        <p:spPr>
          <a:xfrm>
            <a:off x="676656" y="832102"/>
            <a:ext cx="10835640" cy="1"/>
          </a:xfrm>
          <a:prstGeom prst="line">
            <a:avLst/>
          </a:prstGeom>
          <a:ln w="38100" cap="rnd">
            <a:solidFill>
              <a:srgbClr val="0737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13232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입력 구조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100126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키를 누르는 시간과 해제 타이밍이 호흡량과 소음, 다음 행동을 결정한다.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1626355"/>
            <a:ext cx="2011680" cy="411480"/>
          </a:xfrm>
          <a:prstGeom prst="rect">
            <a:avLst/>
          </a:prstGeom>
          <a:solidFill>
            <a:srgbClr val="073763"/>
          </a:solidFill>
          <a:ln w="7620">
            <a:solidFill>
              <a:srgbClr val="0737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61488" y="1626355"/>
            <a:ext cx="4572000" cy="411480"/>
          </a:xfrm>
          <a:prstGeom prst="rect">
            <a:avLst/>
          </a:prstGeom>
          <a:solidFill>
            <a:srgbClr val="073763"/>
          </a:solidFill>
          <a:ln w="7620">
            <a:solidFill>
              <a:srgbClr val="0737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결과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33488" y="1626355"/>
            <a:ext cx="4114800" cy="411480"/>
          </a:xfrm>
          <a:prstGeom prst="rect">
            <a:avLst/>
          </a:prstGeom>
          <a:solidFill>
            <a:srgbClr val="073763"/>
          </a:solidFill>
          <a:ln w="7620">
            <a:solidFill>
              <a:srgbClr val="0737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위험/비용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2037835"/>
            <a:ext cx="201168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누르고 유지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61488" y="2037835"/>
            <a:ext cx="457200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 후 숨 참기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33488" y="2037835"/>
            <a:ext cx="411480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깊은 들숨은 이동 속도 저하와 소음 가능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" y="2449315"/>
            <a:ext cx="2011680" cy="411480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 중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61488" y="2449315"/>
            <a:ext cx="4572000" cy="411480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게이지 감소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33488" y="2449315"/>
            <a:ext cx="4114800" cy="411480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0% 도달 시 강제 헐떡임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" y="2860795"/>
            <a:ext cx="201168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61488" y="2860795"/>
            <a:ext cx="457200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내쉬기/회복 시작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33488" y="2860795"/>
            <a:ext cx="411480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부채 단계에 따라 소음 발생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" y="3272275"/>
            <a:ext cx="2011680" cy="411480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회복 중 재입력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61488" y="3272275"/>
            <a:ext cx="4572000" cy="411480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회복량으로 다시 숨 참기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33488" y="3272275"/>
            <a:ext cx="4114800" cy="411480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 회복 전 행동으로 이후 한계 감소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9808" y="413866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약속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49808" y="4486140"/>
            <a:ext cx="5166360" cy="523494"/>
          </a:xfrm>
          <a:prstGeom prst="roundRect">
            <a:avLst>
              <a:gd name="adj" fmla="val 6542"/>
            </a:avLst>
          </a:prstGeom>
          <a:solidFill>
            <a:srgbClr val="EAF3FF"/>
          </a:solidFill>
          <a:ln w="12700">
            <a:solidFill>
              <a:srgbClr val="BFD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" y="4595868"/>
            <a:ext cx="4946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들이마시기 시작하면 끝까지 채워야 하는 구조가 아니라, 플레이어가 누르고 있는 시간만큼 호흡량을 확보한다.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36208" y="413866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숙련 요소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36208" y="4486140"/>
            <a:ext cx="5166360" cy="523494"/>
          </a:xfrm>
          <a:prstGeom prst="roundRect">
            <a:avLst>
              <a:gd name="adj" fmla="val 6542"/>
            </a:avLst>
          </a:prstGeom>
          <a:solidFill>
            <a:srgbClr val="E9F8EF"/>
          </a:solidFill>
          <a:ln w="12700">
            <a:solidFill>
              <a:srgbClr val="C7EFD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45936" y="4595868"/>
            <a:ext cx="4946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플레이는 오래 참는 것이 아니라, 필요한 만큼만 채우고 한계 전에 회복해 소음을 관리하는 것이다.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" y="5464548"/>
            <a:ext cx="10789920" cy="347472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조작은 단순하지만, 들이마시는 양·참는 시간·내쉬는 타이밍이 모두 플레이 판단이 된다.</a:t>
            </a:r>
            <a:endParaRPr lang="en-US" sz="1000" dirty="0"/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57DC08E-17AC-4407-AE4A-2F2FED559347}"/>
              </a:ext>
            </a:extLst>
          </p:cNvPr>
          <p:cNvCxnSpPr/>
          <p:nvPr/>
        </p:nvCxnSpPr>
        <p:spPr>
          <a:xfrm>
            <a:off x="676656" y="832102"/>
            <a:ext cx="10835640" cy="1"/>
          </a:xfrm>
          <a:prstGeom prst="line">
            <a:avLst/>
          </a:prstGeom>
          <a:ln w="38100" cap="rnd">
            <a:solidFill>
              <a:srgbClr val="0737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13232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1014984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554480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554480"/>
            <a:ext cx="640080" cy="64008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마시기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1874520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627632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 → 호흡 확보 → 다음 행동 준비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79806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3145536"/>
            <a:ext cx="5074920" cy="566927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55264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플레이어가 호흡 게이지를 채우는 기본 행동이다. 누르고 있는 시간만큼 확보량이 증가한다.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279806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3145536"/>
            <a:ext cx="5074920" cy="566927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3255264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들이마시기는 숨 참기의 전제이면서 흡음, 흡인, 흡기 도약 같은 성장 능력의 기반이 된다.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439412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786883"/>
            <a:ext cx="10506456" cy="886969"/>
          </a:xfrm>
          <a:prstGeom prst="roundRect">
            <a:avLst>
              <a:gd name="adj" fmla="val 8046"/>
            </a:avLst>
          </a:prstGeom>
          <a:solidFill>
            <a:srgbClr val="EAF3FF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896612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깊게 들이마실수록 이동이 느려진다.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먼지·꽃가루 지역에서는 안전 들숨 한계가 낮아진다.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흡음 상태에서는 소리를 방출하기 전까지 일반 호흡 조작이 제한된다.</a:t>
            </a:r>
            <a:endParaRPr lang="en-US" sz="1000" dirty="0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90FDED0-9BC5-4D11-B19D-0F0FA3729739}"/>
              </a:ext>
            </a:extLst>
          </p:cNvPr>
          <p:cNvCxnSpPr/>
          <p:nvPr/>
        </p:nvCxnSpPr>
        <p:spPr>
          <a:xfrm>
            <a:off x="676656" y="832102"/>
            <a:ext cx="10835640" cy="1"/>
          </a:xfrm>
          <a:prstGeom prst="line">
            <a:avLst/>
          </a:prstGeom>
          <a:ln w="38100" cap="rnd">
            <a:solidFill>
              <a:srgbClr val="0737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13232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1007181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819655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819655"/>
            <a:ext cx="640080" cy="640080"/>
          </a:xfrm>
          <a:prstGeom prst="ellipse">
            <a:avLst/>
          </a:prstGeom>
          <a:solidFill>
            <a:srgbClr val="F0ECFF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2139695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892807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 → 소음 억제 → 호흡 소비 → 기척 제어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308152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3429000"/>
            <a:ext cx="5074920" cy="566927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538728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플레이어가 호흡 게이지를 소비해 호흡음을 없애는 행동이다.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308152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3429000"/>
            <a:ext cx="5074920" cy="566927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3538728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참기는 은신의 기본 수단이며, 이후 기척 소거, 공중 부유, 시간 정지 능력으로 확장된다.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965191"/>
            <a:ext cx="10506456" cy="950977"/>
          </a:xfrm>
          <a:prstGeom prst="roundRect">
            <a:avLst>
              <a:gd name="adj" fmla="val 8046"/>
            </a:avLst>
          </a:prstGeom>
          <a:solidFill>
            <a:srgbClr val="F0ECFF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지상에서 시작하면 일반 숨 참기.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공중에서 시작하면 공중 부유 판정.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0% 도달 시 입력과 무관하게 강제 헐떡임이 발생한다.</a:t>
            </a:r>
            <a:endParaRPr lang="en-US" sz="1000" dirty="0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B0103417-3A94-47B1-92CC-B422FC798129}"/>
              </a:ext>
            </a:extLst>
          </p:cNvPr>
          <p:cNvCxnSpPr/>
          <p:nvPr/>
        </p:nvCxnSpPr>
        <p:spPr>
          <a:xfrm>
            <a:off x="676656" y="832102"/>
            <a:ext cx="10835640" cy="1"/>
          </a:xfrm>
          <a:prstGeom prst="line">
            <a:avLst/>
          </a:prstGeom>
          <a:ln w="38100" cap="rnd">
            <a:solidFill>
              <a:srgbClr val="0737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13232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내쉬기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1006426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705649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705649"/>
            <a:ext cx="640080" cy="640080"/>
          </a:xfrm>
          <a:prstGeom prst="ellipse">
            <a:avLst/>
          </a:prstGeom>
          <a:solidFill>
            <a:srgbClr val="FFF8D9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내쉬기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2025689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778801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내쉬기 → 호흡 회복 → 소음 발생 → 상황 재정비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3039835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3387307"/>
            <a:ext cx="5074920" cy="566927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97035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참기를 해제하고 호흡 상태를 회복하는 행동이다.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3039835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3387307"/>
            <a:ext cx="5074920" cy="566927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3497035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내쉬기는 위험한 소음원이지만, 환경 소음과 결합하면 부채를 안전하게 갚을 수 있다. 성장 후 공명, 탐지, 잔기로 확장된다.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965192"/>
            <a:ext cx="10506456" cy="795528"/>
          </a:xfrm>
          <a:prstGeom prst="roundRect">
            <a:avLst>
              <a:gd name="adj" fmla="val 8046"/>
            </a:avLst>
          </a:prstGeom>
          <a:solidFill>
            <a:srgbClr val="FFF8D9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호흡 부채가 클수록 소음 반경이 커진다.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환경 소음이 있을 때 큰 숨을 안전하게 회복할 수 있다.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공명 호흡은 내쉬기를 환경 조작 행동으로 바꾼다.</a:t>
            </a:r>
            <a:endParaRPr lang="en-US" sz="1000" dirty="0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06A4E8D2-0F4D-4637-9465-B3C6A8C99366}"/>
              </a:ext>
            </a:extLst>
          </p:cNvPr>
          <p:cNvCxnSpPr/>
          <p:nvPr/>
        </p:nvCxnSpPr>
        <p:spPr>
          <a:xfrm>
            <a:off x="676656" y="832102"/>
            <a:ext cx="10835640" cy="1"/>
          </a:xfrm>
          <a:prstGeom prst="line">
            <a:avLst/>
          </a:prstGeom>
          <a:ln w="38100" cap="rnd">
            <a:solidFill>
              <a:srgbClr val="0737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13232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게이지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992123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661922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661922"/>
            <a:ext cx="640080" cy="640080"/>
          </a:xfrm>
          <a:prstGeom prst="ellipse">
            <a:avLst/>
          </a:prstGeom>
          <a:solidFill>
            <a:srgbClr val="E9F8EF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게이지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1981962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735074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호흡량 → 숨 참기 가능 시간 → 행동 가능 거리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927799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3275271"/>
            <a:ext cx="5074920" cy="658368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384999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확보한 호흡량을 나타내는 주요 UI 값이다.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2927799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3275271"/>
            <a:ext cx="5074920" cy="658368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3384999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플레이어는 100% 회복을 기다리지 않고 현재 확보량만큼 다시 숨을 참을 수 있다.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965191"/>
            <a:ext cx="10506456" cy="900685"/>
          </a:xfrm>
          <a:prstGeom prst="roundRect">
            <a:avLst>
              <a:gd name="adj" fmla="val 8046"/>
            </a:avLst>
          </a:prstGeom>
          <a:solidFill>
            <a:srgbClr val="E9F8EF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게이지는 들이마시기로 증가하고 숨 참기·격한 행동으로 감소한다.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환경별 안전 한계가 표시될 수 있다.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수중에서는 들숨이 불가능하고 보유 호흡만 사용한다.</a:t>
            </a:r>
            <a:endParaRPr lang="en-US" sz="1000" dirty="0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B826854-BA33-42FB-B3A5-96E24983CF0E}"/>
              </a:ext>
            </a:extLst>
          </p:cNvPr>
          <p:cNvCxnSpPr/>
          <p:nvPr/>
        </p:nvCxnSpPr>
        <p:spPr>
          <a:xfrm>
            <a:off x="676656" y="832102"/>
            <a:ext cx="10835640" cy="1"/>
          </a:xfrm>
          <a:prstGeom prst="line">
            <a:avLst/>
          </a:prstGeom>
          <a:ln w="38100" cap="rnd">
            <a:solidFill>
              <a:srgbClr val="0737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13232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부채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102396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681993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681993"/>
            <a:ext cx="640080" cy="640080"/>
          </a:xfrm>
          <a:prstGeom prst="ellipse">
            <a:avLst/>
          </a:prstGeom>
          <a:solidFill>
            <a:srgbClr val="FFF1E7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2002033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755145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격한 행동/장기 숨 참기 → 부채 누적 → 내쉬기 소음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926079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3273551"/>
            <a:ext cx="5074920" cy="566927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383279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숨을 오래 참거나 달리기, 전투, 무거운 이동 등으로 누적되는 내부 부담값이다.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2926079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3273551"/>
            <a:ext cx="5074920" cy="566927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3383279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부채는 플레이어에게 보이는 별도 게이지보다, 내쉬기 소음과 회복 단계로 피드백한다.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965191"/>
            <a:ext cx="10506456" cy="886969"/>
          </a:xfrm>
          <a:prstGeom prst="roundRect">
            <a:avLst>
              <a:gd name="adj" fmla="val 8046"/>
            </a:avLst>
          </a:prstGeom>
          <a:solidFill>
            <a:srgbClr val="FFF1E7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부채 단계에 따라 조용한 호흡/헐떡임/강제 호흡이 갈린다.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달리기와 전투는 부채를 빠르게 높인다.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강제 호흡은 짧은 시간 숨 참기 재입력을 제한한다.</a:t>
            </a:r>
            <a:endParaRPr lang="en-US" sz="1000" dirty="0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C7598CA3-54EB-4391-8737-A3C8317BA8F5}"/>
              </a:ext>
            </a:extLst>
          </p:cNvPr>
          <p:cNvCxnSpPr/>
          <p:nvPr/>
        </p:nvCxnSpPr>
        <p:spPr>
          <a:xfrm>
            <a:off x="676656" y="832102"/>
            <a:ext cx="10835640" cy="1"/>
          </a:xfrm>
          <a:prstGeom prst="line">
            <a:avLst/>
          </a:prstGeom>
          <a:ln w="38100" cap="rnd">
            <a:solidFill>
              <a:srgbClr val="0737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13232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소음/어그로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992123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707641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707641"/>
            <a:ext cx="640080" cy="640080"/>
          </a:xfrm>
          <a:prstGeom prst="ellipse">
            <a:avLst/>
          </a:prstGeom>
          <a:solidFill>
            <a:srgbClr val="FFEDED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2027681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780793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소음 → 적 의심 → 조사 → 재은신 가능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3110973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3458445"/>
            <a:ext cx="5074920" cy="521208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568173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플레이어 행동이 적 AI에 전달되는 청각 정보다.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3110973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3458445"/>
            <a:ext cx="5074920" cy="521208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3568173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소음은 즉시 확정 발각이 아니라 의심도를 높이고, 플레이어가 다시 숨을 죽이면 어그로가 감소한다.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965191"/>
            <a:ext cx="10506456" cy="900685"/>
          </a:xfrm>
          <a:prstGeom prst="roundRect">
            <a:avLst>
              <a:gd name="adj" fmla="val 8046"/>
            </a:avLst>
          </a:prstGeom>
          <a:solidFill>
            <a:srgbClr val="FFEDED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발소리, 물체 충돌, 호흡 소음은 별도 소음원으로 관리한다.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환경 소음은 플레이어 소음을 덮을 수 있다.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투명화 상태에서도 소음은 남는다.</a:t>
            </a:r>
            <a:endParaRPr lang="en-US" sz="1000" dirty="0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573F2DA5-2CF8-4DAB-AD15-EFB36CC3EAE2}"/>
              </a:ext>
            </a:extLst>
          </p:cNvPr>
          <p:cNvCxnSpPr/>
          <p:nvPr/>
        </p:nvCxnSpPr>
        <p:spPr>
          <a:xfrm>
            <a:off x="676656" y="832102"/>
            <a:ext cx="10835640" cy="1"/>
          </a:xfrm>
          <a:prstGeom prst="line">
            <a:avLst/>
          </a:prstGeom>
          <a:ln w="38100" cap="rnd">
            <a:solidFill>
              <a:srgbClr val="0737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13232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96011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691639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691639"/>
            <a:ext cx="640080" cy="64008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2011679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764791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 방식 → 호흡 부채/발소리 → 은신 난이도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302666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3374136"/>
            <a:ext cx="5074920" cy="566927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83864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걷기, 달리기, 기어가기, 점프 등 캐릭터 이동 행동이다.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302666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3374136"/>
            <a:ext cx="5074920" cy="566927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3483864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게임의 스태미나를 호흡이 대체한다. 빠르게 이동할수록 이후 호흡 관리가 어려워진다.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965192"/>
            <a:ext cx="10506456" cy="932690"/>
          </a:xfrm>
          <a:prstGeom prst="roundRect">
            <a:avLst>
              <a:gd name="adj" fmla="val 8046"/>
            </a:avLst>
          </a:prstGeom>
          <a:solidFill>
            <a:srgbClr val="EAF3FF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달리기는 빠르지만 호흡 부채와 발소리를 크게 만든다.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기어가기는 느리지만 소음과 부채가 낮다.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흡기 도약은 들이마시기 중 점프해 긴 이동을 만든다.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기획 문서</a:t>
            </a:r>
            <a:endParaRPr lang="en-US" sz="1000" dirty="0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E63CE895-BE5B-4CD5-AF1F-009D487554BF}"/>
              </a:ext>
            </a:extLst>
          </p:cNvPr>
          <p:cNvCxnSpPr/>
          <p:nvPr/>
        </p:nvCxnSpPr>
        <p:spPr>
          <a:xfrm>
            <a:off x="676656" y="832102"/>
            <a:ext cx="10835640" cy="1"/>
          </a:xfrm>
          <a:prstGeom prst="line">
            <a:avLst/>
          </a:prstGeom>
          <a:ln w="38100" cap="rnd">
            <a:solidFill>
              <a:srgbClr val="0737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13232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은신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982979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783080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783080"/>
            <a:ext cx="640080" cy="640080"/>
          </a:xfrm>
          <a:prstGeom prst="ellipse">
            <a:avLst/>
          </a:prstGeom>
          <a:solidFill>
            <a:srgbClr val="F0ECFF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은신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2103120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856232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 + 이동 소음 관리 → 적 시야/청각 회피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306324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3410712"/>
            <a:ext cx="5074920" cy="521208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520440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적의 탐지 범위를 피해 목표 지점까지 이동하는 플레이 방식이다.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306324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3410712"/>
            <a:ext cx="5074920" cy="521208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3520440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호흡은 은신의 핵심이지만 전부는 아니다. 투명해도 발소리, 흔적, 물체 충돌은 남는다.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965192"/>
            <a:ext cx="10506456" cy="932688"/>
          </a:xfrm>
          <a:prstGeom prst="roundRect">
            <a:avLst>
              <a:gd name="adj" fmla="val 8046"/>
            </a:avLst>
          </a:prstGeom>
          <a:solidFill>
            <a:srgbClr val="F0ECFF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숨 참기는 호흡음을 지우지만 발소리는 지우지 않는다.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투명화는 시각 탐지를 줄이나 청각 탐지는 유지한다.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숨을 잘못 풀어도 다시 숨을 죽이면 어그로를 낮출 수 있다.</a:t>
            </a:r>
            <a:endParaRPr lang="en-US" sz="1000" dirty="0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A7974B5-32FA-4501-91D0-92EFE5A4EE9D}"/>
              </a:ext>
            </a:extLst>
          </p:cNvPr>
          <p:cNvCxnSpPr/>
          <p:nvPr/>
        </p:nvCxnSpPr>
        <p:spPr>
          <a:xfrm>
            <a:off x="676656" y="832102"/>
            <a:ext cx="10835640" cy="1"/>
          </a:xfrm>
          <a:prstGeom prst="line">
            <a:avLst/>
          </a:prstGeom>
          <a:ln w="38100" cap="rnd">
            <a:solidFill>
              <a:srgbClr val="0737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4944"/>
            <a:ext cx="110185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07008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 AI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07008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371600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3716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 AI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1691640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444752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소음/시야/감지 → 의심 → 조사 → 추적/복귀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플레이어의 시각 정보와 청각 정보를 읽어 반응하는 AI 규칙이다.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 AI는 호흡 소음을 확정 위치가 아니라 마지막 의심 위치로 받아들이며, 추가 정보가 없으면 복귀한다.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965192"/>
            <a:ext cx="10506456" cy="795528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일반 경비병은 시야와 소리에 반응한다.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청각형 적은 호흡과 발소리에 민감하다.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감지 장비는 투명화 이후 난이도 상승 장치가 된다.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기획 문서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4944"/>
            <a:ext cx="110185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07008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소음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07008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371600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371600"/>
            <a:ext cx="640080" cy="640080"/>
          </a:xfrm>
          <a:prstGeom prst="ellipse">
            <a:avLst/>
          </a:prstGeom>
          <a:solidFill>
            <a:srgbClr val="FFF8D9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1691640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444752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기계/천둥/폭발음 → 호흡 소음 은폐 → 회복 기회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맵에서 일정 시간 발생하는 큰 배경 소음이다.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소음은 플레이어가 큰 내쉬기나 저장 소음 방출을 안전하게 처리하는 타이밍이 된다.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965192"/>
            <a:ext cx="10506456" cy="795528"/>
          </a:xfrm>
          <a:prstGeom prst="roundRect">
            <a:avLst>
              <a:gd name="adj" fmla="val 8046"/>
            </a:avLst>
          </a:prstGeom>
          <a:solidFill>
            <a:srgbClr val="FFF8D9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기차, 환풍기, 경보음, 기계 작동음 등을 사용한다.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타이밍을 읽어 호흡 부채를 갚게 만든다.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흡음으로 저장한 소음도 환경 소음에 맞춰 방출할 수 있다.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기획 문서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4944"/>
            <a:ext cx="110185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07008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 환경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07008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371600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371600"/>
            <a:ext cx="640080" cy="640080"/>
          </a:xfrm>
          <a:prstGeom prst="ellipse">
            <a:avLst/>
          </a:prstGeom>
          <a:solidFill>
            <a:srgbClr val="E9F8EF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1691640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444752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먼지/꽃가루/연기/독가스 → 들숨 조건 변화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들이마시기의 안정성과 위험도를 바꾸는 환경 조건이다.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 환경은 단순 디버프가 아니라 어디서 얼마만큼 숨을 확보할지 결정하게 하는 레벨 디자인 요소다.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965192"/>
            <a:ext cx="10506456" cy="795528"/>
          </a:xfrm>
          <a:prstGeom prst="roundRect">
            <a:avLst>
              <a:gd name="adj" fmla="val 8046"/>
            </a:avLst>
          </a:prstGeom>
          <a:solidFill>
            <a:srgbClr val="E9F8EF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꽃가루/먼지는 재채기 임계선을 낮춘다.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연기/독가스는 흡입 피해나 상태이상을 발생시킨다.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수중에서는 들이마시기가 불가능하다.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기획 문서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4944"/>
            <a:ext cx="110185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07008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재채기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07008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371600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371600"/>
            <a:ext cx="640080" cy="640080"/>
          </a:xfrm>
          <a:prstGeom prst="ellipse">
            <a:avLst/>
          </a:prstGeom>
          <a:solidFill>
            <a:srgbClr val="FFF1E7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재채기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1691640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444752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자극성 공기 흡입 → 전조 → 큰 소음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먼지와 꽃가루를 과도하게 들이마셨을 때 발생하는 강제 소음 이벤트다.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재채기는 들숨을 위험한 선택으로 만들며, 숨 참기와 장비 선택의 의미를 강화한다.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965192"/>
            <a:ext cx="10506456" cy="795528"/>
          </a:xfrm>
          <a:prstGeom prst="roundRect">
            <a:avLst>
              <a:gd name="adj" fmla="val 8046"/>
            </a:avLst>
          </a:prstGeom>
          <a:solidFill>
            <a:srgbClr val="FFF1E7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안전 한계를 넘으면 전조 애니메이션과 UI 떨림을 제공한다.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임계치 도달 시 강한 소음으로 적 AI가 의심한다.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방진 장비는 임계치를 올리되 들숨 속도를 낮출 수 있다.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기획 문서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4944"/>
            <a:ext cx="110185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07008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07008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371600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3716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1691640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444752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대응 → 들숨 조건 변화 → 이동/소음 비용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마스크, 산소통, 방독면처럼 호흡 조건을 바꾸는 도구다.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장비는 문제를 무효화하는 것이 아니라 한쪽 조건을 완화하고 다른 비용을 만든다.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965192"/>
            <a:ext cx="10506456" cy="795528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방진 마스크: 재채기 한계 상승 / 들숨 속도 저하.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방독면: 독가스 방어 / 호흡 저항 증가.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산소 장치: 최대 호흡 증가 / 무게로 이동 부담 증가.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기획 문서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4944"/>
            <a:ext cx="110185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07008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5.1 능력 확장 구조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07008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능력은 새 버튼이 아니라 기존 호흡 행동의 결과를 확장한다.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1298448"/>
            <a:ext cx="2377440" cy="480060"/>
          </a:xfrm>
          <a:prstGeom prst="rect">
            <a:avLst/>
          </a:prstGeom>
          <a:solidFill>
            <a:srgbClr val="073763"/>
          </a:solidFill>
          <a:ln w="7620">
            <a:solidFill>
              <a:srgbClr val="0737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행동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27248" y="1298448"/>
            <a:ext cx="3657600" cy="480060"/>
          </a:xfrm>
          <a:prstGeom prst="rect">
            <a:avLst/>
          </a:prstGeom>
          <a:solidFill>
            <a:srgbClr val="073763"/>
          </a:solidFill>
          <a:ln w="7620">
            <a:solidFill>
              <a:srgbClr val="0737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역할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784848" y="1298448"/>
            <a:ext cx="4663440" cy="480060"/>
          </a:xfrm>
          <a:prstGeom prst="rect">
            <a:avLst/>
          </a:prstGeom>
          <a:solidFill>
            <a:srgbClr val="073763"/>
          </a:solidFill>
          <a:ln w="7620">
            <a:solidFill>
              <a:srgbClr val="0737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성장 후 역할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1778508"/>
            <a:ext cx="2377440" cy="48006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27248" y="1778508"/>
            <a:ext cx="3657600" cy="48006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확보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84848" y="1778508"/>
            <a:ext cx="4663440" cy="48006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흡음, 흡인, 흡기 도약, 비상 호흡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" y="2258568"/>
            <a:ext cx="2377440" cy="480060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27248" y="2258568"/>
            <a:ext cx="3657600" cy="480060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호흡음 제거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84848" y="2258568"/>
            <a:ext cx="4663440" cy="480060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기척 소거, 공중 부유, 시간 정지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" y="2738628"/>
            <a:ext cx="2377440" cy="48006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내쉬기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27248" y="2738628"/>
            <a:ext cx="3657600" cy="48006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회복과 소음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84848" y="2738628"/>
            <a:ext cx="4663440" cy="48006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공명, 탐지, 잔기, 저장 소음 방출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" y="361188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원칙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49808" y="3959352"/>
            <a:ext cx="5166360" cy="978408"/>
          </a:xfrm>
          <a:prstGeom prst="roundRect">
            <a:avLst>
              <a:gd name="adj" fmla="val 6542"/>
            </a:avLst>
          </a:prstGeom>
          <a:solidFill>
            <a:srgbClr val="EAF3FF"/>
          </a:solidFill>
          <a:ln w="12700">
            <a:solidFill>
              <a:srgbClr val="BFD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4069080"/>
            <a:ext cx="4946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능력을 얻어도 조작 체계는 유지한다. 플레이어는 같은 호흡 행동을 더 다양한 상황에 응용하게 된다.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36208" y="361188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난이도 곡선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36208" y="3959352"/>
            <a:ext cx="5166360" cy="978408"/>
          </a:xfrm>
          <a:prstGeom prst="roundRect">
            <a:avLst>
              <a:gd name="adj" fmla="val 6542"/>
            </a:avLst>
          </a:prstGeom>
          <a:solidFill>
            <a:srgbClr val="F0ECFF"/>
          </a:solidFill>
          <a:ln w="12700">
            <a:solidFill>
              <a:srgbClr val="D9D1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4069080"/>
            <a:ext cx="4946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능력이 기존 문제를 해결하면, 이후에는 그 능력만으로 해결되지 않는 적과 환경을 배치한다.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3232" y="5870448"/>
            <a:ext cx="10789920" cy="347472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들이마시기=저장/회수/준비, 숨 참기=은폐/고정/정지, 내쉬기=방출/공명/기만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기획 문서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4944"/>
            <a:ext cx="110185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07008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기척 소거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07008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371600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371600"/>
            <a:ext cx="640080" cy="640080"/>
          </a:xfrm>
          <a:prstGeom prst="ellipse">
            <a:avLst/>
          </a:prstGeom>
          <a:solidFill>
            <a:srgbClr val="F0ECFF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기척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1691640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444752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 → 시각적 기척 제거 → 청각 위험 유지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숨을 참는 동안 몸이 투명해지는 중반 성장 능력이다.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참기의 가치가 소음 억제에서 시각 탐지 회피까지 확장된다. 단, 발소리와 물체 충돌은 남는다.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965192"/>
            <a:ext cx="10506456" cy="795528"/>
          </a:xfrm>
          <a:prstGeom prst="roundRect">
            <a:avLst>
              <a:gd name="adj" fmla="val 8046"/>
            </a:avLst>
          </a:prstGeom>
          <a:solidFill>
            <a:srgbClr val="F0ECFF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숨 참기 중에만 유지된다.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호흡 게이지가 0%가 되면 해제와 함께 큰 호흡 소음 발생.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청각형 적과 감지 장비로 후반 난이도를 상승시킨다.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기획 문서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4944"/>
            <a:ext cx="110185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07008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공중 부유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07008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371600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371600"/>
            <a:ext cx="640080" cy="640080"/>
          </a:xfrm>
          <a:prstGeom prst="ellipse">
            <a:avLst/>
          </a:prstGeom>
          <a:solidFill>
            <a:srgbClr val="E9F8EF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공중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부유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1691640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444752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공중 상태에서 숨 참기 시작 → 높이 유지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점프 후 발이 땅에서 떨어진 상태에서 숨 참기를 시작하면 공중에 머무르는 능력이다.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숨 참기 입력도 시작 상태에 따라 일반 은신과 공중 부유로 갈린다.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965192"/>
            <a:ext cx="10506456" cy="795528"/>
          </a:xfrm>
          <a:prstGeom prst="roundRect">
            <a:avLst>
              <a:gd name="adj" fmla="val 8046"/>
            </a:avLst>
          </a:prstGeom>
          <a:solidFill>
            <a:srgbClr val="E9F8EF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지상에서 숨 참기 시작 후 점프하면 부유하지 않는다.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공중에서 시작한 숨 참기 동안만 높이 유지.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호흡 게이지가 떨어지면 낙하한다.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기획 문서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4944"/>
            <a:ext cx="110185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07008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흡음/흡인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07008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371600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371600"/>
            <a:ext cx="640080" cy="64008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흡음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흡인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1691640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444752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 → 소리/물체를 끌어들임 → 이후 처리 필요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들이마시기의 성장 능력으로, 소리 또는 가벼운 물체를 끌어당긴다.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흡음은 폭발 같은 큰 소리를 잠시 머금고 안전한 곳에서 방출하게 한다. 흡인은 은신 중 원거리 탐색과 회수에 사용된다.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965192"/>
            <a:ext cx="10506456" cy="795528"/>
          </a:xfrm>
          <a:prstGeom prst="roundRect">
            <a:avLst>
              <a:gd name="adj" fmla="val 8046"/>
            </a:avLst>
          </a:prstGeom>
          <a:solidFill>
            <a:srgbClr val="EAF3FF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흡음 중 저장 소음을 방출하기 전까지 일반 호흡 조작 제한.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흡인으로 주변 물체가 함께 움직여 소음 위험이 생긴다.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둘 다 문제를 삭제하지 않고 위치와 타이밍 문제로 바꾼다.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기획 문서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4944"/>
            <a:ext cx="110185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07008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공명/잔기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07008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371600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371600"/>
            <a:ext cx="640080" cy="640080"/>
          </a:xfrm>
          <a:prstGeom prst="ellipse">
            <a:avLst/>
          </a:prstGeom>
          <a:solidFill>
            <a:srgbClr val="FFF1E7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공명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1691640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444752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내쉬기 → 공기 파동/가짜 기척 → 환경·AI 조작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내쉬기를 환경 조작과 적 AI 기만으로 확장하는 능력이다.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공명은 먼지와 오브젝트를 흔들어 단서를 드러내고, 잔기는 특정 위치에 가짜 기척을 남긴다.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965192"/>
            <a:ext cx="10506456" cy="795528"/>
          </a:xfrm>
          <a:prstGeom prst="roundRect">
            <a:avLst>
              <a:gd name="adj" fmla="val 8046"/>
            </a:avLst>
          </a:prstGeom>
          <a:solidFill>
            <a:srgbClr val="FFF1E7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먼지를 날려 숨은 글자나 유리 안 단서를 노출한다.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은신한 적 주변 오브젝트 반응으로 위치를 추론한다.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잔기는 감지형 적을 잘못된 위치로 유도한다.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기획 문서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4944"/>
            <a:ext cx="110185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07008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비상 호흡/시간 정지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07008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371600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371600"/>
            <a:ext cx="640080" cy="640080"/>
          </a:xfrm>
          <a:prstGeom prst="ellipse">
            <a:avLst/>
          </a:prstGeom>
          <a:solidFill>
            <a:srgbClr val="FFF8D9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비상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1691640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444752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 직전 작은 들숨 / 최후반 호흡 억제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비상 호흡은 숨 참기 중 짧은 기척을 감수하고 시간을 벌며, 시간 정지는 최후반 고급 능력이다.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비상 호흡은 큰 헐떡임을 피하는 완충 장치이고, 시간 정지는 호흡 억제의 최종 확장이다.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965192"/>
            <a:ext cx="10506456" cy="795528"/>
          </a:xfrm>
          <a:prstGeom prst="roundRect">
            <a:avLst>
              <a:gd name="adj" fmla="val 8046"/>
            </a:avLst>
          </a:prstGeom>
          <a:solidFill>
            <a:srgbClr val="FFF8D9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비상 호흡은 한 사이클 1회, 짧은 소음 발생.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강제 헐떡임보다 탐지 반경이 작다.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시간 정지는 매우 높은 비용과 제한 조건이 필요하다.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기획 문서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4944"/>
            <a:ext cx="110185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07008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6.1 주인공·배경 설계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07008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세계 자체가 호흡을 요구해야 시스템이 시나리오와 어색하지 않다.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129844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주인공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9808" y="1645920"/>
            <a:ext cx="5166360" cy="1069848"/>
          </a:xfrm>
          <a:prstGeom prst="roundRect">
            <a:avLst>
              <a:gd name="adj" fmla="val 5983"/>
            </a:avLst>
          </a:prstGeom>
          <a:solidFill>
            <a:srgbClr val="EAF3FF"/>
          </a:solidFill>
          <a:ln w="12700">
            <a:solidFill>
              <a:srgbClr val="BFD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755648"/>
            <a:ext cx="49469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조절 훈련 경험이 있는 구조 전문가 또는 잠입 요원. 초반에는 순수 호흡만 사용하고, 사건을 통해 호흡 기반 능력을 얻는다.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36208" y="129844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36208" y="1645920"/>
            <a:ext cx="5166360" cy="1069848"/>
          </a:xfrm>
          <a:prstGeom prst="roundRect">
            <a:avLst>
              <a:gd name="adj" fmla="val 5983"/>
            </a:avLst>
          </a:prstGeom>
          <a:solidFill>
            <a:srgbClr val="E9F8EF"/>
          </a:solidFill>
          <a:ln w="12700">
            <a:solidFill>
              <a:srgbClr val="C7EF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5936" y="1755648"/>
            <a:ext cx="49469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비윤리적 실험을 진행하던 연구 시설. 침수, 정전, 먼지, 꽃가루, 연기, 독가스, 감지 장비가 자연스럽게 등장한다.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" y="312724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49808" y="3474720"/>
            <a:ext cx="5166360" cy="886968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3584448"/>
            <a:ext cx="49469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연구소에 잠입해 단서를 확보하고, 위험한 실험과 감시 체계를 무너뜨린다.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36208" y="312724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난이도 상승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36208" y="3474720"/>
            <a:ext cx="5166360" cy="886968"/>
          </a:xfrm>
          <a:prstGeom prst="roundRect">
            <a:avLst>
              <a:gd name="adj" fmla="val 7216"/>
            </a:avLst>
          </a:prstGeom>
          <a:solidFill>
            <a:srgbClr val="F0ECFF"/>
          </a:solidFill>
          <a:ln w="12700">
            <a:solidFill>
              <a:srgbClr val="D9D1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5936" y="3584448"/>
            <a:ext cx="49469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초반은 청각 중심 은신, 중반은 투명화 대응 적, 후반은 감지 장비와 공기 환경 복합 구간으로 확장한다.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5715000"/>
            <a:ext cx="10789920" cy="347472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스토리는 호흡 시스템을 설명하는 핑계가 아니라, 호흡을 써야만 통과 가능한 공간을 자연스럽게 만든다.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기획 문서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4944"/>
            <a:ext cx="110185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07008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4.10 시스템 구조도(Unity)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07008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관점에서 호흡 시스템이 다른 컴포넌트와 데이터를 주고받는 구조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1243584"/>
            <a:ext cx="1971446" cy="502920"/>
          </a:xfrm>
          <a:prstGeom prst="roundRect">
            <a:avLst>
              <a:gd name="adj" fmla="val 12727"/>
            </a:avLst>
          </a:prstGeom>
          <a:solidFill>
            <a:srgbClr val="EAF3FF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PlayerInput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21254" y="1495044"/>
            <a:ext cx="164592" cy="0"/>
          </a:xfrm>
          <a:prstGeom prst="line">
            <a:avLst/>
          </a:prstGeom>
          <a:noFill/>
          <a:ln w="15240">
            <a:solidFill>
              <a:srgbClr val="AAB7C8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885846" y="1243584"/>
            <a:ext cx="1971446" cy="502920"/>
          </a:xfrm>
          <a:prstGeom prst="roundRect">
            <a:avLst>
              <a:gd name="adj" fmla="val 12727"/>
            </a:avLst>
          </a:prstGeom>
          <a:solidFill>
            <a:srgbClr val="E9F8EF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BreathController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57293" y="1495044"/>
            <a:ext cx="164592" cy="0"/>
          </a:xfrm>
          <a:prstGeom prst="line">
            <a:avLst/>
          </a:prstGeom>
          <a:noFill/>
          <a:ln w="15240">
            <a:solidFill>
              <a:srgbClr val="AAB7C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021885" y="1243584"/>
            <a:ext cx="1971446" cy="502920"/>
          </a:xfrm>
          <a:prstGeom prst="roundRect">
            <a:avLst>
              <a:gd name="adj" fmla="val 12727"/>
            </a:avLst>
          </a:prstGeom>
          <a:solidFill>
            <a:srgbClr val="FFF1E7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NoiseEmitter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93331" y="1495044"/>
            <a:ext cx="164592" cy="0"/>
          </a:xfrm>
          <a:prstGeom prst="line">
            <a:avLst/>
          </a:prstGeom>
          <a:noFill/>
          <a:ln w="15240">
            <a:solidFill>
              <a:srgbClr val="AAB7C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157923" y="1243584"/>
            <a:ext cx="1971446" cy="502920"/>
          </a:xfrm>
          <a:prstGeom prst="roundRect">
            <a:avLst>
              <a:gd name="adj" fmla="val 12727"/>
            </a:avLst>
          </a:prstGeom>
          <a:solidFill>
            <a:srgbClr val="F0ECFF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EnemyAI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29370" y="1495044"/>
            <a:ext cx="164592" cy="0"/>
          </a:xfrm>
          <a:prstGeom prst="line">
            <a:avLst/>
          </a:prstGeom>
          <a:noFill/>
          <a:ln w="15240">
            <a:solidFill>
              <a:srgbClr val="AAB7C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293962" y="1243584"/>
            <a:ext cx="1971446" cy="502920"/>
          </a:xfrm>
          <a:prstGeom prst="roundRect">
            <a:avLst>
              <a:gd name="adj" fmla="val 12727"/>
            </a:avLst>
          </a:prstGeom>
          <a:solidFill>
            <a:srgbClr val="FFF8D9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LevelEvent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" y="21945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BreathController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49808" y="2542032"/>
            <a:ext cx="3337560" cy="1069848"/>
          </a:xfrm>
          <a:prstGeom prst="roundRect">
            <a:avLst>
              <a:gd name="adj" fmla="val 5983"/>
            </a:avLst>
          </a:prstGeom>
          <a:solidFill>
            <a:srgbClr val="EAF3FF"/>
          </a:solidFill>
          <a:ln w="12700">
            <a:solidFill>
              <a:srgbClr val="BFD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2651760"/>
            <a:ext cx="31181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호흡량, 호흡 상태, 호흡 부채, 저장 소음, 능력 활성 여부를 관리한다.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34840" y="21945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MovementController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434840" y="2542032"/>
            <a:ext cx="3337560" cy="1069848"/>
          </a:xfrm>
          <a:prstGeom prst="roundRect">
            <a:avLst>
              <a:gd name="adj" fmla="val 5983"/>
            </a:avLst>
          </a:prstGeom>
          <a:solidFill>
            <a:srgbClr val="E9F8EF"/>
          </a:solidFill>
          <a:ln w="12700">
            <a:solidFill>
              <a:srgbClr val="C7EF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44568" y="2651760"/>
            <a:ext cx="31181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 방식, 점프 상태, 공중 여부, 달리기 여부를 전달해 호흡 소비와 부유 판정을 결정한다.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19872" y="21945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NoiseEmitter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119872" y="2542032"/>
            <a:ext cx="3337560" cy="1069848"/>
          </a:xfrm>
          <a:prstGeom prst="roundRect">
            <a:avLst>
              <a:gd name="adj" fmla="val 5983"/>
            </a:avLst>
          </a:prstGeom>
          <a:solidFill>
            <a:srgbClr val="FFF1E7"/>
          </a:solidFill>
          <a:ln w="12700">
            <a:solidFill>
              <a:srgbClr val="FFD9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2651760"/>
            <a:ext cx="31181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소음, 발소리, 충돌음, 저장 소음 방출을 적 AI가 읽을 수 있는 이벤트로 변환한다.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" y="41605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EnvironmentZone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49808" y="4507992"/>
            <a:ext cx="3337560" cy="978408"/>
          </a:xfrm>
          <a:prstGeom prst="roundRect">
            <a:avLst>
              <a:gd name="adj" fmla="val 6542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4617720"/>
            <a:ext cx="3118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꽃가루, 먼지, 독가스, 수중, 환경 소음 등 지역 조건을 호흡 규칙에 전달한다.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34840" y="41605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AbilityModule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434840" y="4507992"/>
            <a:ext cx="3337560" cy="978408"/>
          </a:xfrm>
          <a:prstGeom prst="roundRect">
            <a:avLst>
              <a:gd name="adj" fmla="val 6542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44568" y="4617720"/>
            <a:ext cx="3118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기척 소거, 공중 부유, 흡음, 공명, 잔기 같은 확장 능력을 호흡 상태에 따라 실행한다.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19872" y="41605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EnemyAI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119872" y="4507992"/>
            <a:ext cx="3337560" cy="978408"/>
          </a:xfrm>
          <a:prstGeom prst="roundRect">
            <a:avLst>
              <a:gd name="adj" fmla="val 6542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0" y="4617720"/>
            <a:ext cx="3118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시야, 청각, 감지 장비 정보를 종합해 의심, 조사, 추적, 복귀 상태를 전환한다.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기획 문서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4944"/>
            <a:ext cx="110185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07008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리소스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07008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구현과 피드백에 필요한 화면·사운드·연출 리소스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243584"/>
            <a:ext cx="1371600" cy="581297"/>
          </a:xfrm>
          <a:prstGeom prst="rect">
            <a:avLst/>
          </a:prstGeom>
          <a:solidFill>
            <a:srgbClr val="073763"/>
          </a:solidFill>
          <a:ln w="7620">
            <a:solidFill>
              <a:srgbClr val="0737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29968" y="1243584"/>
            <a:ext cx="3383280" cy="581297"/>
          </a:xfrm>
          <a:prstGeom prst="rect">
            <a:avLst/>
          </a:prstGeom>
          <a:solidFill>
            <a:srgbClr val="073763"/>
          </a:solidFill>
          <a:ln w="7620">
            <a:solidFill>
              <a:srgbClr val="0737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13248" y="1243584"/>
            <a:ext cx="2743200" cy="581297"/>
          </a:xfrm>
          <a:prstGeom prst="rect">
            <a:avLst/>
          </a:prstGeom>
          <a:solidFill>
            <a:srgbClr val="073763"/>
          </a:solidFill>
          <a:ln w="7620">
            <a:solidFill>
              <a:srgbClr val="0737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시점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56448" y="1243584"/>
            <a:ext cx="3383280" cy="581297"/>
          </a:xfrm>
          <a:prstGeom prst="rect">
            <a:avLst/>
          </a:prstGeom>
          <a:solidFill>
            <a:srgbClr val="073763"/>
          </a:solidFill>
          <a:ln w="7620">
            <a:solidFill>
              <a:srgbClr val="0737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비고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1824881"/>
            <a:ext cx="1371600" cy="581297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29968" y="1824881"/>
            <a:ext cx="3383280" cy="581297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게이지 / 안전 들숨 한계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13248" y="1824881"/>
            <a:ext cx="2743200" cy="581297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156448" y="1824881"/>
            <a:ext cx="3383280" cy="581297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호흡량과 위험 구간 표시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2406178"/>
            <a:ext cx="1371600" cy="581297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29968" y="2406178"/>
            <a:ext cx="3383280" cy="581297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 파형 / 의심 표시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13248" y="2406178"/>
            <a:ext cx="2743200" cy="581297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 발생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156448" y="2406178"/>
            <a:ext cx="3383280" cy="581297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 AI 반응 전조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2987475"/>
            <a:ext cx="1371600" cy="581297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SFX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29968" y="2987475"/>
            <a:ext cx="3383280" cy="581297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들이마시기/헐떡임/재채기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13248" y="2987475"/>
            <a:ext cx="2743200" cy="581297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단계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56448" y="2987475"/>
            <a:ext cx="3383280" cy="581297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 반경과 단계별 구분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" y="3568773"/>
            <a:ext cx="1371600" cy="581297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VFX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29968" y="3568773"/>
            <a:ext cx="3383280" cy="581297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공명 파동 / 잔기 / 투명화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13248" y="3568773"/>
            <a:ext cx="2743200" cy="581297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능력 사용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56448" y="3568773"/>
            <a:ext cx="3383280" cy="581297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행동의 확장 표현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" y="4150070"/>
            <a:ext cx="1371600" cy="581297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029968" y="4150070"/>
            <a:ext cx="3383280" cy="581297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먼지/꽃가루/연기/독가스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13248" y="4150070"/>
            <a:ext cx="2743200" cy="581297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 구간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56448" y="4150070"/>
            <a:ext cx="3383280" cy="581297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 조건 변화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8368" y="4731367"/>
            <a:ext cx="1371600" cy="581297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애니메이션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029968" y="4731367"/>
            <a:ext cx="3383280" cy="581297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기어가기/숨 참기/비상 호흡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13248" y="4731367"/>
            <a:ext cx="2743200" cy="581297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조작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56448" y="4731367"/>
            <a:ext cx="3383280" cy="581297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플레이 상태 즉시 인지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3232" y="5897880"/>
            <a:ext cx="10789920" cy="347472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리소스는 “멋있게 보이기”보다 플레이어가 현재 호흡 위험과 다음 행동 가능성을 읽게 만드는 것을 우선한다.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기획 문서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4944"/>
            <a:ext cx="110185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07008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예외사항 안전장치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07008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규칙으로 처리하면 플레이가 망가질 수 있는 상황을 미리 정리한다.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2743200" cy="579120"/>
          </a:xfrm>
          <a:prstGeom prst="rect">
            <a:avLst/>
          </a:prstGeom>
          <a:solidFill>
            <a:srgbClr val="073763"/>
          </a:solidFill>
          <a:ln w="7620">
            <a:solidFill>
              <a:srgbClr val="0737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상황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01568" y="1234440"/>
            <a:ext cx="3840480" cy="579120"/>
          </a:xfrm>
          <a:prstGeom prst="rect">
            <a:avLst/>
          </a:prstGeom>
          <a:solidFill>
            <a:srgbClr val="073763"/>
          </a:solidFill>
          <a:ln w="7620">
            <a:solidFill>
              <a:srgbClr val="0737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242048" y="1234440"/>
            <a:ext cx="4297680" cy="579120"/>
          </a:xfrm>
          <a:prstGeom prst="rect">
            <a:avLst/>
          </a:prstGeom>
          <a:solidFill>
            <a:srgbClr val="073763"/>
          </a:solidFill>
          <a:ln w="7620">
            <a:solidFill>
              <a:srgbClr val="0737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장치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813560"/>
            <a:ext cx="2743200" cy="5791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게이지 0% 반복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01568" y="1813560"/>
            <a:ext cx="3840480" cy="5791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불능 스트레스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242048" y="1813560"/>
            <a:ext cx="4297680" cy="5791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강제 호흡 후 짧은 보호 시간 제공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2392680"/>
            <a:ext cx="2743200" cy="579120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흡음 소음 미방출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01568" y="2392680"/>
            <a:ext cx="3840480" cy="579120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조작 장기 봉인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42048" y="2392680"/>
            <a:ext cx="4297680" cy="579120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방출 가능 구역 또는 자동 방출 경고 제공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" y="2971800"/>
            <a:ext cx="2743200" cy="5791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 구간 재채기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01568" y="2971800"/>
            <a:ext cx="3840480" cy="5791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불가/억울한 발각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242048" y="2971800"/>
            <a:ext cx="4297680" cy="5791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전조 시간을 길게 주고 회피 가능한 안전 호흡 지점 배치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3550920"/>
            <a:ext cx="2743200" cy="579120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투명화 만능화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01568" y="3550920"/>
            <a:ext cx="3840480" cy="579120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은신 난이도 붕괴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242048" y="3550920"/>
            <a:ext cx="4297680" cy="579120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발소리·흔적·청각형 적·감지 장비 유지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" y="4130040"/>
            <a:ext cx="2743200" cy="5791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과잉 추적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01568" y="4130040"/>
            <a:ext cx="3840480" cy="5791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소음으로 즉시 실패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42048" y="4130040"/>
            <a:ext cx="4297680" cy="5791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의심/조사/추적 단계를 분리하고 추가 정보 없으면 복귀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" y="50749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 원칙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49808" y="5422392"/>
            <a:ext cx="10515600" cy="384048"/>
          </a:xfrm>
          <a:prstGeom prst="roundRect">
            <a:avLst>
              <a:gd name="adj" fmla="val 16667"/>
            </a:avLst>
          </a:prstGeom>
          <a:solidFill>
            <a:srgbClr val="EAF3FF"/>
          </a:solidFill>
          <a:ln w="12700">
            <a:solidFill>
              <a:srgbClr val="BFD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5532120"/>
            <a:ext cx="10296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예외사항은 규칙을 없애는 것이 아니라, 플레이어가 원인을 이해하고 다음 행동으로 복구할 수 있게 만드는 처리 약속이다.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기획 문서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2852</Words>
  <Application>Microsoft Office PowerPoint</Application>
  <PresentationFormat>와이드스크린</PresentationFormat>
  <Paragraphs>554</Paragraphs>
  <Slides>32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5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호흡 시스템 기획 문서</dc:title>
  <dc:subject>호흡 시스템 기획 문서</dc:subject>
  <dc:creator>OpenAI</dc:creator>
  <cp:lastModifiedBy>FullName</cp:lastModifiedBy>
  <cp:revision>8</cp:revision>
  <dcterms:created xsi:type="dcterms:W3CDTF">2026-08-18T04:17:06Z</dcterms:created>
  <dcterms:modified xsi:type="dcterms:W3CDTF">2026-08-18T05:46:01Z</dcterms:modified>
</cp:coreProperties>
</file>