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19F338D7-F0A0-4CBA-8D30-7ADAEC2151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0957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FF1B866-F594-4BF0-B1E2-3D5A4FCD2FD6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>
                <a:solidFill>
                  <a:srgbClr val="80D9D1"/>
                </a:solidFill>
                <a:latin typeface="맑은 고딕"/>
                <a:ea typeface="맑은 고딕"/>
                <a:cs typeface="맑은 고딕"/>
              </a:rPr>
              <a:t>SYSTEM DESIGN DOCUMENT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DB9E850-16B6-4BF5-AB97-21E7DC15183B}"/>
              </a:ext>
            </a:extLst>
          </p:cNvPr>
          <p:cNvSpPr>
            <a:spLocks noGrp="1"/>
          </p:cNvSpPr>
          <p:nvPr/>
        </p:nvSpPr>
        <p:spPr>
          <a:xfrm>
            <a:off x="609600" y="1200150"/>
            <a:ext cx="304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호흡 시스템</a:t>
            </a:r>
          </a:p>
          <a:p>
            <a:pPr algn="l">
              <a:defRPr sz="2000" b="1">
                <a:solidFill>
                  <a:srgbClr val="FFFFFF"/>
                </a:solidFill>
              </a:defRPr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 문서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AFB1D98-6775-4820-983B-B1E7A81B3638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30480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D6E8F2"/>
                </a:solidFill>
              </a:defRPr>
            </a:pPr>
            <a:r>
              <a:rPr sz="1000" b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들이마시기 · 숨 참기 · 내쉬기를 직접 조절해</a:t>
            </a:r>
          </a:p>
          <a:p>
            <a:pPr algn="l">
              <a:defRPr sz="1000" b="0">
                <a:solidFill>
                  <a:srgbClr val="D6E8F2"/>
                </a:solidFill>
              </a:defRPr>
            </a:pPr>
            <a:r>
              <a:rPr sz="1000" b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이동, 은신, 소음, 환경 대응을 연결하는 핵심 시스템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D07C37C4-0870-47B0-B1D6-1F0869B53498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2457450" cy="514350"/>
          </a:xfrm>
          <a:prstGeom prst="roundRect">
            <a:avLst>
              <a:gd name="adj" fmla="val 14815"/>
            </a:avLst>
          </a:prstGeom>
          <a:solidFill>
            <a:srgbClr val="0B4A70"/>
          </a:solidFill>
          <a:ln w="9525">
            <a:solidFill>
              <a:srgbClr val="0B4A70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8C4F43-10F3-48FF-BE60-513170035D6B}"/>
              </a:ext>
            </a:extLst>
          </p:cNvPr>
          <p:cNvSpPr>
            <a:spLocks noGrp="1"/>
          </p:cNvSpPr>
          <p:nvPr/>
        </p:nvSpPr>
        <p:spPr>
          <a:xfrm>
            <a:off x="742950" y="4171950"/>
            <a:ext cx="219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언제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얼마나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·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어디서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숨 쉴 </a:t>
            </a:r>
            <a:r>
              <a:rPr sz="10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것인가</a:t>
            </a:r>
            <a:r>
              <a:rPr sz="10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?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D3F548-90F8-477E-8F79-72FCFB0ED9D9}"/>
              </a:ext>
            </a:extLst>
          </p:cNvPr>
          <p:cNvSpPr>
            <a:spLocks noGrp="1"/>
          </p:cNvSpPr>
          <p:nvPr/>
        </p:nvSpPr>
        <p:spPr>
          <a:xfrm>
            <a:off x="9429750" y="6324600"/>
            <a:ext cx="2000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작성자  윤수진</a:t>
            </a:r>
          </a:p>
        </p:txBody>
      </p:sp>
    </p:spTree>
    <p:extLst>
      <p:ext uri="{BB962C8B-B14F-4D97-AF65-F5344CB8AC3E}">
        <p14:creationId xmlns:p14="http://schemas.microsoft.com/office/powerpoint/2010/main" val="90828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246366D9-C2D1-4FD1-B45B-6A12DE2B5D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2BF04F2-0098-4AFF-B33A-2DA6EDD6BEFB}"/>
              </a:ext>
            </a:extLst>
          </p:cNvPr>
          <p:cNvSpPr>
            <a:spLocks noGrp="1"/>
          </p:cNvSpPr>
          <p:nvPr/>
        </p:nvSpPr>
        <p:spPr>
          <a:xfrm>
            <a:off x="457200" y="238125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1000" b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DOCUMENT MAP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887266A-79D7-4FF9-BA3E-B0D2C384F998}"/>
              </a:ext>
            </a:extLst>
          </p:cNvPr>
          <p:cNvSpPr>
            <a:spLocks noGrp="1"/>
          </p:cNvSpPr>
          <p:nvPr/>
        </p:nvSpPr>
        <p:spPr>
          <a:xfrm>
            <a:off x="457200" y="47625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2000" b="1">
                <a:solidFill>
                  <a:srgbClr val="073B5C"/>
                </a:solidFill>
              </a:defRPr>
            </a:pPr>
            <a:r>
              <a:rPr sz="2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79FA528D-DB37-4E95-9E8C-763FFA1CB652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916E04B-AEFD-4068-B2F2-3C1DE13F7ED1}"/>
              </a:ext>
            </a:extLst>
          </p:cNvPr>
          <p:cNvSpPr>
            <a:spLocks noGrp="1"/>
          </p:cNvSpPr>
          <p:nvPr/>
        </p:nvSpPr>
        <p:spPr>
          <a:xfrm>
            <a:off x="110490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B3EA09-8C16-4038-9ACA-1A0A984112E2}"/>
              </a:ext>
            </a:extLst>
          </p:cNvPr>
          <p:cNvSpPr>
            <a:spLocks noGrp="1"/>
          </p:cNvSpPr>
          <p:nvPr/>
        </p:nvSpPr>
        <p:spPr>
          <a:xfrm>
            <a:off x="571500" y="12763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20A6A0"/>
                </a:solidFill>
              </a:defRPr>
            </a:pPr>
            <a:r>
              <a:rPr sz="1500" b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CDF4086-4EBE-4BD4-9064-E9161402643F}"/>
              </a:ext>
            </a:extLst>
          </p:cNvPr>
          <p:cNvSpPr>
            <a:spLocks noGrp="1"/>
          </p:cNvSpPr>
          <p:nvPr/>
        </p:nvSpPr>
        <p:spPr>
          <a:xfrm>
            <a:off x="1200150" y="12763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정의 및 설명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366871E-8417-4A96-891D-911693039CF6}"/>
              </a:ext>
            </a:extLst>
          </p:cNvPr>
          <p:cNvSpPr>
            <a:spLocks noGrp="1"/>
          </p:cNvSpPr>
          <p:nvPr/>
        </p:nvSpPr>
        <p:spPr>
          <a:xfrm>
            <a:off x="1200150" y="15621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시스템 목적 · 핵심 순환 · 시스템 볼륨 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69844A0-54F1-4CCF-A293-BF7358D630E1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7D67B3"/>
                </a:solidFill>
              </a:defRPr>
            </a:pPr>
            <a:r>
              <a:rPr sz="1500" b="1">
                <a:solidFill>
                  <a:srgbClr val="7D67B3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E75409D-84F6-4C39-A0DC-84241A2812A9}"/>
              </a:ext>
            </a:extLst>
          </p:cNvPr>
          <p:cNvSpPr>
            <a:spLocks noGrp="1"/>
          </p:cNvSpPr>
          <p:nvPr/>
        </p:nvSpPr>
        <p:spPr>
          <a:xfrm>
            <a:off x="1200150" y="20193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플레이 화면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D5E4439-E470-4991-90E7-0714D847FA28}"/>
              </a:ext>
            </a:extLst>
          </p:cNvPr>
          <p:cNvSpPr>
            <a:spLocks noGrp="1"/>
          </p:cNvSpPr>
          <p:nvPr/>
        </p:nvSpPr>
        <p:spPr>
          <a:xfrm>
            <a:off x="1200150" y="23050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인게임 UI · 상태별 표시 · 판단 정보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120AE6-34E4-41A7-A84D-887E7AC342D7}"/>
              </a:ext>
            </a:extLst>
          </p:cNvPr>
          <p:cNvSpPr>
            <a:spLocks noGrp="1"/>
          </p:cNvSpPr>
          <p:nvPr/>
        </p:nvSpPr>
        <p:spPr>
          <a:xfrm>
            <a:off x="571500" y="27622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C79A20"/>
                </a:solidFill>
              </a:defRPr>
            </a:pPr>
            <a:r>
              <a:rPr sz="1500" b="1">
                <a:solidFill>
                  <a:srgbClr val="C79A20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D75C47-1E12-4571-B6E4-262337CFBBF6}"/>
              </a:ext>
            </a:extLst>
          </p:cNvPr>
          <p:cNvSpPr>
            <a:spLocks noGrp="1"/>
          </p:cNvSpPr>
          <p:nvPr/>
        </p:nvSpPr>
        <p:spPr>
          <a:xfrm>
            <a:off x="1200150" y="27622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규칙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A9B6AA8-5D8A-43FB-B88B-58B60D54914F}"/>
              </a:ext>
            </a:extLst>
          </p:cNvPr>
          <p:cNvSpPr>
            <a:spLocks noGrp="1"/>
          </p:cNvSpPr>
          <p:nvPr/>
        </p:nvSpPr>
        <p:spPr>
          <a:xfrm>
            <a:off x="1200150" y="30480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기본 호흡 · 환경/AI · 능력 확장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77072D-E84D-4590-B022-63C48DFF9E5D}"/>
              </a:ext>
            </a:extLst>
          </p:cNvPr>
          <p:cNvSpPr>
            <a:spLocks noGrp="1"/>
          </p:cNvSpPr>
          <p:nvPr/>
        </p:nvSpPr>
        <p:spPr>
          <a:xfrm>
            <a:off x="571500" y="35052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D87449"/>
                </a:solidFill>
              </a:defRPr>
            </a:pPr>
            <a:r>
              <a:rPr sz="1500" b="1">
                <a:solidFill>
                  <a:srgbClr val="D87449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DBEE50E-D593-45C0-B25C-1ADCC2F22B57}"/>
              </a:ext>
            </a:extLst>
          </p:cNvPr>
          <p:cNvSpPr>
            <a:spLocks noGrp="1"/>
          </p:cNvSpPr>
          <p:nvPr/>
        </p:nvSpPr>
        <p:spPr>
          <a:xfrm>
            <a:off x="1200150" y="35052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시스템 구조도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F23A79E-70B1-44BC-BF88-507286050C26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 입력부터 AI 반응까지의 플로우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E8A37A-CCB8-444B-B1DB-267DC8E76EAF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367DA6"/>
                </a:solidFill>
              </a:defRPr>
            </a:pPr>
            <a:r>
              <a:rPr sz="1500" b="1">
                <a:solidFill>
                  <a:srgbClr val="367DA6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92435E3-9EB8-4B75-8E11-6D8856AC467A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리소스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88AADB2-72FD-45B0-9654-B3336274B639}"/>
              </a:ext>
            </a:extLst>
          </p:cNvPr>
          <p:cNvSpPr>
            <a:spLocks noGrp="1"/>
          </p:cNvSpPr>
          <p:nvPr/>
        </p:nvSpPr>
        <p:spPr>
          <a:xfrm>
            <a:off x="1200150" y="453390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UI · 애니메이션 · SFX · VFX · 데이터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1C866B8-F9FA-4BD4-BAA8-708E8CE05B6B}"/>
              </a:ext>
            </a:extLst>
          </p:cNvPr>
          <p:cNvSpPr>
            <a:spLocks noGrp="1"/>
          </p:cNvSpPr>
          <p:nvPr/>
        </p:nvSpPr>
        <p:spPr>
          <a:xfrm>
            <a:off x="571500" y="4991100"/>
            <a:ext cx="495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B34F57"/>
                </a:solidFill>
              </a:defRPr>
            </a:pPr>
            <a:r>
              <a:rPr sz="1500" b="1">
                <a:solidFill>
                  <a:srgbClr val="B34F57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AA8FEAA-D8F6-436E-BC43-DA26A287DFD0}"/>
              </a:ext>
            </a:extLst>
          </p:cNvPr>
          <p:cNvSpPr>
            <a:spLocks noGrp="1"/>
          </p:cNvSpPr>
          <p:nvPr/>
        </p:nvSpPr>
        <p:spPr>
          <a:xfrm>
            <a:off x="1200150" y="49911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예외사항 / 안전장치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2D6C589-F273-4A78-B5E6-DDB570EDC56B}"/>
              </a:ext>
            </a:extLst>
          </p:cNvPr>
          <p:cNvSpPr>
            <a:spLocks noGrp="1"/>
          </p:cNvSpPr>
          <p:nvPr/>
        </p:nvSpPr>
        <p:spPr>
          <a:xfrm>
            <a:off x="1200150" y="5276850"/>
            <a:ext cx="7620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규칙 충돌 처리 · 진행 불가 방지</a:t>
            </a:r>
          </a:p>
        </p:txBody>
      </p:sp>
    </p:spTree>
    <p:extLst>
      <p:ext uri="{BB962C8B-B14F-4D97-AF65-F5344CB8AC3E}">
        <p14:creationId xmlns:p14="http://schemas.microsoft.com/office/powerpoint/2010/main" val="453137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2EB63A2A-9DA3-43D9-8CFE-22A4678919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3367F7A-375D-47B5-9BB9-A1C9DA8EEB77}"/>
              </a:ext>
            </a:extLst>
          </p:cNvPr>
          <p:cNvSpPr>
            <a:spLocks noGrp="1"/>
          </p:cNvSpPr>
          <p:nvPr/>
        </p:nvSpPr>
        <p:spPr>
          <a:xfrm>
            <a:off x="457199" y="352429"/>
            <a:ext cx="3313953" cy="42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01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정의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및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설명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088AF32C-9C5B-4488-A4ED-499A245BD1DB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B16B9B7-C2AC-4064-9AD4-E8F3B8BB3FFA}"/>
              </a:ext>
            </a:extLst>
          </p:cNvPr>
          <p:cNvSpPr>
            <a:spLocks noGrp="1"/>
          </p:cNvSpPr>
          <p:nvPr/>
        </p:nvSpPr>
        <p:spPr>
          <a:xfrm>
            <a:off x="433367" y="1228725"/>
            <a:ext cx="5470527" cy="4857750"/>
          </a:xfrm>
          <a:prstGeom prst="roundRect">
            <a:avLst>
              <a:gd name="adj" fmla="val 3836"/>
            </a:avLst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F7B4537-AF5D-40DD-BEC3-CBFA4508665E}"/>
              </a:ext>
            </a:extLst>
          </p:cNvPr>
          <p:cNvSpPr>
            <a:spLocks noGrp="1"/>
          </p:cNvSpPr>
          <p:nvPr/>
        </p:nvSpPr>
        <p:spPr>
          <a:xfrm>
            <a:off x="723900" y="15240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80D9D1"/>
                </a:solidFill>
              </a:defRPr>
            </a:pPr>
            <a:r>
              <a:rPr sz="1500" b="1">
                <a:solidFill>
                  <a:srgbClr val="80D9D1"/>
                </a:solidFill>
                <a:latin typeface="맑은 고딕"/>
                <a:ea typeface="맑은 고딕"/>
                <a:cs typeface="맑은 고딕"/>
              </a:rPr>
              <a:t>시스템 정의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EC6634D-6820-4167-85BE-4D4E742C2E66}"/>
              </a:ext>
            </a:extLst>
          </p:cNvPr>
          <p:cNvSpPr>
            <a:spLocks noGrp="1"/>
          </p:cNvSpPr>
          <p:nvPr/>
        </p:nvSpPr>
        <p:spPr>
          <a:xfrm>
            <a:off x="723900" y="1943100"/>
            <a:ext cx="4571263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500" b="1">
                <a:solidFill>
                  <a:srgbClr val="FFFFFF"/>
                </a:solidFill>
              </a:defRPr>
            </a:pP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플레이어가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들이마시기·숨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참기·내쉬기를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직접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조절해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호흡량과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소음을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관리하는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행동</a:t>
            </a:r>
            <a:r>
              <a:rPr sz="1500" b="1" dirty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시스템</a:t>
            </a:r>
            <a:endParaRPr sz="1500" b="1" dirty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8736A0-4F9C-4E67-9F9F-1E8CDD38833F}"/>
              </a:ext>
            </a:extLst>
          </p:cNvPr>
          <p:cNvSpPr>
            <a:spLocks noGrp="1"/>
          </p:cNvSpPr>
          <p:nvPr/>
        </p:nvSpPr>
        <p:spPr>
          <a:xfrm>
            <a:off x="723900" y="3095625"/>
            <a:ext cx="1238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80D9D1"/>
                </a:solidFill>
              </a:defRPr>
            </a:pPr>
            <a:r>
              <a:rPr sz="1000" b="1" dirty="0" err="1">
                <a:solidFill>
                  <a:srgbClr val="80D9D1"/>
                </a:solidFill>
                <a:latin typeface="맑은 고딕"/>
                <a:ea typeface="맑은 고딕"/>
                <a:cs typeface="맑은 고딕"/>
              </a:rPr>
              <a:t>핵심</a:t>
            </a:r>
            <a:r>
              <a:rPr sz="1000" b="1" dirty="0">
                <a:solidFill>
                  <a:srgbClr val="80D9D1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80D9D1"/>
                </a:solidFill>
                <a:latin typeface="맑은 고딕"/>
                <a:ea typeface="맑은 고딕"/>
                <a:cs typeface="맑은 고딕"/>
              </a:rPr>
              <a:t>경험</a:t>
            </a:r>
            <a:endParaRPr sz="1000" b="1" dirty="0">
              <a:solidFill>
                <a:srgbClr val="80D9D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9FECEF4-7EE0-44EA-822F-68CD70EAAEEA}"/>
              </a:ext>
            </a:extLst>
          </p:cNvPr>
          <p:cNvSpPr>
            <a:spLocks noGrp="1"/>
          </p:cNvSpPr>
          <p:nvPr/>
        </p:nvSpPr>
        <p:spPr>
          <a:xfrm>
            <a:off x="723900" y="343852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 필요한 만큼 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529D9A9-E300-4335-A472-3700B21E0D9A}"/>
              </a:ext>
            </a:extLst>
          </p:cNvPr>
          <p:cNvSpPr>
            <a:spLocks noGrp="1"/>
          </p:cNvSpPr>
          <p:nvPr/>
        </p:nvSpPr>
        <p:spPr>
          <a:xfrm>
            <a:off x="723900" y="376237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 필요한 순간만 억제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ECAFBCE-658B-4FC8-8797-373CC07338CE}"/>
              </a:ext>
            </a:extLst>
          </p:cNvPr>
          <p:cNvSpPr>
            <a:spLocks noGrp="1"/>
          </p:cNvSpPr>
          <p:nvPr/>
        </p:nvSpPr>
        <p:spPr>
          <a:xfrm>
            <a:off x="723900" y="4086225"/>
            <a:ext cx="2781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 안전한 위치에서 부분 회복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50EAA9F-7775-49D9-AAC9-C19E1C246772}"/>
              </a:ext>
            </a:extLst>
          </p:cNvPr>
          <p:cNvSpPr>
            <a:spLocks noGrp="1"/>
          </p:cNvSpPr>
          <p:nvPr/>
        </p:nvSpPr>
        <p:spPr>
          <a:xfrm>
            <a:off x="723900" y="4552950"/>
            <a:ext cx="4571263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D6E8F2"/>
                </a:solidFill>
              </a:defRPr>
            </a:pP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끝까지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참기보다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한계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전에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회복하고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다시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판단하는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플레이가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숙련도를</a:t>
            </a:r>
            <a:r>
              <a:rPr sz="1000" b="1" dirty="0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1" dirty="0" err="1">
                <a:solidFill>
                  <a:srgbClr val="D6E8F2"/>
                </a:solidFill>
                <a:latin typeface="맑은 고딕"/>
                <a:ea typeface="맑은 고딕"/>
                <a:cs typeface="맑은 고딕"/>
              </a:rPr>
              <a:t>만듦</a:t>
            </a:r>
            <a:endParaRPr sz="1000" b="1" dirty="0">
              <a:solidFill>
                <a:srgbClr val="D6E8F2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2" name="Oval 30">
            <a:extLst>
              <a:ext uri="{FF2B5EF4-FFF2-40B4-BE49-F238E27FC236}">
                <a16:creationId xmlns:a16="http://schemas.microsoft.com/office/drawing/2014/main" id="{E0F6A6CA-CFF2-420C-A588-3A1C151C4D91}"/>
              </a:ext>
            </a:extLst>
          </p:cNvPr>
          <p:cNvSpPr/>
          <p:nvPr/>
        </p:nvSpPr>
        <p:spPr>
          <a:xfrm>
            <a:off x="8945872" y="3182434"/>
            <a:ext cx="1329359" cy="1329359"/>
          </a:xfrm>
          <a:prstGeom prst="ellipse">
            <a:avLst/>
          </a:prstGeom>
          <a:solidFill>
            <a:srgbClr val="042D62"/>
          </a:solidFill>
          <a:ln w="25400">
            <a:solidFill>
              <a:srgbClr val="042D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rPr sz="1500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</a:p>
        </p:txBody>
      </p:sp>
      <p:sp>
        <p:nvSpPr>
          <p:cNvPr id="44" name="Oval 31">
            <a:extLst>
              <a:ext uri="{FF2B5EF4-FFF2-40B4-BE49-F238E27FC236}">
                <a16:creationId xmlns:a16="http://schemas.microsoft.com/office/drawing/2014/main" id="{8BA2FB2B-B775-47BD-8179-E88B8359A5C3}"/>
              </a:ext>
            </a:extLst>
          </p:cNvPr>
          <p:cNvSpPr/>
          <p:nvPr/>
        </p:nvSpPr>
        <p:spPr>
          <a:xfrm>
            <a:off x="8206977" y="1847169"/>
            <a:ext cx="1329359" cy="1329359"/>
          </a:xfrm>
          <a:prstGeom prst="ellipse">
            <a:avLst/>
          </a:prstGeom>
          <a:solidFill>
            <a:srgbClr val="E8F2FF"/>
          </a:solidFill>
          <a:ln w="25400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800" b="1">
                <a:solidFill>
                  <a:srgbClr val="21252B"/>
                </a:solidFill>
                <a:latin typeface="맑은 고딕"/>
              </a:defRPr>
            </a:pP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호흡</a:t>
            </a:r>
            <a:r>
              <a:rPr sz="15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5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여유</a:t>
            </a:r>
            <a:endParaRPr sz="15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Oval 32">
            <a:extLst>
              <a:ext uri="{FF2B5EF4-FFF2-40B4-BE49-F238E27FC236}">
                <a16:creationId xmlns:a16="http://schemas.microsoft.com/office/drawing/2014/main" id="{58CF30E6-CA7B-1808-5F97-A2168C8165E6}"/>
              </a:ext>
            </a:extLst>
          </p:cNvPr>
          <p:cNvSpPr/>
          <p:nvPr/>
        </p:nvSpPr>
        <p:spPr>
          <a:xfrm>
            <a:off x="8102236" y="4262344"/>
            <a:ext cx="908676" cy="908676"/>
          </a:xfrm>
          <a:prstGeom prst="ellipse">
            <a:avLst/>
          </a:prstGeom>
          <a:solidFill>
            <a:srgbClr val="E8F2FF"/>
          </a:solidFill>
          <a:ln w="17145">
            <a:solidFill>
              <a:srgbClr val="5B8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호흡 부채</a:t>
            </a:r>
          </a:p>
        </p:txBody>
      </p:sp>
      <p:sp>
        <p:nvSpPr>
          <p:cNvPr id="48" name="Oval 33">
            <a:extLst>
              <a:ext uri="{FF2B5EF4-FFF2-40B4-BE49-F238E27FC236}">
                <a16:creationId xmlns:a16="http://schemas.microsoft.com/office/drawing/2014/main" id="{052321B7-23F5-EA84-46ED-08CD7AFF3FB6}"/>
              </a:ext>
            </a:extLst>
          </p:cNvPr>
          <p:cNvSpPr/>
          <p:nvPr/>
        </p:nvSpPr>
        <p:spPr>
          <a:xfrm>
            <a:off x="9582992" y="2250279"/>
            <a:ext cx="908676" cy="908676"/>
          </a:xfrm>
          <a:prstGeom prst="ellipse">
            <a:avLst/>
          </a:prstGeom>
          <a:solidFill>
            <a:srgbClr val="EAF8F0"/>
          </a:solidFill>
          <a:ln w="17145">
            <a:solidFill>
              <a:srgbClr val="55AF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들이마시기</a:t>
            </a:r>
          </a:p>
        </p:txBody>
      </p:sp>
      <p:sp>
        <p:nvSpPr>
          <p:cNvPr id="50" name="Oval 34">
            <a:extLst>
              <a:ext uri="{FF2B5EF4-FFF2-40B4-BE49-F238E27FC236}">
                <a16:creationId xmlns:a16="http://schemas.microsoft.com/office/drawing/2014/main" id="{C26D0D35-2A51-EA68-9C83-77850C7E311B}"/>
              </a:ext>
            </a:extLst>
          </p:cNvPr>
          <p:cNvSpPr/>
          <p:nvPr/>
        </p:nvSpPr>
        <p:spPr>
          <a:xfrm>
            <a:off x="7872063" y="3162058"/>
            <a:ext cx="908676" cy="90867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숨 참기</a:t>
            </a:r>
          </a:p>
        </p:txBody>
      </p:sp>
      <p:sp>
        <p:nvSpPr>
          <p:cNvPr id="52" name="Oval 35">
            <a:extLst>
              <a:ext uri="{FF2B5EF4-FFF2-40B4-BE49-F238E27FC236}">
                <a16:creationId xmlns:a16="http://schemas.microsoft.com/office/drawing/2014/main" id="{8BCD6FB9-F84E-ECD3-D64F-13C8B5574BB2}"/>
              </a:ext>
            </a:extLst>
          </p:cNvPr>
          <p:cNvSpPr/>
          <p:nvPr/>
        </p:nvSpPr>
        <p:spPr>
          <a:xfrm>
            <a:off x="7106668" y="3962354"/>
            <a:ext cx="908676" cy="90867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112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내쉬기</a:t>
            </a:r>
          </a:p>
        </p:txBody>
      </p:sp>
      <p:sp>
        <p:nvSpPr>
          <p:cNvPr id="54" name="Oval 36">
            <a:extLst>
              <a:ext uri="{FF2B5EF4-FFF2-40B4-BE49-F238E27FC236}">
                <a16:creationId xmlns:a16="http://schemas.microsoft.com/office/drawing/2014/main" id="{88D69B84-B8A0-7BDB-68A8-596DD053A505}"/>
              </a:ext>
            </a:extLst>
          </p:cNvPr>
          <p:cNvSpPr/>
          <p:nvPr/>
        </p:nvSpPr>
        <p:spPr>
          <a:xfrm>
            <a:off x="7298300" y="4977774"/>
            <a:ext cx="908676" cy="908676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소음</a:t>
            </a:r>
          </a:p>
        </p:txBody>
      </p:sp>
      <p:sp>
        <p:nvSpPr>
          <p:cNvPr id="56" name="Oval 37">
            <a:extLst>
              <a:ext uri="{FF2B5EF4-FFF2-40B4-BE49-F238E27FC236}">
                <a16:creationId xmlns:a16="http://schemas.microsoft.com/office/drawing/2014/main" id="{228AB670-C112-38B9-5BD2-EB3332D3E957}"/>
              </a:ext>
            </a:extLst>
          </p:cNvPr>
          <p:cNvSpPr/>
          <p:nvPr/>
        </p:nvSpPr>
        <p:spPr>
          <a:xfrm>
            <a:off x="7537710" y="2566920"/>
            <a:ext cx="622611" cy="622611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적 AI</a:t>
            </a:r>
          </a:p>
        </p:txBody>
      </p:sp>
      <p:sp>
        <p:nvSpPr>
          <p:cNvPr id="58" name="Oval 38">
            <a:extLst>
              <a:ext uri="{FF2B5EF4-FFF2-40B4-BE49-F238E27FC236}">
                <a16:creationId xmlns:a16="http://schemas.microsoft.com/office/drawing/2014/main" id="{345317D5-823D-B396-89FA-477336CD9D03}"/>
              </a:ext>
            </a:extLst>
          </p:cNvPr>
          <p:cNvSpPr/>
          <p:nvPr/>
        </p:nvSpPr>
        <p:spPr>
          <a:xfrm>
            <a:off x="6826728" y="2382816"/>
            <a:ext cx="622611" cy="622611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환경음</a:t>
            </a:r>
          </a:p>
        </p:txBody>
      </p:sp>
      <p:sp>
        <p:nvSpPr>
          <p:cNvPr id="60" name="Oval 39">
            <a:extLst>
              <a:ext uri="{FF2B5EF4-FFF2-40B4-BE49-F238E27FC236}">
                <a16:creationId xmlns:a16="http://schemas.microsoft.com/office/drawing/2014/main" id="{16553DA3-13AB-63C7-FFC8-6DE835537D43}"/>
              </a:ext>
            </a:extLst>
          </p:cNvPr>
          <p:cNvSpPr/>
          <p:nvPr/>
        </p:nvSpPr>
        <p:spPr>
          <a:xfrm>
            <a:off x="6669289" y="5575144"/>
            <a:ext cx="622611" cy="622611"/>
          </a:xfrm>
          <a:prstGeom prst="ellipse">
            <a:avLst/>
          </a:prstGeom>
          <a:solidFill>
            <a:srgbClr val="F1ECFF"/>
          </a:solidFill>
          <a:ln w="17145">
            <a:solidFill>
              <a:srgbClr val="8B75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 lnSpcReduction="10000"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이동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방식</a:t>
            </a:r>
            <a:endParaRPr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2" name="Oval 40">
            <a:extLst>
              <a:ext uri="{FF2B5EF4-FFF2-40B4-BE49-F238E27FC236}">
                <a16:creationId xmlns:a16="http://schemas.microsoft.com/office/drawing/2014/main" id="{864D8A70-C4D9-D8E7-D711-59B32CA50E70}"/>
              </a:ext>
            </a:extLst>
          </p:cNvPr>
          <p:cNvSpPr/>
          <p:nvPr/>
        </p:nvSpPr>
        <p:spPr>
          <a:xfrm>
            <a:off x="7895671" y="1305867"/>
            <a:ext cx="622611" cy="622611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 lnSpcReduction="10000"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공기</a:t>
            </a:r>
            <a:r>
              <a:rPr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sz="10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환경</a:t>
            </a:r>
            <a:endParaRPr 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Oval 41">
            <a:extLst>
              <a:ext uri="{FF2B5EF4-FFF2-40B4-BE49-F238E27FC236}">
                <a16:creationId xmlns:a16="http://schemas.microsoft.com/office/drawing/2014/main" id="{F6F6CA45-9DF6-6DDD-2C5D-356CC2E61B20}"/>
              </a:ext>
            </a:extLst>
          </p:cNvPr>
          <p:cNvSpPr/>
          <p:nvPr/>
        </p:nvSpPr>
        <p:spPr>
          <a:xfrm>
            <a:off x="9166214" y="1275976"/>
            <a:ext cx="622611" cy="622611"/>
          </a:xfrm>
          <a:prstGeom prst="ellipse">
            <a:avLst/>
          </a:prstGeom>
          <a:solidFill>
            <a:srgbClr val="E8F8F8"/>
          </a:solidFill>
          <a:ln w="17145">
            <a:solidFill>
              <a:srgbClr val="4AB0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95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재채기</a:t>
            </a:r>
          </a:p>
        </p:txBody>
      </p:sp>
      <p:sp>
        <p:nvSpPr>
          <p:cNvPr id="66" name="Oval 42">
            <a:extLst>
              <a:ext uri="{FF2B5EF4-FFF2-40B4-BE49-F238E27FC236}">
                <a16:creationId xmlns:a16="http://schemas.microsoft.com/office/drawing/2014/main" id="{B9140EA6-3A81-315A-F2B0-281853B2EE41}"/>
              </a:ext>
            </a:extLst>
          </p:cNvPr>
          <p:cNvSpPr/>
          <p:nvPr/>
        </p:nvSpPr>
        <p:spPr>
          <a:xfrm>
            <a:off x="10275231" y="1670513"/>
            <a:ext cx="622611" cy="622611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장비</a:t>
            </a:r>
          </a:p>
        </p:txBody>
      </p:sp>
      <p:sp>
        <p:nvSpPr>
          <p:cNvPr id="68" name="Oval 43">
            <a:extLst>
              <a:ext uri="{FF2B5EF4-FFF2-40B4-BE49-F238E27FC236}">
                <a16:creationId xmlns:a16="http://schemas.microsoft.com/office/drawing/2014/main" id="{B6AB2D22-4AA8-3C1D-1043-1B3E45FFC926}"/>
              </a:ext>
            </a:extLst>
          </p:cNvPr>
          <p:cNvSpPr/>
          <p:nvPr/>
        </p:nvSpPr>
        <p:spPr>
          <a:xfrm>
            <a:off x="10586536" y="2570695"/>
            <a:ext cx="622611" cy="622611"/>
          </a:xfrm>
          <a:prstGeom prst="ellipse">
            <a:avLst/>
          </a:prstGeom>
          <a:solidFill>
            <a:srgbClr val="FFF2E6"/>
          </a:solidFill>
          <a:ln w="17145">
            <a:solidFill>
              <a:srgbClr val="E19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>
            <a:normAutofit lnSpcReduction="10000"/>
          </a:bodyPr>
          <a:lstStyle/>
          <a:p>
            <a:pPr algn="ctr">
              <a:lnSpc>
                <a:spcPct val="150000"/>
              </a:lnSpc>
              <a:defRPr sz="860" b="1">
                <a:solidFill>
                  <a:srgbClr val="21252B"/>
                </a:solidFill>
                <a:latin typeface="맑은 고딕"/>
              </a:defRPr>
            </a:pPr>
            <a:r>
              <a:rPr sz="1000">
                <a:latin typeface="맑은 고딕" panose="020B0503020000020004" pitchFamily="50" charset="-127"/>
                <a:ea typeface="맑은 고딕" panose="020B0503020000020004" pitchFamily="50" charset="-127"/>
              </a:rPr>
              <a:t>레벨 디자인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D488619B-ACD0-EF95-EF70-389072494CD2}"/>
              </a:ext>
            </a:extLst>
          </p:cNvPr>
          <p:cNvSpPr>
            <a:spLocks noGrp="1"/>
          </p:cNvSpPr>
          <p:nvPr/>
        </p:nvSpPr>
        <p:spPr>
          <a:xfrm>
            <a:off x="1023848" y="5343525"/>
            <a:ext cx="3971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ctr">
              <a:lnSpc>
                <a:spcPct val="160000"/>
              </a:lnSpc>
              <a:defRPr sz="1000" b="1">
                <a:solidFill>
                  <a:srgbClr val="667B8B"/>
                </a:solidFill>
              </a:defRPr>
            </a:pPr>
            <a:r>
              <a:rPr lang="ko-KR" altLang="en-US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호흡 → 소음 → </a:t>
            </a:r>
            <a:r>
              <a:rPr lang="en-US" altLang="ko-KR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AI</a:t>
            </a:r>
            <a:r>
              <a:rPr lang="ko-KR" altLang="en-US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로 끝나는 선형 구조가 아니라</a:t>
            </a:r>
            <a:r>
              <a:rPr lang="en-US" altLang="ko-KR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,</a:t>
            </a:r>
          </a:p>
          <a:p>
            <a:pPr algn="ctr">
              <a:lnSpc>
                <a:spcPct val="160000"/>
              </a:lnSpc>
              <a:defRPr sz="1000" b="1">
                <a:solidFill>
                  <a:srgbClr val="667B8B"/>
                </a:solidFill>
              </a:defRPr>
            </a:pPr>
            <a:r>
              <a:rPr lang="ko-KR" altLang="en-US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이동</a:t>
            </a:r>
            <a:r>
              <a:rPr lang="en-US" altLang="ko-KR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환경</a:t>
            </a:r>
            <a:r>
              <a:rPr lang="en-US" altLang="ko-KR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000" b="1" dirty="0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능력이 다시 호흡 조건을 바꾸는 순환 구조</a:t>
            </a:r>
          </a:p>
        </p:txBody>
      </p:sp>
    </p:spTree>
    <p:extLst>
      <p:ext uri="{BB962C8B-B14F-4D97-AF65-F5344CB8AC3E}">
        <p14:creationId xmlns:p14="http://schemas.microsoft.com/office/powerpoint/2010/main" val="920542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>
            <a:extLst>
              <a:ext uri="{FF2B5EF4-FFF2-40B4-BE49-F238E27FC236}">
                <a16:creationId xmlns:a16="http://schemas.microsoft.com/office/drawing/2014/main" id="{834D2D02-3C88-4C71-8138-AA386EAE051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180D116-F8CB-4EF2-8834-C7F11642809C}"/>
              </a:ext>
            </a:extLst>
          </p:cNvPr>
          <p:cNvSpPr>
            <a:spLocks noGrp="1"/>
          </p:cNvSpPr>
          <p:nvPr/>
        </p:nvSpPr>
        <p:spPr>
          <a:xfrm>
            <a:off x="457198" y="352426"/>
            <a:ext cx="3021107" cy="42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02  플레이 화면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34915DF-76CB-472F-BEBE-0924D970DF4B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690EBE2-B668-4388-AE9D-FF24FB946AAD}"/>
              </a:ext>
            </a:extLst>
          </p:cNvPr>
          <p:cNvSpPr>
            <a:spLocks noGrp="1"/>
          </p:cNvSpPr>
          <p:nvPr/>
        </p:nvSpPr>
        <p:spPr>
          <a:xfrm>
            <a:off x="11049000" y="26670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5817" y="1295400"/>
            <a:ext cx="7714217" cy="4343400"/>
          </a:xfrm>
          <a:prstGeom prst="roundRect">
            <a:avLst>
              <a:gd name="adj" fmla="val 1754"/>
            </a:avLst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BC0923C-76AB-4795-9653-77E307CA0A58}"/>
              </a:ext>
            </a:extLst>
          </p:cNvPr>
          <p:cNvSpPr>
            <a:spLocks noGrp="1"/>
          </p:cNvSpPr>
          <p:nvPr/>
        </p:nvSpPr>
        <p:spPr>
          <a:xfrm>
            <a:off x="8572500" y="1314450"/>
            <a:ext cx="3048000" cy="704850"/>
          </a:xfrm>
          <a:prstGeom prst="roundRect">
            <a:avLst>
              <a:gd name="adj" fmla="val 12162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00A86E-CF94-4F8E-A9B1-5F41FA382E5F}"/>
              </a:ext>
            </a:extLst>
          </p:cNvPr>
          <p:cNvSpPr>
            <a:spLocks noGrp="1"/>
          </p:cNvSpPr>
          <p:nvPr/>
        </p:nvSpPr>
        <p:spPr>
          <a:xfrm>
            <a:off x="8705850" y="13906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① 호흡 게이지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9F75EF-8733-47FD-97DF-C49A2E7C2128}"/>
              </a:ext>
            </a:extLst>
          </p:cNvPr>
          <p:cNvSpPr>
            <a:spLocks noGrp="1"/>
          </p:cNvSpPr>
          <p:nvPr/>
        </p:nvSpPr>
        <p:spPr>
          <a:xfrm>
            <a:off x="8705850" y="162877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확보량 · 소모 속도 · 한계 위험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6153EF8-C67F-4CF0-97D6-427A04045298}"/>
              </a:ext>
            </a:extLst>
          </p:cNvPr>
          <p:cNvSpPr>
            <a:spLocks noGrp="1"/>
          </p:cNvSpPr>
          <p:nvPr/>
        </p:nvSpPr>
        <p:spPr>
          <a:xfrm>
            <a:off x="8572500" y="2181225"/>
            <a:ext cx="3048000" cy="704850"/>
          </a:xfrm>
          <a:prstGeom prst="roundRect">
            <a:avLst>
              <a:gd name="adj" fmla="val 12162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F36E70B-FEF9-4927-8005-BC3B439C5B07}"/>
              </a:ext>
            </a:extLst>
          </p:cNvPr>
          <p:cNvSpPr>
            <a:spLocks noGrp="1"/>
          </p:cNvSpPr>
          <p:nvPr/>
        </p:nvSpPr>
        <p:spPr>
          <a:xfrm>
            <a:off x="8705850" y="225742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② 소음 게이지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D3B8B49-629E-48B8-BFB1-AAC0C268ED6C}"/>
              </a:ext>
            </a:extLst>
          </p:cNvPr>
          <p:cNvSpPr>
            <a:spLocks noGrp="1"/>
          </p:cNvSpPr>
          <p:nvPr/>
        </p:nvSpPr>
        <p:spPr>
          <a:xfrm>
            <a:off x="8705850" y="24955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현재 소음 크기와 AI 반응 가능성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9088AFB7-F828-4CAF-A134-28B1FB9CA17F}"/>
              </a:ext>
            </a:extLst>
          </p:cNvPr>
          <p:cNvSpPr>
            <a:spLocks noGrp="1"/>
          </p:cNvSpPr>
          <p:nvPr/>
        </p:nvSpPr>
        <p:spPr>
          <a:xfrm>
            <a:off x="8572500" y="3048000"/>
            <a:ext cx="3048000" cy="704850"/>
          </a:xfrm>
          <a:prstGeom prst="roundRect">
            <a:avLst>
              <a:gd name="adj" fmla="val 12162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9F79CDF-D0EC-4087-98D6-522373468C0B}"/>
              </a:ext>
            </a:extLst>
          </p:cNvPr>
          <p:cNvSpPr>
            <a:spLocks noGrp="1"/>
          </p:cNvSpPr>
          <p:nvPr/>
        </p:nvSpPr>
        <p:spPr>
          <a:xfrm>
            <a:off x="8705850" y="31242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③ 능력 아이콘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330BAA-ADA7-4B9B-B650-FD8A831CD986}"/>
              </a:ext>
            </a:extLst>
          </p:cNvPr>
          <p:cNvSpPr>
            <a:spLocks noGrp="1"/>
          </p:cNvSpPr>
          <p:nvPr/>
        </p:nvSpPr>
        <p:spPr>
          <a:xfrm>
            <a:off x="8705850" y="336232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사용 가능 · 잠금 · 조건 미충족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148C0A-4C2B-494F-A26D-43CCC9AF11F3}"/>
              </a:ext>
            </a:extLst>
          </p:cNvPr>
          <p:cNvSpPr>
            <a:spLocks noGrp="1"/>
          </p:cNvSpPr>
          <p:nvPr/>
        </p:nvSpPr>
        <p:spPr>
          <a:xfrm>
            <a:off x="8572500" y="3914775"/>
            <a:ext cx="3048000" cy="704850"/>
          </a:xfrm>
          <a:prstGeom prst="roundRect">
            <a:avLst>
              <a:gd name="adj" fmla="val 12162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D120794-7BB7-43DA-81D6-1F29972CA92B}"/>
              </a:ext>
            </a:extLst>
          </p:cNvPr>
          <p:cNvSpPr>
            <a:spLocks noGrp="1"/>
          </p:cNvSpPr>
          <p:nvPr/>
        </p:nvSpPr>
        <p:spPr>
          <a:xfrm>
            <a:off x="8705850" y="3990975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④ 미니맵 / 탐지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B06638D-5D59-4E96-BCBE-1BD2A7509764}"/>
              </a:ext>
            </a:extLst>
          </p:cNvPr>
          <p:cNvSpPr>
            <a:spLocks noGrp="1"/>
          </p:cNvSpPr>
          <p:nvPr/>
        </p:nvSpPr>
        <p:spPr>
          <a:xfrm>
            <a:off x="8705850" y="42291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적 위치 · 위험 구역 · 소음 원점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C8574DC-AE6F-4FA0-BCBD-64BF60C1273F}"/>
              </a:ext>
            </a:extLst>
          </p:cNvPr>
          <p:cNvSpPr>
            <a:spLocks noGrp="1"/>
          </p:cNvSpPr>
          <p:nvPr/>
        </p:nvSpPr>
        <p:spPr>
          <a:xfrm>
            <a:off x="8572500" y="4781550"/>
            <a:ext cx="3048000" cy="704850"/>
          </a:xfrm>
          <a:prstGeom prst="roundRect">
            <a:avLst>
              <a:gd name="adj" fmla="val 12162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0056D2-6550-47B4-BA05-E677FB7CDAB6}"/>
              </a:ext>
            </a:extLst>
          </p:cNvPr>
          <p:cNvSpPr>
            <a:spLocks noGrp="1"/>
          </p:cNvSpPr>
          <p:nvPr/>
        </p:nvSpPr>
        <p:spPr>
          <a:xfrm>
            <a:off x="8705850" y="48577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⑤ 조작 안내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78B29AB-141A-4A98-96E4-ABBB8CA0247D}"/>
              </a:ext>
            </a:extLst>
          </p:cNvPr>
          <p:cNvSpPr>
            <a:spLocks noGrp="1"/>
          </p:cNvSpPr>
          <p:nvPr/>
        </p:nvSpPr>
        <p:spPr>
          <a:xfrm>
            <a:off x="8705850" y="5095875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튜토리얼과 신규 능력 획득 시 표시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414EAF-D6E2-452E-8E82-B662A356AA6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668000" cy="3429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UI 원칙  상태를 보여주는 데서 끝나지 않고, 회복 타이밍·은신 경로·능력 사용을 결정하는 정보로 사용</a:t>
            </a:r>
          </a:p>
        </p:txBody>
      </p:sp>
    </p:spTree>
    <p:extLst>
      <p:ext uri="{BB962C8B-B14F-4D97-AF65-F5344CB8AC3E}">
        <p14:creationId xmlns:p14="http://schemas.microsoft.com/office/powerpoint/2010/main" val="77672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직사각형 43">
            <a:extLst>
              <a:ext uri="{FF2B5EF4-FFF2-40B4-BE49-F238E27FC236}">
                <a16:creationId xmlns:a16="http://schemas.microsoft.com/office/drawing/2014/main" id="{8B0F0521-6F26-4D2E-9589-9953049E01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95E8CBB-39BD-4E94-B3F5-2B0919740C89}"/>
              </a:ext>
            </a:extLst>
          </p:cNvPr>
          <p:cNvSpPr>
            <a:spLocks noGrp="1"/>
          </p:cNvSpPr>
          <p:nvPr/>
        </p:nvSpPr>
        <p:spPr>
          <a:xfrm>
            <a:off x="457200" y="352428"/>
            <a:ext cx="2990850" cy="42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02  플레이 화면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B3101946-6AB8-456F-A6CA-76F2BAFEFBF8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E784BF8-5904-410D-BF91-9E693E31F565}"/>
              </a:ext>
            </a:extLst>
          </p:cNvPr>
          <p:cNvSpPr>
            <a:spLocks noGrp="1"/>
          </p:cNvSpPr>
          <p:nvPr/>
        </p:nvSpPr>
        <p:spPr>
          <a:xfrm>
            <a:off x="457200" y="1314450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8288" y="1524000"/>
            <a:ext cx="1989574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A6D8CF3-7C51-415F-9279-47E374C4EC8D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들이마시기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A48F3D4-48DA-4C73-95DD-CD026E00CFC0}"/>
              </a:ext>
            </a:extLst>
          </p:cNvPr>
          <p:cNvSpPr>
            <a:spLocks noGrp="1"/>
          </p:cNvSpPr>
          <p:nvPr/>
        </p:nvSpPr>
        <p:spPr>
          <a:xfrm>
            <a:off x="628650" y="2686050"/>
            <a:ext cx="2228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푸른색 · 게이지 충전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98053D-27A2-461B-9BA0-33EDE87AB957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작은 소음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8E311B9-8098-4340-B546-6DA4CC78DEA4}"/>
              </a:ext>
            </a:extLst>
          </p:cNvPr>
          <p:cNvSpPr>
            <a:spLocks noGrp="1"/>
          </p:cNvSpPr>
          <p:nvPr/>
        </p:nvSpPr>
        <p:spPr>
          <a:xfrm>
            <a:off x="3276600" y="1314450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5" name="그림 5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78501" y="1524000"/>
            <a:ext cx="1967948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0D2464FD-FC40-4436-84FE-86E9A7DEB4CE}"/>
              </a:ext>
            </a:extLst>
          </p:cNvPr>
          <p:cNvSpPr>
            <a:spLocks noGrp="1"/>
          </p:cNvSpPr>
          <p:nvPr/>
        </p:nvSpPr>
        <p:spPr>
          <a:xfrm>
            <a:off x="3448050" y="2343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6F831DD-6D57-44F4-935F-E3B9F1F87E41}"/>
              </a:ext>
            </a:extLst>
          </p:cNvPr>
          <p:cNvSpPr>
            <a:spLocks noGrp="1"/>
          </p:cNvSpPr>
          <p:nvPr/>
        </p:nvSpPr>
        <p:spPr>
          <a:xfrm>
            <a:off x="3448050" y="2686050"/>
            <a:ext cx="2228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노란색 · 게이지 소모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B54987-A71C-4B93-80E7-58F7D820FBCB}"/>
              </a:ext>
            </a:extLst>
          </p:cNvPr>
          <p:cNvSpPr>
            <a:spLocks noGrp="1"/>
          </p:cNvSpPr>
          <p:nvPr/>
        </p:nvSpPr>
        <p:spPr>
          <a:xfrm>
            <a:off x="3448050" y="30099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호흡 소음 없음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5AE49A7-A035-40DF-81B9-12A2DED68330}"/>
              </a:ext>
            </a:extLst>
          </p:cNvPr>
          <p:cNvSpPr>
            <a:spLocks noGrp="1"/>
          </p:cNvSpPr>
          <p:nvPr/>
        </p:nvSpPr>
        <p:spPr>
          <a:xfrm>
            <a:off x="6096000" y="1314450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97901" y="1524000"/>
            <a:ext cx="1967948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F1856740-D628-4BA6-8228-6F4EEF28418C}"/>
              </a:ext>
            </a:extLst>
          </p:cNvPr>
          <p:cNvSpPr>
            <a:spLocks noGrp="1"/>
          </p:cNvSpPr>
          <p:nvPr/>
        </p:nvSpPr>
        <p:spPr>
          <a:xfrm>
            <a:off x="6267450" y="2343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내쉬기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3E1E71-30EC-4036-B9BE-CE778FD447D2}"/>
              </a:ext>
            </a:extLst>
          </p:cNvPr>
          <p:cNvSpPr>
            <a:spLocks noGrp="1"/>
          </p:cNvSpPr>
          <p:nvPr/>
        </p:nvSpPr>
        <p:spPr>
          <a:xfrm>
            <a:off x="6267450" y="2686050"/>
            <a:ext cx="2228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보라색 · 부분 회복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4D73E07-AB81-43F2-B9AD-132CF28D2A78}"/>
              </a:ext>
            </a:extLst>
          </p:cNvPr>
          <p:cNvSpPr>
            <a:spLocks noGrp="1"/>
          </p:cNvSpPr>
          <p:nvPr/>
        </p:nvSpPr>
        <p:spPr>
          <a:xfrm>
            <a:off x="6267450" y="30099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참은 정도만큼 소음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5608BCF-EB39-41D0-83F1-1DD7CCF02E41}"/>
              </a:ext>
            </a:extLst>
          </p:cNvPr>
          <p:cNvSpPr>
            <a:spLocks noGrp="1"/>
          </p:cNvSpPr>
          <p:nvPr/>
        </p:nvSpPr>
        <p:spPr>
          <a:xfrm>
            <a:off x="8915400" y="1314450"/>
            <a:ext cx="2571750" cy="228600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5" name="그림 64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06488" y="1524000"/>
            <a:ext cx="1989574" cy="685800"/>
          </a:xfrm>
          <a:prstGeom prst="roundRect">
            <a:avLst>
              <a:gd name="adj" fmla="val 11111"/>
            </a:avLst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721BE22D-FCB7-4A8A-9F60-BCAC5919F470}"/>
              </a:ext>
            </a:extLst>
          </p:cNvPr>
          <p:cNvSpPr>
            <a:spLocks noGrp="1"/>
          </p:cNvSpPr>
          <p:nvPr/>
        </p:nvSpPr>
        <p:spPr>
          <a:xfrm>
            <a:off x="9086850" y="2343150"/>
            <a:ext cx="2228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한계 도달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D5913D7-6640-4BEE-AD10-1D6AACA19F01}"/>
              </a:ext>
            </a:extLst>
          </p:cNvPr>
          <p:cNvSpPr>
            <a:spLocks noGrp="1"/>
          </p:cNvSpPr>
          <p:nvPr/>
        </p:nvSpPr>
        <p:spPr>
          <a:xfrm>
            <a:off x="9086850" y="2686050"/>
            <a:ext cx="22288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붉은색 · 강제 호흡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C774A20-583A-47D8-A2A0-07469A9F88E3}"/>
              </a:ext>
            </a:extLst>
          </p:cNvPr>
          <p:cNvSpPr>
            <a:spLocks noGrp="1"/>
          </p:cNvSpPr>
          <p:nvPr/>
        </p:nvSpPr>
        <p:spPr>
          <a:xfrm>
            <a:off x="9086850" y="3009900"/>
            <a:ext cx="22288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매우 큰 소음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F3EB130-40D3-4B93-B27A-55D8A93F9403}"/>
              </a:ext>
            </a:extLst>
          </p:cNvPr>
          <p:cNvSpPr>
            <a:spLocks noGrp="1"/>
          </p:cNvSpPr>
          <p:nvPr/>
        </p:nvSpPr>
        <p:spPr>
          <a:xfrm>
            <a:off x="457200" y="3905250"/>
            <a:ext cx="3333750" cy="323850"/>
          </a:xfrm>
          <a:prstGeom prst="roundRect">
            <a:avLst>
              <a:gd name="adj" fmla="val 17647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A4338067-9ADF-4647-A5AA-76CC7D70FA66}"/>
              </a:ext>
            </a:extLst>
          </p:cNvPr>
          <p:cNvSpPr>
            <a:spLocks noGrp="1"/>
          </p:cNvSpPr>
          <p:nvPr/>
        </p:nvSpPr>
        <p:spPr>
          <a:xfrm>
            <a:off x="533400" y="39052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안전 들숨 한계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72258AA-A9C8-44FC-8170-691164F21385}"/>
              </a:ext>
            </a:extLst>
          </p:cNvPr>
          <p:cNvSpPr>
            <a:spLocks noGrp="1"/>
          </p:cNvSpPr>
          <p:nvPr/>
        </p:nvSpPr>
        <p:spPr>
          <a:xfrm>
            <a:off x="571500" y="4324350"/>
            <a:ext cx="53340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먼지·꽃가루·연기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구역에서는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환경별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최대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들숨량을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게이지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선으로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표시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.</a:t>
            </a:r>
            <a:endParaRPr lang="en-US"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  <a:p>
            <a:pPr algn="l">
              <a:lnSpc>
                <a:spcPct val="150000"/>
              </a:lnSpc>
              <a:defRPr sz="1000" b="0">
                <a:solidFill>
                  <a:srgbClr val="163247"/>
                </a:solidFill>
              </a:defRPr>
            </a:pP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초과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기침·재채기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전조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발생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742BDB6A-2590-43B7-B146-D0718A4DED1D}"/>
              </a:ext>
            </a:extLst>
          </p:cNvPr>
          <p:cNvSpPr>
            <a:spLocks noGrp="1"/>
          </p:cNvSpPr>
          <p:nvPr/>
        </p:nvSpPr>
        <p:spPr>
          <a:xfrm>
            <a:off x="6191250" y="3905250"/>
            <a:ext cx="3333750" cy="323850"/>
          </a:xfrm>
          <a:prstGeom prst="roundRect">
            <a:avLst>
              <a:gd name="adj" fmla="val 17647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8BE2036-97B7-49B4-829C-C195E6BA5E9D}"/>
              </a:ext>
            </a:extLst>
          </p:cNvPr>
          <p:cNvSpPr>
            <a:spLocks noGrp="1"/>
          </p:cNvSpPr>
          <p:nvPr/>
        </p:nvSpPr>
        <p:spPr>
          <a:xfrm>
            <a:off x="6267450" y="3905250"/>
            <a:ext cx="3181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소음 단계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B58F4CA-985D-4B24-B539-D6AE47C96209}"/>
              </a:ext>
            </a:extLst>
          </p:cNvPr>
          <p:cNvSpPr>
            <a:spLocks noGrp="1"/>
          </p:cNvSpPr>
          <p:nvPr/>
        </p:nvSpPr>
        <p:spPr>
          <a:xfrm>
            <a:off x="6191250" y="4419600"/>
            <a:ext cx="1047750" cy="323850"/>
          </a:xfrm>
          <a:prstGeom prst="roundRect">
            <a:avLst>
              <a:gd name="adj" fmla="val 26471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30EFA33F-3F5B-43CF-81EB-99FAAEE319E1}"/>
              </a:ext>
            </a:extLst>
          </p:cNvPr>
          <p:cNvSpPr>
            <a:spLocks noGrp="1"/>
          </p:cNvSpPr>
          <p:nvPr/>
        </p:nvSpPr>
        <p:spPr>
          <a:xfrm>
            <a:off x="6229350" y="4438650"/>
            <a:ext cx="97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없음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587DF44-ED41-4A03-A263-F86B8CE51F5B}"/>
              </a:ext>
            </a:extLst>
          </p:cNvPr>
          <p:cNvSpPr>
            <a:spLocks noGrp="1"/>
          </p:cNvSpPr>
          <p:nvPr/>
        </p:nvSpPr>
        <p:spPr>
          <a:xfrm>
            <a:off x="6191250" y="48101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3E6DB54-3C6E-483E-864E-6266A405AC8F}"/>
              </a:ext>
            </a:extLst>
          </p:cNvPr>
          <p:cNvSpPr>
            <a:spLocks noGrp="1"/>
          </p:cNvSpPr>
          <p:nvPr/>
        </p:nvSpPr>
        <p:spPr>
          <a:xfrm>
            <a:off x="7524750" y="4419600"/>
            <a:ext cx="1047750" cy="323850"/>
          </a:xfrm>
          <a:prstGeom prst="roundRect">
            <a:avLst>
              <a:gd name="adj" fmla="val 26471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0C57B87-5D53-43CB-A53C-C3A1928BA947}"/>
              </a:ext>
            </a:extLst>
          </p:cNvPr>
          <p:cNvSpPr>
            <a:spLocks noGrp="1"/>
          </p:cNvSpPr>
          <p:nvPr/>
        </p:nvSpPr>
        <p:spPr>
          <a:xfrm>
            <a:off x="7562850" y="4438650"/>
            <a:ext cx="97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작음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1224C71-8E1C-4AF8-899B-52435CB4BA12}"/>
              </a:ext>
            </a:extLst>
          </p:cNvPr>
          <p:cNvSpPr>
            <a:spLocks noGrp="1"/>
          </p:cNvSpPr>
          <p:nvPr/>
        </p:nvSpPr>
        <p:spPr>
          <a:xfrm>
            <a:off x="7524750" y="48101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짧은 들숨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5EB6E761-1F7B-47A5-B4EC-C39F9C6E6DF9}"/>
              </a:ext>
            </a:extLst>
          </p:cNvPr>
          <p:cNvSpPr>
            <a:spLocks noGrp="1"/>
          </p:cNvSpPr>
          <p:nvPr/>
        </p:nvSpPr>
        <p:spPr>
          <a:xfrm>
            <a:off x="8858250" y="4419600"/>
            <a:ext cx="1047750" cy="323850"/>
          </a:xfrm>
          <a:prstGeom prst="roundRect">
            <a:avLst>
              <a:gd name="adj" fmla="val 26471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59AF0C5-E6ED-4599-AA44-C578D952D735}"/>
              </a:ext>
            </a:extLst>
          </p:cNvPr>
          <p:cNvSpPr>
            <a:spLocks noGrp="1"/>
          </p:cNvSpPr>
          <p:nvPr/>
        </p:nvSpPr>
        <p:spPr>
          <a:xfrm>
            <a:off x="8896350" y="4438650"/>
            <a:ext cx="97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큼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2AD7676-310E-4A99-8F08-327AD156E454}"/>
              </a:ext>
            </a:extLst>
          </p:cNvPr>
          <p:cNvSpPr>
            <a:spLocks noGrp="1"/>
          </p:cNvSpPr>
          <p:nvPr/>
        </p:nvSpPr>
        <p:spPr>
          <a:xfrm>
            <a:off x="8858250" y="48101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거친 날숨·재채기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CFB28F8-77DC-41F9-8A2F-8AD6829AEB70}"/>
              </a:ext>
            </a:extLst>
          </p:cNvPr>
          <p:cNvSpPr>
            <a:spLocks noGrp="1"/>
          </p:cNvSpPr>
          <p:nvPr/>
        </p:nvSpPr>
        <p:spPr>
          <a:xfrm>
            <a:off x="10191750" y="4419600"/>
            <a:ext cx="1047750" cy="323850"/>
          </a:xfrm>
          <a:prstGeom prst="roundRect">
            <a:avLst>
              <a:gd name="adj" fmla="val 26471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D3D7923-3DCB-44A0-ACBA-BD330B36CEAE}"/>
              </a:ext>
            </a:extLst>
          </p:cNvPr>
          <p:cNvSpPr>
            <a:spLocks noGrp="1"/>
          </p:cNvSpPr>
          <p:nvPr/>
        </p:nvSpPr>
        <p:spPr>
          <a:xfrm>
            <a:off x="10229850" y="4438650"/>
            <a:ext cx="971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매우 큼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B8EC056-9B7C-4738-9E94-554D5CCE963F}"/>
              </a:ext>
            </a:extLst>
          </p:cNvPr>
          <p:cNvSpPr>
            <a:spLocks noGrp="1"/>
          </p:cNvSpPr>
          <p:nvPr/>
        </p:nvSpPr>
        <p:spPr>
          <a:xfrm>
            <a:off x="10191750" y="4810125"/>
            <a:ext cx="1047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한계 호흡·폭발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40849B0-60F4-4B1F-BD19-18DF405E4131}"/>
              </a:ext>
            </a:extLst>
          </p:cNvPr>
          <p:cNvSpPr>
            <a:spLocks noGrp="1"/>
          </p:cNvSpPr>
          <p:nvPr/>
        </p:nvSpPr>
        <p:spPr>
          <a:xfrm>
            <a:off x="457200" y="5638800"/>
            <a:ext cx="11144250" cy="3619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표시 우선순위  강제 호흡 경고 &gt; 재채기 전조 &gt; 능력 잠금 &gt; 일반 상태색</a:t>
            </a:r>
          </a:p>
        </p:txBody>
      </p:sp>
    </p:spTree>
    <p:extLst>
      <p:ext uri="{BB962C8B-B14F-4D97-AF65-F5344CB8AC3E}">
        <p14:creationId xmlns:p14="http://schemas.microsoft.com/office/powerpoint/2010/main" val="391506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>
            <a:extLst>
              <a:ext uri="{FF2B5EF4-FFF2-40B4-BE49-F238E27FC236}">
                <a16:creationId xmlns:a16="http://schemas.microsoft.com/office/drawing/2014/main" id="{1EB6B4D7-705A-4C1E-975A-0F4C9FA74E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505D1D-3C05-4F79-A01C-34091192AFC8}"/>
              </a:ext>
            </a:extLst>
          </p:cNvPr>
          <p:cNvSpPr>
            <a:spLocks noGrp="1"/>
          </p:cNvSpPr>
          <p:nvPr/>
        </p:nvSpPr>
        <p:spPr>
          <a:xfrm>
            <a:off x="457200" y="333379"/>
            <a:ext cx="2190750" cy="4476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03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3B96621-997B-4943-AE08-52D7D9D4EDD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77A4624-7375-44FC-804B-C43C09850D45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55AFA149-E3B2-48AE-A088-94558FF6D267}"/>
              </a:ext>
            </a:extLst>
          </p:cNvPr>
          <p:cNvSpPr>
            <a:spLocks noGrp="1"/>
          </p:cNvSpPr>
          <p:nvPr/>
        </p:nvSpPr>
        <p:spPr>
          <a:xfrm>
            <a:off x="457200" y="1333500"/>
            <a:ext cx="3524250" cy="704850"/>
          </a:xfrm>
          <a:prstGeom prst="roundRect">
            <a:avLst>
              <a:gd name="adj" fmla="val 1621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17552A7-218F-414D-83A4-4F3884470053}"/>
              </a:ext>
            </a:extLst>
          </p:cNvPr>
          <p:cNvSpPr>
            <a:spLocks noGrp="1"/>
          </p:cNvSpPr>
          <p:nvPr/>
        </p:nvSpPr>
        <p:spPr>
          <a:xfrm>
            <a:off x="647700" y="14478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들이마시기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85D228F-2D9E-43B7-9FE4-3534CAC8A6DE}"/>
              </a:ext>
            </a:extLst>
          </p:cNvPr>
          <p:cNvSpPr>
            <a:spLocks noGrp="1"/>
          </p:cNvSpPr>
          <p:nvPr/>
        </p:nvSpPr>
        <p:spPr>
          <a:xfrm>
            <a:off x="647700" y="17335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다음 행동을 위한 준비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7AB7157-F750-4A22-BC16-C0F08298CD83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입력 시간만큼 게이지 충전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7303A9A-10E7-403E-9EE0-11765F666AAA}"/>
              </a:ext>
            </a:extLst>
          </p:cNvPr>
          <p:cNvSpPr>
            <a:spLocks noGrp="1"/>
          </p:cNvSpPr>
          <p:nvPr/>
        </p:nvSpPr>
        <p:spPr>
          <a:xfrm>
            <a:off x="666750" y="28765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깊은 들숨은 준비 시간·소음 증가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3D0554-5239-4821-822E-7721EA8962EF}"/>
              </a:ext>
            </a:extLst>
          </p:cNvPr>
          <p:cNvSpPr>
            <a:spLocks noGrp="1"/>
          </p:cNvSpPr>
          <p:nvPr/>
        </p:nvSpPr>
        <p:spPr>
          <a:xfrm>
            <a:off x="666750" y="34861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주변 공기 환경을 함께 흡입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A93ECF0-6C98-4A23-978E-82FB906A149A}"/>
              </a:ext>
            </a:extLst>
          </p:cNvPr>
          <p:cNvSpPr>
            <a:spLocks noGrp="1"/>
          </p:cNvSpPr>
          <p:nvPr/>
        </p:nvSpPr>
        <p:spPr>
          <a:xfrm>
            <a:off x="42672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08ADB1E-3477-49A2-9C54-82554AAD56CF}"/>
              </a:ext>
            </a:extLst>
          </p:cNvPr>
          <p:cNvSpPr>
            <a:spLocks noGrp="1"/>
          </p:cNvSpPr>
          <p:nvPr/>
        </p:nvSpPr>
        <p:spPr>
          <a:xfrm>
            <a:off x="4267200" y="1333500"/>
            <a:ext cx="3524250" cy="704850"/>
          </a:xfrm>
          <a:prstGeom prst="roundRect">
            <a:avLst>
              <a:gd name="adj" fmla="val 16216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F6E6A6C-23F2-4FE1-AAA1-DDCB9B3D8AD1}"/>
              </a:ext>
            </a:extLst>
          </p:cNvPr>
          <p:cNvSpPr>
            <a:spLocks noGrp="1"/>
          </p:cNvSpPr>
          <p:nvPr/>
        </p:nvSpPr>
        <p:spPr>
          <a:xfrm>
            <a:off x="4457700" y="14478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07EB894-B774-430C-9BA9-A83C4276C0CD}"/>
              </a:ext>
            </a:extLst>
          </p:cNvPr>
          <p:cNvSpPr>
            <a:spLocks noGrp="1"/>
          </p:cNvSpPr>
          <p:nvPr/>
        </p:nvSpPr>
        <p:spPr>
          <a:xfrm>
            <a:off x="4457700" y="17335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기척을 줄이는 유지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FA972E9-90ED-412B-9F69-1633C5BA2C1B}"/>
              </a:ext>
            </a:extLst>
          </p:cNvPr>
          <p:cNvSpPr>
            <a:spLocks noGrp="1"/>
          </p:cNvSpPr>
          <p:nvPr/>
        </p:nvSpPr>
        <p:spPr>
          <a:xfrm>
            <a:off x="4476750" y="22669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확보한 호흡을 지속 소비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6FC248B-BFB5-462E-82C5-4F72DCFDE459}"/>
              </a:ext>
            </a:extLst>
          </p:cNvPr>
          <p:cNvSpPr>
            <a:spLocks noGrp="1"/>
          </p:cNvSpPr>
          <p:nvPr/>
        </p:nvSpPr>
        <p:spPr>
          <a:xfrm>
            <a:off x="4476750" y="28765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호흡 소음만 제거; 발소리·충돌음 유지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3770A9A-34A4-4023-BEE2-61BEFFEBF972}"/>
              </a:ext>
            </a:extLst>
          </p:cNvPr>
          <p:cNvSpPr>
            <a:spLocks noGrp="1"/>
          </p:cNvSpPr>
          <p:nvPr/>
        </p:nvSpPr>
        <p:spPr>
          <a:xfrm>
            <a:off x="4476750" y="34861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0 도달 시 강제 해제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ACDFFC2E-093B-45DB-8505-6DE98F76784B}"/>
              </a:ext>
            </a:extLst>
          </p:cNvPr>
          <p:cNvSpPr>
            <a:spLocks noGrp="1"/>
          </p:cNvSpPr>
          <p:nvPr/>
        </p:nvSpPr>
        <p:spPr>
          <a:xfrm>
            <a:off x="8077200" y="1333500"/>
            <a:ext cx="3524250" cy="314325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FC6FFFB-A28A-4C5D-B9AA-9373CCAD11D7}"/>
              </a:ext>
            </a:extLst>
          </p:cNvPr>
          <p:cNvSpPr>
            <a:spLocks noGrp="1"/>
          </p:cNvSpPr>
          <p:nvPr/>
        </p:nvSpPr>
        <p:spPr>
          <a:xfrm>
            <a:off x="8077200" y="1333500"/>
            <a:ext cx="3524250" cy="704850"/>
          </a:xfrm>
          <a:prstGeom prst="roundRect">
            <a:avLst>
              <a:gd name="adj" fmla="val 1621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E93AA6E-8690-4E96-9E0B-8DB983B16767}"/>
              </a:ext>
            </a:extLst>
          </p:cNvPr>
          <p:cNvSpPr>
            <a:spLocks noGrp="1"/>
          </p:cNvSpPr>
          <p:nvPr/>
        </p:nvSpPr>
        <p:spPr>
          <a:xfrm>
            <a:off x="8267700" y="14478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내쉬기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8DD383D-D75D-475E-9FFD-5677A630BC6B}"/>
              </a:ext>
            </a:extLst>
          </p:cNvPr>
          <p:cNvSpPr>
            <a:spLocks noGrp="1"/>
          </p:cNvSpPr>
          <p:nvPr/>
        </p:nvSpPr>
        <p:spPr>
          <a:xfrm>
            <a:off x="8267700" y="173355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위험을 감수한 회복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5F383060-2188-4510-AE59-944E99572C1C}"/>
              </a:ext>
            </a:extLst>
          </p:cNvPr>
          <p:cNvSpPr>
            <a:spLocks noGrp="1"/>
          </p:cNvSpPr>
          <p:nvPr/>
        </p:nvSpPr>
        <p:spPr>
          <a:xfrm>
            <a:off x="8286750" y="22669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필요한 양만 부분 회복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43D6649-A05A-4E5D-B6D4-DB1F7B799801}"/>
              </a:ext>
            </a:extLst>
          </p:cNvPr>
          <p:cNvSpPr>
            <a:spLocks noGrp="1"/>
          </p:cNvSpPr>
          <p:nvPr/>
        </p:nvSpPr>
        <p:spPr>
          <a:xfrm>
            <a:off x="8286750" y="28765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참은 정도에 따라 소음 증가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D6F4248-974E-4D57-9B95-AECA704F9755}"/>
              </a:ext>
            </a:extLst>
          </p:cNvPr>
          <p:cNvSpPr>
            <a:spLocks noGrp="1"/>
          </p:cNvSpPr>
          <p:nvPr/>
        </p:nvSpPr>
        <p:spPr>
          <a:xfrm>
            <a:off x="8286750" y="3486150"/>
            <a:ext cx="30956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회복 중 다시 숨 참기 가능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77549D4-1BC8-4812-BB81-C8D02357CE76}"/>
              </a:ext>
            </a:extLst>
          </p:cNvPr>
          <p:cNvSpPr>
            <a:spLocks noGrp="1"/>
          </p:cNvSpPr>
          <p:nvPr/>
        </p:nvSpPr>
        <p:spPr>
          <a:xfrm>
            <a:off x="2000250" y="4972050"/>
            <a:ext cx="1619250" cy="457200"/>
          </a:xfrm>
          <a:prstGeom prst="roundRect">
            <a:avLst>
              <a:gd name="adj" fmla="val 1875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05E3D03-90C9-4090-81E7-F0339ED8D36F}"/>
              </a:ext>
            </a:extLst>
          </p:cNvPr>
          <p:cNvSpPr>
            <a:spLocks noGrp="1"/>
          </p:cNvSpPr>
          <p:nvPr/>
        </p:nvSpPr>
        <p:spPr>
          <a:xfrm>
            <a:off x="2038350" y="499110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들이마시기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FB52A6F-4DDC-423D-8206-6A7E511AF7FE}"/>
              </a:ext>
            </a:extLst>
          </p:cNvPr>
          <p:cNvSpPr>
            <a:spLocks noGrp="1"/>
          </p:cNvSpPr>
          <p:nvPr/>
        </p:nvSpPr>
        <p:spPr>
          <a:xfrm>
            <a:off x="3733800" y="50673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2D5ACB3F-533A-415A-9533-113C18E06C93}"/>
              </a:ext>
            </a:extLst>
          </p:cNvPr>
          <p:cNvSpPr>
            <a:spLocks noGrp="1"/>
          </p:cNvSpPr>
          <p:nvPr/>
        </p:nvSpPr>
        <p:spPr>
          <a:xfrm>
            <a:off x="4191000" y="4972050"/>
            <a:ext cx="1619250" cy="457200"/>
          </a:xfrm>
          <a:prstGeom prst="roundRect">
            <a:avLst>
              <a:gd name="adj" fmla="val 18750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75115D-35FF-4F00-A02E-1CD02949059F}"/>
              </a:ext>
            </a:extLst>
          </p:cNvPr>
          <p:cNvSpPr>
            <a:spLocks noGrp="1"/>
          </p:cNvSpPr>
          <p:nvPr/>
        </p:nvSpPr>
        <p:spPr>
          <a:xfrm>
            <a:off x="4229100" y="499110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3B42B57-10C5-4B3A-AC2B-B99D4E00A41B}"/>
              </a:ext>
            </a:extLst>
          </p:cNvPr>
          <p:cNvSpPr>
            <a:spLocks noGrp="1"/>
          </p:cNvSpPr>
          <p:nvPr/>
        </p:nvSpPr>
        <p:spPr>
          <a:xfrm>
            <a:off x="5924550" y="50673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DD5A4DE-0029-42A3-8E22-AFD262CB4078}"/>
              </a:ext>
            </a:extLst>
          </p:cNvPr>
          <p:cNvSpPr>
            <a:spLocks noGrp="1"/>
          </p:cNvSpPr>
          <p:nvPr/>
        </p:nvSpPr>
        <p:spPr>
          <a:xfrm>
            <a:off x="6381750" y="4972050"/>
            <a:ext cx="1619250" cy="457200"/>
          </a:xfrm>
          <a:prstGeom prst="roundRect">
            <a:avLst>
              <a:gd name="adj" fmla="val 18750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D343D2-F91F-4ED3-B56C-80C1E999222B}"/>
              </a:ext>
            </a:extLst>
          </p:cNvPr>
          <p:cNvSpPr>
            <a:spLocks noGrp="1"/>
          </p:cNvSpPr>
          <p:nvPr/>
        </p:nvSpPr>
        <p:spPr>
          <a:xfrm>
            <a:off x="6419850" y="499110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내쉬기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06A5F4-E0AF-4ABE-B747-DA3E02973B8F}"/>
              </a:ext>
            </a:extLst>
          </p:cNvPr>
          <p:cNvSpPr>
            <a:spLocks noGrp="1"/>
          </p:cNvSpPr>
          <p:nvPr/>
        </p:nvSpPr>
        <p:spPr>
          <a:xfrm>
            <a:off x="8115300" y="50673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45FCC83-75F8-4991-BE80-FC6DF727A82C}"/>
              </a:ext>
            </a:extLst>
          </p:cNvPr>
          <p:cNvSpPr>
            <a:spLocks noGrp="1"/>
          </p:cNvSpPr>
          <p:nvPr/>
        </p:nvSpPr>
        <p:spPr>
          <a:xfrm>
            <a:off x="8572500" y="4972050"/>
            <a:ext cx="1619250" cy="457200"/>
          </a:xfrm>
          <a:prstGeom prst="roundRect">
            <a:avLst>
              <a:gd name="adj" fmla="val 18750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6A21C31-CD98-4FB3-B1A2-FB6C9CE91915}"/>
              </a:ext>
            </a:extLst>
          </p:cNvPr>
          <p:cNvSpPr>
            <a:spLocks noGrp="1"/>
          </p:cNvSpPr>
          <p:nvPr/>
        </p:nvSpPr>
        <p:spPr>
          <a:xfrm>
            <a:off x="8610600" y="499110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다시 판단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9156D03-8280-47EF-9E15-18C0F6BFA362}"/>
              </a:ext>
            </a:extLst>
          </p:cNvPr>
          <p:cNvSpPr>
            <a:spLocks noGrp="1"/>
          </p:cNvSpPr>
          <p:nvPr/>
        </p:nvSpPr>
        <p:spPr>
          <a:xfrm>
            <a:off x="457200" y="5829300"/>
            <a:ext cx="11144250" cy="342900"/>
          </a:xfrm>
          <a:prstGeom prst="rect">
            <a:avLst/>
          </a:prstGeom>
          <a:solidFill>
            <a:srgbClr val="F7D8D8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9B3940"/>
                </a:solidFill>
              </a:defRPr>
            </a:pPr>
            <a:r>
              <a:rPr sz="1000" b="1">
                <a:solidFill>
                  <a:srgbClr val="9B3940"/>
                </a:solidFill>
                <a:latin typeface="맑은 고딕"/>
                <a:ea typeface="맑은 고딕"/>
                <a:cs typeface="맑은 고딕"/>
              </a:rPr>
              <a:t>금지 규칙  한 번 들이마시면 끝까지 채워야 하거나, 내쉬면 100%까지 기다려야 하는 구조로 만들지 않음</a:t>
            </a:r>
          </a:p>
        </p:txBody>
      </p:sp>
    </p:spTree>
    <p:extLst>
      <p:ext uri="{BB962C8B-B14F-4D97-AF65-F5344CB8AC3E}">
        <p14:creationId xmlns:p14="http://schemas.microsoft.com/office/powerpoint/2010/main" val="2032316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7AA144AE-7926-441F-8E5D-324C9159C3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1B2E831-6AE4-4DD5-8B9C-6E89C841BCB6}"/>
              </a:ext>
            </a:extLst>
          </p:cNvPr>
          <p:cNvSpPr>
            <a:spLocks noGrp="1"/>
          </p:cNvSpPr>
          <p:nvPr/>
        </p:nvSpPr>
        <p:spPr>
          <a:xfrm>
            <a:off x="457200" y="352428"/>
            <a:ext cx="2190750" cy="42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03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6F3F0E5-98E9-419E-8A77-90D34E42DCA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36621EC-7D92-4FA0-816E-9D7776193B17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5143500" cy="323850"/>
          </a:xfrm>
          <a:prstGeom prst="roundRect">
            <a:avLst>
              <a:gd name="adj" fmla="val 17647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0CDF253-1AC5-4477-90F9-7FDEFC6BDF4A}"/>
              </a:ext>
            </a:extLst>
          </p:cNvPr>
          <p:cNvSpPr>
            <a:spLocks noGrp="1"/>
          </p:cNvSpPr>
          <p:nvPr/>
        </p:nvSpPr>
        <p:spPr>
          <a:xfrm>
            <a:off x="533400" y="1257300"/>
            <a:ext cx="4991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공기 환경 규칙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CA7F51-DE40-45CB-B88C-30C857C66F71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깨끗한 공기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8D1EB4C-65D9-48A3-8F5A-B5CAD6097430}"/>
              </a:ext>
            </a:extLst>
          </p:cNvPr>
          <p:cNvSpPr>
            <a:spLocks noGrp="1"/>
          </p:cNvSpPr>
          <p:nvPr/>
        </p:nvSpPr>
        <p:spPr>
          <a:xfrm>
            <a:off x="2038350" y="169545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정상 들숨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A628710-118F-4D0F-9DAB-04519D2D0AE6}"/>
              </a:ext>
            </a:extLst>
          </p:cNvPr>
          <p:cNvSpPr>
            <a:spLocks noGrp="1"/>
          </p:cNvSpPr>
          <p:nvPr/>
        </p:nvSpPr>
        <p:spPr>
          <a:xfrm>
            <a:off x="3857625" y="16954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위험 없음</a:t>
            </a:r>
          </a:p>
        </p:txBody>
      </p:sp>
      <p:sp>
        <p:nvSpPr>
          <p:cNvPr id="11" name="직선 연결선 10">
            <a:extLst>
              <a:ext uri="{FF2B5EF4-FFF2-40B4-BE49-F238E27FC236}">
                <a16:creationId xmlns:a16="http://schemas.microsoft.com/office/drawing/2014/main" id="{76894527-7A61-4A38-9B36-A5700507582C}"/>
              </a:ext>
            </a:extLst>
          </p:cNvPr>
          <p:cNvSpPr>
            <a:spLocks noGrp="1"/>
          </p:cNvSpPr>
          <p:nvPr/>
        </p:nvSpPr>
        <p:spPr>
          <a:xfrm>
            <a:off x="552450" y="2133600"/>
            <a:ext cx="48577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FB74188-9366-4935-8572-1A3966660D4C}"/>
              </a:ext>
            </a:extLst>
          </p:cNvPr>
          <p:cNvSpPr>
            <a:spLocks noGrp="1"/>
          </p:cNvSpPr>
          <p:nvPr/>
        </p:nvSpPr>
        <p:spPr>
          <a:xfrm>
            <a:off x="552450" y="22479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먼지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8920D8F-D778-4A9C-959C-178D1DB38A5A}"/>
              </a:ext>
            </a:extLst>
          </p:cNvPr>
          <p:cNvSpPr>
            <a:spLocks noGrp="1"/>
          </p:cNvSpPr>
          <p:nvPr/>
        </p:nvSpPr>
        <p:spPr>
          <a:xfrm>
            <a:off x="2038350" y="224790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안전 한계 감소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0707A48-8EB2-48D5-A389-A2DD3F18BFC3}"/>
              </a:ext>
            </a:extLst>
          </p:cNvPr>
          <p:cNvSpPr>
            <a:spLocks noGrp="1"/>
          </p:cNvSpPr>
          <p:nvPr/>
        </p:nvSpPr>
        <p:spPr>
          <a:xfrm>
            <a:off x="3857625" y="224790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기침</a:t>
            </a: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D42B0BC6-40C3-42F9-8E36-A1EFE26D62B4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48577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1A4C1B7-16C4-4758-8C8E-E36ADB3F2411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꽃가루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6309AA5-9D34-4A55-A641-38CBD16C41D6}"/>
              </a:ext>
            </a:extLst>
          </p:cNvPr>
          <p:cNvSpPr>
            <a:spLocks noGrp="1"/>
          </p:cNvSpPr>
          <p:nvPr/>
        </p:nvSpPr>
        <p:spPr>
          <a:xfrm>
            <a:off x="2038350" y="280035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안전 한계 감소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04B778-B985-4FBE-B5BA-D2E694C49C2E}"/>
              </a:ext>
            </a:extLst>
          </p:cNvPr>
          <p:cNvSpPr>
            <a:spLocks noGrp="1"/>
          </p:cNvSpPr>
          <p:nvPr/>
        </p:nvSpPr>
        <p:spPr>
          <a:xfrm>
            <a:off x="3857625" y="28003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재채기</a:t>
            </a:r>
          </a:p>
        </p:txBody>
      </p:sp>
      <p:sp>
        <p:nvSpPr>
          <p:cNvPr id="19" name="직선 연결선 18">
            <a:extLst>
              <a:ext uri="{FF2B5EF4-FFF2-40B4-BE49-F238E27FC236}">
                <a16:creationId xmlns:a16="http://schemas.microsoft.com/office/drawing/2014/main" id="{951A1C83-40F0-44C5-B050-132E6066935F}"/>
              </a:ext>
            </a:extLst>
          </p:cNvPr>
          <p:cNvSpPr>
            <a:spLocks noGrp="1"/>
          </p:cNvSpPr>
          <p:nvPr/>
        </p:nvSpPr>
        <p:spPr>
          <a:xfrm>
            <a:off x="552450" y="3238500"/>
            <a:ext cx="48577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12B6099-8E37-4A2A-8B0F-91C86EE22FF6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연기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24E28AC-9A20-4F81-BA71-180D8841B804}"/>
              </a:ext>
            </a:extLst>
          </p:cNvPr>
          <p:cNvSpPr>
            <a:spLocks noGrp="1"/>
          </p:cNvSpPr>
          <p:nvPr/>
        </p:nvSpPr>
        <p:spPr>
          <a:xfrm>
            <a:off x="2038350" y="335280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들이마시기 제한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6750C80-F8B0-46E0-88A0-BC257C35375D}"/>
              </a:ext>
            </a:extLst>
          </p:cNvPr>
          <p:cNvSpPr>
            <a:spLocks noGrp="1"/>
          </p:cNvSpPr>
          <p:nvPr/>
        </p:nvSpPr>
        <p:spPr>
          <a:xfrm>
            <a:off x="3857625" y="335280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기침 · 시야 저하</a:t>
            </a:r>
          </a:p>
        </p:txBody>
      </p:sp>
      <p:sp>
        <p:nvSpPr>
          <p:cNvPr id="23" name="직선 연결선 22">
            <a:extLst>
              <a:ext uri="{FF2B5EF4-FFF2-40B4-BE49-F238E27FC236}">
                <a16:creationId xmlns:a16="http://schemas.microsoft.com/office/drawing/2014/main" id="{B521A568-3476-484E-BA3F-EB8441A8CE04}"/>
              </a:ext>
            </a:extLst>
          </p:cNvPr>
          <p:cNvSpPr>
            <a:spLocks noGrp="1"/>
          </p:cNvSpPr>
          <p:nvPr/>
        </p:nvSpPr>
        <p:spPr>
          <a:xfrm>
            <a:off x="552450" y="3790950"/>
            <a:ext cx="48577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AC046AF-A266-4F55-AC54-431738C7E221}"/>
              </a:ext>
            </a:extLst>
          </p:cNvPr>
          <p:cNvSpPr>
            <a:spLocks noGrp="1"/>
          </p:cNvSpPr>
          <p:nvPr/>
        </p:nvSpPr>
        <p:spPr>
          <a:xfrm>
            <a:off x="552450" y="3905250"/>
            <a:ext cx="1428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수중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B46F209-ED6E-4C5A-8765-362FDB69174D}"/>
              </a:ext>
            </a:extLst>
          </p:cNvPr>
          <p:cNvSpPr>
            <a:spLocks noGrp="1"/>
          </p:cNvSpPr>
          <p:nvPr/>
        </p:nvSpPr>
        <p:spPr>
          <a:xfrm>
            <a:off x="2038350" y="3905250"/>
            <a:ext cx="17621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들이마시기 불가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8097238-9250-4C9D-BA27-E09CCC625B6B}"/>
              </a:ext>
            </a:extLst>
          </p:cNvPr>
          <p:cNvSpPr>
            <a:spLocks noGrp="1"/>
          </p:cNvSpPr>
          <p:nvPr/>
        </p:nvSpPr>
        <p:spPr>
          <a:xfrm>
            <a:off x="3857625" y="3905250"/>
            <a:ext cx="14763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보유 호흡만 사용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06F7147-850E-4CD3-8BED-74E7D9C031E3}"/>
              </a:ext>
            </a:extLst>
          </p:cNvPr>
          <p:cNvSpPr>
            <a:spLocks noGrp="1"/>
          </p:cNvSpPr>
          <p:nvPr/>
        </p:nvSpPr>
        <p:spPr>
          <a:xfrm>
            <a:off x="552450" y="4343400"/>
            <a:ext cx="48577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6814B21-306B-4E78-B373-32ABF45C7F9D}"/>
              </a:ext>
            </a:extLst>
          </p:cNvPr>
          <p:cNvSpPr>
            <a:spLocks noGrp="1"/>
          </p:cNvSpPr>
          <p:nvPr/>
        </p:nvSpPr>
        <p:spPr>
          <a:xfrm>
            <a:off x="6096000" y="1257300"/>
            <a:ext cx="5524500" cy="323850"/>
          </a:xfrm>
          <a:prstGeom prst="roundRect">
            <a:avLst>
              <a:gd name="adj" fmla="val 17647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5E299BC-3369-4CDA-A480-BA9586FA711E}"/>
              </a:ext>
            </a:extLst>
          </p:cNvPr>
          <p:cNvSpPr>
            <a:spLocks noGrp="1"/>
          </p:cNvSpPr>
          <p:nvPr/>
        </p:nvSpPr>
        <p:spPr>
          <a:xfrm>
            <a:off x="6172200" y="1257300"/>
            <a:ext cx="5372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소음 → 적 AI 규칙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D421ECC-F9EB-4869-8AF9-56589248648F}"/>
              </a:ext>
            </a:extLst>
          </p:cNvPr>
          <p:cNvSpPr>
            <a:spLocks noGrp="1"/>
          </p:cNvSpPr>
          <p:nvPr/>
        </p:nvSpPr>
        <p:spPr>
          <a:xfrm>
            <a:off x="6191250" y="1885950"/>
            <a:ext cx="952500" cy="523875"/>
          </a:xfrm>
          <a:prstGeom prst="roundRect">
            <a:avLst>
              <a:gd name="adj" fmla="val 16364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2978EEE-9981-4780-B442-2506C4510928}"/>
              </a:ext>
            </a:extLst>
          </p:cNvPr>
          <p:cNvSpPr>
            <a:spLocks noGrp="1"/>
          </p:cNvSpPr>
          <p:nvPr/>
        </p:nvSpPr>
        <p:spPr>
          <a:xfrm>
            <a:off x="6229350" y="1905000"/>
            <a:ext cx="876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미탐지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2EF3311-68CE-492C-A606-7AD95AB6286C}"/>
              </a:ext>
            </a:extLst>
          </p:cNvPr>
          <p:cNvSpPr>
            <a:spLocks noGrp="1"/>
          </p:cNvSpPr>
          <p:nvPr/>
        </p:nvSpPr>
        <p:spPr>
          <a:xfrm>
            <a:off x="7143750" y="20002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472"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23D99E4-8756-4F65-9FEE-3F6B8CE05F53}"/>
              </a:ext>
            </a:extLst>
          </p:cNvPr>
          <p:cNvSpPr>
            <a:spLocks noGrp="1"/>
          </p:cNvSpPr>
          <p:nvPr/>
        </p:nvSpPr>
        <p:spPr>
          <a:xfrm>
            <a:off x="6191250" y="25146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평상시 순찰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6A23A15E-5E0B-40D7-8DBF-8400538249F8}"/>
              </a:ext>
            </a:extLst>
          </p:cNvPr>
          <p:cNvSpPr>
            <a:spLocks noGrp="1"/>
          </p:cNvSpPr>
          <p:nvPr/>
        </p:nvSpPr>
        <p:spPr>
          <a:xfrm>
            <a:off x="7258050" y="1885950"/>
            <a:ext cx="952500" cy="523875"/>
          </a:xfrm>
          <a:prstGeom prst="roundRect">
            <a:avLst>
              <a:gd name="adj" fmla="val 16364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DA9DC0D-ADD0-45FC-AAA6-A51425885B34}"/>
              </a:ext>
            </a:extLst>
          </p:cNvPr>
          <p:cNvSpPr>
            <a:spLocks noGrp="1"/>
          </p:cNvSpPr>
          <p:nvPr/>
        </p:nvSpPr>
        <p:spPr>
          <a:xfrm>
            <a:off x="7296150" y="1905000"/>
            <a:ext cx="876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소음 감지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81979CE-9B03-47E9-88AB-ECD98161A7E6}"/>
              </a:ext>
            </a:extLst>
          </p:cNvPr>
          <p:cNvSpPr>
            <a:spLocks noGrp="1"/>
          </p:cNvSpPr>
          <p:nvPr/>
        </p:nvSpPr>
        <p:spPr>
          <a:xfrm>
            <a:off x="8210550" y="20002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472"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3E695B6E-A158-4D75-9CF6-B6E5DA650727}"/>
              </a:ext>
            </a:extLst>
          </p:cNvPr>
          <p:cNvSpPr>
            <a:spLocks noGrp="1"/>
          </p:cNvSpPr>
          <p:nvPr/>
        </p:nvSpPr>
        <p:spPr>
          <a:xfrm>
            <a:off x="7258050" y="25146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발생 위치 기록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C7D3363-E955-42C5-AB0E-BE7154F56605}"/>
              </a:ext>
            </a:extLst>
          </p:cNvPr>
          <p:cNvSpPr>
            <a:spLocks noGrp="1"/>
          </p:cNvSpPr>
          <p:nvPr/>
        </p:nvSpPr>
        <p:spPr>
          <a:xfrm>
            <a:off x="8324850" y="1885950"/>
            <a:ext cx="952500" cy="523875"/>
          </a:xfrm>
          <a:prstGeom prst="roundRect">
            <a:avLst>
              <a:gd name="adj" fmla="val 16364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E9D57FD-243D-43D8-A936-7658554ED8EE}"/>
              </a:ext>
            </a:extLst>
          </p:cNvPr>
          <p:cNvSpPr>
            <a:spLocks noGrp="1"/>
          </p:cNvSpPr>
          <p:nvPr/>
        </p:nvSpPr>
        <p:spPr>
          <a:xfrm>
            <a:off x="8362950" y="1905000"/>
            <a:ext cx="876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의심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F263854-60E2-4BE5-9CBF-32A5778C16C9}"/>
              </a:ext>
            </a:extLst>
          </p:cNvPr>
          <p:cNvSpPr>
            <a:spLocks noGrp="1"/>
          </p:cNvSpPr>
          <p:nvPr/>
        </p:nvSpPr>
        <p:spPr>
          <a:xfrm>
            <a:off x="9277350" y="20002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472"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EBF5ADE4-03FF-4D40-8340-25B237BA2866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청각 범위 확대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0C615FB6-F6BC-4D40-978F-C8F50DB8F057}"/>
              </a:ext>
            </a:extLst>
          </p:cNvPr>
          <p:cNvSpPr>
            <a:spLocks noGrp="1"/>
          </p:cNvSpPr>
          <p:nvPr/>
        </p:nvSpPr>
        <p:spPr>
          <a:xfrm>
            <a:off x="9391650" y="1885950"/>
            <a:ext cx="952500" cy="523875"/>
          </a:xfrm>
          <a:prstGeom prst="roundRect">
            <a:avLst>
              <a:gd name="adj" fmla="val 16364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B4ED49C5-A4DB-4D51-B762-5A9CED6E6743}"/>
              </a:ext>
            </a:extLst>
          </p:cNvPr>
          <p:cNvSpPr>
            <a:spLocks noGrp="1"/>
          </p:cNvSpPr>
          <p:nvPr/>
        </p:nvSpPr>
        <p:spPr>
          <a:xfrm>
            <a:off x="9429750" y="1905000"/>
            <a:ext cx="876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위치 조사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6424539-F35D-4206-AE03-192358E93431}"/>
              </a:ext>
            </a:extLst>
          </p:cNvPr>
          <p:cNvSpPr>
            <a:spLocks noGrp="1"/>
          </p:cNvSpPr>
          <p:nvPr/>
        </p:nvSpPr>
        <p:spPr>
          <a:xfrm>
            <a:off x="10344150" y="2000250"/>
            <a:ext cx="171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 fontScale="95472"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3092AAF-F7A8-418B-8CD2-D63645C05EC1}"/>
              </a:ext>
            </a:extLst>
          </p:cNvPr>
          <p:cNvSpPr>
            <a:spLocks noGrp="1"/>
          </p:cNvSpPr>
          <p:nvPr/>
        </p:nvSpPr>
        <p:spPr>
          <a:xfrm>
            <a:off x="9391650" y="2514600"/>
            <a:ext cx="95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소리 원점 확인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8138D5F-13D5-4BF5-A88A-0219CF8A0357}"/>
              </a:ext>
            </a:extLst>
          </p:cNvPr>
          <p:cNvSpPr>
            <a:spLocks noGrp="1"/>
          </p:cNvSpPr>
          <p:nvPr/>
        </p:nvSpPr>
        <p:spPr>
          <a:xfrm>
            <a:off x="10458450" y="1885950"/>
            <a:ext cx="952500" cy="523875"/>
          </a:xfrm>
          <a:prstGeom prst="roundRect">
            <a:avLst>
              <a:gd name="adj" fmla="val 16364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ADED9E3-489F-49D8-A639-884FA4FFF63A}"/>
              </a:ext>
            </a:extLst>
          </p:cNvPr>
          <p:cNvSpPr>
            <a:spLocks noGrp="1"/>
          </p:cNvSpPr>
          <p:nvPr/>
        </p:nvSpPr>
        <p:spPr>
          <a:xfrm>
            <a:off x="10496550" y="1905000"/>
            <a:ext cx="876300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발견 / 추격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111394BC-6D5D-4906-B5B7-D6D0A05F051D}"/>
              </a:ext>
            </a:extLst>
          </p:cNvPr>
          <p:cNvSpPr>
            <a:spLocks noGrp="1"/>
          </p:cNvSpPr>
          <p:nvPr/>
        </p:nvSpPr>
        <p:spPr>
          <a:xfrm>
            <a:off x="10267950" y="2514600"/>
            <a:ext cx="1333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시야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확보</a:t>
            </a:r>
            <a:r>
              <a:rPr sz="1000" b="0" dirty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 시 </a:t>
            </a:r>
            <a:r>
              <a:rPr sz="1000" b="0" dirty="0" err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공격</a:t>
            </a:r>
            <a:endParaRPr sz="1000" b="0" dirty="0">
              <a:solidFill>
                <a:srgbClr val="667B8B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DAEAB84-D53A-49B9-A6A7-66DEFDC22A64}"/>
              </a:ext>
            </a:extLst>
          </p:cNvPr>
          <p:cNvSpPr>
            <a:spLocks noGrp="1"/>
          </p:cNvSpPr>
          <p:nvPr/>
        </p:nvSpPr>
        <p:spPr>
          <a:xfrm>
            <a:off x="6191250" y="3333749"/>
            <a:ext cx="5238750" cy="1692459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AAFF660-F813-409B-96E5-259BFB214A16}"/>
              </a:ext>
            </a:extLst>
          </p:cNvPr>
          <p:cNvSpPr>
            <a:spLocks noGrp="1"/>
          </p:cNvSpPr>
          <p:nvPr/>
        </p:nvSpPr>
        <p:spPr>
          <a:xfrm>
            <a:off x="6400800" y="35242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어그로 해소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D069971-8131-4F3A-B292-DC9A0BEA6719}"/>
              </a:ext>
            </a:extLst>
          </p:cNvPr>
          <p:cNvSpPr>
            <a:spLocks noGrp="1"/>
          </p:cNvSpPr>
          <p:nvPr/>
        </p:nvSpPr>
        <p:spPr>
          <a:xfrm>
            <a:off x="6400800" y="39052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다시 숨을 참아 추가 기척을 제거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00CE74D-CBD5-4BFD-A05D-556A082EC905}"/>
              </a:ext>
            </a:extLst>
          </p:cNvPr>
          <p:cNvSpPr>
            <a:spLocks noGrp="1"/>
          </p:cNvSpPr>
          <p:nvPr/>
        </p:nvSpPr>
        <p:spPr>
          <a:xfrm>
            <a:off x="6400800" y="42291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시간 경과에 따라 의심도 감소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1A36918-4074-412D-8DDC-0DED019A26FA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•  시야에 잡히면 소음과 무관하게 추격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01208913-85DB-4C86-9BBB-D0515B9A8582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111442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판정 원칙  호흡 소음·발소리·충돌음은 각각 계산하며, 환경 소음과 겹치면 탐지 반경을 감소시킴</a:t>
            </a:r>
          </a:p>
        </p:txBody>
      </p:sp>
    </p:spTree>
    <p:extLst>
      <p:ext uri="{BB962C8B-B14F-4D97-AF65-F5344CB8AC3E}">
        <p14:creationId xmlns:p14="http://schemas.microsoft.com/office/powerpoint/2010/main" val="14373139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>
            <a:extLst>
              <a:ext uri="{FF2B5EF4-FFF2-40B4-BE49-F238E27FC236}">
                <a16:creationId xmlns:a16="http://schemas.microsoft.com/office/drawing/2014/main" id="{DAC71C82-F313-4646-B6C6-DF3976444E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3280D909-7DD0-4090-B9E2-75A0B7939F02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BEF499F-6918-403F-8DEB-A0756956BFAA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352425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9567B74-A913-40B1-BEEC-B373AA5FA04C}"/>
              </a:ext>
            </a:extLst>
          </p:cNvPr>
          <p:cNvSpPr>
            <a:spLocks noGrp="1"/>
          </p:cNvSpPr>
          <p:nvPr/>
        </p:nvSpPr>
        <p:spPr>
          <a:xfrm>
            <a:off x="457200" y="1295400"/>
            <a:ext cx="3524250" cy="723900"/>
          </a:xfrm>
          <a:prstGeom prst="roundRect">
            <a:avLst>
              <a:gd name="adj" fmla="val 15789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41EB99-39FA-4326-9E01-09B6E9D27B62}"/>
              </a:ext>
            </a:extLst>
          </p:cNvPr>
          <p:cNvSpPr>
            <a:spLocks noGrp="1"/>
          </p:cNvSpPr>
          <p:nvPr/>
        </p:nvSpPr>
        <p:spPr>
          <a:xfrm>
            <a:off x="628650" y="1428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들이마시기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0B4480D-5778-4799-919D-3EB3150633FB}"/>
              </a:ext>
            </a:extLst>
          </p:cNvPr>
          <p:cNvSpPr>
            <a:spLocks noGrp="1"/>
          </p:cNvSpPr>
          <p:nvPr/>
        </p:nvSpPr>
        <p:spPr>
          <a:xfrm>
            <a:off x="628650" y="17335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준비 · 회수 · 저장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B1562E-33A0-4F6C-ACFE-21A58D58EF9F}"/>
              </a:ext>
            </a:extLst>
          </p:cNvPr>
          <p:cNvSpPr>
            <a:spLocks noGrp="1"/>
          </p:cNvSpPr>
          <p:nvPr/>
        </p:nvSpPr>
        <p:spPr>
          <a:xfrm>
            <a:off x="666750" y="22860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흡인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F0DB031-ECA5-4408-9DB9-72D6EECA4915}"/>
              </a:ext>
            </a:extLst>
          </p:cNvPr>
          <p:cNvSpPr>
            <a:spLocks noGrp="1"/>
          </p:cNvSpPr>
          <p:nvPr/>
        </p:nvSpPr>
        <p:spPr>
          <a:xfrm>
            <a:off x="1501962" y="22669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주변 오브젝트 회수 / 탐색</a:t>
            </a:r>
          </a:p>
        </p:txBody>
      </p:sp>
      <p:sp>
        <p:nvSpPr>
          <p:cNvPr id="12" name="직선 연결선 11">
            <a:extLst>
              <a:ext uri="{FF2B5EF4-FFF2-40B4-BE49-F238E27FC236}">
                <a16:creationId xmlns:a16="http://schemas.microsoft.com/office/drawing/2014/main" id="{7F6E2C9B-06C5-49F4-BA76-39FADAB2CDD9}"/>
              </a:ext>
            </a:extLst>
          </p:cNvPr>
          <p:cNvSpPr>
            <a:spLocks noGrp="1"/>
          </p:cNvSpPr>
          <p:nvPr/>
        </p:nvSpPr>
        <p:spPr>
          <a:xfrm>
            <a:off x="666750" y="29337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42FBF7A-ACDE-40C6-BAED-94C84BCBE480}"/>
              </a:ext>
            </a:extLst>
          </p:cNvPr>
          <p:cNvSpPr>
            <a:spLocks noGrp="1"/>
          </p:cNvSpPr>
          <p:nvPr/>
        </p:nvSpPr>
        <p:spPr>
          <a:xfrm>
            <a:off x="666750" y="32004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흡음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E9E258-2B22-4AAF-9E9F-D50755E8AFD2}"/>
              </a:ext>
            </a:extLst>
          </p:cNvPr>
          <p:cNvSpPr>
            <a:spLocks noGrp="1"/>
          </p:cNvSpPr>
          <p:nvPr/>
        </p:nvSpPr>
        <p:spPr>
          <a:xfrm>
            <a:off x="1501962" y="31813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큰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소음을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저장해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다른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위치에서</a:t>
            </a:r>
            <a:r>
              <a:rPr sz="1000" b="0" dirty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1000" b="0" dirty="0" err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방출</a:t>
            </a:r>
            <a:endParaRPr sz="1000" b="0" dirty="0">
              <a:solidFill>
                <a:srgbClr val="163247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직선 연결선 14">
            <a:extLst>
              <a:ext uri="{FF2B5EF4-FFF2-40B4-BE49-F238E27FC236}">
                <a16:creationId xmlns:a16="http://schemas.microsoft.com/office/drawing/2014/main" id="{5B3EC098-6CA7-4BC0-837C-4FD6EEFAE433}"/>
              </a:ext>
            </a:extLst>
          </p:cNvPr>
          <p:cNvSpPr>
            <a:spLocks noGrp="1"/>
          </p:cNvSpPr>
          <p:nvPr/>
        </p:nvSpPr>
        <p:spPr>
          <a:xfrm>
            <a:off x="666750" y="38481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FE9326D-3D12-4D58-BDE9-995B727DB45C}"/>
              </a:ext>
            </a:extLst>
          </p:cNvPr>
          <p:cNvSpPr>
            <a:spLocks noGrp="1"/>
          </p:cNvSpPr>
          <p:nvPr/>
        </p:nvSpPr>
        <p:spPr>
          <a:xfrm>
            <a:off x="666750" y="41148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흡기 도약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EE43B56-2C72-442B-B64A-0551B5BF18E8}"/>
              </a:ext>
            </a:extLst>
          </p:cNvPr>
          <p:cNvSpPr>
            <a:spLocks noGrp="1"/>
          </p:cNvSpPr>
          <p:nvPr/>
        </p:nvSpPr>
        <p:spPr>
          <a:xfrm>
            <a:off x="1501962" y="40957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점프 시작 시 수평 이동 거리 증가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53BDE93-789C-4820-ADF2-8F298BB86C4A}"/>
              </a:ext>
            </a:extLst>
          </p:cNvPr>
          <p:cNvSpPr>
            <a:spLocks noGrp="1"/>
          </p:cNvSpPr>
          <p:nvPr/>
        </p:nvSpPr>
        <p:spPr>
          <a:xfrm>
            <a:off x="4267200" y="1295400"/>
            <a:ext cx="352425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DF3EDD1-6D21-46C1-9019-351836C2CE04}"/>
              </a:ext>
            </a:extLst>
          </p:cNvPr>
          <p:cNvSpPr>
            <a:spLocks noGrp="1"/>
          </p:cNvSpPr>
          <p:nvPr/>
        </p:nvSpPr>
        <p:spPr>
          <a:xfrm>
            <a:off x="4267200" y="1295400"/>
            <a:ext cx="3524250" cy="723900"/>
          </a:xfrm>
          <a:prstGeom prst="roundRect">
            <a:avLst>
              <a:gd name="adj" fmla="val 15789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EF84A17-68D5-4186-A660-C3320418226D}"/>
              </a:ext>
            </a:extLst>
          </p:cNvPr>
          <p:cNvSpPr>
            <a:spLocks noGrp="1"/>
          </p:cNvSpPr>
          <p:nvPr/>
        </p:nvSpPr>
        <p:spPr>
          <a:xfrm>
            <a:off x="4438650" y="1428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D8C1B8F-DAA0-4A49-858F-18E4DD36A29E}"/>
              </a:ext>
            </a:extLst>
          </p:cNvPr>
          <p:cNvSpPr>
            <a:spLocks noGrp="1"/>
          </p:cNvSpPr>
          <p:nvPr/>
        </p:nvSpPr>
        <p:spPr>
          <a:xfrm>
            <a:off x="4438650" y="17335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은폐 · 유지 · 정지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6E24712-43CE-4438-BC3E-7410CC9060AB}"/>
              </a:ext>
            </a:extLst>
          </p:cNvPr>
          <p:cNvSpPr>
            <a:spLocks noGrp="1"/>
          </p:cNvSpPr>
          <p:nvPr/>
        </p:nvSpPr>
        <p:spPr>
          <a:xfrm>
            <a:off x="4476750" y="22860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기척 소거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4F58D8-22DC-4D60-9841-8272DD17EB94}"/>
              </a:ext>
            </a:extLst>
          </p:cNvPr>
          <p:cNvSpPr>
            <a:spLocks noGrp="1"/>
          </p:cNvSpPr>
          <p:nvPr/>
        </p:nvSpPr>
        <p:spPr>
          <a:xfrm>
            <a:off x="5311962" y="22669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시각 탐지 회피; 소리·충돌은 유지</a:t>
            </a:r>
          </a:p>
        </p:txBody>
      </p:sp>
      <p:sp>
        <p:nvSpPr>
          <p:cNvPr id="24" name="직선 연결선 23">
            <a:extLst>
              <a:ext uri="{FF2B5EF4-FFF2-40B4-BE49-F238E27FC236}">
                <a16:creationId xmlns:a16="http://schemas.microsoft.com/office/drawing/2014/main" id="{596B66CB-BCD3-43AC-98EA-F042AC2EB122}"/>
              </a:ext>
            </a:extLst>
          </p:cNvPr>
          <p:cNvSpPr>
            <a:spLocks noGrp="1"/>
          </p:cNvSpPr>
          <p:nvPr/>
        </p:nvSpPr>
        <p:spPr>
          <a:xfrm>
            <a:off x="4476750" y="29337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2A0A40-214F-4C70-9FAF-4D06B1659B8B}"/>
              </a:ext>
            </a:extLst>
          </p:cNvPr>
          <p:cNvSpPr>
            <a:spLocks noGrp="1"/>
          </p:cNvSpPr>
          <p:nvPr/>
        </p:nvSpPr>
        <p:spPr>
          <a:xfrm>
            <a:off x="4476750" y="32004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공중 부유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86BF760-FC24-4DEA-88BE-F9F064BD6889}"/>
              </a:ext>
            </a:extLst>
          </p:cNvPr>
          <p:cNvSpPr>
            <a:spLocks noGrp="1"/>
          </p:cNvSpPr>
          <p:nvPr/>
        </p:nvSpPr>
        <p:spPr>
          <a:xfrm>
            <a:off x="5311962" y="31813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공중에서 시작할 때만 높이 유지</a:t>
            </a:r>
          </a:p>
        </p:txBody>
      </p:sp>
      <p:sp>
        <p:nvSpPr>
          <p:cNvPr id="27" name="직선 연결선 26">
            <a:extLst>
              <a:ext uri="{FF2B5EF4-FFF2-40B4-BE49-F238E27FC236}">
                <a16:creationId xmlns:a16="http://schemas.microsoft.com/office/drawing/2014/main" id="{75C466A5-671D-4AFC-9F28-9D9BFD1561F7}"/>
              </a:ext>
            </a:extLst>
          </p:cNvPr>
          <p:cNvSpPr>
            <a:spLocks noGrp="1"/>
          </p:cNvSpPr>
          <p:nvPr/>
        </p:nvSpPr>
        <p:spPr>
          <a:xfrm>
            <a:off x="4476750" y="38481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4FE3E1A-3D92-4EB7-967C-8307F4CD8C3C}"/>
              </a:ext>
            </a:extLst>
          </p:cNvPr>
          <p:cNvSpPr>
            <a:spLocks noGrp="1"/>
          </p:cNvSpPr>
          <p:nvPr/>
        </p:nvSpPr>
        <p:spPr>
          <a:xfrm>
            <a:off x="4476750" y="41148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시간 정지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74A4695-60DF-40E5-9C81-07CC4B38B433}"/>
              </a:ext>
            </a:extLst>
          </p:cNvPr>
          <p:cNvSpPr>
            <a:spLocks noGrp="1"/>
          </p:cNvSpPr>
          <p:nvPr/>
        </p:nvSpPr>
        <p:spPr>
          <a:xfrm>
            <a:off x="5311962" y="40957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후반 능력; 매우 큰 호흡 소모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0FFD7DD1-321C-49D6-A5E9-DEF72670A5C1}"/>
              </a:ext>
            </a:extLst>
          </p:cNvPr>
          <p:cNvSpPr>
            <a:spLocks noGrp="1"/>
          </p:cNvSpPr>
          <p:nvPr/>
        </p:nvSpPr>
        <p:spPr>
          <a:xfrm>
            <a:off x="8077200" y="1295400"/>
            <a:ext cx="3524250" cy="411480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A528C1D3-F9C2-4338-BB2B-793D926D13DB}"/>
              </a:ext>
            </a:extLst>
          </p:cNvPr>
          <p:cNvSpPr>
            <a:spLocks noGrp="1"/>
          </p:cNvSpPr>
          <p:nvPr/>
        </p:nvSpPr>
        <p:spPr>
          <a:xfrm>
            <a:off x="8077200" y="1295400"/>
            <a:ext cx="3524250" cy="723900"/>
          </a:xfrm>
          <a:prstGeom prst="roundRect">
            <a:avLst>
              <a:gd name="adj" fmla="val 15789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C5241EA-B720-488D-A1F6-6F4A1390A28B}"/>
              </a:ext>
            </a:extLst>
          </p:cNvPr>
          <p:cNvSpPr>
            <a:spLocks noGrp="1"/>
          </p:cNvSpPr>
          <p:nvPr/>
        </p:nvSpPr>
        <p:spPr>
          <a:xfrm>
            <a:off x="8248650" y="1428750"/>
            <a:ext cx="152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내쉬기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820498-49D7-4471-8ED9-F5D05E2BE850}"/>
              </a:ext>
            </a:extLst>
          </p:cNvPr>
          <p:cNvSpPr>
            <a:spLocks noGrp="1"/>
          </p:cNvSpPr>
          <p:nvPr/>
        </p:nvSpPr>
        <p:spPr>
          <a:xfrm>
            <a:off x="8248650" y="1733550"/>
            <a:ext cx="3048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방출 · 공명 · 기만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BAF263A-7297-4453-9057-50B68CFF31AE}"/>
              </a:ext>
            </a:extLst>
          </p:cNvPr>
          <p:cNvSpPr>
            <a:spLocks noGrp="1"/>
          </p:cNvSpPr>
          <p:nvPr/>
        </p:nvSpPr>
        <p:spPr>
          <a:xfrm>
            <a:off x="8286750" y="22860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공명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9EB5DCD-77F0-48D7-B563-4C06C6827074}"/>
              </a:ext>
            </a:extLst>
          </p:cNvPr>
          <p:cNvSpPr>
            <a:spLocks noGrp="1"/>
          </p:cNvSpPr>
          <p:nvPr/>
        </p:nvSpPr>
        <p:spPr>
          <a:xfrm>
            <a:off x="9121962" y="22669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공기 파동으로 환경·적 위치 탐색</a:t>
            </a:r>
          </a:p>
        </p:txBody>
      </p:sp>
      <p:sp>
        <p:nvSpPr>
          <p:cNvPr id="36" name="직선 연결선 35">
            <a:extLst>
              <a:ext uri="{FF2B5EF4-FFF2-40B4-BE49-F238E27FC236}">
                <a16:creationId xmlns:a16="http://schemas.microsoft.com/office/drawing/2014/main" id="{6EB378FD-834F-459A-B4DD-E8AD90801F59}"/>
              </a:ext>
            </a:extLst>
          </p:cNvPr>
          <p:cNvSpPr>
            <a:spLocks noGrp="1"/>
          </p:cNvSpPr>
          <p:nvPr/>
        </p:nvSpPr>
        <p:spPr>
          <a:xfrm>
            <a:off x="8286750" y="29337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905C1A8-FCD8-47BA-AEAC-B3EF6014D557}"/>
              </a:ext>
            </a:extLst>
          </p:cNvPr>
          <p:cNvSpPr>
            <a:spLocks noGrp="1"/>
          </p:cNvSpPr>
          <p:nvPr/>
        </p:nvSpPr>
        <p:spPr>
          <a:xfrm>
            <a:off x="8286750" y="32004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잔기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B9373FB-AC4E-4885-991A-2E0B1FBFB39E}"/>
              </a:ext>
            </a:extLst>
          </p:cNvPr>
          <p:cNvSpPr>
            <a:spLocks noGrp="1"/>
          </p:cNvSpPr>
          <p:nvPr/>
        </p:nvSpPr>
        <p:spPr>
          <a:xfrm>
            <a:off x="9121962" y="31813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가짜 기척을 남겨 적 판단 왜곡</a:t>
            </a:r>
          </a:p>
        </p:txBody>
      </p:sp>
      <p:sp>
        <p:nvSpPr>
          <p:cNvPr id="39" name="직선 연결선 38">
            <a:extLst>
              <a:ext uri="{FF2B5EF4-FFF2-40B4-BE49-F238E27FC236}">
                <a16:creationId xmlns:a16="http://schemas.microsoft.com/office/drawing/2014/main" id="{044277A1-4399-4F31-AF11-7D7194406885}"/>
              </a:ext>
            </a:extLst>
          </p:cNvPr>
          <p:cNvSpPr>
            <a:spLocks noGrp="1"/>
          </p:cNvSpPr>
          <p:nvPr/>
        </p:nvSpPr>
        <p:spPr>
          <a:xfrm>
            <a:off x="8286750" y="3848100"/>
            <a:ext cx="310515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9F0ED0EA-01E4-4629-B357-287A9AC2E967}"/>
              </a:ext>
            </a:extLst>
          </p:cNvPr>
          <p:cNvSpPr>
            <a:spLocks noGrp="1"/>
          </p:cNvSpPr>
          <p:nvPr/>
        </p:nvSpPr>
        <p:spPr>
          <a:xfrm>
            <a:off x="8286750" y="41148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소음 방출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E0A39DD-5F53-44B6-94BE-866D62DCC2EF}"/>
              </a:ext>
            </a:extLst>
          </p:cNvPr>
          <p:cNvSpPr>
            <a:spLocks noGrp="1"/>
          </p:cNvSpPr>
          <p:nvPr/>
        </p:nvSpPr>
        <p:spPr>
          <a:xfrm>
            <a:off x="9121962" y="4095750"/>
            <a:ext cx="2252009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저장 소음을 내보내 호흡 기능 복구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C03C4275-DD6D-43A6-8E0E-1E38613878AB}"/>
              </a:ext>
            </a:extLst>
          </p:cNvPr>
          <p:cNvSpPr>
            <a:spLocks noGrp="1"/>
          </p:cNvSpPr>
          <p:nvPr/>
        </p:nvSpPr>
        <p:spPr>
          <a:xfrm>
            <a:off x="457200" y="5715000"/>
            <a:ext cx="11144250" cy="4191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상태 판정  흡기 도약은 “점프 시작 시 들이마시는 중”, 공중 부유는 “숨 참기 시작 시 공중 상태”일 때만 발동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7F8A7B8-A7A6-EC59-F399-724D520CB40A}"/>
              </a:ext>
            </a:extLst>
          </p:cNvPr>
          <p:cNvSpPr>
            <a:spLocks noGrp="1"/>
          </p:cNvSpPr>
          <p:nvPr/>
        </p:nvSpPr>
        <p:spPr>
          <a:xfrm>
            <a:off x="457200" y="352428"/>
            <a:ext cx="2190750" cy="4286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03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규칙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655761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E9519E18-1B56-47F3-AF28-750F0C4F14F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A84A7C41-17AB-44DC-8B9B-50559EAFA0B0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BA04822-4549-4DF4-B4B2-CBC018E3D6F6}"/>
              </a:ext>
            </a:extLst>
          </p:cNvPr>
          <p:cNvSpPr>
            <a:spLocks noGrp="1"/>
          </p:cNvSpPr>
          <p:nvPr/>
        </p:nvSpPr>
        <p:spPr>
          <a:xfrm>
            <a:off x="1981200" y="16287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50FA453-7A36-4659-96C4-3CC2181B246C}"/>
              </a:ext>
            </a:extLst>
          </p:cNvPr>
          <p:cNvSpPr>
            <a:spLocks noGrp="1"/>
          </p:cNvSpPr>
          <p:nvPr/>
        </p:nvSpPr>
        <p:spPr>
          <a:xfrm>
            <a:off x="45720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6DE6E6B-6AA7-4AAD-9DB2-72377328D231}"/>
              </a:ext>
            </a:extLst>
          </p:cNvPr>
          <p:cNvSpPr>
            <a:spLocks noGrp="1"/>
          </p:cNvSpPr>
          <p:nvPr/>
        </p:nvSpPr>
        <p:spPr>
          <a:xfrm>
            <a:off x="49530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입력 감지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2802C3C-1257-4743-A085-BCD01A8A5E32}"/>
              </a:ext>
            </a:extLst>
          </p:cNvPr>
          <p:cNvSpPr>
            <a:spLocks noGrp="1"/>
          </p:cNvSpPr>
          <p:nvPr/>
        </p:nvSpPr>
        <p:spPr>
          <a:xfrm>
            <a:off x="3867150" y="16287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0A5642D-9A60-4C9C-9E2D-258CE142AF9F}"/>
              </a:ext>
            </a:extLst>
          </p:cNvPr>
          <p:cNvSpPr>
            <a:spLocks noGrp="1"/>
          </p:cNvSpPr>
          <p:nvPr/>
        </p:nvSpPr>
        <p:spPr>
          <a:xfrm>
            <a:off x="234315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E379FD4-5D24-4FAE-9C3A-9F286C5DCD9A}"/>
              </a:ext>
            </a:extLst>
          </p:cNvPr>
          <p:cNvSpPr>
            <a:spLocks noGrp="1"/>
          </p:cNvSpPr>
          <p:nvPr/>
        </p:nvSpPr>
        <p:spPr>
          <a:xfrm>
            <a:off x="238125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 상태 변경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4877342-2929-4D55-84C3-668EAB45B36C}"/>
              </a:ext>
            </a:extLst>
          </p:cNvPr>
          <p:cNvSpPr>
            <a:spLocks noGrp="1"/>
          </p:cNvSpPr>
          <p:nvPr/>
        </p:nvSpPr>
        <p:spPr>
          <a:xfrm>
            <a:off x="5753100" y="16287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C6AA357-C4E3-4A34-A04B-BE8A4A03BCBB}"/>
              </a:ext>
            </a:extLst>
          </p:cNvPr>
          <p:cNvSpPr>
            <a:spLocks noGrp="1"/>
          </p:cNvSpPr>
          <p:nvPr/>
        </p:nvSpPr>
        <p:spPr>
          <a:xfrm>
            <a:off x="422910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65D0CA-0DA9-4A70-A8D7-3931741DF343}"/>
              </a:ext>
            </a:extLst>
          </p:cNvPr>
          <p:cNvSpPr>
            <a:spLocks noGrp="1"/>
          </p:cNvSpPr>
          <p:nvPr/>
        </p:nvSpPr>
        <p:spPr>
          <a:xfrm>
            <a:off x="426720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게이지 계산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6DDF7FB-D756-464C-8246-E70D9DC845FA}"/>
              </a:ext>
            </a:extLst>
          </p:cNvPr>
          <p:cNvSpPr>
            <a:spLocks noGrp="1"/>
          </p:cNvSpPr>
          <p:nvPr/>
        </p:nvSpPr>
        <p:spPr>
          <a:xfrm>
            <a:off x="7639050" y="16287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D6D4957-81D1-4FD8-AE84-45239C7FFEB0}"/>
              </a:ext>
            </a:extLst>
          </p:cNvPr>
          <p:cNvSpPr>
            <a:spLocks noGrp="1"/>
          </p:cNvSpPr>
          <p:nvPr/>
        </p:nvSpPr>
        <p:spPr>
          <a:xfrm>
            <a:off x="611505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2B39C31-913F-48E4-AED6-7D86374ACB7C}"/>
              </a:ext>
            </a:extLst>
          </p:cNvPr>
          <p:cNvSpPr>
            <a:spLocks noGrp="1"/>
          </p:cNvSpPr>
          <p:nvPr/>
        </p:nvSpPr>
        <p:spPr>
          <a:xfrm>
            <a:off x="615315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소음 계산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41365D-D2FF-4465-BCE9-433F4CE47358}"/>
              </a:ext>
            </a:extLst>
          </p:cNvPr>
          <p:cNvSpPr>
            <a:spLocks noGrp="1"/>
          </p:cNvSpPr>
          <p:nvPr/>
        </p:nvSpPr>
        <p:spPr>
          <a:xfrm>
            <a:off x="9525000" y="1628775"/>
            <a:ext cx="304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520A29C3-3A92-4BBB-9207-20F07E7A2784}"/>
              </a:ext>
            </a:extLst>
          </p:cNvPr>
          <p:cNvSpPr>
            <a:spLocks noGrp="1"/>
          </p:cNvSpPr>
          <p:nvPr/>
        </p:nvSpPr>
        <p:spPr>
          <a:xfrm>
            <a:off x="800100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9C4647B-4DEE-4992-B1D9-F89B47920ACD}"/>
              </a:ext>
            </a:extLst>
          </p:cNvPr>
          <p:cNvSpPr>
            <a:spLocks noGrp="1"/>
          </p:cNvSpPr>
          <p:nvPr/>
        </p:nvSpPr>
        <p:spPr>
          <a:xfrm>
            <a:off x="803910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적 AI 반응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B2EF65C-CCB9-4770-8197-909C5455869B}"/>
              </a:ext>
            </a:extLst>
          </p:cNvPr>
          <p:cNvSpPr>
            <a:spLocks noGrp="1"/>
          </p:cNvSpPr>
          <p:nvPr/>
        </p:nvSpPr>
        <p:spPr>
          <a:xfrm>
            <a:off x="9886950" y="1428750"/>
            <a:ext cx="1524000" cy="628650"/>
          </a:xfrm>
          <a:prstGeom prst="roundRect">
            <a:avLst>
              <a:gd name="adj" fmla="val 13636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6C4B09D-A8CC-42D3-88D0-8FC946116DE1}"/>
              </a:ext>
            </a:extLst>
          </p:cNvPr>
          <p:cNvSpPr>
            <a:spLocks noGrp="1"/>
          </p:cNvSpPr>
          <p:nvPr/>
        </p:nvSpPr>
        <p:spPr>
          <a:xfrm>
            <a:off x="9925050" y="1447800"/>
            <a:ext cx="1447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HUD / 리소스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557E19FE-A04E-40CE-93E8-976750B67E21}"/>
              </a:ext>
            </a:extLst>
          </p:cNvPr>
          <p:cNvSpPr>
            <a:spLocks noGrp="1"/>
          </p:cNvSpPr>
          <p:nvPr/>
        </p:nvSpPr>
        <p:spPr>
          <a:xfrm>
            <a:off x="457200" y="2524125"/>
            <a:ext cx="11144250" cy="257175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72D28FC-C90D-4877-B40B-C84B53C376FD}"/>
              </a:ext>
            </a:extLst>
          </p:cNvPr>
          <p:cNvSpPr>
            <a:spLocks noGrp="1"/>
          </p:cNvSpPr>
          <p:nvPr/>
        </p:nvSpPr>
        <p:spPr>
          <a:xfrm>
            <a:off x="647700" y="266700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500" b="1">
                <a:solidFill>
                  <a:srgbClr val="073B5C"/>
                </a:solidFill>
              </a:defRPr>
            </a:pPr>
            <a:r>
              <a:rPr sz="15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조건 분기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97D7A1F-9EE1-457D-81B5-557F70164522}"/>
              </a:ext>
            </a:extLst>
          </p:cNvPr>
          <p:cNvSpPr>
            <a:spLocks noGrp="1"/>
          </p:cNvSpPr>
          <p:nvPr/>
        </p:nvSpPr>
        <p:spPr>
          <a:xfrm>
            <a:off x="742950" y="3238500"/>
            <a:ext cx="1381125" cy="514350"/>
          </a:xfrm>
          <a:prstGeom prst="roundRect">
            <a:avLst>
              <a:gd name="adj" fmla="val 16667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023F0F5-AEA8-40D1-A0CC-53C9EFB37A49}"/>
              </a:ext>
            </a:extLst>
          </p:cNvPr>
          <p:cNvSpPr>
            <a:spLocks noGrp="1"/>
          </p:cNvSpPr>
          <p:nvPr/>
        </p:nvSpPr>
        <p:spPr>
          <a:xfrm>
            <a:off x="781050" y="3257550"/>
            <a:ext cx="1304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게이지 0?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D77244-EE92-4EA1-A940-31E7D6D7B944}"/>
              </a:ext>
            </a:extLst>
          </p:cNvPr>
          <p:cNvSpPr>
            <a:spLocks noGrp="1"/>
          </p:cNvSpPr>
          <p:nvPr/>
        </p:nvSpPr>
        <p:spPr>
          <a:xfrm>
            <a:off x="2190750" y="3352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84E14165-19D0-4D4C-BB6E-76FACB2F8234}"/>
              </a:ext>
            </a:extLst>
          </p:cNvPr>
          <p:cNvSpPr>
            <a:spLocks noGrp="1"/>
          </p:cNvSpPr>
          <p:nvPr/>
        </p:nvSpPr>
        <p:spPr>
          <a:xfrm>
            <a:off x="2571750" y="3238500"/>
            <a:ext cx="1476375" cy="514350"/>
          </a:xfrm>
          <a:prstGeom prst="roundRect">
            <a:avLst>
              <a:gd name="adj" fmla="val 16667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5204F96-3B88-44BB-932A-BDDEF7D8F3EE}"/>
              </a:ext>
            </a:extLst>
          </p:cNvPr>
          <p:cNvSpPr>
            <a:spLocks noGrp="1"/>
          </p:cNvSpPr>
          <p:nvPr/>
        </p:nvSpPr>
        <p:spPr>
          <a:xfrm>
            <a:off x="2609850" y="3257550"/>
            <a:ext cx="1400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강제 호흡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77CF8B7-6977-4F0B-B555-C7DA16E59BAE}"/>
              </a:ext>
            </a:extLst>
          </p:cNvPr>
          <p:cNvSpPr>
            <a:spLocks noGrp="1"/>
          </p:cNvSpPr>
          <p:nvPr/>
        </p:nvSpPr>
        <p:spPr>
          <a:xfrm>
            <a:off x="4114800" y="3352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0EA684A-B0E4-4C39-BFF1-6AEE6E20C00B}"/>
              </a:ext>
            </a:extLst>
          </p:cNvPr>
          <p:cNvSpPr>
            <a:spLocks noGrp="1"/>
          </p:cNvSpPr>
          <p:nvPr/>
        </p:nvSpPr>
        <p:spPr>
          <a:xfrm>
            <a:off x="4476750" y="3238500"/>
            <a:ext cx="1571625" cy="514350"/>
          </a:xfrm>
          <a:prstGeom prst="roundRect">
            <a:avLst>
              <a:gd name="adj" fmla="val 16667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65F71EA-E577-44E3-AAB2-E9711BC0FA75}"/>
              </a:ext>
            </a:extLst>
          </p:cNvPr>
          <p:cNvSpPr>
            <a:spLocks noGrp="1"/>
          </p:cNvSpPr>
          <p:nvPr/>
        </p:nvSpPr>
        <p:spPr>
          <a:xfrm>
            <a:off x="4514850" y="3257550"/>
            <a:ext cx="1495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큰 소음 출력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5AD742F-DD8F-45C3-B909-3E711C2C078D}"/>
              </a:ext>
            </a:extLst>
          </p:cNvPr>
          <p:cNvSpPr>
            <a:spLocks noGrp="1"/>
          </p:cNvSpPr>
          <p:nvPr/>
        </p:nvSpPr>
        <p:spPr>
          <a:xfrm>
            <a:off x="742950" y="4095750"/>
            <a:ext cx="1381125" cy="514350"/>
          </a:xfrm>
          <a:prstGeom prst="roundRect">
            <a:avLst>
              <a:gd name="adj" fmla="val 16667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0FF9592-C654-404F-8203-64B8834BD129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1304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안전 한계 초과?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872E2BC2-A2FD-448B-BB34-002BF33C9DFC}"/>
              </a:ext>
            </a:extLst>
          </p:cNvPr>
          <p:cNvSpPr>
            <a:spLocks noGrp="1"/>
          </p:cNvSpPr>
          <p:nvPr/>
        </p:nvSpPr>
        <p:spPr>
          <a:xfrm>
            <a:off x="2190750" y="42100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971A0E4-5684-49A8-ACBC-31C701E46468}"/>
              </a:ext>
            </a:extLst>
          </p:cNvPr>
          <p:cNvSpPr>
            <a:spLocks noGrp="1"/>
          </p:cNvSpPr>
          <p:nvPr/>
        </p:nvSpPr>
        <p:spPr>
          <a:xfrm>
            <a:off x="2571750" y="4095750"/>
            <a:ext cx="1476375" cy="514350"/>
          </a:xfrm>
          <a:prstGeom prst="roundRect">
            <a:avLst>
              <a:gd name="adj" fmla="val 16667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BAFA11E-C88B-4BF0-AF01-DD3F61EEA227}"/>
              </a:ext>
            </a:extLst>
          </p:cNvPr>
          <p:cNvSpPr>
            <a:spLocks noGrp="1"/>
          </p:cNvSpPr>
          <p:nvPr/>
        </p:nvSpPr>
        <p:spPr>
          <a:xfrm>
            <a:off x="2609850" y="4114800"/>
            <a:ext cx="1400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자극도 증가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9EEE2C44-697E-45C0-B169-60DCF0DA448D}"/>
              </a:ext>
            </a:extLst>
          </p:cNvPr>
          <p:cNvSpPr>
            <a:spLocks noGrp="1"/>
          </p:cNvSpPr>
          <p:nvPr/>
        </p:nvSpPr>
        <p:spPr>
          <a:xfrm>
            <a:off x="4114800" y="42100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8A04CA33-3F4F-41D9-9CAC-B672D723C460}"/>
              </a:ext>
            </a:extLst>
          </p:cNvPr>
          <p:cNvSpPr>
            <a:spLocks noGrp="1"/>
          </p:cNvSpPr>
          <p:nvPr/>
        </p:nvSpPr>
        <p:spPr>
          <a:xfrm>
            <a:off x="4476750" y="4095750"/>
            <a:ext cx="1571625" cy="514350"/>
          </a:xfrm>
          <a:prstGeom prst="roundRect">
            <a:avLst>
              <a:gd name="adj" fmla="val 16667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94D7F28-5FD5-4AE1-BCE2-4EA157DF3F92}"/>
              </a:ext>
            </a:extLst>
          </p:cNvPr>
          <p:cNvSpPr>
            <a:spLocks noGrp="1"/>
          </p:cNvSpPr>
          <p:nvPr/>
        </p:nvSpPr>
        <p:spPr>
          <a:xfrm>
            <a:off x="4514850" y="4114800"/>
            <a:ext cx="14954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기침 / 재채기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A5DD788-D3AF-411E-9209-E67E0332FD80}"/>
              </a:ext>
            </a:extLst>
          </p:cNvPr>
          <p:cNvSpPr>
            <a:spLocks noGrp="1"/>
          </p:cNvSpPr>
          <p:nvPr/>
        </p:nvSpPr>
        <p:spPr>
          <a:xfrm>
            <a:off x="6762750" y="3238500"/>
            <a:ext cx="1381125" cy="514350"/>
          </a:xfrm>
          <a:prstGeom prst="roundRect">
            <a:avLst>
              <a:gd name="adj" fmla="val 16667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4873864-EC16-483C-A3DA-7A12117ED7D0}"/>
              </a:ext>
            </a:extLst>
          </p:cNvPr>
          <p:cNvSpPr>
            <a:spLocks noGrp="1"/>
          </p:cNvSpPr>
          <p:nvPr/>
        </p:nvSpPr>
        <p:spPr>
          <a:xfrm>
            <a:off x="6800850" y="3257550"/>
            <a:ext cx="1304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청각 범위 내?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D7802539-C37C-421A-97D0-697AFF4BC474}"/>
              </a:ext>
            </a:extLst>
          </p:cNvPr>
          <p:cNvSpPr>
            <a:spLocks noGrp="1"/>
          </p:cNvSpPr>
          <p:nvPr/>
        </p:nvSpPr>
        <p:spPr>
          <a:xfrm>
            <a:off x="8210550" y="3352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04D4D520-678C-4821-BD75-721042681289}"/>
              </a:ext>
            </a:extLst>
          </p:cNvPr>
          <p:cNvSpPr>
            <a:spLocks noGrp="1"/>
          </p:cNvSpPr>
          <p:nvPr/>
        </p:nvSpPr>
        <p:spPr>
          <a:xfrm>
            <a:off x="8572500" y="3238500"/>
            <a:ext cx="1476375" cy="514350"/>
          </a:xfrm>
          <a:prstGeom prst="roundRect">
            <a:avLst>
              <a:gd name="adj" fmla="val 16667"/>
            </a:avLst>
          </a:prstGeom>
          <a:solidFill>
            <a:srgbClr val="FFF2C7"/>
          </a:solidFill>
          <a:ln w="9525">
            <a:solidFill>
              <a:srgbClr val="FFF2C7"/>
            </a:solidFill>
            <a:prstDash val="solid"/>
          </a:ln>
        </p:spPr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ED2427B-C5E8-4C85-9948-374ABF2EEEF6}"/>
              </a:ext>
            </a:extLst>
          </p:cNvPr>
          <p:cNvSpPr>
            <a:spLocks noGrp="1"/>
          </p:cNvSpPr>
          <p:nvPr/>
        </p:nvSpPr>
        <p:spPr>
          <a:xfrm>
            <a:off x="8610600" y="3257550"/>
            <a:ext cx="1400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의심도 증가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3AA770A-0971-411F-B96C-D95F6CE0D701}"/>
              </a:ext>
            </a:extLst>
          </p:cNvPr>
          <p:cNvSpPr>
            <a:spLocks noGrp="1"/>
          </p:cNvSpPr>
          <p:nvPr/>
        </p:nvSpPr>
        <p:spPr>
          <a:xfrm>
            <a:off x="10115550" y="33528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AE20D365-E682-44B5-971E-BA8C642F9C55}"/>
              </a:ext>
            </a:extLst>
          </p:cNvPr>
          <p:cNvSpPr>
            <a:spLocks noGrp="1"/>
          </p:cNvSpPr>
          <p:nvPr/>
        </p:nvSpPr>
        <p:spPr>
          <a:xfrm>
            <a:off x="10382250" y="3238500"/>
            <a:ext cx="1047750" cy="514350"/>
          </a:xfrm>
          <a:prstGeom prst="roundRect">
            <a:avLst>
              <a:gd name="adj" fmla="val 16667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75EAE6B-4C3F-42EC-9145-F2145D490FEC}"/>
              </a:ext>
            </a:extLst>
          </p:cNvPr>
          <p:cNvSpPr>
            <a:spLocks noGrp="1"/>
          </p:cNvSpPr>
          <p:nvPr/>
        </p:nvSpPr>
        <p:spPr>
          <a:xfrm>
            <a:off x="10420350" y="3257550"/>
            <a:ext cx="9715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위치 조사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EB4C8E04-4379-4540-900B-3BA25C8E0E8C}"/>
              </a:ext>
            </a:extLst>
          </p:cNvPr>
          <p:cNvSpPr>
            <a:spLocks noGrp="1"/>
          </p:cNvSpPr>
          <p:nvPr/>
        </p:nvSpPr>
        <p:spPr>
          <a:xfrm>
            <a:off x="6762750" y="4095750"/>
            <a:ext cx="1381125" cy="514350"/>
          </a:xfrm>
          <a:prstGeom prst="roundRect">
            <a:avLst>
              <a:gd name="adj" fmla="val 16667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F87F762-CDD6-4466-A0F1-2BCAD6FEB4CE}"/>
              </a:ext>
            </a:extLst>
          </p:cNvPr>
          <p:cNvSpPr>
            <a:spLocks noGrp="1"/>
          </p:cNvSpPr>
          <p:nvPr/>
        </p:nvSpPr>
        <p:spPr>
          <a:xfrm>
            <a:off x="6800850" y="4114800"/>
            <a:ext cx="130492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추가 기척?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FF8E468-3A1A-4E1A-BF46-120306BCAE0E}"/>
              </a:ext>
            </a:extLst>
          </p:cNvPr>
          <p:cNvSpPr>
            <a:spLocks noGrp="1"/>
          </p:cNvSpPr>
          <p:nvPr/>
        </p:nvSpPr>
        <p:spPr>
          <a:xfrm>
            <a:off x="8210550" y="42100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112E21A0-2652-4C13-9E46-32A8C3945326}"/>
              </a:ext>
            </a:extLst>
          </p:cNvPr>
          <p:cNvSpPr>
            <a:spLocks noGrp="1"/>
          </p:cNvSpPr>
          <p:nvPr/>
        </p:nvSpPr>
        <p:spPr>
          <a:xfrm>
            <a:off x="8572500" y="4095750"/>
            <a:ext cx="1476375" cy="514350"/>
          </a:xfrm>
          <a:prstGeom prst="roundRect">
            <a:avLst>
              <a:gd name="adj" fmla="val 16667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7942BA0-A381-41DD-ADE8-F342795DA246}"/>
              </a:ext>
            </a:extLst>
          </p:cNvPr>
          <p:cNvSpPr>
            <a:spLocks noGrp="1"/>
          </p:cNvSpPr>
          <p:nvPr/>
        </p:nvSpPr>
        <p:spPr>
          <a:xfrm>
            <a:off x="8610600" y="4114800"/>
            <a:ext cx="14001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YES  추격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738CBBF-DC30-4F96-9E35-EBA40BF351DE}"/>
              </a:ext>
            </a:extLst>
          </p:cNvPr>
          <p:cNvSpPr>
            <a:spLocks noGrp="1"/>
          </p:cNvSpPr>
          <p:nvPr/>
        </p:nvSpPr>
        <p:spPr>
          <a:xfrm>
            <a:off x="8572500" y="4667250"/>
            <a:ext cx="257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NO  의심 감소 → 순찰 복귀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4774938-E916-4937-98B6-F403A2E5922F}"/>
              </a:ext>
            </a:extLst>
          </p:cNvPr>
          <p:cNvSpPr>
            <a:spLocks noGrp="1"/>
          </p:cNvSpPr>
          <p:nvPr/>
        </p:nvSpPr>
        <p:spPr>
          <a:xfrm>
            <a:off x="457200" y="5543550"/>
            <a:ext cx="11144250" cy="400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처리 우선순위  강제 호흡 &gt; 환경 피해/재채기 &gt; 능력 효과 &gt; 일반 입력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7D374A8-D5CF-5A94-1818-DBE54A00E022}"/>
              </a:ext>
            </a:extLst>
          </p:cNvPr>
          <p:cNvSpPr>
            <a:spLocks noGrp="1"/>
          </p:cNvSpPr>
          <p:nvPr/>
        </p:nvSpPr>
        <p:spPr>
          <a:xfrm>
            <a:off x="457200" y="352425"/>
            <a:ext cx="2190750" cy="428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04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시스템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구조도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587315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직사각형 50">
            <a:extLst>
              <a:ext uri="{FF2B5EF4-FFF2-40B4-BE49-F238E27FC236}">
                <a16:creationId xmlns:a16="http://schemas.microsoft.com/office/drawing/2014/main" id="{CA8F0F19-7831-4277-9326-6D366CC6AF2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224584-6731-47B0-86CC-C1AD0DA66BC7}"/>
              </a:ext>
            </a:extLst>
          </p:cNvPr>
          <p:cNvSpPr>
            <a:spLocks noGrp="1"/>
          </p:cNvSpPr>
          <p:nvPr/>
        </p:nvSpPr>
        <p:spPr>
          <a:xfrm>
            <a:off x="457200" y="352425"/>
            <a:ext cx="2190750" cy="4286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05  리소스</a:t>
            </a: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801E8558-6E4B-41C3-AF4C-C5F53D2D6AC0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8870272-B0B8-4478-99B7-BE06FE228D6D}"/>
              </a:ext>
            </a:extLst>
          </p:cNvPr>
          <p:cNvSpPr>
            <a:spLocks noGrp="1"/>
          </p:cNvSpPr>
          <p:nvPr/>
        </p:nvSpPr>
        <p:spPr>
          <a:xfrm>
            <a:off x="457200" y="1257300"/>
            <a:ext cx="1428750" cy="16954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57" name="그림 5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90693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51C51008-0651-4977-8C95-90A42B1E5358}"/>
              </a:ext>
            </a:extLst>
          </p:cNvPr>
          <p:cNvSpPr>
            <a:spLocks noGrp="1"/>
          </p:cNvSpPr>
          <p:nvPr/>
        </p:nvSpPr>
        <p:spPr>
          <a:xfrm>
            <a:off x="53340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들이마시기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ED5D5D2-1922-43E3-85BD-39E6B86979F2}"/>
              </a:ext>
            </a:extLst>
          </p:cNvPr>
          <p:cNvSpPr>
            <a:spLocks noGrp="1"/>
          </p:cNvSpPr>
          <p:nvPr/>
        </p:nvSpPr>
        <p:spPr>
          <a:xfrm>
            <a:off x="2028825" y="1257300"/>
            <a:ext cx="1428750" cy="16954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0" name="그림 5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43125" y="1333500"/>
            <a:ext cx="1200150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921BA29-BE59-4540-8733-53743F4214A1}"/>
              </a:ext>
            </a:extLst>
          </p:cNvPr>
          <p:cNvSpPr>
            <a:spLocks noGrp="1"/>
          </p:cNvSpPr>
          <p:nvPr/>
        </p:nvSpPr>
        <p:spPr>
          <a:xfrm>
            <a:off x="210502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숨 참기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6AE805E-75B9-4B8B-A35A-403FD1A38E3D}"/>
              </a:ext>
            </a:extLst>
          </p:cNvPr>
          <p:cNvSpPr>
            <a:spLocks noGrp="1"/>
          </p:cNvSpPr>
          <p:nvPr/>
        </p:nvSpPr>
        <p:spPr>
          <a:xfrm>
            <a:off x="3600450" y="1257300"/>
            <a:ext cx="1428750" cy="16954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3" name="그림 6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676650" y="1349415"/>
            <a:ext cx="1276350" cy="1168320"/>
          </a:xfrm>
          <a:prstGeom prst="roundRect">
            <a:avLst>
              <a:gd name="adj" fmla="val 6349"/>
            </a:avLst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A99D0-9855-412E-B773-A17B4D8F154A}"/>
              </a:ext>
            </a:extLst>
          </p:cNvPr>
          <p:cNvSpPr>
            <a:spLocks noGrp="1"/>
          </p:cNvSpPr>
          <p:nvPr/>
        </p:nvSpPr>
        <p:spPr>
          <a:xfrm>
            <a:off x="3676650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호흡 한계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B620D76-566B-476A-A9F0-BCDD84670123}"/>
              </a:ext>
            </a:extLst>
          </p:cNvPr>
          <p:cNvSpPr>
            <a:spLocks noGrp="1"/>
          </p:cNvSpPr>
          <p:nvPr/>
        </p:nvSpPr>
        <p:spPr>
          <a:xfrm>
            <a:off x="5172075" y="1257300"/>
            <a:ext cx="1428750" cy="16954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6" name="그림 65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405568" y="1333500"/>
            <a:ext cx="961764" cy="1200150"/>
          </a:xfrm>
          <a:prstGeom prst="roundRect">
            <a:avLst>
              <a:gd name="adj" fmla="val 6349"/>
            </a:avLst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8C610D96-302E-4250-B216-9D8225931555}"/>
              </a:ext>
            </a:extLst>
          </p:cNvPr>
          <p:cNvSpPr>
            <a:spLocks noGrp="1"/>
          </p:cNvSpPr>
          <p:nvPr/>
        </p:nvSpPr>
        <p:spPr>
          <a:xfrm>
            <a:off x="5248275" y="2571750"/>
            <a:ext cx="12763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내쉬기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D620BC-33C7-4234-B053-41FECEF04FE9}"/>
              </a:ext>
            </a:extLst>
          </p:cNvPr>
          <p:cNvSpPr>
            <a:spLocks noGrp="1"/>
          </p:cNvSpPr>
          <p:nvPr/>
        </p:nvSpPr>
        <p:spPr>
          <a:xfrm>
            <a:off x="7000875" y="1257300"/>
            <a:ext cx="1381125" cy="1695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69" name="그림 6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7191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68074BF2-BF16-4636-9060-9470CD83B792}"/>
              </a:ext>
            </a:extLst>
          </p:cNvPr>
          <p:cNvSpPr>
            <a:spLocks noGrp="1"/>
          </p:cNvSpPr>
          <p:nvPr/>
        </p:nvSpPr>
        <p:spPr>
          <a:xfrm>
            <a:off x="7096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먼지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B4ACB1E-D1C3-485C-B954-91DF854D36D7}"/>
              </a:ext>
            </a:extLst>
          </p:cNvPr>
          <p:cNvSpPr>
            <a:spLocks noGrp="1"/>
          </p:cNvSpPr>
          <p:nvPr/>
        </p:nvSpPr>
        <p:spPr>
          <a:xfrm>
            <a:off x="7096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기침 위험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6B0C365-ABA9-4041-AE9A-3A09C47B0C45}"/>
              </a:ext>
            </a:extLst>
          </p:cNvPr>
          <p:cNvSpPr>
            <a:spLocks noGrp="1"/>
          </p:cNvSpPr>
          <p:nvPr/>
        </p:nvSpPr>
        <p:spPr>
          <a:xfrm>
            <a:off x="8524875" y="1257300"/>
            <a:ext cx="1381125" cy="1695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73" name="그림 7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715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D659B4C-7951-4B88-BB4E-86D77AD50DFF}"/>
              </a:ext>
            </a:extLst>
          </p:cNvPr>
          <p:cNvSpPr>
            <a:spLocks noGrp="1"/>
          </p:cNvSpPr>
          <p:nvPr/>
        </p:nvSpPr>
        <p:spPr>
          <a:xfrm>
            <a:off x="8620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꽃가루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62964B0-27F6-4471-8395-5F01EFDA69FD}"/>
              </a:ext>
            </a:extLst>
          </p:cNvPr>
          <p:cNvSpPr>
            <a:spLocks noGrp="1"/>
          </p:cNvSpPr>
          <p:nvPr/>
        </p:nvSpPr>
        <p:spPr>
          <a:xfrm>
            <a:off x="8620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재채기 위험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37A0270-E73E-4759-B9B9-0B246408CAF4}"/>
              </a:ext>
            </a:extLst>
          </p:cNvPr>
          <p:cNvSpPr>
            <a:spLocks noGrp="1"/>
          </p:cNvSpPr>
          <p:nvPr/>
        </p:nvSpPr>
        <p:spPr>
          <a:xfrm>
            <a:off x="10048875" y="1257300"/>
            <a:ext cx="1381125" cy="169545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239375" y="1352550"/>
            <a:ext cx="1000125" cy="1000125"/>
          </a:xfrm>
          <a:prstGeom prst="roundRect">
            <a:avLst>
              <a:gd name="adj" fmla="val 7619"/>
            </a:avLst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F93410EB-4DE7-494A-9432-FAFBD4D3C17D}"/>
              </a:ext>
            </a:extLst>
          </p:cNvPr>
          <p:cNvSpPr>
            <a:spLocks noGrp="1"/>
          </p:cNvSpPr>
          <p:nvPr/>
        </p:nvSpPr>
        <p:spPr>
          <a:xfrm>
            <a:off x="10144125" y="2362200"/>
            <a:ext cx="1190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연기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547EF23-954D-43B1-8B99-A9F8B6B10999}"/>
              </a:ext>
            </a:extLst>
          </p:cNvPr>
          <p:cNvSpPr>
            <a:spLocks noGrp="1"/>
          </p:cNvSpPr>
          <p:nvPr/>
        </p:nvSpPr>
        <p:spPr>
          <a:xfrm>
            <a:off x="10144125" y="2600325"/>
            <a:ext cx="1190625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들숨 제한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41500DC-0D9C-458F-8B7E-A1687D465603}"/>
              </a:ext>
            </a:extLst>
          </p:cNvPr>
          <p:cNvSpPr>
            <a:spLocks noGrp="1"/>
          </p:cNvSpPr>
          <p:nvPr/>
        </p:nvSpPr>
        <p:spPr>
          <a:xfrm>
            <a:off x="457200" y="3295650"/>
            <a:ext cx="11144250" cy="4191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EB5F73F-AD38-4BEC-8AC0-9DF69244F087}"/>
              </a:ext>
            </a:extLst>
          </p:cNvPr>
          <p:cNvSpPr>
            <a:spLocks noGrp="1"/>
          </p:cNvSpPr>
          <p:nvPr/>
        </p:nvSpPr>
        <p:spPr>
          <a:xfrm>
            <a:off x="590550" y="33242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UI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7FDEA7E-5560-4601-98EE-071DF9AD4B6B}"/>
              </a:ext>
            </a:extLst>
          </p:cNvPr>
          <p:cNvSpPr>
            <a:spLocks noGrp="1"/>
          </p:cNvSpPr>
          <p:nvPr/>
        </p:nvSpPr>
        <p:spPr>
          <a:xfrm>
            <a:off x="1952625" y="33242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 게이지 · 안전 한계선 · 소음/의심 표시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53AF2A55-DD28-449C-B67C-D27EB4B38810}"/>
              </a:ext>
            </a:extLst>
          </p:cNvPr>
          <p:cNvSpPr>
            <a:spLocks noGrp="1"/>
          </p:cNvSpPr>
          <p:nvPr/>
        </p:nvSpPr>
        <p:spPr>
          <a:xfrm>
            <a:off x="6858000" y="33242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현재 상태와 다음 판단 전달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A5B7012-50AA-4D43-987D-87386D05F766}"/>
              </a:ext>
            </a:extLst>
          </p:cNvPr>
          <p:cNvSpPr>
            <a:spLocks noGrp="1"/>
          </p:cNvSpPr>
          <p:nvPr/>
        </p:nvSpPr>
        <p:spPr>
          <a:xfrm>
            <a:off x="457200" y="3810000"/>
            <a:ext cx="11144250" cy="419100"/>
          </a:xfrm>
          <a:prstGeom prst="roundRect">
            <a:avLst>
              <a:gd name="adj" fmla="val 11364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2725EBB-07F8-4B4D-ABEB-A7AC82446AF6}"/>
              </a:ext>
            </a:extLst>
          </p:cNvPr>
          <p:cNvSpPr>
            <a:spLocks noGrp="1"/>
          </p:cNvSpPr>
          <p:nvPr/>
        </p:nvSpPr>
        <p:spPr>
          <a:xfrm>
            <a:off x="590550" y="38385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애니메이션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2102ED7-F37E-465B-9323-3FB7B7446856}"/>
              </a:ext>
            </a:extLst>
          </p:cNvPr>
          <p:cNvSpPr>
            <a:spLocks noGrp="1"/>
          </p:cNvSpPr>
          <p:nvPr/>
        </p:nvSpPr>
        <p:spPr>
          <a:xfrm>
            <a:off x="1952625" y="38385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들이마시기 · 숨 참기 · 내쉬기 · 흡음/공명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7FE52351-9624-45CA-B045-AF0EA82A2567}"/>
              </a:ext>
            </a:extLst>
          </p:cNvPr>
          <p:cNvSpPr>
            <a:spLocks noGrp="1"/>
          </p:cNvSpPr>
          <p:nvPr/>
        </p:nvSpPr>
        <p:spPr>
          <a:xfrm>
            <a:off x="6858000" y="38385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행동·한계·능력 사용 구분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E248590-AB3B-4584-8710-1CC33B4D419A}"/>
              </a:ext>
            </a:extLst>
          </p:cNvPr>
          <p:cNvSpPr>
            <a:spLocks noGrp="1"/>
          </p:cNvSpPr>
          <p:nvPr/>
        </p:nvSpPr>
        <p:spPr>
          <a:xfrm>
            <a:off x="457200" y="4324350"/>
            <a:ext cx="11144250" cy="4191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719352D-10B6-422F-8862-2272EF74350C}"/>
              </a:ext>
            </a:extLst>
          </p:cNvPr>
          <p:cNvSpPr>
            <a:spLocks noGrp="1"/>
          </p:cNvSpPr>
          <p:nvPr/>
        </p:nvSpPr>
        <p:spPr>
          <a:xfrm>
            <a:off x="590550" y="43529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SFX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E671AFE-3F72-4D47-B263-CCB05E0F789F}"/>
              </a:ext>
            </a:extLst>
          </p:cNvPr>
          <p:cNvSpPr>
            <a:spLocks noGrp="1"/>
          </p:cNvSpPr>
          <p:nvPr/>
        </p:nvSpPr>
        <p:spPr>
          <a:xfrm>
            <a:off x="1952625" y="43529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짧은/깊은 들숨 · 날숨 · 한계 호흡 · 재채기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C3CB941-A805-465B-965A-E0E66F7CE797}"/>
              </a:ext>
            </a:extLst>
          </p:cNvPr>
          <p:cNvSpPr>
            <a:spLocks noGrp="1"/>
          </p:cNvSpPr>
          <p:nvPr/>
        </p:nvSpPr>
        <p:spPr>
          <a:xfrm>
            <a:off x="6858000" y="43529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소음 단계와 AI 반응 기준 전달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9C2C177-C83E-436B-AF7A-BE0EB4A8BBA9}"/>
              </a:ext>
            </a:extLst>
          </p:cNvPr>
          <p:cNvSpPr>
            <a:spLocks noGrp="1"/>
          </p:cNvSpPr>
          <p:nvPr/>
        </p:nvSpPr>
        <p:spPr>
          <a:xfrm>
            <a:off x="457200" y="4838700"/>
            <a:ext cx="11144250" cy="419100"/>
          </a:xfrm>
          <a:prstGeom prst="roundRect">
            <a:avLst>
              <a:gd name="adj" fmla="val 11364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FC738E5-B085-4F55-9AFB-B7EFE26CCB88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VFX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72B4B39-AA55-49E7-AD0F-E66A1FBC8BDC}"/>
              </a:ext>
            </a:extLst>
          </p:cNvPr>
          <p:cNvSpPr>
            <a:spLocks noGrp="1"/>
          </p:cNvSpPr>
          <p:nvPr/>
        </p:nvSpPr>
        <p:spPr>
          <a:xfrm>
            <a:off x="1952625" y="486727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먼지 · 꽃가루 · 연기 · 소리 파동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15FC1C-2264-454A-9183-B344D4829B8A}"/>
              </a:ext>
            </a:extLst>
          </p:cNvPr>
          <p:cNvSpPr>
            <a:spLocks noGrp="1"/>
          </p:cNvSpPr>
          <p:nvPr/>
        </p:nvSpPr>
        <p:spPr>
          <a:xfrm>
            <a:off x="6858000" y="486727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환경 위험과 능력 범위 전달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40C6C808-B4D5-4D30-8476-46886EA2D835}"/>
              </a:ext>
            </a:extLst>
          </p:cNvPr>
          <p:cNvSpPr>
            <a:spLocks noGrp="1"/>
          </p:cNvSpPr>
          <p:nvPr/>
        </p:nvSpPr>
        <p:spPr>
          <a:xfrm>
            <a:off x="457200" y="5353050"/>
            <a:ext cx="11144250" cy="419100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1D30C92-CA0D-4EB9-9213-D58D7CB2BA29}"/>
              </a:ext>
            </a:extLst>
          </p:cNvPr>
          <p:cNvSpPr>
            <a:spLocks noGrp="1"/>
          </p:cNvSpPr>
          <p:nvPr/>
        </p:nvSpPr>
        <p:spPr>
          <a:xfrm>
            <a:off x="590550" y="5381625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데이터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40B009E0-4CCD-45CD-B9FB-816E4DC5ACCE}"/>
              </a:ext>
            </a:extLst>
          </p:cNvPr>
          <p:cNvSpPr>
            <a:spLocks noGrp="1"/>
          </p:cNvSpPr>
          <p:nvPr/>
        </p:nvSpPr>
        <p:spPr>
          <a:xfrm>
            <a:off x="1952625" y="5381625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환경별 안전 한계 · 적 청각 범위 · 소비/회복량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F8D64CD-7747-4AA8-A453-A3A19DADC039}"/>
              </a:ext>
            </a:extLst>
          </p:cNvPr>
          <p:cNvSpPr>
            <a:spLocks noGrp="1"/>
          </p:cNvSpPr>
          <p:nvPr/>
        </p:nvSpPr>
        <p:spPr>
          <a:xfrm>
            <a:off x="6858000" y="5381625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667B8B"/>
                </a:solidFill>
              </a:defRPr>
            </a:pPr>
            <a:r>
              <a:rPr sz="1000" b="0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레벨·AI 밸런싱 기준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4D82997-18CB-4192-A17B-A5C8B9B4BF9F}"/>
              </a:ext>
            </a:extLst>
          </p:cNvPr>
          <p:cNvSpPr>
            <a:spLocks noGrp="1"/>
          </p:cNvSpPr>
          <p:nvPr/>
        </p:nvSpPr>
        <p:spPr>
          <a:xfrm>
            <a:off x="457200" y="6019800"/>
            <a:ext cx="1114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제작 우선순위  UI 상태색 → 기본 호흡 모션/SFX → 위험 환경 VFX → 특수 능력 모션</a:t>
            </a:r>
          </a:p>
        </p:txBody>
      </p:sp>
    </p:spTree>
    <p:extLst>
      <p:ext uri="{BB962C8B-B14F-4D97-AF65-F5344CB8AC3E}">
        <p14:creationId xmlns:p14="http://schemas.microsoft.com/office/powerpoint/2010/main" val="1620556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직사각형 44">
            <a:extLst>
              <a:ext uri="{FF2B5EF4-FFF2-40B4-BE49-F238E27FC236}">
                <a16:creationId xmlns:a16="http://schemas.microsoft.com/office/drawing/2014/main" id="{14F03542-C4F9-4822-BA63-A9FC85EBA11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0">
            <a:solidFill>
              <a:srgbClr val="073B5C"/>
            </a:solidFill>
            <a:prstDash val="solid"/>
          </a:ln>
        </p:spPr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65B6523-AD9A-401E-86CF-E55268C5085C}"/>
              </a:ext>
            </a:extLst>
          </p:cNvPr>
          <p:cNvSpPr>
            <a:spLocks noGrp="1"/>
          </p:cNvSpPr>
          <p:nvPr/>
        </p:nvSpPr>
        <p:spPr>
          <a:xfrm>
            <a:off x="457199" y="352425"/>
            <a:ext cx="2955365" cy="4857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06 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예외사항</a:t>
            </a:r>
            <a:r>
              <a:rPr sz="2000" b="1" dirty="0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 / </a:t>
            </a:r>
            <a:r>
              <a:rPr sz="2000" b="1" dirty="0" err="1">
                <a:solidFill>
                  <a:srgbClr val="20A6A0"/>
                </a:solidFill>
                <a:latin typeface="맑은 고딕"/>
                <a:ea typeface="맑은 고딕"/>
                <a:cs typeface="맑은 고딕"/>
              </a:rPr>
              <a:t>안전장치</a:t>
            </a:r>
            <a:endParaRPr sz="2000" b="1" dirty="0">
              <a:solidFill>
                <a:srgbClr val="20A6A0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직선 연결선 3">
            <a:extLst>
              <a:ext uri="{FF2B5EF4-FFF2-40B4-BE49-F238E27FC236}">
                <a16:creationId xmlns:a16="http://schemas.microsoft.com/office/drawing/2014/main" id="{FBF053AA-9F8F-4887-A582-7FC78AEAA563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C6AD673-C4F4-4426-8965-47184F116D44}"/>
              </a:ext>
            </a:extLst>
          </p:cNvPr>
          <p:cNvSpPr>
            <a:spLocks noGrp="1"/>
          </p:cNvSpPr>
          <p:nvPr/>
        </p:nvSpPr>
        <p:spPr>
          <a:xfrm>
            <a:off x="552450" y="1333500"/>
            <a:ext cx="26670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예외 상황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AC78253-7035-4BC5-B303-877BEBB86825}"/>
              </a:ext>
            </a:extLst>
          </p:cNvPr>
          <p:cNvSpPr>
            <a:spLocks noGrp="1"/>
          </p:cNvSpPr>
          <p:nvPr/>
        </p:nvSpPr>
        <p:spPr>
          <a:xfrm>
            <a:off x="3333750" y="1333500"/>
            <a:ext cx="371475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발생 문제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4AF5E6-3C5D-4F5C-9830-1896B1853C2C}"/>
              </a:ext>
            </a:extLst>
          </p:cNvPr>
          <p:cNvSpPr>
            <a:spLocks noGrp="1"/>
          </p:cNvSpPr>
          <p:nvPr/>
        </p:nvSpPr>
        <p:spPr>
          <a:xfrm>
            <a:off x="7162800" y="1333500"/>
            <a:ext cx="4343400" cy="304800"/>
          </a:xfrm>
          <a:prstGeom prst="rect">
            <a:avLst/>
          </a:prstGeom>
          <a:solidFill>
            <a:srgbClr val="073B5C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 장치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5CE576C-0048-4BBA-8564-35BCB247C398}"/>
              </a:ext>
            </a:extLst>
          </p:cNvPr>
          <p:cNvSpPr>
            <a:spLocks noGrp="1"/>
          </p:cNvSpPr>
          <p:nvPr/>
        </p:nvSpPr>
        <p:spPr>
          <a:xfrm>
            <a:off x="457200" y="169545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ED69E9-9E36-4DA4-B603-52903C6BA997}"/>
              </a:ext>
            </a:extLst>
          </p:cNvPr>
          <p:cNvSpPr>
            <a:spLocks noGrp="1"/>
          </p:cNvSpPr>
          <p:nvPr/>
        </p:nvSpPr>
        <p:spPr>
          <a:xfrm>
            <a:off x="590550" y="17430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흡음 중 추가 흡음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656A413-8409-4156-8BF9-476AC331A25E}"/>
              </a:ext>
            </a:extLst>
          </p:cNvPr>
          <p:cNvSpPr>
            <a:spLocks noGrp="1"/>
          </p:cNvSpPr>
          <p:nvPr/>
        </p:nvSpPr>
        <p:spPr>
          <a:xfrm>
            <a:off x="3333750" y="17430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호흡 잠금과 저장 충돌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E9B05E-1ACC-456C-BD66-17B36968C865}"/>
              </a:ext>
            </a:extLst>
          </p:cNvPr>
          <p:cNvSpPr>
            <a:spLocks noGrp="1"/>
          </p:cNvSpPr>
          <p:nvPr/>
        </p:nvSpPr>
        <p:spPr>
          <a:xfrm>
            <a:off x="7162800" y="17430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추가 흡음 불가 · HUD 경고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58973EC-8C2D-4B07-9FF2-BF07A2C5F656}"/>
              </a:ext>
            </a:extLst>
          </p:cNvPr>
          <p:cNvSpPr>
            <a:spLocks noGrp="1"/>
          </p:cNvSpPr>
          <p:nvPr/>
        </p:nvSpPr>
        <p:spPr>
          <a:xfrm>
            <a:off x="457200" y="228600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620FB4C-B4B1-4D96-8E79-AED6259E84DD}"/>
              </a:ext>
            </a:extLst>
          </p:cNvPr>
          <p:cNvSpPr>
            <a:spLocks noGrp="1"/>
          </p:cNvSpPr>
          <p:nvPr/>
        </p:nvSpPr>
        <p:spPr>
          <a:xfrm>
            <a:off x="590550" y="23336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공중 부유 중 게이지 0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50DA89-447E-46BD-80FA-B68C97442186}"/>
              </a:ext>
            </a:extLst>
          </p:cNvPr>
          <p:cNvSpPr>
            <a:spLocks noGrp="1"/>
          </p:cNvSpPr>
          <p:nvPr/>
        </p:nvSpPr>
        <p:spPr>
          <a:xfrm>
            <a:off x="3333750" y="23336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공중 정지 유지 불가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6F4B831-7572-4976-BDEA-97EC45E06118}"/>
              </a:ext>
            </a:extLst>
          </p:cNvPr>
          <p:cNvSpPr>
            <a:spLocks noGrp="1"/>
          </p:cNvSpPr>
          <p:nvPr/>
        </p:nvSpPr>
        <p:spPr>
          <a:xfrm>
            <a:off x="7162800" y="23336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A14C39"/>
                </a:solidFill>
              </a:defRPr>
            </a:pPr>
            <a:r>
              <a:rPr sz="1000" b="1">
                <a:solidFill>
                  <a:srgbClr val="A14C39"/>
                </a:solidFill>
                <a:latin typeface="맑은 고딕"/>
                <a:ea typeface="맑은 고딕"/>
                <a:cs typeface="맑은 고딕"/>
              </a:rPr>
              <a:t>강제 호흡 후 즉시 낙하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8E170C36-D5F9-4581-83A9-7402186F1464}"/>
              </a:ext>
            </a:extLst>
          </p:cNvPr>
          <p:cNvSpPr>
            <a:spLocks noGrp="1"/>
          </p:cNvSpPr>
          <p:nvPr/>
        </p:nvSpPr>
        <p:spPr>
          <a:xfrm>
            <a:off x="457200" y="287655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193443A-C895-4D76-817C-8CA2B293C72D}"/>
              </a:ext>
            </a:extLst>
          </p:cNvPr>
          <p:cNvSpPr>
            <a:spLocks noGrp="1"/>
          </p:cNvSpPr>
          <p:nvPr/>
        </p:nvSpPr>
        <p:spPr>
          <a:xfrm>
            <a:off x="590550" y="29241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재채기 직전 수중 진입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2C57175-F0CC-4956-853E-1AF3AB95DF08}"/>
              </a:ext>
            </a:extLst>
          </p:cNvPr>
          <p:cNvSpPr>
            <a:spLocks noGrp="1"/>
          </p:cNvSpPr>
          <p:nvPr/>
        </p:nvSpPr>
        <p:spPr>
          <a:xfrm>
            <a:off x="3333750" y="29241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출력 리소스와 환경 충돌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463CBE-0396-42B6-AE0D-7403F2D8A795}"/>
              </a:ext>
            </a:extLst>
          </p:cNvPr>
          <p:cNvSpPr>
            <a:spLocks noGrp="1"/>
          </p:cNvSpPr>
          <p:nvPr/>
        </p:nvSpPr>
        <p:spPr>
          <a:xfrm>
            <a:off x="7162800" y="29241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재채기 취소 · 기침 상태 전환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2A38D2A-F77B-47AB-B645-D8D58A872A79}"/>
              </a:ext>
            </a:extLst>
          </p:cNvPr>
          <p:cNvSpPr>
            <a:spLocks noGrp="1"/>
          </p:cNvSpPr>
          <p:nvPr/>
        </p:nvSpPr>
        <p:spPr>
          <a:xfrm>
            <a:off x="457200" y="346710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7323BE4-040B-4050-8CD4-4BEBB5C6697A}"/>
              </a:ext>
            </a:extLst>
          </p:cNvPr>
          <p:cNvSpPr>
            <a:spLocks noGrp="1"/>
          </p:cNvSpPr>
          <p:nvPr/>
        </p:nvSpPr>
        <p:spPr>
          <a:xfrm>
            <a:off x="590550" y="35147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기척 소거 중 충돌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183120E-9796-4FBD-A073-136C171906B2}"/>
              </a:ext>
            </a:extLst>
          </p:cNvPr>
          <p:cNvSpPr>
            <a:spLocks noGrp="1"/>
          </p:cNvSpPr>
          <p:nvPr/>
        </p:nvSpPr>
        <p:spPr>
          <a:xfrm>
            <a:off x="3333750" y="35147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시각 은신과 물리 흔적 충돌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173F09F-68F5-49F0-98B8-7212689CD7D7}"/>
              </a:ext>
            </a:extLst>
          </p:cNvPr>
          <p:cNvSpPr>
            <a:spLocks noGrp="1"/>
          </p:cNvSpPr>
          <p:nvPr/>
        </p:nvSpPr>
        <p:spPr>
          <a:xfrm>
            <a:off x="7162800" y="35147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충돌음 유지 · 적 의심 증가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4322A193-2EEE-4D74-990F-086A463492AB}"/>
              </a:ext>
            </a:extLst>
          </p:cNvPr>
          <p:cNvSpPr>
            <a:spLocks noGrp="1"/>
          </p:cNvSpPr>
          <p:nvPr/>
        </p:nvSpPr>
        <p:spPr>
          <a:xfrm>
            <a:off x="457200" y="405765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FD7BCCC-BEAE-422E-A3FD-77B30C2AABD3}"/>
              </a:ext>
            </a:extLst>
          </p:cNvPr>
          <p:cNvSpPr>
            <a:spLocks noGrp="1"/>
          </p:cNvSpPr>
          <p:nvPr/>
        </p:nvSpPr>
        <p:spPr>
          <a:xfrm>
            <a:off x="590550" y="410527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비상 호흡 연속 사용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6334CB-C591-47F5-9BF7-3CBE2D12C8BC}"/>
              </a:ext>
            </a:extLst>
          </p:cNvPr>
          <p:cNvSpPr>
            <a:spLocks noGrp="1"/>
          </p:cNvSpPr>
          <p:nvPr/>
        </p:nvSpPr>
        <p:spPr>
          <a:xfrm>
            <a:off x="3333750" y="410527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무한 숨 참기 가능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585184E-D3E1-462E-9E1A-B001E71A7561}"/>
              </a:ext>
            </a:extLst>
          </p:cNvPr>
          <p:cNvSpPr>
            <a:spLocks noGrp="1"/>
          </p:cNvSpPr>
          <p:nvPr/>
        </p:nvSpPr>
        <p:spPr>
          <a:xfrm>
            <a:off x="7162800" y="410527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한 호흡 사이클당 1회 제한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6E688054-1E04-47E6-8E67-8F2A2A9D5616}"/>
              </a:ext>
            </a:extLst>
          </p:cNvPr>
          <p:cNvSpPr>
            <a:spLocks noGrp="1"/>
          </p:cNvSpPr>
          <p:nvPr/>
        </p:nvSpPr>
        <p:spPr>
          <a:xfrm>
            <a:off x="457200" y="4648200"/>
            <a:ext cx="11144250" cy="495300"/>
          </a:xfrm>
          <a:prstGeom prst="roundRect">
            <a:avLst>
              <a:gd name="adj" fmla="val 9615"/>
            </a:avLst>
          </a:prstGeom>
          <a:solidFill>
            <a:srgbClr val="FBFCFD"/>
          </a:solidFill>
          <a:ln w="9525">
            <a:solidFill>
              <a:srgbClr val="D8E3EA"/>
            </a:solidFill>
            <a:prstDash val="solid"/>
          </a:ln>
        </p:spPr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EFC5FA7E-5257-4697-B339-BBB0068CCE05}"/>
              </a:ext>
            </a:extLst>
          </p:cNvPr>
          <p:cNvSpPr>
            <a:spLocks noGrp="1"/>
          </p:cNvSpPr>
          <p:nvPr/>
        </p:nvSpPr>
        <p:spPr>
          <a:xfrm>
            <a:off x="590550" y="4695825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073B5C"/>
                </a:solidFill>
              </a:defRPr>
            </a:pPr>
            <a:r>
              <a:rPr sz="1000" b="1">
                <a:solidFill>
                  <a:srgbClr val="073B5C"/>
                </a:solidFill>
                <a:latin typeface="맑은 고딕"/>
                <a:ea typeface="맑은 고딕"/>
                <a:cs typeface="맑은 고딕"/>
              </a:rPr>
              <a:t>필수 구간 소음 방출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13779BD-A184-4B9D-8428-C4F9D402D10D}"/>
              </a:ext>
            </a:extLst>
          </p:cNvPr>
          <p:cNvSpPr>
            <a:spLocks noGrp="1"/>
          </p:cNvSpPr>
          <p:nvPr/>
        </p:nvSpPr>
        <p:spPr>
          <a:xfrm>
            <a:off x="3333750" y="4695825"/>
            <a:ext cx="3714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0">
                <a:solidFill>
                  <a:srgbClr val="163247"/>
                </a:solidFill>
              </a:defRPr>
            </a:pPr>
            <a:r>
              <a:rPr sz="1000" b="0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적 과다 유입으로 진행 불가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6921E14B-C239-4BA6-A9A5-5ECDFCF72C83}"/>
              </a:ext>
            </a:extLst>
          </p:cNvPr>
          <p:cNvSpPr>
            <a:spLocks noGrp="1"/>
          </p:cNvSpPr>
          <p:nvPr/>
        </p:nvSpPr>
        <p:spPr>
          <a:xfrm>
            <a:off x="7162800" y="4695825"/>
            <a:ext cx="4305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l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방출 위치 제한 · 안전 구역 배치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61ADB9E-DF8A-41ED-8E7E-FD1501BA9544}"/>
              </a:ext>
            </a:extLst>
          </p:cNvPr>
          <p:cNvSpPr>
            <a:spLocks noGrp="1"/>
          </p:cNvSpPr>
          <p:nvPr/>
        </p:nvSpPr>
        <p:spPr>
          <a:xfrm>
            <a:off x="876300" y="5600700"/>
            <a:ext cx="2381250" cy="438150"/>
          </a:xfrm>
          <a:prstGeom prst="roundRect">
            <a:avLst>
              <a:gd name="adj" fmla="val 19565"/>
            </a:avLst>
          </a:prstGeom>
          <a:solidFill>
            <a:srgbClr val="F7D8D8"/>
          </a:solidFill>
          <a:ln w="9525">
            <a:solidFill>
              <a:srgbClr val="F7D8D8"/>
            </a:solidFill>
            <a:prstDash val="solid"/>
          </a:ln>
        </p:spPr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33557BF-2EA2-4906-9246-1A44484B5421}"/>
              </a:ext>
            </a:extLst>
          </p:cNvPr>
          <p:cNvSpPr>
            <a:spLocks noGrp="1"/>
          </p:cNvSpPr>
          <p:nvPr/>
        </p:nvSpPr>
        <p:spPr>
          <a:xfrm>
            <a:off x="91440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1  생존 / 진행 보장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39729BD-76B2-4AFC-9C09-13D844635A22}"/>
              </a:ext>
            </a:extLst>
          </p:cNvPr>
          <p:cNvSpPr>
            <a:spLocks noGrp="1"/>
          </p:cNvSpPr>
          <p:nvPr/>
        </p:nvSpPr>
        <p:spPr>
          <a:xfrm>
            <a:off x="3352800" y="56864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B4A957A2-2104-4E69-9C05-9467A780EF20}"/>
              </a:ext>
            </a:extLst>
          </p:cNvPr>
          <p:cNvSpPr>
            <a:spLocks noGrp="1"/>
          </p:cNvSpPr>
          <p:nvPr/>
        </p:nvSpPr>
        <p:spPr>
          <a:xfrm>
            <a:off x="3857625" y="5600700"/>
            <a:ext cx="2381250" cy="438150"/>
          </a:xfrm>
          <a:prstGeom prst="roundRect">
            <a:avLst>
              <a:gd name="adj" fmla="val 19565"/>
            </a:avLst>
          </a:prstGeom>
          <a:solidFill>
            <a:srgbClr val="FFE3D4"/>
          </a:solidFill>
          <a:ln w="9525">
            <a:solidFill>
              <a:srgbClr val="FFE3D4"/>
            </a:solidFill>
            <a:prstDash val="solid"/>
          </a:ln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A742FA2-4E7F-40D7-94AA-240065405CB4}"/>
              </a:ext>
            </a:extLst>
          </p:cNvPr>
          <p:cNvSpPr>
            <a:spLocks noGrp="1"/>
          </p:cNvSpPr>
          <p:nvPr/>
        </p:nvSpPr>
        <p:spPr>
          <a:xfrm>
            <a:off x="3895725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2  강제 상태 처리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5765F72-569C-4224-A27E-F9DA55334CFB}"/>
              </a:ext>
            </a:extLst>
          </p:cNvPr>
          <p:cNvSpPr>
            <a:spLocks noGrp="1"/>
          </p:cNvSpPr>
          <p:nvPr/>
        </p:nvSpPr>
        <p:spPr>
          <a:xfrm>
            <a:off x="6334125" y="56864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0CBA627-80E0-496A-9976-A261EEB2D73A}"/>
              </a:ext>
            </a:extLst>
          </p:cNvPr>
          <p:cNvSpPr>
            <a:spLocks noGrp="1"/>
          </p:cNvSpPr>
          <p:nvPr/>
        </p:nvSpPr>
        <p:spPr>
          <a:xfrm>
            <a:off x="6838950" y="5600700"/>
            <a:ext cx="2381250" cy="438150"/>
          </a:xfrm>
          <a:prstGeom prst="roundRect">
            <a:avLst>
              <a:gd name="adj" fmla="val 19565"/>
            </a:avLst>
          </a:prstGeom>
          <a:solidFill>
            <a:srgbClr val="EDE4FA"/>
          </a:solidFill>
          <a:ln w="9525">
            <a:solidFill>
              <a:srgbClr val="EDE4FA"/>
            </a:solidFill>
            <a:prstDash val="solid"/>
          </a:ln>
        </p:spPr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55C5B27-77A3-4930-BF6E-EEC107F528B2}"/>
              </a:ext>
            </a:extLst>
          </p:cNvPr>
          <p:cNvSpPr>
            <a:spLocks noGrp="1"/>
          </p:cNvSpPr>
          <p:nvPr/>
        </p:nvSpPr>
        <p:spPr>
          <a:xfrm>
            <a:off x="6877050" y="5619750"/>
            <a:ext cx="2305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3  능력 효과 처리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93FC58D-ED74-49D3-A9BA-29B2F33ACCC2}"/>
              </a:ext>
            </a:extLst>
          </p:cNvPr>
          <p:cNvSpPr>
            <a:spLocks noGrp="1"/>
          </p:cNvSpPr>
          <p:nvPr/>
        </p:nvSpPr>
        <p:spPr>
          <a:xfrm>
            <a:off x="9315450" y="56864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500" b="1">
                <a:solidFill>
                  <a:srgbClr val="667B8B"/>
                </a:solidFill>
              </a:defRPr>
            </a:pPr>
            <a:r>
              <a:rPr sz="15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8DD2829-4678-42CE-8F8D-94D99CC9E2ED}"/>
              </a:ext>
            </a:extLst>
          </p:cNvPr>
          <p:cNvSpPr>
            <a:spLocks noGrp="1"/>
          </p:cNvSpPr>
          <p:nvPr/>
        </p:nvSpPr>
        <p:spPr>
          <a:xfrm>
            <a:off x="9667875" y="5600700"/>
            <a:ext cx="1809750" cy="438150"/>
          </a:xfrm>
          <a:prstGeom prst="roundRect">
            <a:avLst>
              <a:gd name="adj" fmla="val 19565"/>
            </a:avLst>
          </a:prstGeom>
          <a:solidFill>
            <a:srgbClr val="D9F5F1"/>
          </a:solidFill>
          <a:ln w="9525">
            <a:solidFill>
              <a:srgbClr val="D9F5F1"/>
            </a:solidFill>
            <a:prstDash val="solid"/>
          </a:ln>
        </p:spPr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3463FE7-7D7A-445C-B5C4-968AE54DC795}"/>
              </a:ext>
            </a:extLst>
          </p:cNvPr>
          <p:cNvSpPr>
            <a:spLocks noGrp="1"/>
          </p:cNvSpPr>
          <p:nvPr/>
        </p:nvSpPr>
        <p:spPr>
          <a:xfrm>
            <a:off x="9705975" y="5619750"/>
            <a:ext cx="17335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163247"/>
                </a:solidFill>
              </a:defRPr>
            </a:pPr>
            <a:r>
              <a:rPr sz="1000" b="1">
                <a:solidFill>
                  <a:srgbClr val="163247"/>
                </a:solidFill>
                <a:latin typeface="맑은 고딕"/>
                <a:ea typeface="맑은 고딕"/>
                <a:cs typeface="맑은 고딕"/>
              </a:rPr>
              <a:t>4  일반 입력 복귀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A64D48F-086D-4F56-AC05-1056A9C20905}"/>
              </a:ext>
            </a:extLst>
          </p:cNvPr>
          <p:cNvSpPr>
            <a:spLocks noGrp="1"/>
          </p:cNvSpPr>
          <p:nvPr/>
        </p:nvSpPr>
        <p:spPr>
          <a:xfrm>
            <a:off x="457200" y="6210300"/>
            <a:ext cx="11144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defRPr sz="1000" b="1">
                <a:solidFill>
                  <a:srgbClr val="667B8B"/>
                </a:solidFill>
              </a:defRPr>
            </a:pPr>
            <a:r>
              <a:rPr sz="1000" b="1">
                <a:solidFill>
                  <a:srgbClr val="667B8B"/>
                </a:solidFill>
                <a:latin typeface="맑은 고딕"/>
                <a:ea typeface="맑은 고딕"/>
                <a:cs typeface="맑은 고딕"/>
              </a:rPr>
              <a:t>안전장치는 규칙을 약하게 만드는 예외가 아니라, 규칙끼리 충돌해 플레이가 망가지지 않게 하는 처리 기준</a:t>
            </a:r>
          </a:p>
        </p:txBody>
      </p:sp>
    </p:spTree>
    <p:extLst>
      <p:ext uri="{BB962C8B-B14F-4D97-AF65-F5344CB8AC3E}">
        <p14:creationId xmlns:p14="http://schemas.microsoft.com/office/powerpoint/2010/main" val="7213022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1021</Words>
  <Application>Microsoft Office PowerPoint</Application>
  <DocSecurity>0</DocSecurity>
  <PresentationFormat>와이드스크린</PresentationFormat>
  <Paragraphs>268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musukie52@gmail.com</cp:lastModifiedBy>
  <cp:revision>1</cp:revision>
  <dcterms:created xsi:type="dcterms:W3CDTF">2026-08-24T01:42:07Z</dcterms:created>
  <dcterms:modified xsi:type="dcterms:W3CDTF">2026-08-24T02:17:38Z</dcterms:modified>
</cp:coreProperties>
</file>