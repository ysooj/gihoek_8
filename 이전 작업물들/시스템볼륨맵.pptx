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3" r:id="rId2"/>
    <p:sldId id="256" r:id="rId3"/>
    <p:sldId id="257" r:id="rId4"/>
    <p:sldId id="258" r:id="rId5"/>
    <p:sldId id="271" r:id="rId6"/>
    <p:sldId id="259" r:id="rId7"/>
    <p:sldId id="272" r:id="rId8"/>
    <p:sldId id="262" r:id="rId9"/>
    <p:sldId id="269" r:id="rId10"/>
    <p:sldId id="270" r:id="rId11"/>
    <p:sldId id="260" r:id="rId12"/>
    <p:sldId id="261" r:id="rId13"/>
    <p:sldId id="267" r:id="rId14"/>
    <p:sldId id="266" r:id="rId15"/>
    <p:sldId id="263" r:id="rId16"/>
    <p:sldId id="264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8" d="100"/>
          <a:sy n="58" d="100"/>
        </p:scale>
        <p:origin x="78" y="112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66928" y="329184"/>
            <a:ext cx="8595360" cy="402336"/>
          </a:xfrm>
          <a:prstGeom prst="rect">
            <a:avLst/>
          </a:prstGeom>
          <a:noFill/>
        </p:spPr>
        <p:txBody>
          <a:bodyPr wrap="square" lIns="0" tIns="0" rIns="0" bIns="0" anchor="ctr">
            <a:normAutofit fontScale="85000" lnSpcReduction="20000"/>
          </a:bodyPr>
          <a:lstStyle/>
          <a:p>
            <a:pPr algn="l">
              <a:lnSpc>
                <a:spcPct val="150000"/>
              </a:lnSpc>
              <a:defRPr sz="2400" b="1">
                <a:solidFill>
                  <a:srgbClr val="21252B"/>
                </a:solidFill>
                <a:latin typeface="맑은 고딕"/>
              </a:defRPr>
            </a:pPr>
            <a:r>
              <a:rPr lang="ko-KR" altLang="en-US" smtClean="0"/>
              <a:t>목차</a:t>
            </a:r>
            <a:endParaRPr dirty="0"/>
          </a:p>
        </p:txBody>
      </p:sp>
      <p:sp>
        <p:nvSpPr>
          <p:cNvPr id="8" name="TextBox 7"/>
          <p:cNvSpPr txBox="1">
            <a:spLocks/>
          </p:cNvSpPr>
          <p:nvPr/>
        </p:nvSpPr>
        <p:spPr>
          <a:xfrm>
            <a:off x="566928" y="1176615"/>
            <a:ext cx="9607850" cy="5170646"/>
          </a:xfrm>
          <a:prstGeom prst="rect">
            <a:avLst/>
          </a:prstGeom>
          <a:noFill/>
        </p:spPr>
        <p:txBody>
          <a:bodyPr wrap="square" numCol="2" rtlCol="0">
            <a:spAutoFit/>
          </a:bodyPr>
          <a:lstStyle/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1000" b="1" smtClean="0"/>
              <a:t>개요</a:t>
            </a:r>
            <a:endParaRPr lang="en-US" altLang="ko-KR" sz="1000" b="1" smtClean="0"/>
          </a:p>
          <a:p>
            <a:pPr lvl="1">
              <a:lnSpc>
                <a:spcPct val="150000"/>
              </a:lnSpc>
            </a:pPr>
            <a:r>
              <a:rPr lang="en-US" altLang="ko-KR" sz="1000" smtClean="0"/>
              <a:t>1.1   </a:t>
            </a:r>
            <a:r>
              <a:rPr lang="ko-KR" altLang="en-US" sz="1000" smtClean="0"/>
              <a:t>시스템 목적</a:t>
            </a:r>
            <a:endParaRPr lang="en-US" altLang="ko-KR" sz="1000" smtClean="0"/>
          </a:p>
          <a:p>
            <a:pPr lvl="1">
              <a:lnSpc>
                <a:spcPct val="150000"/>
              </a:lnSpc>
            </a:pPr>
            <a:r>
              <a:rPr lang="en-US" altLang="ko-KR" sz="1000" smtClean="0"/>
              <a:t>1.2   </a:t>
            </a:r>
            <a:r>
              <a:rPr lang="ko-KR" altLang="en-US" sz="1000" smtClean="0"/>
              <a:t>선의 시스템 정의</a:t>
            </a:r>
            <a:endParaRPr lang="en-US" altLang="ko-KR" sz="1000" smtClean="0"/>
          </a:p>
          <a:p>
            <a:pPr lvl="1">
              <a:lnSpc>
                <a:spcPct val="150000"/>
              </a:lnSpc>
            </a:pPr>
            <a:r>
              <a:rPr lang="en-US" altLang="ko-KR" sz="1000" smtClean="0"/>
              <a:t>1.3   </a:t>
            </a:r>
            <a:r>
              <a:rPr lang="ko-KR" altLang="en-US" sz="1000" smtClean="0"/>
              <a:t>핵심 플레이 경험</a:t>
            </a:r>
            <a:endParaRPr lang="en-US" altLang="ko-KR" sz="1000" smtClean="0"/>
          </a:p>
          <a:p>
            <a:pPr lvl="1">
              <a:lnSpc>
                <a:spcPct val="150000"/>
              </a:lnSpc>
            </a:pPr>
            <a:r>
              <a:rPr lang="en-US" altLang="ko-KR" sz="1000" smtClean="0"/>
              <a:t>1.4   </a:t>
            </a:r>
            <a:r>
              <a:rPr lang="ko-KR" altLang="en-US" sz="1000" smtClean="0"/>
              <a:t>적용 대상</a:t>
            </a:r>
            <a:endParaRPr lang="en-US" altLang="ko-KR" sz="1000" smtClean="0"/>
          </a:p>
          <a:p>
            <a:pPr marL="685800" lvl="1" indent="-228600">
              <a:lnSpc>
                <a:spcPct val="150000"/>
              </a:lnSpc>
              <a:buFont typeface="+mj-lt"/>
              <a:buAutoNum type="arabicPeriod"/>
            </a:pPr>
            <a:endParaRPr lang="en-US" altLang="ko-KR" sz="1000" smtClean="0"/>
          </a:p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1000" b="1" smtClean="0"/>
              <a:t>구조도</a:t>
            </a:r>
            <a:endParaRPr lang="en-US" altLang="ko-KR" sz="1000" b="1" smtClean="0"/>
          </a:p>
          <a:p>
            <a:pPr lvl="1">
              <a:lnSpc>
                <a:spcPct val="150000"/>
              </a:lnSpc>
            </a:pPr>
            <a:r>
              <a:rPr lang="en-US" altLang="ko-KR" sz="1000"/>
              <a:t>2</a:t>
            </a:r>
            <a:r>
              <a:rPr lang="en-US" altLang="ko-KR" sz="1000" smtClean="0"/>
              <a:t>.1   </a:t>
            </a:r>
            <a:r>
              <a:rPr lang="ko-KR" altLang="en-US" sz="1000" smtClean="0"/>
              <a:t>전체 시스템 구조도</a:t>
            </a:r>
            <a:endParaRPr lang="en-US" altLang="ko-KR" sz="1000" smtClean="0"/>
          </a:p>
          <a:p>
            <a:pPr lvl="1">
              <a:lnSpc>
                <a:spcPct val="150000"/>
              </a:lnSpc>
            </a:pPr>
            <a:r>
              <a:rPr lang="en-US" altLang="ko-KR" sz="1000"/>
              <a:t>2</a:t>
            </a:r>
            <a:r>
              <a:rPr lang="en-US" altLang="ko-KR" sz="1000" smtClean="0"/>
              <a:t>.2   </a:t>
            </a:r>
            <a:r>
              <a:rPr lang="ko-KR" altLang="en-US" sz="1000" smtClean="0"/>
              <a:t>시스템 볼륨 맵</a:t>
            </a:r>
            <a:endParaRPr lang="en-US" altLang="ko-KR" sz="1000" smtClean="0"/>
          </a:p>
          <a:p>
            <a:pPr lvl="1">
              <a:lnSpc>
                <a:spcPct val="150000"/>
              </a:lnSpc>
            </a:pPr>
            <a:r>
              <a:rPr lang="en-US" altLang="ko-KR" sz="1000"/>
              <a:t>2</a:t>
            </a:r>
            <a:r>
              <a:rPr lang="en-US" altLang="ko-KR" sz="1000" smtClean="0"/>
              <a:t>.3   </a:t>
            </a:r>
            <a:r>
              <a:rPr lang="ko-KR" altLang="en-US" sz="1000" smtClean="0"/>
              <a:t>시스템 순환 구조</a:t>
            </a:r>
            <a:endParaRPr lang="en-US" altLang="ko-KR" sz="1000" smtClean="0"/>
          </a:p>
          <a:p>
            <a:pPr marL="685800" lvl="1" indent="-228600">
              <a:lnSpc>
                <a:spcPct val="150000"/>
              </a:lnSpc>
              <a:buFont typeface="+mj-lt"/>
              <a:buAutoNum type="arabicPeriod"/>
            </a:pPr>
            <a:endParaRPr lang="en-US" altLang="ko-KR" sz="1000" b="1"/>
          </a:p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1000" b="1" smtClean="0"/>
              <a:t>선의 데이터 구조</a:t>
            </a:r>
            <a:endParaRPr lang="en-US" altLang="ko-KR" sz="1000" b="1" smtClean="0"/>
          </a:p>
          <a:p>
            <a:pPr lvl="1">
              <a:lnSpc>
                <a:spcPct val="150000"/>
              </a:lnSpc>
            </a:pPr>
            <a:r>
              <a:rPr lang="en-US" altLang="ko-KR" sz="1000" smtClean="0"/>
              <a:t>3.1   </a:t>
            </a:r>
            <a:r>
              <a:rPr lang="ko-KR" altLang="en-US" sz="1000" smtClean="0"/>
              <a:t>선의 값 정의</a:t>
            </a:r>
            <a:endParaRPr lang="en-US" altLang="ko-KR" sz="1000" smtClean="0"/>
          </a:p>
          <a:p>
            <a:pPr lvl="1">
              <a:lnSpc>
                <a:spcPct val="150000"/>
              </a:lnSpc>
            </a:pPr>
            <a:r>
              <a:rPr lang="en-US" altLang="ko-KR" sz="1000" smtClean="0"/>
              <a:t>3.2 </a:t>
            </a:r>
            <a:r>
              <a:rPr lang="ko-KR" altLang="en-US" sz="1000" smtClean="0"/>
              <a:t>선의 보유 대상</a:t>
            </a:r>
            <a:endParaRPr lang="en-US" altLang="ko-KR" sz="1000" smtClean="0"/>
          </a:p>
          <a:p>
            <a:pPr marL="685800" lvl="1" indent="-228600">
              <a:lnSpc>
                <a:spcPct val="150000"/>
              </a:lnSpc>
              <a:buFont typeface="+mj-lt"/>
              <a:buAutoNum type="arabicPeriod"/>
            </a:pPr>
            <a:endParaRPr lang="en-US" altLang="ko-KR" sz="1000"/>
          </a:p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1000" b="1" smtClean="0"/>
              <a:t>선의 변화 규칙</a:t>
            </a:r>
            <a:endParaRPr lang="en-US" altLang="ko-KR" sz="1000" b="1" smtClean="0"/>
          </a:p>
          <a:p>
            <a:pPr lvl="1">
              <a:lnSpc>
                <a:spcPct val="150000"/>
              </a:lnSpc>
            </a:pPr>
            <a:r>
              <a:rPr lang="en-US" altLang="ko-KR" sz="1000" smtClean="0"/>
              <a:t>4.1   </a:t>
            </a:r>
            <a:r>
              <a:rPr lang="ko-KR" altLang="en-US" sz="1000" smtClean="0"/>
              <a:t>선의 감소 조건</a:t>
            </a:r>
            <a:endParaRPr lang="en-US" altLang="ko-KR" sz="1000" smtClean="0"/>
          </a:p>
          <a:p>
            <a:pPr lvl="1">
              <a:lnSpc>
                <a:spcPct val="150000"/>
              </a:lnSpc>
            </a:pPr>
            <a:r>
              <a:rPr lang="en-US" altLang="ko-KR" sz="1000" smtClean="0"/>
              <a:t>4.2   </a:t>
            </a:r>
            <a:r>
              <a:rPr lang="ko-KR" altLang="en-US" sz="1000" smtClean="0"/>
              <a:t>선의 </a:t>
            </a:r>
            <a:r>
              <a:rPr lang="en-US" altLang="ko-KR" sz="1000" smtClean="0"/>
              <a:t>0 </a:t>
            </a:r>
            <a:r>
              <a:rPr lang="ko-KR" altLang="en-US" sz="1000" smtClean="0"/>
              <a:t>판정</a:t>
            </a:r>
            <a:endParaRPr lang="en-US" altLang="ko-KR" sz="1000" smtClean="0"/>
          </a:p>
          <a:p>
            <a:pPr marL="685800" lvl="1" indent="-228600">
              <a:lnSpc>
                <a:spcPct val="150000"/>
              </a:lnSpc>
              <a:buFont typeface="+mj-lt"/>
              <a:buAutoNum type="arabicPeriod"/>
            </a:pPr>
            <a:endParaRPr lang="en-US" altLang="ko-KR" sz="1000"/>
          </a:p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1000" b="1" smtClean="0"/>
              <a:t>선의 상태별 행동 규칙</a:t>
            </a:r>
            <a:endParaRPr lang="en-US" altLang="ko-KR" sz="1000" b="1" smtClean="0"/>
          </a:p>
          <a:p>
            <a:pPr lvl="1">
              <a:lnSpc>
                <a:spcPct val="150000"/>
              </a:lnSpc>
            </a:pPr>
            <a:r>
              <a:rPr lang="en-US" altLang="ko-KR" sz="1000" smtClean="0"/>
              <a:t>5.1 </a:t>
            </a:r>
            <a:r>
              <a:rPr lang="ko-KR" altLang="en-US" sz="1000" smtClean="0"/>
              <a:t>유인 파동 반응</a:t>
            </a:r>
            <a:endParaRPr lang="en-US" altLang="ko-KR" sz="1000" smtClean="0"/>
          </a:p>
          <a:p>
            <a:pPr lvl="1">
              <a:lnSpc>
                <a:spcPct val="150000"/>
              </a:lnSpc>
            </a:pPr>
            <a:r>
              <a:rPr lang="en-US" altLang="ko-KR" sz="1000" smtClean="0"/>
              <a:t>5.2 </a:t>
            </a:r>
            <a:r>
              <a:rPr lang="ko-KR" altLang="en-US" sz="1000" smtClean="0"/>
              <a:t>균열 반응</a:t>
            </a:r>
            <a:endParaRPr lang="en-US" altLang="ko-KR" sz="1000" smtClean="0"/>
          </a:p>
          <a:p>
            <a:pPr marL="228600" indent="-228600">
              <a:lnSpc>
                <a:spcPct val="150000"/>
              </a:lnSpc>
              <a:buAutoNum type="arabicPeriod"/>
            </a:pPr>
            <a:r>
              <a:rPr lang="ko-KR" altLang="en-US" sz="1000" b="1"/>
              <a:t>변이체와 선의</a:t>
            </a:r>
            <a:endParaRPr lang="en-US" altLang="ko-KR" sz="1000" b="1"/>
          </a:p>
          <a:p>
            <a:pPr lvl="1">
              <a:lnSpc>
                <a:spcPct val="150000"/>
              </a:lnSpc>
            </a:pPr>
            <a:r>
              <a:rPr lang="en-US" altLang="ko-KR" sz="1000"/>
              <a:t>6.1 </a:t>
            </a:r>
            <a:r>
              <a:rPr lang="ko-KR" altLang="en-US" sz="1000"/>
              <a:t>변이체의 선의 인식</a:t>
            </a:r>
            <a:endParaRPr lang="en-US" altLang="ko-KR" sz="1000"/>
          </a:p>
          <a:p>
            <a:pPr lvl="1">
              <a:lnSpc>
                <a:spcPct val="150000"/>
              </a:lnSpc>
            </a:pPr>
            <a:r>
              <a:rPr lang="en-US" altLang="ko-KR" sz="1000"/>
              <a:t>6.2 </a:t>
            </a:r>
            <a:r>
              <a:rPr lang="ko-KR" altLang="en-US" sz="1000"/>
              <a:t>타입별 행동 차이</a:t>
            </a:r>
            <a:endParaRPr lang="en-US" altLang="ko-KR" sz="1000"/>
          </a:p>
          <a:p>
            <a:pPr marL="685800" lvl="1" indent="-228600">
              <a:lnSpc>
                <a:spcPct val="150000"/>
              </a:lnSpc>
              <a:buFont typeface="+mj-lt"/>
              <a:buAutoNum type="arabicPeriod"/>
            </a:pPr>
            <a:endParaRPr lang="en-US" altLang="ko-KR" sz="1000" b="1" smtClean="0"/>
          </a:p>
        </p:txBody>
      </p:sp>
    </p:spTree>
    <p:extLst>
      <p:ext uri="{BB962C8B-B14F-4D97-AF65-F5344CB8AC3E}">
        <p14:creationId xmlns:p14="http://schemas.microsoft.com/office/powerpoint/2010/main" val="28732131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Oval 30"/>
          <p:cNvSpPr/>
          <p:nvPr/>
        </p:nvSpPr>
        <p:spPr>
          <a:xfrm>
            <a:off x="8127916" y="3111881"/>
            <a:ext cx="1444752" cy="1444752"/>
          </a:xfrm>
          <a:prstGeom prst="ellipse">
            <a:avLst/>
          </a:prstGeom>
          <a:solidFill>
            <a:srgbClr val="042D62"/>
          </a:solidFill>
          <a:ln w="25400">
            <a:solidFill>
              <a:srgbClr val="042D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>
            <a:norm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맑은 고딕"/>
              </a:defRPr>
            </a:pPr>
            <a:r>
              <a:t>선의</a:t>
            </a:r>
          </a:p>
        </p:txBody>
      </p:sp>
      <p:sp>
        <p:nvSpPr>
          <p:cNvPr id="32" name="Oval 31"/>
          <p:cNvSpPr/>
          <p:nvPr/>
        </p:nvSpPr>
        <p:spPr>
          <a:xfrm>
            <a:off x="7467262" y="1471376"/>
            <a:ext cx="1444752" cy="1444752"/>
          </a:xfrm>
          <a:prstGeom prst="ellipse">
            <a:avLst/>
          </a:prstGeom>
          <a:solidFill>
            <a:srgbClr val="E8F2FF"/>
          </a:solidFill>
          <a:ln w="25400">
            <a:solidFill>
              <a:srgbClr val="5B8D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>
            <a:normAutofit/>
          </a:bodyPr>
          <a:lstStyle/>
          <a:p>
            <a:pPr algn="ctr">
              <a:defRPr sz="1800" b="1">
                <a:solidFill>
                  <a:srgbClr val="21252B"/>
                </a:solidFill>
                <a:latin typeface="맑은 고딕"/>
              </a:defRPr>
            </a:pPr>
            <a:r>
              <a:t>균열</a:t>
            </a:r>
          </a:p>
        </p:txBody>
      </p:sp>
      <p:sp>
        <p:nvSpPr>
          <p:cNvPr id="33" name="Oval 32"/>
          <p:cNvSpPr/>
          <p:nvPr/>
        </p:nvSpPr>
        <p:spPr>
          <a:xfrm>
            <a:off x="7140364" y="4154297"/>
            <a:ext cx="987552" cy="987552"/>
          </a:xfrm>
          <a:prstGeom prst="ellipse">
            <a:avLst/>
          </a:prstGeom>
          <a:solidFill>
            <a:srgbClr val="E8F2FF"/>
          </a:solidFill>
          <a:ln w="17145">
            <a:solidFill>
              <a:srgbClr val="5B8D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>
            <a:normAutofit/>
          </a:bodyPr>
          <a:lstStyle/>
          <a:p>
            <a:pPr algn="ctr">
              <a:defRPr sz="1120" b="1">
                <a:solidFill>
                  <a:srgbClr val="21252B"/>
                </a:solidFill>
                <a:latin typeface="맑은 고딕"/>
              </a:defRPr>
            </a:pPr>
            <a:r>
              <a:t>NPC</a:t>
            </a:r>
          </a:p>
        </p:txBody>
      </p:sp>
      <p:sp>
        <p:nvSpPr>
          <p:cNvPr id="34" name="Oval 33"/>
          <p:cNvSpPr/>
          <p:nvPr/>
        </p:nvSpPr>
        <p:spPr>
          <a:xfrm>
            <a:off x="9081178" y="2124329"/>
            <a:ext cx="987552" cy="987552"/>
          </a:xfrm>
          <a:prstGeom prst="ellipse">
            <a:avLst/>
          </a:prstGeom>
          <a:solidFill>
            <a:srgbClr val="EAF8F0"/>
          </a:solidFill>
          <a:ln w="17145">
            <a:solidFill>
              <a:srgbClr val="55AF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>
            <a:normAutofit/>
          </a:bodyPr>
          <a:lstStyle/>
          <a:p>
            <a:pPr algn="ctr">
              <a:defRPr sz="1120" b="1">
                <a:solidFill>
                  <a:srgbClr val="21252B"/>
                </a:solidFill>
                <a:latin typeface="맑은 고딕"/>
              </a:defRPr>
            </a:pPr>
            <a:r>
              <a:t>주인공</a:t>
            </a:r>
          </a:p>
        </p:txBody>
      </p:sp>
      <p:sp>
        <p:nvSpPr>
          <p:cNvPr id="35" name="Oval 34"/>
          <p:cNvSpPr/>
          <p:nvPr/>
        </p:nvSpPr>
        <p:spPr>
          <a:xfrm>
            <a:off x="6853746" y="2970992"/>
            <a:ext cx="987552" cy="987552"/>
          </a:xfrm>
          <a:prstGeom prst="ellipse">
            <a:avLst/>
          </a:prstGeom>
          <a:solidFill>
            <a:srgbClr val="F1ECFF"/>
          </a:solidFill>
          <a:ln w="17145">
            <a:solidFill>
              <a:srgbClr val="8B75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>
            <a:normAutofit/>
          </a:bodyPr>
          <a:lstStyle/>
          <a:p>
            <a:pPr algn="ctr">
              <a:defRPr sz="1120" b="1">
                <a:solidFill>
                  <a:srgbClr val="21252B"/>
                </a:solidFill>
                <a:latin typeface="맑은 고딕"/>
              </a:defRPr>
            </a:pPr>
            <a:r>
              <a:t>변이</a:t>
            </a:r>
          </a:p>
        </p:txBody>
      </p:sp>
      <p:sp>
        <p:nvSpPr>
          <p:cNvPr id="36" name="Oval 35"/>
          <p:cNvSpPr/>
          <p:nvPr/>
        </p:nvSpPr>
        <p:spPr>
          <a:xfrm>
            <a:off x="5983648" y="3847130"/>
            <a:ext cx="987552" cy="987552"/>
          </a:xfrm>
          <a:prstGeom prst="ellipse">
            <a:avLst/>
          </a:prstGeom>
          <a:solidFill>
            <a:srgbClr val="F1ECFF"/>
          </a:solidFill>
          <a:ln w="17145">
            <a:solidFill>
              <a:srgbClr val="8B75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>
            <a:normAutofit/>
          </a:bodyPr>
          <a:lstStyle/>
          <a:p>
            <a:pPr algn="ctr">
              <a:defRPr sz="1120" b="1">
                <a:solidFill>
                  <a:srgbClr val="21252B"/>
                </a:solidFill>
                <a:latin typeface="맑은 고딕"/>
              </a:defRPr>
            </a:pPr>
            <a:r>
              <a:t>몬스터</a:t>
            </a:r>
          </a:p>
        </p:txBody>
      </p:sp>
      <p:sp>
        <p:nvSpPr>
          <p:cNvPr id="37" name="Oval 36"/>
          <p:cNvSpPr/>
          <p:nvPr/>
        </p:nvSpPr>
        <p:spPr>
          <a:xfrm>
            <a:off x="6177090" y="4980986"/>
            <a:ext cx="987552" cy="987552"/>
          </a:xfrm>
          <a:prstGeom prst="ellipse">
            <a:avLst/>
          </a:prstGeom>
          <a:solidFill>
            <a:srgbClr val="F1ECFF"/>
          </a:solidFill>
          <a:ln w="17145">
            <a:solidFill>
              <a:srgbClr val="8B75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>
            <a:normAutofit/>
          </a:bodyPr>
          <a:lstStyle/>
          <a:p>
            <a:pPr algn="ctr">
              <a:defRPr sz="950" b="1">
                <a:solidFill>
                  <a:srgbClr val="21252B"/>
                </a:solidFill>
                <a:latin typeface="맑은 고딕"/>
              </a:defRPr>
            </a:pPr>
            <a:r>
              <a:t>몬스터 AI</a:t>
            </a:r>
          </a:p>
        </p:txBody>
      </p:sp>
      <p:sp>
        <p:nvSpPr>
          <p:cNvPr id="38" name="Oval 37"/>
          <p:cNvSpPr/>
          <p:nvPr/>
        </p:nvSpPr>
        <p:spPr>
          <a:xfrm>
            <a:off x="6670866" y="2243201"/>
            <a:ext cx="676656" cy="676656"/>
          </a:xfrm>
          <a:prstGeom prst="ellipse">
            <a:avLst/>
          </a:prstGeom>
          <a:solidFill>
            <a:srgbClr val="F1ECFF"/>
          </a:solidFill>
          <a:ln w="17145">
            <a:solidFill>
              <a:srgbClr val="8B75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>
            <a:normAutofit/>
          </a:bodyPr>
          <a:lstStyle/>
          <a:p>
            <a:pPr algn="ctr">
              <a:defRPr sz="950" b="1">
                <a:solidFill>
                  <a:srgbClr val="21252B"/>
                </a:solidFill>
                <a:latin typeface="맑은 고딕"/>
              </a:defRPr>
            </a:pPr>
            <a:r>
              <a:t>유인 파동</a:t>
            </a:r>
          </a:p>
        </p:txBody>
      </p:sp>
      <p:sp>
        <p:nvSpPr>
          <p:cNvPr id="39" name="Oval 38"/>
          <p:cNvSpPr/>
          <p:nvPr/>
        </p:nvSpPr>
        <p:spPr>
          <a:xfrm>
            <a:off x="5874470" y="1855424"/>
            <a:ext cx="676656" cy="676656"/>
          </a:xfrm>
          <a:prstGeom prst="ellipse">
            <a:avLst/>
          </a:prstGeom>
          <a:solidFill>
            <a:srgbClr val="F1ECFF"/>
          </a:solidFill>
          <a:ln w="17145">
            <a:solidFill>
              <a:srgbClr val="8B75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>
            <a:normAutofit/>
          </a:bodyPr>
          <a:lstStyle/>
          <a:p>
            <a:pPr algn="ctr">
              <a:defRPr sz="860" b="1">
                <a:solidFill>
                  <a:srgbClr val="21252B"/>
                </a:solidFill>
                <a:latin typeface="맑은 고딕"/>
              </a:defRPr>
            </a:pPr>
            <a:r>
              <a:t>시간대</a:t>
            </a:r>
          </a:p>
        </p:txBody>
      </p:sp>
      <p:sp>
        <p:nvSpPr>
          <p:cNvPr id="40" name="Oval 39"/>
          <p:cNvSpPr/>
          <p:nvPr/>
        </p:nvSpPr>
        <p:spPr>
          <a:xfrm>
            <a:off x="5306992" y="5273328"/>
            <a:ext cx="676656" cy="676656"/>
          </a:xfrm>
          <a:prstGeom prst="ellipse">
            <a:avLst/>
          </a:prstGeom>
          <a:solidFill>
            <a:srgbClr val="F1ECFF"/>
          </a:solidFill>
          <a:ln w="17145">
            <a:solidFill>
              <a:srgbClr val="8B75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>
            <a:normAutofit/>
          </a:bodyPr>
          <a:lstStyle/>
          <a:p>
            <a:pPr algn="ctr">
              <a:defRPr sz="950" b="1">
                <a:solidFill>
                  <a:srgbClr val="21252B"/>
                </a:solidFill>
                <a:latin typeface="맑은 고딕"/>
              </a:defRPr>
            </a:pPr>
            <a:r>
              <a:t>몬스터 타입</a:t>
            </a:r>
          </a:p>
        </p:txBody>
      </p:sp>
      <p:sp>
        <p:nvSpPr>
          <p:cNvPr id="41" name="Oval 40"/>
          <p:cNvSpPr/>
          <p:nvPr/>
        </p:nvSpPr>
        <p:spPr>
          <a:xfrm>
            <a:off x="7128934" y="862457"/>
            <a:ext cx="676656" cy="676656"/>
          </a:xfrm>
          <a:prstGeom prst="ellipse">
            <a:avLst/>
          </a:prstGeom>
          <a:solidFill>
            <a:srgbClr val="E8F8F8"/>
          </a:solidFill>
          <a:ln w="17145">
            <a:solidFill>
              <a:srgbClr val="4AB0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>
            <a:normAutofit/>
          </a:bodyPr>
          <a:lstStyle/>
          <a:p>
            <a:pPr algn="ctr">
              <a:defRPr sz="950" b="1">
                <a:solidFill>
                  <a:srgbClr val="21252B"/>
                </a:solidFill>
                <a:latin typeface="맑은 고딕"/>
              </a:defRPr>
            </a:pPr>
            <a:r>
              <a:rPr dirty="0" err="1"/>
              <a:t>인간</a:t>
            </a:r>
            <a:endParaRPr lang="en-US" dirty="0"/>
          </a:p>
          <a:p>
            <a:pPr algn="ctr">
              <a:defRPr sz="950" b="1">
                <a:solidFill>
                  <a:srgbClr val="21252B"/>
                </a:solidFill>
                <a:latin typeface="맑은 고딕"/>
              </a:defRPr>
            </a:pPr>
            <a:r>
              <a:rPr dirty="0" err="1"/>
              <a:t>껍데기</a:t>
            </a:r>
            <a:endParaRPr dirty="0"/>
          </a:p>
        </p:txBody>
      </p:sp>
      <p:sp>
        <p:nvSpPr>
          <p:cNvPr id="42" name="Oval 41"/>
          <p:cNvSpPr/>
          <p:nvPr/>
        </p:nvSpPr>
        <p:spPr>
          <a:xfrm>
            <a:off x="8573686" y="862457"/>
            <a:ext cx="676656" cy="676656"/>
          </a:xfrm>
          <a:prstGeom prst="ellipse">
            <a:avLst/>
          </a:prstGeom>
          <a:solidFill>
            <a:srgbClr val="E8F8F8"/>
          </a:solidFill>
          <a:ln w="17145">
            <a:solidFill>
              <a:srgbClr val="4AB0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>
            <a:normAutofit/>
          </a:bodyPr>
          <a:lstStyle/>
          <a:p>
            <a:pPr algn="ctr">
              <a:defRPr sz="950" b="1">
                <a:solidFill>
                  <a:srgbClr val="21252B"/>
                </a:solidFill>
                <a:latin typeface="맑은 고딕"/>
              </a:defRPr>
            </a:pPr>
            <a:r>
              <a:t>선의의 바다</a:t>
            </a:r>
          </a:p>
        </p:txBody>
      </p:sp>
      <p:sp>
        <p:nvSpPr>
          <p:cNvPr id="43" name="Oval 42"/>
          <p:cNvSpPr/>
          <p:nvPr/>
        </p:nvSpPr>
        <p:spPr>
          <a:xfrm>
            <a:off x="9828150" y="1471376"/>
            <a:ext cx="676656" cy="676656"/>
          </a:xfrm>
          <a:prstGeom prst="ellipse">
            <a:avLst/>
          </a:prstGeom>
          <a:solidFill>
            <a:srgbClr val="FFF2E6"/>
          </a:solidFill>
          <a:ln w="17145">
            <a:solidFill>
              <a:srgbClr val="E19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>
            <a:normAutofit/>
          </a:bodyPr>
          <a:lstStyle/>
          <a:p>
            <a:pPr algn="ctr">
              <a:defRPr sz="860" b="1">
                <a:solidFill>
                  <a:srgbClr val="21252B"/>
                </a:solidFill>
                <a:latin typeface="맑은 고딕"/>
              </a:defRPr>
            </a:pPr>
            <a:r>
              <a:t>전투</a:t>
            </a:r>
          </a:p>
        </p:txBody>
      </p:sp>
      <p:sp>
        <p:nvSpPr>
          <p:cNvPr id="44" name="Oval 43"/>
          <p:cNvSpPr/>
          <p:nvPr/>
        </p:nvSpPr>
        <p:spPr>
          <a:xfrm>
            <a:off x="10200277" y="2310359"/>
            <a:ext cx="676656" cy="676656"/>
          </a:xfrm>
          <a:prstGeom prst="ellipse">
            <a:avLst/>
          </a:prstGeom>
          <a:solidFill>
            <a:srgbClr val="FFF2E6"/>
          </a:solidFill>
          <a:ln w="17145">
            <a:solidFill>
              <a:srgbClr val="E19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>
            <a:normAutofit/>
          </a:bodyPr>
          <a:lstStyle/>
          <a:p>
            <a:pPr algn="ctr">
              <a:defRPr sz="860" b="1">
                <a:solidFill>
                  <a:srgbClr val="21252B"/>
                </a:solidFill>
                <a:latin typeface="맑은 고딕"/>
              </a:defRPr>
            </a:pPr>
            <a:r>
              <a:t>구조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9676" y="3249324"/>
            <a:ext cx="377647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200" b="1" smtClean="0"/>
              <a:t>선의 시스템 볼륨 맵</a:t>
            </a:r>
            <a:endParaRPr lang="ko-KR" altLang="en-US" sz="2200" b="1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29184"/>
            <a:ext cx="8595360" cy="402336"/>
          </a:xfrm>
          <a:prstGeom prst="rect">
            <a:avLst/>
          </a:prstGeom>
          <a:noFill/>
        </p:spPr>
        <p:txBody>
          <a:bodyPr wrap="square" lIns="0" tIns="0" rIns="0" bIns="0" anchor="ctr">
            <a:normAutofit fontScale="85000" lnSpcReduction="20000"/>
          </a:bodyPr>
          <a:lstStyle/>
          <a:p>
            <a:pPr algn="l">
              <a:lnSpc>
                <a:spcPct val="150000"/>
              </a:lnSpc>
              <a:defRPr sz="2400" b="1">
                <a:solidFill>
                  <a:srgbClr val="21252B"/>
                </a:solidFill>
                <a:latin typeface="맑은 고딕"/>
              </a:defRPr>
            </a:pPr>
            <a:r>
              <a:rPr dirty="0" err="1"/>
              <a:t>선의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585216" y="786384"/>
            <a:ext cx="10241280" cy="27432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50000"/>
              </a:lnSpc>
              <a:defRPr sz="1050" b="0">
                <a:solidFill>
                  <a:srgbClr val="66707A"/>
                </a:solidFill>
                <a:latin typeface="맑은 고딕"/>
              </a:defRPr>
            </a:pPr>
            <a:r>
              <a:rPr dirty="0" err="1"/>
              <a:t>인간의</a:t>
            </a:r>
            <a:r>
              <a:rPr dirty="0"/>
              <a:t> </a:t>
            </a:r>
            <a:r>
              <a:rPr dirty="0" err="1"/>
              <a:t>상태와</a:t>
            </a:r>
            <a:r>
              <a:rPr dirty="0"/>
              <a:t> </a:t>
            </a:r>
            <a:r>
              <a:rPr dirty="0" err="1"/>
              <a:t>월드</a:t>
            </a:r>
            <a:r>
              <a:rPr dirty="0"/>
              <a:t> </a:t>
            </a:r>
            <a:r>
              <a:rPr dirty="0" err="1"/>
              <a:t>반응을</a:t>
            </a:r>
            <a:r>
              <a:rPr dirty="0"/>
              <a:t> </a:t>
            </a:r>
            <a:r>
              <a:rPr dirty="0" err="1"/>
              <a:t>결정하는</a:t>
            </a:r>
            <a:r>
              <a:rPr dirty="0"/>
              <a:t> </a:t>
            </a:r>
            <a:r>
              <a:rPr dirty="0" err="1"/>
              <a:t>핵심</a:t>
            </a:r>
            <a:r>
              <a:rPr dirty="0"/>
              <a:t> </a:t>
            </a:r>
            <a:r>
              <a:rPr dirty="0" err="1"/>
              <a:t>판정값</a:t>
            </a:r>
            <a:endParaRPr dirty="0"/>
          </a:p>
        </p:txBody>
      </p:sp>
      <p:cxnSp>
        <p:nvCxnSpPr>
          <p:cNvPr id="4" name="Connector 3"/>
          <p:cNvCxnSpPr/>
          <p:nvPr/>
        </p:nvCxnSpPr>
        <p:spPr>
          <a:xfrm>
            <a:off x="566928" y="1078992"/>
            <a:ext cx="11045952" cy="0"/>
          </a:xfrm>
          <a:prstGeom prst="line">
            <a:avLst/>
          </a:prstGeom>
          <a:ln w="12700">
            <a:solidFill>
              <a:srgbClr val="EFF2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3526596" y="2204305"/>
            <a:ext cx="1024128" cy="1024128"/>
          </a:xfrm>
          <a:prstGeom prst="ellipse">
            <a:avLst/>
          </a:prstGeom>
          <a:solidFill>
            <a:srgbClr val="042D62"/>
          </a:solidFill>
          <a:ln w="17145">
            <a:solidFill>
              <a:srgbClr val="042D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>
            <a:normAutofit/>
          </a:bodyPr>
          <a:lstStyle/>
          <a:p>
            <a:pPr algn="ctr">
              <a:lnSpc>
                <a:spcPct val="150000"/>
              </a:lnSpc>
              <a:defRPr sz="1800" b="1">
                <a:solidFill>
                  <a:srgbClr val="FFFFFF"/>
                </a:solidFill>
                <a:latin typeface="맑은 고딕"/>
              </a:defRPr>
            </a:pPr>
            <a:r>
              <a:t>선의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10587" y="3696839"/>
            <a:ext cx="4864519" cy="621792"/>
          </a:xfrm>
          <a:prstGeom prst="rect">
            <a:avLst/>
          </a:prstGeom>
          <a:noFill/>
        </p:spPr>
        <p:txBody>
          <a:bodyPr wrap="square" lIns="0" tIns="0" rIns="0" bIns="0" anchor="ctr">
            <a:normAutofit fontScale="92500" lnSpcReduction="10000"/>
          </a:bodyPr>
          <a:lstStyle/>
          <a:p>
            <a:pPr algn="ctr">
              <a:lnSpc>
                <a:spcPct val="150000"/>
              </a:lnSpc>
              <a:defRPr sz="1720" b="1">
                <a:solidFill>
                  <a:srgbClr val="21252B"/>
                </a:solidFill>
                <a:latin typeface="맑은 고딕"/>
              </a:defRPr>
            </a:pPr>
            <a:r>
              <a:rPr sz="1500" dirty="0" err="1"/>
              <a:t>인간이</a:t>
            </a:r>
            <a:r>
              <a:rPr sz="1500" dirty="0"/>
              <a:t> </a:t>
            </a:r>
            <a:r>
              <a:rPr sz="1500" dirty="0" err="1"/>
              <a:t>보유한</a:t>
            </a:r>
            <a:r>
              <a:rPr sz="1500" dirty="0"/>
              <a:t> </a:t>
            </a:r>
            <a:r>
              <a:rPr sz="1500" dirty="0" err="1"/>
              <a:t>값이며</a:t>
            </a:r>
            <a:r>
              <a:rPr sz="1500" dirty="0"/>
              <a:t>, </a:t>
            </a:r>
            <a:r>
              <a:rPr sz="1500" dirty="0" err="1"/>
              <a:t>NPC의</a:t>
            </a:r>
            <a:r>
              <a:rPr sz="1500" dirty="0"/>
              <a:t> </a:t>
            </a:r>
            <a:r>
              <a:rPr sz="1500" dirty="0" err="1"/>
              <a:t>상태</a:t>
            </a:r>
            <a:r>
              <a:rPr sz="1500" dirty="0"/>
              <a:t>, </a:t>
            </a:r>
            <a:r>
              <a:rPr sz="1500" dirty="0" err="1"/>
              <a:t>균열의</a:t>
            </a:r>
            <a:r>
              <a:rPr sz="1500" dirty="0"/>
              <a:t> </a:t>
            </a:r>
            <a:r>
              <a:rPr sz="1500" dirty="0" err="1"/>
              <a:t>유인</a:t>
            </a:r>
            <a:r>
              <a:rPr sz="1500" dirty="0"/>
              <a:t>, </a:t>
            </a:r>
            <a:r>
              <a:rPr sz="1500" err="1"/>
              <a:t>변이</a:t>
            </a:r>
            <a:r>
              <a:rPr sz="1500" smtClean="0"/>
              <a:t>,</a:t>
            </a:r>
            <a:endParaRPr lang="en-US" sz="1500" smtClean="0"/>
          </a:p>
          <a:p>
            <a:pPr algn="ctr">
              <a:lnSpc>
                <a:spcPct val="150000"/>
              </a:lnSpc>
              <a:defRPr sz="1720" b="1">
                <a:solidFill>
                  <a:srgbClr val="21252B"/>
                </a:solidFill>
                <a:latin typeface="맑은 고딕"/>
              </a:defRPr>
            </a:pPr>
            <a:r>
              <a:rPr sz="1500" smtClean="0"/>
              <a:t> 몬스터의 </a:t>
            </a:r>
            <a:r>
              <a:rPr sz="1500" dirty="0" err="1"/>
              <a:t>인식과</a:t>
            </a:r>
            <a:r>
              <a:rPr sz="1500" dirty="0"/>
              <a:t> </a:t>
            </a:r>
            <a:r>
              <a:rPr sz="1500" dirty="0" err="1"/>
              <a:t>행동을</a:t>
            </a:r>
            <a:r>
              <a:rPr sz="1500" dirty="0"/>
              <a:t> </a:t>
            </a:r>
            <a:r>
              <a:rPr sz="1500" dirty="0" err="1"/>
              <a:t>결정하는</a:t>
            </a:r>
            <a:r>
              <a:rPr sz="1500" dirty="0"/>
              <a:t> </a:t>
            </a:r>
            <a:r>
              <a:rPr sz="1500" dirty="0" err="1"/>
              <a:t>핵심</a:t>
            </a:r>
            <a:r>
              <a:rPr sz="1500" dirty="0"/>
              <a:t> </a:t>
            </a:r>
            <a:r>
              <a:rPr sz="1500" dirty="0" err="1"/>
              <a:t>판정</a:t>
            </a:r>
            <a:r>
              <a:rPr sz="1500" dirty="0"/>
              <a:t> </a:t>
            </a:r>
            <a:r>
              <a:rPr sz="1500" dirty="0" err="1"/>
              <a:t>시스템</a:t>
            </a:r>
            <a:endParaRPr sz="1500" dirty="0"/>
          </a:p>
        </p:txBody>
      </p:sp>
      <p:sp>
        <p:nvSpPr>
          <p:cNvPr id="7" name="TextBox 6"/>
          <p:cNvSpPr txBox="1"/>
          <p:nvPr/>
        </p:nvSpPr>
        <p:spPr>
          <a:xfrm>
            <a:off x="1038230" y="4787037"/>
            <a:ext cx="6000860" cy="594360"/>
          </a:xfrm>
          <a:prstGeom prst="rect">
            <a:avLst/>
          </a:prstGeom>
          <a:noFill/>
        </p:spPr>
        <p:txBody>
          <a:bodyPr wrap="square" lIns="0" tIns="0" rIns="0" bIns="0" anchor="ctr">
            <a:normAutofit fontScale="85000" lnSpcReduction="10000"/>
          </a:bodyPr>
          <a:lstStyle/>
          <a:p>
            <a:pPr algn="ctr">
              <a:lnSpc>
                <a:spcPct val="150000"/>
              </a:lnSpc>
              <a:defRPr sz="1210" b="0">
                <a:solidFill>
                  <a:srgbClr val="66707A"/>
                </a:solidFill>
                <a:latin typeface="맑은 고딕"/>
              </a:defRPr>
            </a:pPr>
            <a:r>
              <a:rPr dirty="0" err="1"/>
              <a:t>플레이어가</a:t>
            </a:r>
            <a:r>
              <a:rPr dirty="0"/>
              <a:t> </a:t>
            </a:r>
            <a:r>
              <a:rPr dirty="0" err="1"/>
              <a:t>직접</a:t>
            </a:r>
            <a:r>
              <a:rPr dirty="0"/>
              <a:t> </a:t>
            </a:r>
            <a:r>
              <a:rPr dirty="0" err="1"/>
              <a:t>모아</a:t>
            </a:r>
            <a:r>
              <a:rPr dirty="0"/>
              <a:t> </a:t>
            </a:r>
            <a:r>
              <a:rPr dirty="0" err="1"/>
              <a:t>쓰는</a:t>
            </a:r>
            <a:r>
              <a:rPr dirty="0"/>
              <a:t> </a:t>
            </a:r>
            <a:r>
              <a:rPr dirty="0" err="1"/>
              <a:t>자원이</a:t>
            </a:r>
            <a:r>
              <a:rPr dirty="0"/>
              <a:t> </a:t>
            </a:r>
            <a:r>
              <a:rPr dirty="0" err="1"/>
              <a:t>아니라</a:t>
            </a:r>
            <a:r>
              <a:rPr dirty="0"/>
              <a:t>, </a:t>
            </a:r>
            <a:r>
              <a:rPr dirty="0" err="1"/>
              <a:t>세계가</a:t>
            </a:r>
            <a:r>
              <a:rPr dirty="0"/>
              <a:t> </a:t>
            </a:r>
            <a:r>
              <a:rPr dirty="0" err="1"/>
              <a:t>인간을</a:t>
            </a:r>
            <a:r>
              <a:rPr dirty="0"/>
              <a:t> </a:t>
            </a:r>
            <a:r>
              <a:rPr dirty="0" err="1"/>
              <a:t>어떻게</a:t>
            </a:r>
            <a:r>
              <a:rPr dirty="0"/>
              <a:t> </a:t>
            </a:r>
            <a:r>
              <a:rPr dirty="0" err="1"/>
              <a:t>판정하고</a:t>
            </a:r>
            <a:r>
              <a:rPr dirty="0"/>
              <a:t> </a:t>
            </a:r>
            <a:r>
              <a:rPr dirty="0" err="1"/>
              <a:t>반응할지</a:t>
            </a:r>
            <a:r>
              <a:rPr dirty="0"/>
              <a:t> </a:t>
            </a:r>
            <a:r>
              <a:rPr dirty="0" err="1"/>
              <a:t>결정하는</a:t>
            </a:r>
            <a:r>
              <a:rPr dirty="0"/>
              <a:t> </a:t>
            </a:r>
            <a:r>
              <a:rPr err="1"/>
              <a:t>월드</a:t>
            </a:r>
            <a:r>
              <a:rPr/>
              <a:t> </a:t>
            </a:r>
            <a:r>
              <a:rPr smtClean="0"/>
              <a:t>규칙</a:t>
            </a:r>
            <a:r>
              <a:rPr lang="en-US" smtClean="0"/>
              <a:t>.</a:t>
            </a:r>
            <a:endParaRPr lang="en-US" dirty="0"/>
          </a:p>
          <a:p>
            <a:pPr algn="ctr">
              <a:lnSpc>
                <a:spcPct val="150000"/>
              </a:lnSpc>
              <a:defRPr sz="1210" b="0">
                <a:solidFill>
                  <a:srgbClr val="66707A"/>
                </a:solidFill>
                <a:latin typeface="맑은 고딕"/>
              </a:defRPr>
            </a:pPr>
            <a:r>
              <a:rPr dirty="0" err="1"/>
              <a:t>전투를</a:t>
            </a:r>
            <a:r>
              <a:rPr dirty="0"/>
              <a:t> </a:t>
            </a:r>
            <a:r>
              <a:rPr dirty="0" err="1"/>
              <a:t>할수록</a:t>
            </a:r>
            <a:r>
              <a:rPr dirty="0"/>
              <a:t> </a:t>
            </a:r>
            <a:r>
              <a:rPr dirty="0" err="1"/>
              <a:t>줄어드는</a:t>
            </a:r>
            <a:r>
              <a:rPr dirty="0"/>
              <a:t> </a:t>
            </a:r>
            <a:r>
              <a:rPr dirty="0" err="1"/>
              <a:t>값이</a:t>
            </a:r>
            <a:r>
              <a:rPr dirty="0"/>
              <a:t> </a:t>
            </a:r>
            <a:r>
              <a:rPr dirty="0" err="1"/>
              <a:t>아니라</a:t>
            </a:r>
            <a:r>
              <a:rPr dirty="0"/>
              <a:t> </a:t>
            </a:r>
            <a:r>
              <a:rPr dirty="0" err="1"/>
              <a:t>마음·행동·서사에</a:t>
            </a:r>
            <a:r>
              <a:rPr dirty="0"/>
              <a:t> </a:t>
            </a:r>
            <a:r>
              <a:rPr dirty="0" err="1"/>
              <a:t>따라</a:t>
            </a:r>
            <a:r>
              <a:rPr dirty="0"/>
              <a:t> </a:t>
            </a:r>
            <a:r>
              <a:rPr err="1"/>
              <a:t>유지되거나</a:t>
            </a:r>
            <a:r>
              <a:rPr/>
              <a:t> </a:t>
            </a:r>
            <a:r>
              <a:rPr smtClean="0"/>
              <a:t>감소</a:t>
            </a:r>
            <a:r>
              <a:rPr lang="en-US" smtClean="0"/>
              <a:t>.</a:t>
            </a:r>
            <a:endParaRPr dirty="0"/>
          </a:p>
        </p:txBody>
      </p:sp>
      <p:sp>
        <p:nvSpPr>
          <p:cNvPr id="8" name="Rounded Rectangle 7"/>
          <p:cNvSpPr/>
          <p:nvPr/>
        </p:nvSpPr>
        <p:spPr>
          <a:xfrm>
            <a:off x="8212940" y="1700694"/>
            <a:ext cx="2103120" cy="1225296"/>
          </a:xfrm>
          <a:prstGeom prst="roundRect">
            <a:avLst/>
          </a:prstGeom>
          <a:solidFill>
            <a:srgbClr val="FBFCFE"/>
          </a:solidFill>
          <a:ln w="1016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304380" y="1801278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 anchor="ctr">
            <a:normAutofit fontScale="77500" lnSpcReduction="20000"/>
          </a:bodyPr>
          <a:lstStyle/>
          <a:p>
            <a:pPr algn="ctr">
              <a:lnSpc>
                <a:spcPct val="150000"/>
              </a:lnSpc>
              <a:defRPr sz="1600" b="1">
                <a:solidFill>
                  <a:srgbClr val="042D62"/>
                </a:solidFill>
                <a:latin typeface="맑은 고딕"/>
              </a:defRPr>
            </a:pPr>
            <a:r>
              <a:t>0 초과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04380" y="2148750"/>
            <a:ext cx="1920240" cy="566928"/>
          </a:xfrm>
          <a:prstGeom prst="rect">
            <a:avLst/>
          </a:prstGeom>
          <a:noFill/>
        </p:spPr>
        <p:txBody>
          <a:bodyPr wrap="square" lIns="0" tIns="0" rIns="0" bIns="0" anchor="ctr">
            <a:normAutofit fontScale="92500" lnSpcReduction="20000"/>
          </a:bodyPr>
          <a:lstStyle/>
          <a:p>
            <a:pPr algn="ctr">
              <a:lnSpc>
                <a:spcPct val="150000"/>
              </a:lnSpc>
              <a:defRPr sz="1019" b="0">
                <a:solidFill>
                  <a:srgbClr val="21252B"/>
                </a:solidFill>
                <a:latin typeface="맑은 고딕"/>
              </a:defRPr>
            </a:pPr>
            <a:r>
              <a:t>기본 인간 상태</a:t>
            </a:r>
          </a:p>
          <a:p>
            <a:pPr algn="ctr">
              <a:lnSpc>
                <a:spcPct val="150000"/>
              </a:lnSpc>
              <a:defRPr sz="1019" b="0">
                <a:solidFill>
                  <a:srgbClr val="21252B"/>
                </a:solidFill>
                <a:latin typeface="맑은 고딕"/>
              </a:defRPr>
            </a:pPr>
            <a:r>
              <a:t>균열 유인 대상 아님</a:t>
            </a:r>
          </a:p>
          <a:p>
            <a:pPr algn="ctr">
              <a:lnSpc>
                <a:spcPct val="150000"/>
              </a:lnSpc>
              <a:defRPr sz="1019" b="0">
                <a:solidFill>
                  <a:srgbClr val="21252B"/>
                </a:solidFill>
                <a:latin typeface="맑은 고딕"/>
              </a:defRPr>
            </a:pPr>
            <a:r>
              <a:t>몬스터의 일반 판정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12940" y="3248783"/>
            <a:ext cx="2103120" cy="1225296"/>
          </a:xfrm>
          <a:prstGeom prst="roundRect">
            <a:avLst/>
          </a:prstGeom>
          <a:solidFill>
            <a:srgbClr val="FBFCFE"/>
          </a:solidFill>
          <a:ln w="1016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304380" y="3349367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 anchor="ctr">
            <a:normAutofit fontScale="77500" lnSpcReduction="20000"/>
          </a:bodyPr>
          <a:lstStyle/>
          <a:p>
            <a:pPr algn="ctr">
              <a:lnSpc>
                <a:spcPct val="150000"/>
              </a:lnSpc>
              <a:defRPr sz="1600" b="1">
                <a:solidFill>
                  <a:srgbClr val="042D62"/>
                </a:solidFill>
                <a:latin typeface="맑은 고딕"/>
              </a:defRPr>
            </a:pPr>
            <a:r>
              <a:rPr dirty="0"/>
              <a:t>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04380" y="3696839"/>
            <a:ext cx="1920240" cy="566928"/>
          </a:xfrm>
          <a:prstGeom prst="rect">
            <a:avLst/>
          </a:prstGeom>
          <a:noFill/>
        </p:spPr>
        <p:txBody>
          <a:bodyPr wrap="square" lIns="0" tIns="0" rIns="0" bIns="0" anchor="ctr">
            <a:normAutofit fontScale="92500" lnSpcReduction="20000"/>
          </a:bodyPr>
          <a:lstStyle/>
          <a:p>
            <a:pPr algn="ctr">
              <a:lnSpc>
                <a:spcPct val="150000"/>
              </a:lnSpc>
              <a:defRPr sz="1019" b="0">
                <a:solidFill>
                  <a:srgbClr val="21252B"/>
                </a:solidFill>
                <a:latin typeface="맑은 고딕"/>
              </a:defRPr>
            </a:pPr>
            <a:r>
              <a:t>고갈 상태</a:t>
            </a:r>
          </a:p>
          <a:p>
            <a:pPr algn="ctr">
              <a:lnSpc>
                <a:spcPct val="150000"/>
              </a:lnSpc>
              <a:defRPr sz="1019" b="0">
                <a:solidFill>
                  <a:srgbClr val="21252B"/>
                </a:solidFill>
                <a:latin typeface="맑은 고딕"/>
              </a:defRPr>
            </a:pPr>
            <a:r>
              <a:t>유인 파동 대상</a:t>
            </a:r>
          </a:p>
          <a:p>
            <a:pPr algn="ctr">
              <a:lnSpc>
                <a:spcPct val="150000"/>
              </a:lnSpc>
              <a:defRPr sz="1019" b="0">
                <a:solidFill>
                  <a:srgbClr val="21252B"/>
                </a:solidFill>
                <a:latin typeface="맑은 고딕"/>
              </a:defRPr>
            </a:pPr>
            <a:r>
              <a:t>몬스터 AI 특수 판정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12940" y="4796872"/>
            <a:ext cx="2103120" cy="1225296"/>
          </a:xfrm>
          <a:prstGeom prst="roundRect">
            <a:avLst/>
          </a:prstGeom>
          <a:solidFill>
            <a:srgbClr val="FBFCFE"/>
          </a:solidFill>
          <a:ln w="1016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04380" y="4897456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 anchor="ctr">
            <a:normAutofit fontScale="77500" lnSpcReduction="20000"/>
          </a:bodyPr>
          <a:lstStyle/>
          <a:p>
            <a:pPr algn="ctr">
              <a:lnSpc>
                <a:spcPct val="150000"/>
              </a:lnSpc>
              <a:defRPr sz="1600" b="1">
                <a:solidFill>
                  <a:srgbClr val="042D62"/>
                </a:solidFill>
                <a:latin typeface="맑은 고딕"/>
              </a:defRPr>
            </a:pPr>
            <a:r>
              <a:rPr dirty="0"/>
              <a:t>∞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04380" y="5244928"/>
            <a:ext cx="1920240" cy="566928"/>
          </a:xfrm>
          <a:prstGeom prst="rect">
            <a:avLst/>
          </a:prstGeom>
          <a:noFill/>
        </p:spPr>
        <p:txBody>
          <a:bodyPr wrap="square" lIns="0" tIns="0" rIns="0" bIns="0" anchor="ctr">
            <a:normAutofit fontScale="92500" lnSpcReduction="20000"/>
          </a:bodyPr>
          <a:lstStyle/>
          <a:p>
            <a:pPr algn="ctr">
              <a:lnSpc>
                <a:spcPct val="150000"/>
              </a:lnSpc>
              <a:defRPr sz="1019" b="0">
                <a:solidFill>
                  <a:srgbClr val="21252B"/>
                </a:solidFill>
                <a:latin typeface="맑은 고딕"/>
              </a:defRPr>
            </a:pPr>
            <a:r>
              <a:t>주인공 예외값</a:t>
            </a:r>
          </a:p>
          <a:p>
            <a:pPr algn="ctr">
              <a:lnSpc>
                <a:spcPct val="150000"/>
              </a:lnSpc>
              <a:defRPr sz="1019" b="0">
                <a:solidFill>
                  <a:srgbClr val="21252B"/>
                </a:solidFill>
                <a:latin typeface="맑은 고딕"/>
              </a:defRPr>
            </a:pPr>
            <a:r>
              <a:t>감소·고갈 없음</a:t>
            </a:r>
          </a:p>
          <a:p>
            <a:pPr algn="ctr">
              <a:lnSpc>
                <a:spcPct val="150000"/>
              </a:lnSpc>
              <a:defRPr sz="1019" b="0">
                <a:solidFill>
                  <a:srgbClr val="21252B"/>
                </a:solidFill>
                <a:latin typeface="맑은 고딕"/>
              </a:defRPr>
            </a:pPr>
            <a:r>
              <a:t>균열 기원과 연결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29184"/>
            <a:ext cx="8595360" cy="402336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85000" lnSpcReduction="20000"/>
          </a:bodyPr>
          <a:lstStyle/>
          <a:p>
            <a:pPr algn="l">
              <a:lnSpc>
                <a:spcPct val="150000"/>
              </a:lnSpc>
              <a:defRPr sz="2400" b="1">
                <a:solidFill>
                  <a:srgbClr val="21252B"/>
                </a:solidFill>
                <a:latin typeface="맑은 고딕"/>
              </a:defRPr>
            </a:pPr>
            <a:r>
              <a:t>선의 × 균열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786384"/>
            <a:ext cx="10241280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50000"/>
              </a:lnSpc>
              <a:defRPr sz="1050" b="0">
                <a:solidFill>
                  <a:srgbClr val="66707A"/>
                </a:solidFill>
                <a:latin typeface="맑은 고딕"/>
              </a:defRPr>
            </a:pPr>
            <a:r>
              <a:t>핵심 월드 시스템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1078992"/>
            <a:ext cx="11045952" cy="0"/>
          </a:xfrm>
          <a:prstGeom prst="line">
            <a:avLst/>
          </a:prstGeom>
          <a:ln w="12700">
            <a:solidFill>
              <a:srgbClr val="EFF2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1000556" y="1588125"/>
            <a:ext cx="850392" cy="850392"/>
          </a:xfrm>
          <a:prstGeom prst="ellipse">
            <a:avLst/>
          </a:prstGeom>
          <a:solidFill>
            <a:srgbClr val="042D62"/>
          </a:solidFill>
          <a:ln w="17145">
            <a:solidFill>
              <a:srgbClr val="042D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>
            <a:normAutofit/>
          </a:bodyPr>
          <a:lstStyle/>
          <a:p>
            <a:pPr algn="ctr">
              <a:lnSpc>
                <a:spcPct val="150000"/>
              </a:lnSpc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선의</a:t>
            </a:r>
          </a:p>
        </p:txBody>
      </p:sp>
      <p:sp>
        <p:nvSpPr>
          <p:cNvPr id="6" name="Oval 5"/>
          <p:cNvSpPr/>
          <p:nvPr/>
        </p:nvSpPr>
        <p:spPr>
          <a:xfrm>
            <a:off x="1937817" y="1629274"/>
            <a:ext cx="768096" cy="768096"/>
          </a:xfrm>
          <a:prstGeom prst="ellipse">
            <a:avLst/>
          </a:prstGeom>
          <a:solidFill>
            <a:srgbClr val="E8F2FF"/>
          </a:solidFill>
          <a:ln w="17145">
            <a:solidFill>
              <a:srgbClr val="5B8D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>
            <a:normAutofit/>
          </a:bodyPr>
          <a:lstStyle/>
          <a:p>
            <a:pPr algn="ctr">
              <a:lnSpc>
                <a:spcPct val="150000"/>
              </a:lnSpc>
              <a:defRPr sz="1100" b="1">
                <a:solidFill>
                  <a:srgbClr val="21252B"/>
                </a:solidFill>
                <a:latin typeface="맑은 고딕"/>
              </a:defRPr>
            </a:pPr>
            <a:r>
              <a:t>균열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5369" y="1830441"/>
            <a:ext cx="6995160" cy="3657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50000"/>
              </a:lnSpc>
              <a:defRPr sz="1520" b="1">
                <a:solidFill>
                  <a:srgbClr val="21252B"/>
                </a:solidFill>
                <a:latin typeface="맑은 고딕"/>
              </a:defRPr>
            </a:pPr>
            <a:r>
              <a:rPr dirty="0" err="1"/>
              <a:t>선의</a:t>
            </a:r>
            <a:r>
              <a:rPr dirty="0"/>
              <a:t> </a:t>
            </a:r>
            <a:r>
              <a:rPr dirty="0" err="1"/>
              <a:t>판정을</a:t>
            </a:r>
            <a:r>
              <a:rPr dirty="0"/>
              <a:t> </a:t>
            </a:r>
            <a:r>
              <a:rPr dirty="0" err="1"/>
              <a:t>실제</a:t>
            </a:r>
            <a:r>
              <a:rPr dirty="0"/>
              <a:t> </a:t>
            </a:r>
            <a:r>
              <a:rPr dirty="0" err="1"/>
              <a:t>현상으로</a:t>
            </a:r>
            <a:r>
              <a:rPr dirty="0"/>
              <a:t> </a:t>
            </a:r>
            <a:r>
              <a:rPr dirty="0" err="1"/>
              <a:t>실행하는</a:t>
            </a:r>
            <a:r>
              <a:rPr dirty="0"/>
              <a:t> </a:t>
            </a:r>
            <a:r>
              <a:rPr dirty="0" err="1"/>
              <a:t>동급</a:t>
            </a:r>
            <a:r>
              <a:rPr dirty="0"/>
              <a:t> </a:t>
            </a:r>
            <a:r>
              <a:rPr dirty="0" err="1"/>
              <a:t>핵심</a:t>
            </a:r>
            <a:r>
              <a:rPr dirty="0"/>
              <a:t> </a:t>
            </a:r>
            <a:r>
              <a:rPr dirty="0" err="1"/>
              <a:t>시스템</a:t>
            </a:r>
            <a:endParaRPr dirty="0"/>
          </a:p>
        </p:txBody>
      </p:sp>
      <p:sp>
        <p:nvSpPr>
          <p:cNvPr id="10" name="Rounded Rectangle 9"/>
          <p:cNvSpPr/>
          <p:nvPr/>
        </p:nvSpPr>
        <p:spPr>
          <a:xfrm>
            <a:off x="2043684" y="2737339"/>
            <a:ext cx="8092440" cy="420624"/>
          </a:xfrm>
          <a:prstGeom prst="roundRect">
            <a:avLst/>
          </a:prstGeom>
          <a:solidFill>
            <a:srgbClr val="FBFCFE"/>
          </a:solidFill>
          <a:ln w="1016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9144" rIns="45720" bIns="9144" rtlCol="0" anchor="ctr">
            <a:normAutofit/>
          </a:bodyPr>
          <a:lstStyle/>
          <a:p>
            <a:pPr algn="ctr">
              <a:lnSpc>
                <a:spcPct val="150000"/>
              </a:lnSpc>
              <a:defRPr sz="1060" b="1">
                <a:solidFill>
                  <a:srgbClr val="21252B"/>
                </a:solidFill>
                <a:latin typeface="맑은 고딕"/>
              </a:defRPr>
            </a:pPr>
            <a:r>
              <a:rPr dirty="0" err="1"/>
              <a:t>선의</a:t>
            </a:r>
            <a:r>
              <a:rPr dirty="0"/>
              <a:t> 0 </a:t>
            </a:r>
            <a:r>
              <a:rPr dirty="0" err="1"/>
              <a:t>판정</a:t>
            </a:r>
            <a:r>
              <a:rPr dirty="0"/>
              <a:t> + </a:t>
            </a:r>
            <a:r>
              <a:rPr dirty="0" err="1"/>
              <a:t>균열</a:t>
            </a:r>
            <a:r>
              <a:rPr dirty="0"/>
              <a:t> → </a:t>
            </a:r>
            <a:r>
              <a:rPr dirty="0" err="1"/>
              <a:t>유인</a:t>
            </a:r>
            <a:r>
              <a:rPr dirty="0"/>
              <a:t> / </a:t>
            </a:r>
            <a:r>
              <a:rPr dirty="0" err="1"/>
              <a:t>변이</a:t>
            </a:r>
            <a:r>
              <a:rPr dirty="0"/>
              <a:t> / </a:t>
            </a:r>
            <a:r>
              <a:rPr dirty="0" err="1"/>
              <a:t>배출</a:t>
            </a:r>
            <a:r>
              <a:rPr dirty="0"/>
              <a:t> / </a:t>
            </a:r>
            <a:r>
              <a:rPr dirty="0" err="1"/>
              <a:t>보관</a:t>
            </a:r>
            <a:endParaRPr dirty="0"/>
          </a:p>
        </p:txBody>
      </p:sp>
      <p:sp>
        <p:nvSpPr>
          <p:cNvPr id="11" name="TextBox 10"/>
          <p:cNvSpPr txBox="1"/>
          <p:nvPr/>
        </p:nvSpPr>
        <p:spPr>
          <a:xfrm>
            <a:off x="1000556" y="3663167"/>
            <a:ext cx="5330952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92500" lnSpcReduction="20000"/>
          </a:bodyPr>
          <a:lstStyle/>
          <a:p>
            <a:pPr algn="l">
              <a:lnSpc>
                <a:spcPct val="150000"/>
              </a:lnSpc>
              <a:defRPr sz="1220" b="1">
                <a:solidFill>
                  <a:srgbClr val="042D62"/>
                </a:solidFill>
                <a:latin typeface="맑은 고딕"/>
              </a:defRPr>
            </a:pPr>
            <a:r>
              <a:rPr dirty="0" err="1"/>
              <a:t>정의</a:t>
            </a:r>
            <a:endParaRPr dirty="0"/>
          </a:p>
        </p:txBody>
      </p:sp>
      <p:sp>
        <p:nvSpPr>
          <p:cNvPr id="12" name="TextBox 11"/>
          <p:cNvSpPr txBox="1"/>
          <p:nvPr/>
        </p:nvSpPr>
        <p:spPr>
          <a:xfrm>
            <a:off x="1000556" y="3974063"/>
            <a:ext cx="5330952" cy="585215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50000"/>
              </a:lnSpc>
              <a:defRPr sz="1035" b="0">
                <a:solidFill>
                  <a:srgbClr val="21252B"/>
                </a:solidFill>
                <a:latin typeface="맑은 고딕"/>
              </a:defRPr>
            </a:pPr>
            <a:r>
              <a:t>균열은 선의 0인 인간을 유인하고, 균열 안으로 들어온 인간에게서 부정적 요소를 분리해 변이를 일으키는 공간·현상이다.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0556" y="4908391"/>
            <a:ext cx="5330952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92500" lnSpcReduction="20000"/>
          </a:bodyPr>
          <a:lstStyle/>
          <a:p>
            <a:pPr algn="l">
              <a:lnSpc>
                <a:spcPct val="150000"/>
              </a:lnSpc>
              <a:defRPr sz="1220" b="1">
                <a:solidFill>
                  <a:srgbClr val="042D62"/>
                </a:solidFill>
                <a:latin typeface="맑은 고딕"/>
              </a:defRPr>
            </a:pPr>
            <a:r>
              <a:rPr dirty="0" err="1"/>
              <a:t>선의와</a:t>
            </a:r>
            <a:r>
              <a:rPr dirty="0"/>
              <a:t> </a:t>
            </a:r>
            <a:r>
              <a:rPr dirty="0" err="1"/>
              <a:t>맞물리는</a:t>
            </a:r>
            <a:r>
              <a:rPr dirty="0"/>
              <a:t> </a:t>
            </a:r>
            <a:r>
              <a:rPr dirty="0" err="1"/>
              <a:t>부분</a:t>
            </a:r>
            <a:endParaRPr dirty="0"/>
          </a:p>
        </p:txBody>
      </p:sp>
      <p:sp>
        <p:nvSpPr>
          <p:cNvPr id="14" name="TextBox 13"/>
          <p:cNvSpPr txBox="1"/>
          <p:nvPr/>
        </p:nvSpPr>
        <p:spPr>
          <a:xfrm>
            <a:off x="1000556" y="5219287"/>
            <a:ext cx="5330952" cy="9144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50000"/>
              </a:lnSpc>
              <a:defRPr sz="1015" b="0">
                <a:solidFill>
                  <a:srgbClr val="21252B"/>
                </a:solidFill>
                <a:latin typeface="맑은 고딕"/>
              </a:defRPr>
            </a:pPr>
            <a:r>
              <a:rPr dirty="0" err="1"/>
              <a:t>선의가</a:t>
            </a:r>
            <a:r>
              <a:rPr dirty="0"/>
              <a:t> “</a:t>
            </a:r>
            <a:r>
              <a:rPr dirty="0" err="1"/>
              <a:t>누가</a:t>
            </a:r>
            <a:r>
              <a:rPr dirty="0"/>
              <a:t> </a:t>
            </a:r>
            <a:r>
              <a:rPr dirty="0" err="1"/>
              <a:t>대상인가”를</a:t>
            </a:r>
            <a:r>
              <a:rPr dirty="0"/>
              <a:t> </a:t>
            </a:r>
            <a:r>
              <a:rPr dirty="0" err="1"/>
              <a:t>정하는</a:t>
            </a:r>
            <a:r>
              <a:rPr dirty="0"/>
              <a:t> </a:t>
            </a:r>
            <a:r>
              <a:rPr dirty="0" err="1"/>
              <a:t>기준이라면</a:t>
            </a:r>
            <a:r>
              <a:rPr dirty="0"/>
              <a:t>, </a:t>
            </a:r>
            <a:r>
              <a:rPr dirty="0" err="1"/>
              <a:t>균열은</a:t>
            </a:r>
            <a:r>
              <a:rPr dirty="0"/>
              <a:t> 그 </a:t>
            </a:r>
            <a:r>
              <a:rPr dirty="0" err="1"/>
              <a:t>판정을</a:t>
            </a:r>
            <a:r>
              <a:rPr dirty="0"/>
              <a:t> </a:t>
            </a:r>
            <a:r>
              <a:rPr dirty="0" err="1"/>
              <a:t>유인·변이·배출·보관이라는</a:t>
            </a:r>
            <a:r>
              <a:rPr dirty="0"/>
              <a:t> </a:t>
            </a:r>
            <a:r>
              <a:rPr dirty="0" err="1"/>
              <a:t>월드</a:t>
            </a:r>
            <a:r>
              <a:rPr dirty="0"/>
              <a:t> </a:t>
            </a:r>
            <a:r>
              <a:rPr dirty="0" err="1"/>
              <a:t>사건으로</a:t>
            </a:r>
            <a:r>
              <a:rPr dirty="0"/>
              <a:t> </a:t>
            </a:r>
            <a:r>
              <a:rPr dirty="0" err="1"/>
              <a:t>실행한다</a:t>
            </a:r>
            <a:r>
              <a:rPr dirty="0"/>
              <a:t>. </a:t>
            </a:r>
            <a:r>
              <a:rPr dirty="0" err="1"/>
              <a:t>균열은</a:t>
            </a:r>
            <a:r>
              <a:rPr dirty="0"/>
              <a:t> </a:t>
            </a:r>
            <a:r>
              <a:rPr dirty="0" err="1"/>
              <a:t>세계를</a:t>
            </a:r>
            <a:r>
              <a:rPr dirty="0"/>
              <a:t> </a:t>
            </a:r>
            <a:r>
              <a:rPr dirty="0" err="1"/>
              <a:t>선의로</a:t>
            </a:r>
            <a:r>
              <a:rPr dirty="0"/>
              <a:t> </a:t>
            </a:r>
            <a:r>
              <a:rPr dirty="0" err="1"/>
              <a:t>채우기</a:t>
            </a:r>
            <a:r>
              <a:rPr dirty="0"/>
              <a:t> </a:t>
            </a:r>
            <a:r>
              <a:rPr dirty="0" err="1"/>
              <a:t>위해</a:t>
            </a:r>
            <a:r>
              <a:rPr dirty="0"/>
              <a:t> </a:t>
            </a:r>
            <a:r>
              <a:rPr dirty="0" err="1"/>
              <a:t>확장·팽창·번식하려는</a:t>
            </a:r>
            <a:r>
              <a:rPr dirty="0"/>
              <a:t> </a:t>
            </a:r>
            <a:r>
              <a:rPr dirty="0" err="1"/>
              <a:t>존재로</a:t>
            </a:r>
            <a:r>
              <a:rPr dirty="0"/>
              <a:t> </a:t>
            </a:r>
            <a:r>
              <a:rPr dirty="0" err="1"/>
              <a:t>설정한다</a:t>
            </a:r>
            <a:r>
              <a:rPr dirty="0"/>
              <a:t>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69836" y="3663167"/>
            <a:ext cx="4965192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92500" lnSpcReduction="20000"/>
          </a:bodyPr>
          <a:lstStyle/>
          <a:p>
            <a:pPr algn="l">
              <a:lnSpc>
                <a:spcPct val="150000"/>
              </a:lnSpc>
              <a:defRPr sz="1220" b="1">
                <a:solidFill>
                  <a:srgbClr val="042D62"/>
                </a:solidFill>
                <a:latin typeface="맑은 고딕"/>
              </a:defRPr>
            </a:pPr>
            <a:r>
              <a:rPr dirty="0" err="1"/>
              <a:t>정의와</a:t>
            </a:r>
            <a:r>
              <a:rPr dirty="0"/>
              <a:t> </a:t>
            </a:r>
            <a:r>
              <a:rPr dirty="0" err="1"/>
              <a:t>특징</a:t>
            </a:r>
            <a:r>
              <a:rPr dirty="0"/>
              <a:t> / </a:t>
            </a:r>
            <a:r>
              <a:rPr dirty="0" err="1"/>
              <a:t>작동</a:t>
            </a:r>
            <a:r>
              <a:rPr dirty="0"/>
              <a:t> </a:t>
            </a:r>
            <a:r>
              <a:rPr dirty="0" err="1"/>
              <a:t>약속</a:t>
            </a:r>
            <a:endParaRPr dirty="0"/>
          </a:p>
        </p:txBody>
      </p:sp>
      <p:sp>
        <p:nvSpPr>
          <p:cNvPr id="16" name="TextBox 15"/>
          <p:cNvSpPr txBox="1"/>
          <p:nvPr/>
        </p:nvSpPr>
        <p:spPr>
          <a:xfrm>
            <a:off x="6669836" y="3974063"/>
            <a:ext cx="4965192" cy="2066544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50000"/>
              </a:lnSpc>
              <a:defRPr sz="965" b="0">
                <a:solidFill>
                  <a:srgbClr val="21252B"/>
                </a:solidFill>
                <a:latin typeface="맑은 고딕"/>
              </a:defRPr>
            </a:pPr>
            <a:r>
              <a:rPr dirty="0"/>
              <a:t>• </a:t>
            </a:r>
            <a:r>
              <a:rPr dirty="0" err="1"/>
              <a:t>선의</a:t>
            </a:r>
            <a:r>
              <a:rPr dirty="0"/>
              <a:t> 0인 </a:t>
            </a:r>
            <a:r>
              <a:rPr dirty="0" err="1"/>
              <a:t>인간만</a:t>
            </a:r>
            <a:r>
              <a:rPr dirty="0"/>
              <a:t> </a:t>
            </a:r>
            <a:r>
              <a:rPr dirty="0" err="1"/>
              <a:t>정규</a:t>
            </a:r>
            <a:r>
              <a:rPr dirty="0"/>
              <a:t> </a:t>
            </a:r>
            <a:r>
              <a:rPr dirty="0" err="1"/>
              <a:t>유인</a:t>
            </a:r>
            <a:r>
              <a:rPr dirty="0"/>
              <a:t> </a:t>
            </a:r>
            <a:r>
              <a:rPr dirty="0" err="1"/>
              <a:t>파동의</a:t>
            </a:r>
            <a:r>
              <a:rPr dirty="0"/>
              <a:t> </a:t>
            </a:r>
            <a:r>
              <a:rPr dirty="0" err="1"/>
              <a:t>대상이</a:t>
            </a:r>
            <a:r>
              <a:rPr dirty="0"/>
              <a:t> </a:t>
            </a:r>
            <a:r>
              <a:rPr dirty="0" err="1"/>
              <a:t>된다</a:t>
            </a:r>
            <a:r>
              <a:rPr dirty="0"/>
              <a:t>.</a:t>
            </a:r>
          </a:p>
          <a:p>
            <a:pPr algn="l">
              <a:lnSpc>
                <a:spcPct val="150000"/>
              </a:lnSpc>
              <a:defRPr sz="965" b="0">
                <a:solidFill>
                  <a:srgbClr val="21252B"/>
                </a:solidFill>
                <a:latin typeface="맑은 고딕"/>
              </a:defRPr>
            </a:pPr>
            <a:r>
              <a:rPr dirty="0"/>
              <a:t>• </a:t>
            </a:r>
            <a:r>
              <a:rPr dirty="0" err="1"/>
              <a:t>자발적으로</a:t>
            </a:r>
            <a:r>
              <a:rPr dirty="0"/>
              <a:t> </a:t>
            </a:r>
            <a:r>
              <a:rPr dirty="0" err="1"/>
              <a:t>균열에</a:t>
            </a:r>
            <a:r>
              <a:rPr dirty="0"/>
              <a:t> </a:t>
            </a:r>
            <a:r>
              <a:rPr dirty="0" err="1"/>
              <a:t>들어간</a:t>
            </a:r>
            <a:r>
              <a:rPr dirty="0"/>
              <a:t> </a:t>
            </a:r>
            <a:r>
              <a:rPr dirty="0" err="1"/>
              <a:t>인간은</a:t>
            </a:r>
            <a:r>
              <a:rPr dirty="0"/>
              <a:t> </a:t>
            </a:r>
            <a:r>
              <a:rPr dirty="0" err="1"/>
              <a:t>유인</a:t>
            </a:r>
            <a:r>
              <a:rPr dirty="0"/>
              <a:t> </a:t>
            </a:r>
            <a:r>
              <a:rPr dirty="0" err="1"/>
              <a:t>파동</a:t>
            </a:r>
            <a:r>
              <a:rPr dirty="0"/>
              <a:t> </a:t>
            </a:r>
            <a:r>
              <a:rPr dirty="0" err="1"/>
              <a:t>시간과</a:t>
            </a:r>
            <a:r>
              <a:rPr dirty="0"/>
              <a:t> </a:t>
            </a:r>
            <a:r>
              <a:rPr dirty="0" err="1"/>
              <a:t>무관하게</a:t>
            </a:r>
            <a:r>
              <a:rPr dirty="0"/>
              <a:t> </a:t>
            </a:r>
            <a:r>
              <a:rPr dirty="0" err="1"/>
              <a:t>변이된다</a:t>
            </a:r>
            <a:r>
              <a:rPr dirty="0"/>
              <a:t>.</a:t>
            </a:r>
          </a:p>
          <a:p>
            <a:pPr algn="l">
              <a:lnSpc>
                <a:spcPct val="150000"/>
              </a:lnSpc>
              <a:defRPr sz="965" b="0">
                <a:solidFill>
                  <a:srgbClr val="21252B"/>
                </a:solidFill>
                <a:latin typeface="맑은 고딕"/>
              </a:defRPr>
            </a:pPr>
            <a:r>
              <a:rPr dirty="0"/>
              <a:t>• </a:t>
            </a:r>
            <a:r>
              <a:rPr dirty="0" err="1"/>
              <a:t>균열은</a:t>
            </a:r>
            <a:r>
              <a:rPr dirty="0"/>
              <a:t> </a:t>
            </a:r>
            <a:r>
              <a:rPr dirty="0" err="1"/>
              <a:t>주인공</a:t>
            </a:r>
            <a:r>
              <a:rPr dirty="0"/>
              <a:t> </a:t>
            </a:r>
            <a:r>
              <a:rPr dirty="0" err="1"/>
              <a:t>탄생의</a:t>
            </a:r>
            <a:r>
              <a:rPr dirty="0"/>
              <a:t> </a:t>
            </a:r>
            <a:r>
              <a:rPr dirty="0" err="1"/>
              <a:t>근원이며</a:t>
            </a:r>
            <a:r>
              <a:rPr dirty="0"/>
              <a:t>, </a:t>
            </a:r>
            <a:r>
              <a:rPr dirty="0" err="1"/>
              <a:t>선의</a:t>
            </a:r>
            <a:r>
              <a:rPr dirty="0"/>
              <a:t> ∞ </a:t>
            </a:r>
            <a:r>
              <a:rPr dirty="0" err="1"/>
              <a:t>예외</a:t>
            </a:r>
            <a:r>
              <a:rPr dirty="0"/>
              <a:t> </a:t>
            </a:r>
            <a:r>
              <a:rPr dirty="0" err="1"/>
              <a:t>규칙의</a:t>
            </a:r>
            <a:r>
              <a:rPr dirty="0"/>
              <a:t> </a:t>
            </a:r>
            <a:r>
              <a:rPr dirty="0" err="1"/>
              <a:t>원인이</a:t>
            </a:r>
            <a:r>
              <a:rPr dirty="0"/>
              <a:t> </a:t>
            </a:r>
            <a:r>
              <a:rPr dirty="0" err="1"/>
              <a:t>된다</a:t>
            </a:r>
            <a:r>
              <a:rPr dirty="0"/>
              <a:t>.</a:t>
            </a:r>
          </a:p>
          <a:p>
            <a:pPr algn="l">
              <a:lnSpc>
                <a:spcPct val="150000"/>
              </a:lnSpc>
              <a:defRPr sz="965" b="0">
                <a:solidFill>
                  <a:srgbClr val="21252B"/>
                </a:solidFill>
                <a:latin typeface="맑은 고딕"/>
              </a:defRPr>
            </a:pPr>
            <a:r>
              <a:rPr dirty="0"/>
              <a:t>• </a:t>
            </a:r>
            <a:r>
              <a:rPr dirty="0" err="1"/>
              <a:t>균열</a:t>
            </a:r>
            <a:r>
              <a:rPr dirty="0"/>
              <a:t> </a:t>
            </a:r>
            <a:r>
              <a:rPr dirty="0" err="1"/>
              <a:t>내부에는</a:t>
            </a:r>
            <a:r>
              <a:rPr dirty="0"/>
              <a:t> </a:t>
            </a:r>
            <a:r>
              <a:rPr dirty="0" err="1"/>
              <a:t>부정성이</a:t>
            </a:r>
            <a:r>
              <a:rPr dirty="0"/>
              <a:t> </a:t>
            </a:r>
            <a:r>
              <a:rPr dirty="0" err="1"/>
              <a:t>빠진</a:t>
            </a:r>
            <a:r>
              <a:rPr dirty="0"/>
              <a:t> </a:t>
            </a:r>
            <a:r>
              <a:rPr dirty="0" err="1"/>
              <a:t>인간</a:t>
            </a:r>
            <a:r>
              <a:rPr dirty="0"/>
              <a:t> </a:t>
            </a:r>
            <a:r>
              <a:rPr dirty="0" err="1"/>
              <a:t>껍데기와</a:t>
            </a:r>
            <a:r>
              <a:rPr dirty="0"/>
              <a:t> </a:t>
            </a:r>
            <a:r>
              <a:rPr dirty="0" err="1"/>
              <a:t>선의의</a:t>
            </a:r>
            <a:r>
              <a:rPr dirty="0"/>
              <a:t> </a:t>
            </a:r>
            <a:r>
              <a:rPr dirty="0" err="1"/>
              <a:t>바다가</a:t>
            </a:r>
            <a:r>
              <a:rPr dirty="0"/>
              <a:t> </a:t>
            </a:r>
            <a:r>
              <a:rPr dirty="0" err="1"/>
              <a:t>존재한다</a:t>
            </a:r>
            <a:r>
              <a:rPr dirty="0"/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29184"/>
            <a:ext cx="8595360" cy="40233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defRPr sz="2400" b="1">
                <a:solidFill>
                  <a:srgbClr val="21252B"/>
                </a:solidFill>
                <a:latin typeface="맑은 고딕"/>
              </a:defRPr>
            </a:pPr>
            <a:r>
              <a:t>선의 × 주인공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786384"/>
            <a:ext cx="10241280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defRPr sz="1050" b="0">
                <a:solidFill>
                  <a:srgbClr val="66707A"/>
                </a:solidFill>
                <a:latin typeface="맑은 고딕"/>
              </a:defRPr>
            </a:pPr>
            <a:r>
              <a:t>플레이어 캐릭터 / 예외 규칙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1078992"/>
            <a:ext cx="11045952" cy="0"/>
          </a:xfrm>
          <a:prstGeom prst="line">
            <a:avLst/>
          </a:prstGeom>
          <a:ln w="12700">
            <a:solidFill>
              <a:srgbClr val="EFF2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4">
            <a:extLst>
              <a:ext uri="{FF2B5EF4-FFF2-40B4-BE49-F238E27FC236}">
                <a16:creationId xmlns:a16="http://schemas.microsoft.com/office/drawing/2014/main" id="{71C36EB8-AD8C-49DB-8B62-08999DF883FF}"/>
              </a:ext>
            </a:extLst>
          </p:cNvPr>
          <p:cNvSpPr/>
          <p:nvPr/>
        </p:nvSpPr>
        <p:spPr>
          <a:xfrm>
            <a:off x="1000556" y="1602911"/>
            <a:ext cx="850392" cy="850392"/>
          </a:xfrm>
          <a:prstGeom prst="ellipse">
            <a:avLst/>
          </a:prstGeom>
          <a:solidFill>
            <a:srgbClr val="042D62"/>
          </a:solidFill>
          <a:ln w="17145">
            <a:solidFill>
              <a:srgbClr val="042D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>
            <a:norm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rPr dirty="0" err="1"/>
              <a:t>선의</a:t>
            </a:r>
            <a:endParaRPr dirty="0"/>
          </a:p>
        </p:txBody>
      </p:sp>
      <p:sp>
        <p:nvSpPr>
          <p:cNvPr id="22" name="Oval 5">
            <a:extLst>
              <a:ext uri="{FF2B5EF4-FFF2-40B4-BE49-F238E27FC236}">
                <a16:creationId xmlns:a16="http://schemas.microsoft.com/office/drawing/2014/main" id="{3BDFAD0A-0266-439D-AF55-3C157F7E1ED7}"/>
              </a:ext>
            </a:extLst>
          </p:cNvPr>
          <p:cNvSpPr/>
          <p:nvPr/>
        </p:nvSpPr>
        <p:spPr>
          <a:xfrm>
            <a:off x="1937817" y="1644060"/>
            <a:ext cx="768096" cy="768096"/>
          </a:xfrm>
          <a:prstGeom prst="ellipse">
            <a:avLst/>
          </a:prstGeom>
          <a:solidFill>
            <a:srgbClr val="EAF8F0"/>
          </a:solidFill>
          <a:ln w="17145">
            <a:solidFill>
              <a:srgbClr val="55AF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>
            <a:normAutofit/>
          </a:bodyPr>
          <a:lstStyle/>
          <a:p>
            <a:pPr algn="ctr">
              <a:defRPr sz="1100" b="1">
                <a:solidFill>
                  <a:srgbClr val="21252B"/>
                </a:solidFill>
                <a:latin typeface="맑은 고딕"/>
              </a:defRPr>
            </a:pPr>
            <a:r>
              <a:t>주인공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25369" y="1903201"/>
            <a:ext cx="6995160" cy="3657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defRPr sz="1520" b="1">
                <a:solidFill>
                  <a:srgbClr val="21252B"/>
                </a:solidFill>
                <a:latin typeface="맑은 고딕"/>
              </a:defRPr>
            </a:pPr>
            <a:r>
              <a:t>선의 ∞를 가진 균열 기원 존재</a:t>
            </a:r>
          </a:p>
        </p:txBody>
      </p:sp>
      <p:sp>
        <p:nvSpPr>
          <p:cNvPr id="20" name="Rounded Rectangle 9"/>
          <p:cNvSpPr/>
          <p:nvPr/>
        </p:nvSpPr>
        <p:spPr>
          <a:xfrm>
            <a:off x="2043684" y="2713357"/>
            <a:ext cx="8092440" cy="420624"/>
          </a:xfrm>
          <a:prstGeom prst="roundRect">
            <a:avLst/>
          </a:prstGeom>
          <a:solidFill>
            <a:srgbClr val="FBFCFE"/>
          </a:solidFill>
          <a:ln w="1016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9144" rIns="45720" bIns="9144" rtlCol="0" anchor="ctr">
            <a:normAutofit/>
          </a:bodyPr>
          <a:lstStyle/>
          <a:p>
            <a:pPr algn="ctr">
              <a:defRPr sz="1060" b="1">
                <a:solidFill>
                  <a:srgbClr val="21252B"/>
                </a:solidFill>
                <a:latin typeface="맑은 고딕"/>
              </a:defRPr>
            </a:pPr>
            <a:r>
              <a:t>균열 기원 → 주인공 → 선의 ∞ → 고갈/변이 규칙 예외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0556" y="3973902"/>
            <a:ext cx="5330952" cy="585215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50000"/>
              </a:lnSpc>
              <a:defRPr sz="1035" b="0">
                <a:solidFill>
                  <a:srgbClr val="21252B"/>
                </a:solidFill>
                <a:latin typeface="맑은 고딕"/>
              </a:defRPr>
            </a:pPr>
            <a:r>
              <a:t>주인공 차한해는 균열에서 태어난 존재로, 일반 인간과 달리 선의가 감소하거나 고갈하지 않는 예외 규칙을 가진다.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69836" y="3979308"/>
            <a:ext cx="4521608" cy="2066544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50000"/>
              </a:lnSpc>
              <a:defRPr sz="965" b="0">
                <a:solidFill>
                  <a:srgbClr val="21252B"/>
                </a:solidFill>
                <a:latin typeface="맑은 고딕"/>
              </a:defRPr>
            </a:pPr>
            <a:r>
              <a:t>• 주인공의 선의는 ∞로 고정되어 유인·변이 대상이 되지 않는다.</a:t>
            </a:r>
          </a:p>
          <a:p>
            <a:pPr algn="l">
              <a:lnSpc>
                <a:spcPct val="150000"/>
              </a:lnSpc>
              <a:defRPr sz="965" b="0">
                <a:solidFill>
                  <a:srgbClr val="21252B"/>
                </a:solidFill>
                <a:latin typeface="맑은 고딕"/>
              </a:defRPr>
            </a:pPr>
            <a:r>
              <a:t>• 선의 ∞가 전투력 무한대를 의미하지는 않는다. 전투 성장은 장비·콘텐츠 </a:t>
            </a:r>
            <a:r>
              <a:rPr/>
              <a:t>진행으로 </a:t>
            </a:r>
            <a:r>
              <a:rPr smtClean="0"/>
              <a:t>분리</a:t>
            </a:r>
            <a:r>
              <a:rPr lang="ko-KR" altLang="en-US" smtClean="0"/>
              <a:t>된</a:t>
            </a:r>
            <a:r>
              <a:rPr smtClean="0"/>
              <a:t>다</a:t>
            </a:r>
            <a:r>
              <a:t>.</a:t>
            </a:r>
          </a:p>
          <a:p>
            <a:pPr algn="l">
              <a:lnSpc>
                <a:spcPct val="150000"/>
              </a:lnSpc>
              <a:defRPr sz="965" b="0">
                <a:solidFill>
                  <a:srgbClr val="21252B"/>
                </a:solidFill>
                <a:latin typeface="맑은 고딕"/>
              </a:defRPr>
            </a:pPr>
            <a:r>
              <a:rPr/>
              <a:t>• </a:t>
            </a:r>
            <a:r>
              <a:rPr lang="ko-KR" altLang="en-US" smtClean="0"/>
              <a:t>차한해는 균열 기원 존재이므로</a:t>
            </a:r>
            <a:r>
              <a:rPr lang="en-US" altLang="ko-KR" smtClean="0"/>
              <a:t>, </a:t>
            </a:r>
            <a:r>
              <a:rPr lang="ko-KR" altLang="en-US" smtClean="0"/>
              <a:t>같은 균열에서 비롯된 몬스터에게 자신의 힘만으로는 정상적인 피해를 줄 수 없다</a:t>
            </a:r>
            <a:r>
              <a:rPr lang="en-US" altLang="ko-KR" smtClean="0"/>
              <a:t>.</a:t>
            </a:r>
          </a:p>
          <a:p>
            <a:pPr>
              <a:lnSpc>
                <a:spcPct val="150000"/>
              </a:lnSpc>
              <a:defRPr sz="965" b="0">
                <a:solidFill>
                  <a:srgbClr val="21252B"/>
                </a:solidFill>
                <a:latin typeface="맑은 고딕"/>
              </a:defRPr>
            </a:pPr>
            <a:r>
              <a:rPr lang="en-US" altLang="ko-KR" smtClean="0"/>
              <a:t>• </a:t>
            </a:r>
            <a:r>
              <a:rPr lang="ko-KR" altLang="en-US" smtClean="0"/>
              <a:t>몬스터에게 피해를 주기 위해서는 인간 세계의 흔적과 몬스터의 기억</a:t>
            </a:r>
            <a:r>
              <a:rPr lang="en-US" altLang="ko-KR" smtClean="0"/>
              <a:t>·</a:t>
            </a:r>
            <a:r>
              <a:rPr lang="ko-KR" altLang="en-US" smtClean="0"/>
              <a:t>감정에 반응하는 무기</a:t>
            </a:r>
            <a:r>
              <a:rPr lang="en-US" altLang="ko-KR" smtClean="0"/>
              <a:t>·</a:t>
            </a:r>
            <a:r>
              <a:rPr lang="ko-KR" altLang="en-US" smtClean="0"/>
              <a:t>장비를 매개해야 한다</a:t>
            </a:r>
            <a:r>
              <a:rPr lang="en-US" altLang="ko-KR" smtClean="0"/>
              <a:t>.</a:t>
            </a:r>
            <a:endParaRPr lang="en-US"/>
          </a:p>
          <a:p>
            <a:pPr>
              <a:lnSpc>
                <a:spcPct val="150000"/>
              </a:lnSpc>
              <a:defRPr sz="965" b="0">
                <a:solidFill>
                  <a:srgbClr val="21252B"/>
                </a:solidFill>
                <a:latin typeface="맑은 고딕"/>
              </a:defRPr>
            </a:pPr>
            <a:r>
              <a:rPr smtClean="0"/>
              <a:t>• </a:t>
            </a:r>
            <a:r>
              <a:rPr lang="ko-KR" altLang="en-US" smtClean="0"/>
              <a:t>균열 기원이라는 진실은 </a:t>
            </a:r>
            <a:r>
              <a:rPr lang="en-US" altLang="ko-KR" smtClean="0"/>
              <a:t>‘</a:t>
            </a:r>
            <a:r>
              <a:rPr lang="ko-KR" altLang="en-US"/>
              <a:t>선의 </a:t>
            </a:r>
            <a:r>
              <a:rPr lang="ko-KR" altLang="en-US" smtClean="0"/>
              <a:t>∞</a:t>
            </a:r>
            <a:r>
              <a:rPr lang="en-US" altLang="ko-KR" smtClean="0"/>
              <a:t>’, </a:t>
            </a:r>
            <a:r>
              <a:rPr lang="ko-KR" altLang="en-US" smtClean="0"/>
              <a:t>유인</a:t>
            </a:r>
            <a:r>
              <a:rPr lang="en-US" altLang="ko-KR" smtClean="0"/>
              <a:t>·</a:t>
            </a:r>
            <a:r>
              <a:rPr lang="ko-KR" altLang="en-US" smtClean="0"/>
              <a:t>변이 면역</a:t>
            </a:r>
            <a:r>
              <a:rPr lang="en-US" altLang="ko-KR" smtClean="0"/>
              <a:t>, </a:t>
            </a:r>
            <a:r>
              <a:rPr lang="ko-KR" altLang="en-US" smtClean="0"/>
              <a:t>전투력 분리라는 선의 시스템의 예외 규칙들을 하나로 설명하는 반전이 된다</a:t>
            </a:r>
            <a:r>
              <a:rPr lang="en-US" altLang="ko-KR" smtClean="0"/>
              <a:t>.</a:t>
            </a:r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00556" y="4912189"/>
            <a:ext cx="5330952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92500" lnSpcReduction="20000"/>
          </a:bodyPr>
          <a:lstStyle/>
          <a:p>
            <a:pPr algn="l">
              <a:lnSpc>
                <a:spcPct val="150000"/>
              </a:lnSpc>
              <a:defRPr sz="1220" b="1">
                <a:solidFill>
                  <a:srgbClr val="042D62"/>
                </a:solidFill>
                <a:latin typeface="맑은 고딕"/>
              </a:defRPr>
            </a:pPr>
            <a:r>
              <a:t>선의와 맞물리는 부분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0556" y="5223085"/>
            <a:ext cx="5330952" cy="9144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50000"/>
              </a:lnSpc>
              <a:defRPr sz="1015" b="0">
                <a:solidFill>
                  <a:srgbClr val="21252B"/>
                </a:solidFill>
                <a:latin typeface="맑은 고딕"/>
              </a:defRPr>
            </a:pPr>
            <a:r>
              <a:rPr dirty="0" err="1"/>
              <a:t>주인공은</a:t>
            </a:r>
            <a:r>
              <a:rPr dirty="0"/>
              <a:t> </a:t>
            </a:r>
            <a:r>
              <a:rPr dirty="0" err="1"/>
              <a:t>선의를</a:t>
            </a:r>
            <a:r>
              <a:rPr dirty="0"/>
              <a:t> </a:t>
            </a:r>
            <a:r>
              <a:rPr dirty="0" err="1"/>
              <a:t>모으고</a:t>
            </a:r>
            <a:r>
              <a:rPr dirty="0"/>
              <a:t> </a:t>
            </a:r>
            <a:r>
              <a:rPr dirty="0" err="1"/>
              <a:t>소비하는</a:t>
            </a:r>
            <a:r>
              <a:rPr dirty="0"/>
              <a:t> </a:t>
            </a:r>
            <a:r>
              <a:rPr dirty="0" err="1"/>
              <a:t>캐릭터가</a:t>
            </a:r>
            <a:r>
              <a:rPr dirty="0"/>
              <a:t> </a:t>
            </a:r>
            <a:r>
              <a:rPr dirty="0" err="1"/>
              <a:t>아니라</a:t>
            </a:r>
            <a:r>
              <a:rPr dirty="0"/>
              <a:t>, </a:t>
            </a:r>
            <a:r>
              <a:rPr dirty="0" err="1"/>
              <a:t>선의</a:t>
            </a:r>
            <a:r>
              <a:rPr dirty="0"/>
              <a:t> </a:t>
            </a:r>
            <a:r>
              <a:rPr dirty="0" err="1"/>
              <a:t>시스템의</a:t>
            </a:r>
            <a:r>
              <a:rPr dirty="0"/>
              <a:t> </a:t>
            </a:r>
            <a:r>
              <a:rPr dirty="0" err="1"/>
              <a:t>예외값을</a:t>
            </a:r>
            <a:r>
              <a:rPr dirty="0"/>
              <a:t> </a:t>
            </a:r>
            <a:r>
              <a:rPr dirty="0" err="1"/>
              <a:t>가진</a:t>
            </a:r>
            <a:r>
              <a:rPr dirty="0"/>
              <a:t> </a:t>
            </a:r>
            <a:r>
              <a:rPr dirty="0" err="1"/>
              <a:t>존재다</a:t>
            </a:r>
            <a:r>
              <a:rPr dirty="0"/>
              <a:t>. </a:t>
            </a:r>
            <a:r>
              <a:rPr dirty="0" err="1"/>
              <a:t>후반에</a:t>
            </a:r>
            <a:r>
              <a:rPr dirty="0"/>
              <a:t> </a:t>
            </a:r>
            <a:r>
              <a:rPr dirty="0" err="1"/>
              <a:t>균열에서</a:t>
            </a:r>
            <a:r>
              <a:rPr dirty="0"/>
              <a:t> </a:t>
            </a:r>
            <a:r>
              <a:rPr dirty="0" err="1"/>
              <a:t>태어났다는</a:t>
            </a:r>
            <a:r>
              <a:rPr dirty="0"/>
              <a:t> </a:t>
            </a:r>
            <a:r>
              <a:rPr dirty="0" err="1"/>
              <a:t>진실이</a:t>
            </a:r>
            <a:r>
              <a:rPr dirty="0"/>
              <a:t> </a:t>
            </a:r>
            <a:r>
              <a:rPr dirty="0" err="1"/>
              <a:t>밝혀지며</a:t>
            </a:r>
            <a:r>
              <a:rPr dirty="0"/>
              <a:t>, </a:t>
            </a:r>
            <a:r>
              <a:rPr dirty="0" err="1"/>
              <a:t>선의</a:t>
            </a:r>
            <a:r>
              <a:rPr dirty="0"/>
              <a:t> ∞는 </a:t>
            </a:r>
            <a:r>
              <a:rPr dirty="0" err="1"/>
              <a:t>주인공의</a:t>
            </a:r>
            <a:r>
              <a:rPr dirty="0"/>
              <a:t> </a:t>
            </a:r>
            <a:r>
              <a:rPr dirty="0" err="1"/>
              <a:t>정체성과</a:t>
            </a:r>
            <a:r>
              <a:rPr dirty="0"/>
              <a:t> </a:t>
            </a:r>
            <a:r>
              <a:rPr dirty="0" err="1"/>
              <a:t>균열의</a:t>
            </a:r>
            <a:r>
              <a:rPr dirty="0"/>
              <a:t> </a:t>
            </a:r>
            <a:r>
              <a:rPr dirty="0" err="1"/>
              <a:t>목적을</a:t>
            </a:r>
            <a:r>
              <a:rPr dirty="0"/>
              <a:t> </a:t>
            </a:r>
            <a:r>
              <a:rPr dirty="0" err="1"/>
              <a:t>연결한다</a:t>
            </a:r>
            <a:r>
              <a:rPr dirty="0"/>
              <a:t>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0556" y="3663167"/>
            <a:ext cx="5330952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92500" lnSpcReduction="20000"/>
          </a:bodyPr>
          <a:lstStyle/>
          <a:p>
            <a:pPr algn="l">
              <a:lnSpc>
                <a:spcPct val="150000"/>
              </a:lnSpc>
              <a:defRPr sz="1220" b="1">
                <a:solidFill>
                  <a:srgbClr val="042D62"/>
                </a:solidFill>
                <a:latin typeface="맑은 고딕"/>
              </a:defRPr>
            </a:pPr>
            <a:r>
              <a:rPr dirty="0" err="1"/>
              <a:t>정의</a:t>
            </a:r>
            <a:endParaRPr dirty="0"/>
          </a:p>
        </p:txBody>
      </p:sp>
      <p:sp>
        <p:nvSpPr>
          <p:cNvPr id="18" name="TextBox 17"/>
          <p:cNvSpPr txBox="1"/>
          <p:nvPr/>
        </p:nvSpPr>
        <p:spPr>
          <a:xfrm>
            <a:off x="6669836" y="3663167"/>
            <a:ext cx="4965192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92500" lnSpcReduction="20000"/>
          </a:bodyPr>
          <a:lstStyle/>
          <a:p>
            <a:pPr algn="l">
              <a:lnSpc>
                <a:spcPct val="150000"/>
              </a:lnSpc>
              <a:defRPr sz="1220" b="1">
                <a:solidFill>
                  <a:srgbClr val="042D62"/>
                </a:solidFill>
                <a:latin typeface="맑은 고딕"/>
              </a:defRPr>
            </a:pPr>
            <a:r>
              <a:rPr dirty="0" err="1"/>
              <a:t>정의와</a:t>
            </a:r>
            <a:r>
              <a:rPr dirty="0"/>
              <a:t> </a:t>
            </a:r>
            <a:r>
              <a:rPr dirty="0" err="1"/>
              <a:t>특징</a:t>
            </a:r>
            <a:r>
              <a:rPr dirty="0"/>
              <a:t> / </a:t>
            </a:r>
            <a:r>
              <a:rPr dirty="0" err="1"/>
              <a:t>작동</a:t>
            </a:r>
            <a:r>
              <a:rPr dirty="0"/>
              <a:t> </a:t>
            </a:r>
            <a:r>
              <a:rPr dirty="0" err="1"/>
              <a:t>약속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9896581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29184"/>
            <a:ext cx="8595360" cy="402336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85000" lnSpcReduction="20000"/>
          </a:bodyPr>
          <a:lstStyle/>
          <a:p>
            <a:pPr algn="l">
              <a:lnSpc>
                <a:spcPct val="150000"/>
              </a:lnSpc>
              <a:defRPr sz="2400" b="1">
                <a:solidFill>
                  <a:srgbClr val="21252B"/>
                </a:solidFill>
                <a:latin typeface="맑은 고딕"/>
              </a:defRPr>
            </a:pPr>
            <a:r>
              <a:t>선의 × NPC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786384"/>
            <a:ext cx="10241280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50000"/>
              </a:lnSpc>
              <a:defRPr sz="1050" b="0">
                <a:solidFill>
                  <a:srgbClr val="66707A"/>
                </a:solidFill>
                <a:latin typeface="맑은 고딕"/>
              </a:defRPr>
            </a:pPr>
            <a:r>
              <a:t>캐릭터 시스템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1078992"/>
            <a:ext cx="11045952" cy="0"/>
          </a:xfrm>
          <a:prstGeom prst="line">
            <a:avLst/>
          </a:prstGeom>
          <a:ln w="12700">
            <a:solidFill>
              <a:srgbClr val="EFF2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043684" y="2717231"/>
            <a:ext cx="8092440" cy="420624"/>
          </a:xfrm>
          <a:prstGeom prst="roundRect">
            <a:avLst/>
          </a:prstGeom>
          <a:solidFill>
            <a:srgbClr val="FBFCFE"/>
          </a:solidFill>
          <a:ln w="1016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9144" rIns="45720" bIns="9144" rtlCol="0" anchor="ctr">
            <a:normAutofit/>
          </a:bodyPr>
          <a:lstStyle/>
          <a:p>
            <a:pPr algn="ctr">
              <a:lnSpc>
                <a:spcPct val="150000"/>
              </a:lnSpc>
              <a:defRPr sz="1060" b="1">
                <a:solidFill>
                  <a:srgbClr val="21252B"/>
                </a:solidFill>
                <a:latin typeface="맑은 고딕"/>
              </a:defRPr>
            </a:pPr>
            <a:r>
              <a:t>NPC 서사/행동 → 선의 변화 → 0 판정 → 유인·AI·구조</a:t>
            </a:r>
          </a:p>
        </p:txBody>
      </p:sp>
      <p:sp>
        <p:nvSpPr>
          <p:cNvPr id="23" name="Oval 4">
            <a:extLst>
              <a:ext uri="{FF2B5EF4-FFF2-40B4-BE49-F238E27FC236}">
                <a16:creationId xmlns:a16="http://schemas.microsoft.com/office/drawing/2014/main" id="{F0FB2B88-5B45-4975-8D4F-E1A43B8431D2}"/>
              </a:ext>
            </a:extLst>
          </p:cNvPr>
          <p:cNvSpPr/>
          <p:nvPr/>
        </p:nvSpPr>
        <p:spPr>
          <a:xfrm>
            <a:off x="1000556" y="1588481"/>
            <a:ext cx="850392" cy="850392"/>
          </a:xfrm>
          <a:prstGeom prst="ellipse">
            <a:avLst/>
          </a:prstGeom>
          <a:solidFill>
            <a:srgbClr val="042D62"/>
          </a:solidFill>
          <a:ln w="17145">
            <a:solidFill>
              <a:srgbClr val="042D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>
            <a:normAutofit/>
          </a:bodyPr>
          <a:lstStyle/>
          <a:p>
            <a:pPr algn="ctr">
              <a:lnSpc>
                <a:spcPct val="150000"/>
              </a:lnSpc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선의</a:t>
            </a:r>
          </a:p>
        </p:txBody>
      </p:sp>
      <p:sp>
        <p:nvSpPr>
          <p:cNvPr id="24" name="Oval 5">
            <a:extLst>
              <a:ext uri="{FF2B5EF4-FFF2-40B4-BE49-F238E27FC236}">
                <a16:creationId xmlns:a16="http://schemas.microsoft.com/office/drawing/2014/main" id="{1E38F345-FDE5-4C6A-BAE3-D44D3DF15DEE}"/>
              </a:ext>
            </a:extLst>
          </p:cNvPr>
          <p:cNvSpPr/>
          <p:nvPr/>
        </p:nvSpPr>
        <p:spPr>
          <a:xfrm>
            <a:off x="1937817" y="1629630"/>
            <a:ext cx="768096" cy="768096"/>
          </a:xfrm>
          <a:prstGeom prst="ellipse">
            <a:avLst/>
          </a:prstGeom>
          <a:solidFill>
            <a:srgbClr val="E8F2FF"/>
          </a:solidFill>
          <a:ln w="17145">
            <a:solidFill>
              <a:srgbClr val="5B8D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>
            <a:normAutofit/>
          </a:bodyPr>
          <a:lstStyle/>
          <a:p>
            <a:pPr algn="ctr">
              <a:lnSpc>
                <a:spcPct val="150000"/>
              </a:lnSpc>
              <a:defRPr sz="1100" b="1">
                <a:solidFill>
                  <a:srgbClr val="21252B"/>
                </a:solidFill>
                <a:latin typeface="맑은 고딕"/>
              </a:defRPr>
            </a:pPr>
            <a:r>
              <a:t>NPC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B19D53C-C266-4231-A63F-D2726D9FDECA}"/>
              </a:ext>
            </a:extLst>
          </p:cNvPr>
          <p:cNvSpPr txBox="1"/>
          <p:nvPr/>
        </p:nvSpPr>
        <p:spPr>
          <a:xfrm>
            <a:off x="1000556" y="5219287"/>
            <a:ext cx="5330952" cy="9144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50000"/>
              </a:lnSpc>
              <a:defRPr sz="1015" b="0">
                <a:solidFill>
                  <a:srgbClr val="21252B"/>
                </a:solidFill>
                <a:latin typeface="맑은 고딕"/>
              </a:defRPr>
            </a:pPr>
            <a:r>
              <a:rPr dirty="0" err="1"/>
              <a:t>NPC는</a:t>
            </a:r>
            <a:r>
              <a:rPr dirty="0"/>
              <a:t> </a:t>
            </a:r>
            <a:r>
              <a:rPr dirty="0" err="1"/>
              <a:t>선의</a:t>
            </a:r>
            <a:r>
              <a:rPr dirty="0"/>
              <a:t> </a:t>
            </a:r>
            <a:r>
              <a:rPr dirty="0" err="1"/>
              <a:t>시스템이</a:t>
            </a:r>
            <a:r>
              <a:rPr dirty="0"/>
              <a:t> </a:t>
            </a:r>
            <a:r>
              <a:rPr dirty="0" err="1"/>
              <a:t>실제로</a:t>
            </a:r>
            <a:r>
              <a:rPr dirty="0"/>
              <a:t> </a:t>
            </a:r>
            <a:r>
              <a:rPr dirty="0" err="1"/>
              <a:t>적용되는</a:t>
            </a:r>
            <a:r>
              <a:rPr dirty="0"/>
              <a:t> </a:t>
            </a:r>
            <a:r>
              <a:rPr dirty="0" err="1"/>
              <a:t>기본</a:t>
            </a:r>
            <a:r>
              <a:rPr dirty="0"/>
              <a:t> </a:t>
            </a:r>
            <a:r>
              <a:rPr dirty="0" err="1"/>
              <a:t>단위다</a:t>
            </a:r>
            <a:r>
              <a:rPr dirty="0"/>
              <a:t>. </a:t>
            </a:r>
            <a:r>
              <a:rPr dirty="0" err="1"/>
              <a:t>선의가</a:t>
            </a:r>
            <a:r>
              <a:rPr dirty="0"/>
              <a:t> 0이 </a:t>
            </a:r>
            <a:r>
              <a:rPr dirty="0" err="1"/>
              <a:t>되면</a:t>
            </a:r>
            <a:r>
              <a:rPr dirty="0"/>
              <a:t> </a:t>
            </a:r>
            <a:r>
              <a:rPr dirty="0" err="1"/>
              <a:t>균열의</a:t>
            </a:r>
            <a:r>
              <a:rPr dirty="0"/>
              <a:t> </a:t>
            </a:r>
            <a:r>
              <a:rPr dirty="0" err="1"/>
              <a:t>유인</a:t>
            </a:r>
            <a:r>
              <a:rPr dirty="0"/>
              <a:t> </a:t>
            </a:r>
            <a:r>
              <a:rPr dirty="0" err="1"/>
              <a:t>대상이</a:t>
            </a:r>
            <a:r>
              <a:rPr dirty="0"/>
              <a:t> </a:t>
            </a:r>
            <a:r>
              <a:rPr dirty="0" err="1"/>
              <a:t>되고</a:t>
            </a:r>
            <a:r>
              <a:rPr dirty="0"/>
              <a:t>, </a:t>
            </a:r>
            <a:r>
              <a:rPr dirty="0" err="1"/>
              <a:t>유인</a:t>
            </a:r>
            <a:r>
              <a:rPr dirty="0"/>
              <a:t> </a:t>
            </a:r>
            <a:r>
              <a:rPr dirty="0" err="1"/>
              <a:t>파동이</a:t>
            </a:r>
            <a:r>
              <a:rPr dirty="0"/>
              <a:t> </a:t>
            </a:r>
            <a:r>
              <a:rPr dirty="0" err="1"/>
              <a:t>없는</a:t>
            </a:r>
            <a:r>
              <a:rPr dirty="0"/>
              <a:t> </a:t>
            </a:r>
            <a:r>
              <a:rPr dirty="0" err="1"/>
              <a:t>시간대에는</a:t>
            </a:r>
            <a:r>
              <a:rPr dirty="0"/>
              <a:t> </a:t>
            </a:r>
            <a:r>
              <a:rPr dirty="0" err="1"/>
              <a:t>몬스터</a:t>
            </a:r>
            <a:r>
              <a:rPr dirty="0"/>
              <a:t> </a:t>
            </a:r>
            <a:r>
              <a:rPr dirty="0" err="1"/>
              <a:t>AI의</a:t>
            </a:r>
            <a:r>
              <a:rPr dirty="0"/>
              <a:t> </a:t>
            </a:r>
            <a:r>
              <a:rPr dirty="0" err="1"/>
              <a:t>특수</a:t>
            </a:r>
            <a:r>
              <a:rPr dirty="0"/>
              <a:t> </a:t>
            </a:r>
            <a:r>
              <a:rPr dirty="0" err="1"/>
              <a:t>인식</a:t>
            </a:r>
            <a:r>
              <a:rPr dirty="0"/>
              <a:t> </a:t>
            </a:r>
            <a:r>
              <a:rPr dirty="0" err="1"/>
              <a:t>대상이</a:t>
            </a:r>
            <a:r>
              <a:rPr dirty="0"/>
              <a:t> </a:t>
            </a:r>
            <a:r>
              <a:rPr dirty="0" err="1"/>
              <a:t>된다</a:t>
            </a:r>
            <a:r>
              <a:rPr dirty="0"/>
              <a:t>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25369" y="1824901"/>
            <a:ext cx="6995160" cy="3657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50000"/>
              </a:lnSpc>
              <a:defRPr sz="1520" b="1">
                <a:solidFill>
                  <a:srgbClr val="21252B"/>
                </a:solidFill>
                <a:latin typeface="맑은 고딕"/>
              </a:defRPr>
            </a:pPr>
            <a:r>
              <a:rPr dirty="0" err="1"/>
              <a:t>선의를</a:t>
            </a:r>
            <a:r>
              <a:rPr dirty="0"/>
              <a:t> </a:t>
            </a:r>
            <a:r>
              <a:rPr dirty="0" err="1"/>
              <a:t>보유하고</a:t>
            </a:r>
            <a:r>
              <a:rPr dirty="0"/>
              <a:t> </a:t>
            </a:r>
            <a:r>
              <a:rPr dirty="0" err="1"/>
              <a:t>변화시키는</a:t>
            </a:r>
            <a:r>
              <a:rPr dirty="0"/>
              <a:t> </a:t>
            </a:r>
            <a:r>
              <a:rPr dirty="0" err="1"/>
              <a:t>기본</a:t>
            </a:r>
            <a:r>
              <a:rPr dirty="0"/>
              <a:t> </a:t>
            </a:r>
            <a:r>
              <a:rPr dirty="0" err="1"/>
              <a:t>대상</a:t>
            </a:r>
            <a:endParaRPr dirty="0"/>
          </a:p>
        </p:txBody>
      </p:sp>
      <p:sp>
        <p:nvSpPr>
          <p:cNvPr id="45" name="TextBox 44"/>
          <p:cNvSpPr txBox="1"/>
          <p:nvPr/>
        </p:nvSpPr>
        <p:spPr>
          <a:xfrm>
            <a:off x="1000556" y="3973902"/>
            <a:ext cx="5330952" cy="585215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50000"/>
              </a:lnSpc>
              <a:defRPr sz="1035" b="0">
                <a:solidFill>
                  <a:srgbClr val="21252B"/>
                </a:solidFill>
                <a:latin typeface="맑은 고딕"/>
              </a:defRPr>
            </a:pPr>
            <a:r>
              <a:rPr dirty="0" err="1"/>
              <a:t>NPC는</a:t>
            </a:r>
            <a:r>
              <a:rPr dirty="0"/>
              <a:t> </a:t>
            </a:r>
            <a:r>
              <a:rPr dirty="0" err="1"/>
              <a:t>선의를</a:t>
            </a:r>
            <a:r>
              <a:rPr dirty="0"/>
              <a:t> </a:t>
            </a:r>
            <a:r>
              <a:rPr dirty="0" err="1"/>
              <a:t>보유한</a:t>
            </a:r>
            <a:r>
              <a:rPr dirty="0"/>
              <a:t> </a:t>
            </a:r>
            <a:r>
              <a:rPr dirty="0" err="1"/>
              <a:t>인간</a:t>
            </a:r>
            <a:r>
              <a:rPr dirty="0"/>
              <a:t> </a:t>
            </a:r>
            <a:r>
              <a:rPr dirty="0" err="1"/>
              <a:t>캐릭터이며</a:t>
            </a:r>
            <a:r>
              <a:rPr dirty="0"/>
              <a:t>, </a:t>
            </a:r>
            <a:r>
              <a:rPr dirty="0" err="1"/>
              <a:t>각자의</a:t>
            </a:r>
            <a:r>
              <a:rPr dirty="0"/>
              <a:t> </a:t>
            </a:r>
            <a:r>
              <a:rPr dirty="0" err="1"/>
              <a:t>서사·행동·사건에</a:t>
            </a:r>
            <a:r>
              <a:rPr dirty="0"/>
              <a:t> </a:t>
            </a:r>
            <a:r>
              <a:rPr dirty="0" err="1"/>
              <a:t>따라</a:t>
            </a:r>
            <a:r>
              <a:rPr dirty="0"/>
              <a:t> </a:t>
            </a:r>
            <a:r>
              <a:rPr dirty="0" err="1"/>
              <a:t>선의가</a:t>
            </a:r>
            <a:r>
              <a:rPr dirty="0"/>
              <a:t> </a:t>
            </a:r>
            <a:r>
              <a:rPr dirty="0" err="1"/>
              <a:t>유지되거나</a:t>
            </a:r>
            <a:r>
              <a:rPr dirty="0"/>
              <a:t> </a:t>
            </a:r>
            <a:r>
              <a:rPr dirty="0" err="1"/>
              <a:t>감소한다</a:t>
            </a:r>
            <a:r>
              <a:rPr dirty="0"/>
              <a:t>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679692" y="3973902"/>
            <a:ext cx="4965192" cy="2066544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50000"/>
              </a:lnSpc>
              <a:defRPr sz="965" b="0">
                <a:solidFill>
                  <a:srgbClr val="21252B"/>
                </a:solidFill>
                <a:latin typeface="맑은 고딕"/>
              </a:defRPr>
            </a:pPr>
            <a:r>
              <a:rPr smtClean="0"/>
              <a:t>• 선의 0 NPC는 유인 파동 시간에 균열로 끌려간다.</a:t>
            </a:r>
          </a:p>
          <a:p>
            <a:pPr algn="l">
              <a:lnSpc>
                <a:spcPct val="150000"/>
              </a:lnSpc>
              <a:defRPr sz="965" b="0">
                <a:solidFill>
                  <a:srgbClr val="21252B"/>
                </a:solidFill>
                <a:latin typeface="맑은 고딕"/>
              </a:defRPr>
            </a:pPr>
            <a:r>
              <a:rPr smtClean="0"/>
              <a:t>• </a:t>
            </a:r>
            <a:r>
              <a:rPr dirty="0" err="1"/>
              <a:t>비유인</a:t>
            </a:r>
            <a:r>
              <a:rPr dirty="0"/>
              <a:t> </a:t>
            </a:r>
            <a:r>
              <a:rPr dirty="0" err="1"/>
              <a:t>시간대의</a:t>
            </a:r>
            <a:r>
              <a:rPr dirty="0"/>
              <a:t> </a:t>
            </a:r>
            <a:r>
              <a:rPr dirty="0" err="1"/>
              <a:t>선의</a:t>
            </a:r>
            <a:r>
              <a:rPr dirty="0"/>
              <a:t> 0 </a:t>
            </a:r>
            <a:r>
              <a:rPr dirty="0" err="1"/>
              <a:t>NPC는</a:t>
            </a:r>
            <a:r>
              <a:rPr dirty="0"/>
              <a:t> </a:t>
            </a:r>
            <a:r>
              <a:rPr dirty="0" err="1"/>
              <a:t>모든</a:t>
            </a:r>
            <a:r>
              <a:rPr dirty="0"/>
              <a:t> </a:t>
            </a:r>
            <a:r>
              <a:rPr dirty="0" err="1"/>
              <a:t>몬스터에게</a:t>
            </a:r>
            <a:r>
              <a:rPr dirty="0"/>
              <a:t> </a:t>
            </a:r>
            <a:r>
              <a:rPr dirty="0" err="1"/>
              <a:t>비사냥</a:t>
            </a:r>
            <a:r>
              <a:rPr dirty="0"/>
              <a:t> </a:t>
            </a:r>
            <a:r>
              <a:rPr dirty="0" err="1"/>
              <a:t>대상으로</a:t>
            </a:r>
            <a:r>
              <a:rPr dirty="0"/>
              <a:t> </a:t>
            </a:r>
            <a:r>
              <a:rPr dirty="0" err="1"/>
              <a:t>인식된다</a:t>
            </a:r>
            <a:r>
              <a:rPr dirty="0"/>
              <a:t>.</a:t>
            </a:r>
          </a:p>
          <a:p>
            <a:pPr algn="l">
              <a:lnSpc>
                <a:spcPct val="150000"/>
              </a:lnSpc>
              <a:defRPr sz="965" b="0">
                <a:solidFill>
                  <a:srgbClr val="21252B"/>
                </a:solidFill>
                <a:latin typeface="맑은 고딕"/>
              </a:defRPr>
            </a:pPr>
            <a:r>
              <a:rPr dirty="0"/>
              <a:t>• </a:t>
            </a:r>
            <a:r>
              <a:rPr dirty="0" err="1"/>
              <a:t>NPC의</a:t>
            </a:r>
            <a:r>
              <a:rPr dirty="0"/>
              <a:t> </a:t>
            </a:r>
            <a:r>
              <a:rPr dirty="0" err="1"/>
              <a:t>선의</a:t>
            </a:r>
            <a:r>
              <a:rPr dirty="0"/>
              <a:t> </a:t>
            </a:r>
            <a:r>
              <a:rPr dirty="0" err="1"/>
              <a:t>상태는</a:t>
            </a:r>
            <a:r>
              <a:rPr dirty="0"/>
              <a:t> </a:t>
            </a:r>
            <a:r>
              <a:rPr dirty="0" err="1"/>
              <a:t>구조</a:t>
            </a:r>
            <a:r>
              <a:rPr dirty="0"/>
              <a:t>, </a:t>
            </a:r>
            <a:r>
              <a:rPr dirty="0" err="1"/>
              <a:t>퀘스트</a:t>
            </a:r>
            <a:r>
              <a:rPr dirty="0"/>
              <a:t>, </a:t>
            </a:r>
            <a:r>
              <a:rPr dirty="0" err="1"/>
              <a:t>변이</a:t>
            </a:r>
            <a:r>
              <a:rPr dirty="0"/>
              <a:t> </a:t>
            </a:r>
            <a:r>
              <a:rPr dirty="0" err="1"/>
              <a:t>가능성으로</a:t>
            </a:r>
            <a:r>
              <a:rPr dirty="0"/>
              <a:t> </a:t>
            </a:r>
            <a:r>
              <a:rPr err="1"/>
              <a:t>확장된다</a:t>
            </a:r>
            <a:r>
              <a:rPr smtClean="0"/>
              <a:t>.</a:t>
            </a:r>
            <a:endParaRPr lang="en-US" smtClean="0"/>
          </a:p>
          <a:p>
            <a:pPr>
              <a:lnSpc>
                <a:spcPct val="150000"/>
              </a:lnSpc>
              <a:defRPr sz="965" b="0">
                <a:solidFill>
                  <a:srgbClr val="21252B"/>
                </a:solidFill>
                <a:latin typeface="맑은 고딕"/>
              </a:defRPr>
            </a:pPr>
            <a:r>
              <a:rPr lang="en-US" altLang="ko-KR"/>
              <a:t>• </a:t>
            </a:r>
            <a:r>
              <a:rPr lang="ko-KR" altLang="en-US"/>
              <a:t>선의 감소는 전투 피해가 아니라 마음</a:t>
            </a:r>
            <a:r>
              <a:rPr lang="en-US" altLang="ko-KR"/>
              <a:t>·</a:t>
            </a:r>
            <a:r>
              <a:rPr lang="ko-KR" altLang="en-US"/>
              <a:t>행동</a:t>
            </a:r>
            <a:r>
              <a:rPr lang="en-US" altLang="ko-KR"/>
              <a:t>·</a:t>
            </a:r>
            <a:r>
              <a:rPr lang="ko-KR" altLang="en-US"/>
              <a:t>서사적 사건의 </a:t>
            </a:r>
            <a:r>
              <a:rPr lang="ko-KR" altLang="en-US"/>
              <a:t>결과다</a:t>
            </a:r>
            <a:r>
              <a:rPr lang="en-US" altLang="ko-KR" smtClean="0"/>
              <a:t>.</a:t>
            </a:r>
            <a:endParaRPr lang="en-US" altLang="ko-KR"/>
          </a:p>
        </p:txBody>
      </p:sp>
      <p:sp>
        <p:nvSpPr>
          <p:cNvPr id="50" name="TextBox 49"/>
          <p:cNvSpPr txBox="1"/>
          <p:nvPr/>
        </p:nvSpPr>
        <p:spPr>
          <a:xfrm>
            <a:off x="1000556" y="4912189"/>
            <a:ext cx="5330952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92500" lnSpcReduction="20000"/>
          </a:bodyPr>
          <a:lstStyle/>
          <a:p>
            <a:pPr algn="l">
              <a:lnSpc>
                <a:spcPct val="150000"/>
              </a:lnSpc>
              <a:defRPr sz="1220" b="1">
                <a:solidFill>
                  <a:srgbClr val="042D62"/>
                </a:solidFill>
                <a:latin typeface="맑은 고딕"/>
              </a:defRPr>
            </a:pPr>
            <a:r>
              <a:t>선의와 맞물리는 부분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00556" y="3663167"/>
            <a:ext cx="5330952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92500" lnSpcReduction="20000"/>
          </a:bodyPr>
          <a:lstStyle/>
          <a:p>
            <a:pPr algn="l">
              <a:lnSpc>
                <a:spcPct val="150000"/>
              </a:lnSpc>
              <a:defRPr sz="1220" b="1">
                <a:solidFill>
                  <a:srgbClr val="042D62"/>
                </a:solidFill>
                <a:latin typeface="맑은 고딕"/>
              </a:defRPr>
            </a:pPr>
            <a:r>
              <a:rPr dirty="0" err="1"/>
              <a:t>정의</a:t>
            </a:r>
            <a:endParaRPr dirty="0"/>
          </a:p>
        </p:txBody>
      </p:sp>
      <p:sp>
        <p:nvSpPr>
          <p:cNvPr id="52" name="TextBox 51"/>
          <p:cNvSpPr txBox="1"/>
          <p:nvPr/>
        </p:nvSpPr>
        <p:spPr>
          <a:xfrm>
            <a:off x="6669836" y="3663167"/>
            <a:ext cx="4965192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92500" lnSpcReduction="20000"/>
          </a:bodyPr>
          <a:lstStyle/>
          <a:p>
            <a:pPr algn="l">
              <a:lnSpc>
                <a:spcPct val="150000"/>
              </a:lnSpc>
              <a:defRPr sz="1220" b="1">
                <a:solidFill>
                  <a:srgbClr val="042D62"/>
                </a:solidFill>
                <a:latin typeface="맑은 고딕"/>
              </a:defRPr>
            </a:pPr>
            <a:r>
              <a:rPr dirty="0" err="1"/>
              <a:t>정의와</a:t>
            </a:r>
            <a:r>
              <a:rPr dirty="0"/>
              <a:t> </a:t>
            </a:r>
            <a:r>
              <a:rPr dirty="0" err="1"/>
              <a:t>특징</a:t>
            </a:r>
            <a:r>
              <a:rPr dirty="0"/>
              <a:t> / </a:t>
            </a:r>
            <a:r>
              <a:rPr dirty="0" err="1"/>
              <a:t>작동</a:t>
            </a:r>
            <a:r>
              <a:rPr dirty="0"/>
              <a:t> </a:t>
            </a:r>
            <a:r>
              <a:rPr dirty="0" err="1"/>
              <a:t>약속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29184"/>
            <a:ext cx="8595360" cy="402336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85000" lnSpcReduction="20000"/>
          </a:bodyPr>
          <a:lstStyle/>
          <a:p>
            <a:pPr algn="l">
              <a:lnSpc>
                <a:spcPct val="150000"/>
              </a:lnSpc>
              <a:defRPr sz="2400" b="1">
                <a:solidFill>
                  <a:srgbClr val="21252B"/>
                </a:solidFill>
                <a:latin typeface="맑은 고딕"/>
              </a:defRPr>
            </a:pPr>
            <a:r>
              <a:t>선의 × 몬스터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786384"/>
            <a:ext cx="10241280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50000"/>
              </a:lnSpc>
              <a:defRPr sz="1050" b="0">
                <a:solidFill>
                  <a:srgbClr val="66707A"/>
                </a:solidFill>
                <a:latin typeface="맑은 고딕"/>
              </a:defRPr>
            </a:pPr>
            <a:r>
              <a:t>전투·월드 개체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1078992"/>
            <a:ext cx="11045952" cy="0"/>
          </a:xfrm>
          <a:prstGeom prst="line">
            <a:avLst/>
          </a:prstGeom>
          <a:ln w="12700">
            <a:solidFill>
              <a:srgbClr val="EFF2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4">
            <a:extLst>
              <a:ext uri="{FF2B5EF4-FFF2-40B4-BE49-F238E27FC236}">
                <a16:creationId xmlns:a16="http://schemas.microsoft.com/office/drawing/2014/main" id="{0174912C-FCAE-4866-9F47-BB5EC43D5B57}"/>
              </a:ext>
            </a:extLst>
          </p:cNvPr>
          <p:cNvSpPr/>
          <p:nvPr/>
        </p:nvSpPr>
        <p:spPr>
          <a:xfrm>
            <a:off x="1000556" y="1590535"/>
            <a:ext cx="850392" cy="850392"/>
          </a:xfrm>
          <a:prstGeom prst="ellipse">
            <a:avLst/>
          </a:prstGeom>
          <a:solidFill>
            <a:srgbClr val="042D62"/>
          </a:solidFill>
          <a:ln w="17145">
            <a:solidFill>
              <a:srgbClr val="042D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>
            <a:normAutofit/>
          </a:bodyPr>
          <a:lstStyle/>
          <a:p>
            <a:pPr algn="ctr">
              <a:lnSpc>
                <a:spcPct val="150000"/>
              </a:lnSpc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rPr dirty="0" err="1"/>
              <a:t>선의</a:t>
            </a:r>
            <a:endParaRPr dirty="0"/>
          </a:p>
        </p:txBody>
      </p:sp>
      <p:sp>
        <p:nvSpPr>
          <p:cNvPr id="22" name="Oval 5">
            <a:extLst>
              <a:ext uri="{FF2B5EF4-FFF2-40B4-BE49-F238E27FC236}">
                <a16:creationId xmlns:a16="http://schemas.microsoft.com/office/drawing/2014/main" id="{C676F9BB-F333-456A-A54F-2A9E2185E0C2}"/>
              </a:ext>
            </a:extLst>
          </p:cNvPr>
          <p:cNvSpPr/>
          <p:nvPr/>
        </p:nvSpPr>
        <p:spPr>
          <a:xfrm>
            <a:off x="1937817" y="1631684"/>
            <a:ext cx="768096" cy="768096"/>
          </a:xfrm>
          <a:prstGeom prst="ellipse">
            <a:avLst/>
          </a:prstGeom>
          <a:solidFill>
            <a:srgbClr val="F1ECFF"/>
          </a:solidFill>
          <a:ln w="17145">
            <a:solidFill>
              <a:srgbClr val="8B75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>
            <a:normAutofit/>
          </a:bodyPr>
          <a:lstStyle/>
          <a:p>
            <a:pPr algn="ctr">
              <a:lnSpc>
                <a:spcPct val="150000"/>
              </a:lnSpc>
              <a:defRPr sz="1100" b="1">
                <a:solidFill>
                  <a:srgbClr val="21252B"/>
                </a:solidFill>
                <a:latin typeface="맑은 고딕"/>
              </a:defRPr>
            </a:pPr>
            <a:r>
              <a:t>몬스터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5369" y="1832851"/>
            <a:ext cx="6995160" cy="3657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50000"/>
              </a:lnSpc>
              <a:defRPr sz="1520" b="1">
                <a:solidFill>
                  <a:srgbClr val="21252B"/>
                </a:solidFill>
                <a:latin typeface="맑은 고딕"/>
              </a:defRPr>
            </a:pPr>
            <a:r>
              <a:rPr dirty="0" err="1"/>
              <a:t>선의</a:t>
            </a:r>
            <a:r>
              <a:rPr dirty="0"/>
              <a:t> </a:t>
            </a:r>
            <a:r>
              <a:rPr dirty="0" err="1"/>
              <a:t>고갈에서</a:t>
            </a:r>
            <a:r>
              <a:rPr dirty="0"/>
              <a:t> </a:t>
            </a:r>
            <a:r>
              <a:rPr dirty="0" err="1"/>
              <a:t>발생한</a:t>
            </a:r>
            <a:r>
              <a:rPr dirty="0"/>
              <a:t> </a:t>
            </a:r>
            <a:r>
              <a:rPr dirty="0" err="1"/>
              <a:t>부정성의</a:t>
            </a:r>
            <a:r>
              <a:rPr dirty="0"/>
              <a:t> </a:t>
            </a:r>
            <a:r>
              <a:rPr dirty="0" err="1"/>
              <a:t>결과물</a:t>
            </a:r>
            <a:endParaRPr dirty="0"/>
          </a:p>
        </p:txBody>
      </p:sp>
      <p:sp>
        <p:nvSpPr>
          <p:cNvPr id="18" name="Rounded Rectangle 9"/>
          <p:cNvSpPr/>
          <p:nvPr/>
        </p:nvSpPr>
        <p:spPr>
          <a:xfrm>
            <a:off x="2043684" y="2703086"/>
            <a:ext cx="8092440" cy="420624"/>
          </a:xfrm>
          <a:prstGeom prst="roundRect">
            <a:avLst/>
          </a:prstGeom>
          <a:solidFill>
            <a:srgbClr val="FBFCFE"/>
          </a:solidFill>
          <a:ln w="1016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9144" rIns="45720" bIns="9144" rtlCol="0" anchor="ctr">
            <a:normAutofit/>
          </a:bodyPr>
          <a:lstStyle/>
          <a:p>
            <a:pPr algn="ctr">
              <a:lnSpc>
                <a:spcPct val="150000"/>
              </a:lnSpc>
              <a:defRPr sz="1060" b="1">
                <a:solidFill>
                  <a:srgbClr val="21252B"/>
                </a:solidFill>
                <a:latin typeface="맑은 고딕"/>
              </a:defRPr>
            </a:pPr>
            <a:r>
              <a:t>변이 → 몬스터 → 인간 공격 / 선의 0 비사냥 / 구조 상황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0556" y="3977680"/>
            <a:ext cx="5330952" cy="585215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50000"/>
              </a:lnSpc>
              <a:defRPr sz="1035" b="0">
                <a:solidFill>
                  <a:srgbClr val="21252B"/>
                </a:solidFill>
                <a:latin typeface="맑은 고딕"/>
              </a:defRPr>
            </a:pPr>
            <a:r>
              <a:t>몬스터는 선의가 고갈된 인간의 부정적 요소가 균열을 통해 배출된 존재다. 인간 하나당 하나의 괴물로 대응된다.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69836" y="3977680"/>
            <a:ext cx="4521608" cy="2066544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 latinLnBrk="1">
              <a:lnSpc>
                <a:spcPct val="150000"/>
              </a:lnSpc>
              <a:defRPr sz="965" b="0">
                <a:solidFill>
                  <a:srgbClr val="21252B"/>
                </a:solidFill>
                <a:latin typeface="맑은 고딕"/>
              </a:defRPr>
            </a:pPr>
            <a:r>
              <a:rPr dirty="0"/>
              <a:t>• </a:t>
            </a:r>
            <a:r>
              <a:rPr dirty="0" err="1"/>
              <a:t>몬스터는</a:t>
            </a:r>
            <a:r>
              <a:rPr dirty="0"/>
              <a:t> </a:t>
            </a:r>
            <a:r>
              <a:rPr dirty="0" err="1"/>
              <a:t>기본적으로</a:t>
            </a:r>
            <a:r>
              <a:rPr dirty="0"/>
              <a:t> </a:t>
            </a:r>
            <a:r>
              <a:rPr dirty="0" err="1"/>
              <a:t>인간을</a:t>
            </a:r>
            <a:r>
              <a:rPr dirty="0"/>
              <a:t> </a:t>
            </a:r>
            <a:r>
              <a:rPr dirty="0" err="1"/>
              <a:t>공격하지만</a:t>
            </a:r>
            <a:r>
              <a:rPr dirty="0"/>
              <a:t> </a:t>
            </a:r>
            <a:r>
              <a:rPr dirty="0" err="1"/>
              <a:t>선의</a:t>
            </a:r>
            <a:r>
              <a:rPr dirty="0"/>
              <a:t> 0 </a:t>
            </a:r>
            <a:r>
              <a:rPr err="1"/>
              <a:t>인간은</a:t>
            </a:r>
            <a:r>
              <a:rPr/>
              <a:t> </a:t>
            </a:r>
            <a:r>
              <a:rPr lang="ko-KR" altLang="en-US" smtClean="0"/>
              <a:t>비사냥 대상으로 인식한다</a:t>
            </a:r>
            <a:r>
              <a:rPr lang="en-US" altLang="ko-KR" smtClean="0"/>
              <a:t>.</a:t>
            </a:r>
            <a:endParaRPr dirty="0"/>
          </a:p>
          <a:p>
            <a:pPr algn="l" latinLnBrk="1">
              <a:lnSpc>
                <a:spcPct val="150000"/>
              </a:lnSpc>
              <a:defRPr sz="965" b="0">
                <a:solidFill>
                  <a:srgbClr val="21252B"/>
                </a:solidFill>
                <a:latin typeface="맑은 고딕"/>
              </a:defRPr>
            </a:pPr>
            <a:r>
              <a:rPr dirty="0"/>
              <a:t>• </a:t>
            </a:r>
            <a:r>
              <a:rPr dirty="0" err="1"/>
              <a:t>진화된</a:t>
            </a:r>
            <a:r>
              <a:rPr dirty="0"/>
              <a:t> </a:t>
            </a:r>
            <a:r>
              <a:rPr dirty="0" err="1"/>
              <a:t>타입일수록</a:t>
            </a:r>
            <a:r>
              <a:rPr dirty="0"/>
              <a:t> </a:t>
            </a:r>
            <a:r>
              <a:rPr dirty="0" err="1"/>
              <a:t>선의</a:t>
            </a:r>
            <a:r>
              <a:rPr dirty="0"/>
              <a:t> 0 </a:t>
            </a:r>
            <a:r>
              <a:rPr dirty="0" err="1"/>
              <a:t>인간을</a:t>
            </a:r>
            <a:r>
              <a:rPr dirty="0"/>
              <a:t> </a:t>
            </a:r>
            <a:r>
              <a:rPr dirty="0" err="1"/>
              <a:t>동류</a:t>
            </a:r>
            <a:r>
              <a:rPr dirty="0"/>
              <a:t>, </a:t>
            </a:r>
            <a:r>
              <a:rPr dirty="0" err="1"/>
              <a:t>회수</a:t>
            </a:r>
            <a:r>
              <a:rPr dirty="0"/>
              <a:t> </a:t>
            </a:r>
            <a:r>
              <a:rPr dirty="0" err="1"/>
              <a:t>대상</a:t>
            </a:r>
            <a:r>
              <a:rPr dirty="0"/>
              <a:t>, </a:t>
            </a:r>
            <a:r>
              <a:rPr dirty="0" err="1"/>
              <a:t>보호</a:t>
            </a:r>
            <a:r>
              <a:rPr dirty="0"/>
              <a:t> </a:t>
            </a:r>
            <a:r>
              <a:rPr dirty="0" err="1"/>
              <a:t>대상으로</a:t>
            </a:r>
            <a:r>
              <a:rPr dirty="0"/>
              <a:t> 더 </a:t>
            </a:r>
            <a:r>
              <a:rPr dirty="0" err="1"/>
              <a:t>명확하게</a:t>
            </a:r>
            <a:r>
              <a:rPr dirty="0"/>
              <a:t> </a:t>
            </a:r>
            <a:r>
              <a:rPr dirty="0" err="1"/>
              <a:t>인식한다</a:t>
            </a:r>
            <a:r>
              <a:rPr dirty="0"/>
              <a:t>.</a:t>
            </a:r>
          </a:p>
          <a:p>
            <a:pPr algn="l" latinLnBrk="1">
              <a:lnSpc>
                <a:spcPct val="150000"/>
              </a:lnSpc>
              <a:defRPr sz="965" b="0">
                <a:solidFill>
                  <a:srgbClr val="21252B"/>
                </a:solidFill>
                <a:latin typeface="맑은 고딕"/>
              </a:defRPr>
            </a:pPr>
            <a:r>
              <a:rPr dirty="0"/>
              <a:t>• </a:t>
            </a:r>
            <a:r>
              <a:rPr dirty="0" err="1"/>
              <a:t>몬스터는</a:t>
            </a:r>
            <a:r>
              <a:rPr dirty="0"/>
              <a:t> </a:t>
            </a:r>
            <a:r>
              <a:rPr dirty="0" err="1"/>
              <a:t>전투</a:t>
            </a:r>
            <a:r>
              <a:rPr dirty="0"/>
              <a:t> </a:t>
            </a:r>
            <a:r>
              <a:rPr dirty="0" err="1"/>
              <a:t>콘텐츠뿐</a:t>
            </a:r>
            <a:r>
              <a:rPr dirty="0"/>
              <a:t> </a:t>
            </a:r>
            <a:r>
              <a:rPr dirty="0" err="1"/>
              <a:t>아니라</a:t>
            </a:r>
            <a:r>
              <a:rPr dirty="0"/>
              <a:t> </a:t>
            </a:r>
            <a:r>
              <a:rPr dirty="0" err="1"/>
              <a:t>유인</a:t>
            </a:r>
            <a:r>
              <a:rPr dirty="0"/>
              <a:t>, </a:t>
            </a:r>
            <a:r>
              <a:rPr dirty="0" err="1"/>
              <a:t>구조</a:t>
            </a:r>
            <a:r>
              <a:rPr dirty="0"/>
              <a:t>, NPC </a:t>
            </a:r>
            <a:r>
              <a:rPr dirty="0" err="1"/>
              <a:t>위기</a:t>
            </a:r>
            <a:r>
              <a:rPr dirty="0"/>
              <a:t> </a:t>
            </a:r>
            <a:r>
              <a:rPr dirty="0" err="1"/>
              <a:t>상황을</a:t>
            </a:r>
            <a:r>
              <a:rPr dirty="0"/>
              <a:t> </a:t>
            </a:r>
            <a:r>
              <a:rPr dirty="0" err="1"/>
              <a:t>만든다</a:t>
            </a:r>
            <a:r>
              <a:rPr dirty="0"/>
              <a:t>.</a:t>
            </a:r>
          </a:p>
          <a:p>
            <a:pPr algn="l" latinLnBrk="1">
              <a:lnSpc>
                <a:spcPct val="150000"/>
              </a:lnSpc>
              <a:defRPr sz="965" b="0">
                <a:solidFill>
                  <a:srgbClr val="21252B"/>
                </a:solidFill>
                <a:latin typeface="맑은 고딕"/>
              </a:defRPr>
            </a:pPr>
            <a:r>
              <a:rPr dirty="0"/>
              <a:t>• </a:t>
            </a:r>
            <a:r>
              <a:rPr dirty="0" err="1"/>
              <a:t>몬스터의</a:t>
            </a:r>
            <a:r>
              <a:rPr dirty="0"/>
              <a:t> </a:t>
            </a:r>
            <a:r>
              <a:rPr dirty="0" err="1"/>
              <a:t>서사는</a:t>
            </a:r>
            <a:r>
              <a:rPr dirty="0"/>
              <a:t> </a:t>
            </a:r>
            <a:r>
              <a:rPr dirty="0" err="1"/>
              <a:t>변이</a:t>
            </a:r>
            <a:r>
              <a:rPr dirty="0"/>
              <a:t> 전 </a:t>
            </a:r>
            <a:r>
              <a:rPr dirty="0" err="1"/>
              <a:t>인간의</a:t>
            </a:r>
            <a:r>
              <a:rPr dirty="0"/>
              <a:t> </a:t>
            </a:r>
            <a:r>
              <a:rPr dirty="0" err="1"/>
              <a:t>부정적</a:t>
            </a:r>
            <a:r>
              <a:rPr dirty="0"/>
              <a:t> </a:t>
            </a:r>
            <a:r>
              <a:rPr dirty="0" err="1"/>
              <a:t>마음에서</a:t>
            </a:r>
            <a:r>
              <a:rPr dirty="0"/>
              <a:t> </a:t>
            </a:r>
            <a:r>
              <a:rPr dirty="0" err="1"/>
              <a:t>출발한다</a:t>
            </a:r>
            <a:r>
              <a:rPr dirty="0"/>
              <a:t>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0556" y="5225548"/>
            <a:ext cx="5330952" cy="9144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50000"/>
              </a:lnSpc>
              <a:defRPr sz="1015" b="0">
                <a:solidFill>
                  <a:srgbClr val="21252B"/>
                </a:solidFill>
                <a:latin typeface="맑은 고딕"/>
              </a:defRPr>
            </a:pPr>
            <a:r>
              <a:t>몬스터는 선의 시스템의 결과물이면서, 다시 인간의 선의 상태를 판정하는 주체가 된다. 모든 몬스터는 선의 0 인간을 의도적으로 공격하지 않는 비사냥 대상으로 인식한다.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0556" y="4912189"/>
            <a:ext cx="5330952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92500" lnSpcReduction="20000"/>
          </a:bodyPr>
          <a:lstStyle/>
          <a:p>
            <a:pPr algn="l">
              <a:lnSpc>
                <a:spcPct val="150000"/>
              </a:lnSpc>
              <a:defRPr sz="1220" b="1">
                <a:solidFill>
                  <a:srgbClr val="042D62"/>
                </a:solidFill>
                <a:latin typeface="맑은 고딕"/>
              </a:defRPr>
            </a:pPr>
            <a:r>
              <a:t>선의와 맞물리는 부분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0556" y="3663167"/>
            <a:ext cx="5330952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92500" lnSpcReduction="20000"/>
          </a:bodyPr>
          <a:lstStyle/>
          <a:p>
            <a:pPr algn="l">
              <a:lnSpc>
                <a:spcPct val="150000"/>
              </a:lnSpc>
              <a:defRPr sz="1220" b="1">
                <a:solidFill>
                  <a:srgbClr val="042D62"/>
                </a:solidFill>
                <a:latin typeface="맑은 고딕"/>
              </a:defRPr>
            </a:pPr>
            <a:r>
              <a:rPr dirty="0" err="1"/>
              <a:t>정의</a:t>
            </a:r>
            <a:endParaRPr dirty="0"/>
          </a:p>
        </p:txBody>
      </p:sp>
      <p:sp>
        <p:nvSpPr>
          <p:cNvPr id="32" name="TextBox 31"/>
          <p:cNvSpPr txBox="1"/>
          <p:nvPr/>
        </p:nvSpPr>
        <p:spPr>
          <a:xfrm>
            <a:off x="6669836" y="3663167"/>
            <a:ext cx="4965192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92500" lnSpcReduction="20000"/>
          </a:bodyPr>
          <a:lstStyle/>
          <a:p>
            <a:pPr algn="l">
              <a:lnSpc>
                <a:spcPct val="150000"/>
              </a:lnSpc>
              <a:defRPr sz="1220" b="1">
                <a:solidFill>
                  <a:srgbClr val="042D62"/>
                </a:solidFill>
                <a:latin typeface="맑은 고딕"/>
              </a:defRPr>
            </a:pPr>
            <a:r>
              <a:rPr dirty="0" err="1"/>
              <a:t>정의와</a:t>
            </a:r>
            <a:r>
              <a:rPr dirty="0"/>
              <a:t> </a:t>
            </a:r>
            <a:r>
              <a:rPr dirty="0" err="1"/>
              <a:t>특징</a:t>
            </a:r>
            <a:r>
              <a:rPr dirty="0"/>
              <a:t> / </a:t>
            </a:r>
            <a:r>
              <a:rPr dirty="0" err="1"/>
              <a:t>작동</a:t>
            </a:r>
            <a:r>
              <a:rPr dirty="0"/>
              <a:t> </a:t>
            </a:r>
            <a:r>
              <a:rPr dirty="0" err="1"/>
              <a:t>약속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444447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29184"/>
            <a:ext cx="8595360" cy="402336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85000" lnSpcReduction="20000"/>
          </a:bodyPr>
          <a:lstStyle/>
          <a:p>
            <a:pPr algn="l">
              <a:lnSpc>
                <a:spcPct val="150000"/>
              </a:lnSpc>
              <a:defRPr sz="2400" b="1">
                <a:solidFill>
                  <a:srgbClr val="21252B"/>
                </a:solidFill>
                <a:latin typeface="맑은 고딕"/>
              </a:defRPr>
            </a:pPr>
            <a:r>
              <a:t>선의 × 변이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786384"/>
            <a:ext cx="10241280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50000"/>
              </a:lnSpc>
              <a:defRPr sz="1050" b="0">
                <a:solidFill>
                  <a:srgbClr val="66707A"/>
                </a:solidFill>
                <a:latin typeface="맑은 고딕"/>
              </a:defRPr>
            </a:pPr>
            <a:r>
              <a:t>상태 변화 시스템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1078992"/>
            <a:ext cx="11045952" cy="0"/>
          </a:xfrm>
          <a:prstGeom prst="line">
            <a:avLst/>
          </a:prstGeom>
          <a:ln w="12700">
            <a:solidFill>
              <a:srgbClr val="EFF2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4">
            <a:extLst>
              <a:ext uri="{FF2B5EF4-FFF2-40B4-BE49-F238E27FC236}">
                <a16:creationId xmlns:a16="http://schemas.microsoft.com/office/drawing/2014/main" id="{ABB25042-8046-4D8F-BE0A-BA21C7C3CF96}"/>
              </a:ext>
            </a:extLst>
          </p:cNvPr>
          <p:cNvSpPr/>
          <p:nvPr/>
        </p:nvSpPr>
        <p:spPr>
          <a:xfrm>
            <a:off x="1000556" y="1590789"/>
            <a:ext cx="850392" cy="850392"/>
          </a:xfrm>
          <a:prstGeom prst="ellipse">
            <a:avLst/>
          </a:prstGeom>
          <a:solidFill>
            <a:srgbClr val="042D62"/>
          </a:solidFill>
          <a:ln w="17145">
            <a:solidFill>
              <a:srgbClr val="042D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>
            <a:normAutofit/>
          </a:bodyPr>
          <a:lstStyle/>
          <a:p>
            <a:pPr algn="ctr">
              <a:lnSpc>
                <a:spcPct val="150000"/>
              </a:lnSpc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선의</a:t>
            </a:r>
          </a:p>
        </p:txBody>
      </p:sp>
      <p:sp>
        <p:nvSpPr>
          <p:cNvPr id="22" name="Oval 5">
            <a:extLst>
              <a:ext uri="{FF2B5EF4-FFF2-40B4-BE49-F238E27FC236}">
                <a16:creationId xmlns:a16="http://schemas.microsoft.com/office/drawing/2014/main" id="{EE1CF7EE-145E-488C-8ACD-455B06396D38}"/>
              </a:ext>
            </a:extLst>
          </p:cNvPr>
          <p:cNvSpPr/>
          <p:nvPr/>
        </p:nvSpPr>
        <p:spPr>
          <a:xfrm>
            <a:off x="1937817" y="1631938"/>
            <a:ext cx="768096" cy="768096"/>
          </a:xfrm>
          <a:prstGeom prst="ellipse">
            <a:avLst/>
          </a:prstGeom>
          <a:solidFill>
            <a:srgbClr val="F1ECFF"/>
          </a:solidFill>
          <a:ln w="17145">
            <a:solidFill>
              <a:srgbClr val="8B75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>
            <a:normAutofit/>
          </a:bodyPr>
          <a:lstStyle/>
          <a:p>
            <a:pPr algn="ctr">
              <a:lnSpc>
                <a:spcPct val="150000"/>
              </a:lnSpc>
              <a:defRPr sz="1100" b="1">
                <a:solidFill>
                  <a:srgbClr val="21252B"/>
                </a:solidFill>
                <a:latin typeface="맑은 고딕"/>
              </a:defRPr>
            </a:pPr>
            <a:r>
              <a:t>변이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5369" y="1833105"/>
            <a:ext cx="6995160" cy="3657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50000"/>
              </a:lnSpc>
              <a:defRPr sz="1520" b="1">
                <a:solidFill>
                  <a:srgbClr val="21252B"/>
                </a:solidFill>
                <a:latin typeface="맑은 고딕"/>
              </a:defRPr>
            </a:pPr>
            <a:r>
              <a:t>인간의 부정적 요소가 몬스터로 배출되는 과정</a:t>
            </a:r>
          </a:p>
        </p:txBody>
      </p:sp>
      <p:sp>
        <p:nvSpPr>
          <p:cNvPr id="18" name="Rounded Rectangle 9"/>
          <p:cNvSpPr/>
          <p:nvPr/>
        </p:nvSpPr>
        <p:spPr>
          <a:xfrm>
            <a:off x="2043684" y="2706799"/>
            <a:ext cx="8092440" cy="420624"/>
          </a:xfrm>
          <a:prstGeom prst="roundRect">
            <a:avLst/>
          </a:prstGeom>
          <a:solidFill>
            <a:srgbClr val="FBFCFE"/>
          </a:solidFill>
          <a:ln w="1016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9144" rIns="45720" bIns="9144" rtlCol="0" anchor="ctr">
            <a:normAutofit/>
          </a:bodyPr>
          <a:lstStyle/>
          <a:p>
            <a:pPr algn="ctr">
              <a:lnSpc>
                <a:spcPct val="150000"/>
              </a:lnSpc>
              <a:defRPr sz="1060" b="1">
                <a:solidFill>
                  <a:srgbClr val="21252B"/>
                </a:solidFill>
                <a:latin typeface="맑은 고딕"/>
              </a:defRPr>
            </a:pPr>
            <a:r>
              <a:t>선의 0 + 균열 진입 → 부정성 분리 → 몬스터 배출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0556" y="3977660"/>
            <a:ext cx="5330952" cy="585215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50000"/>
              </a:lnSpc>
              <a:defRPr sz="1035" b="0">
                <a:solidFill>
                  <a:srgbClr val="21252B"/>
                </a:solidFill>
                <a:latin typeface="맑은 고딕"/>
              </a:defRPr>
            </a:pPr>
            <a:r>
              <a:t>변이는 선의 0인 인간이 균열에 들어갔을 때, 인간 자체가 사라지는 것이 아니라 부정적 요소가 분리되어 몬스터가 되는 과정이다.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69836" y="3977660"/>
            <a:ext cx="4965192" cy="2066544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50000"/>
              </a:lnSpc>
              <a:defRPr sz="965" b="0">
                <a:solidFill>
                  <a:srgbClr val="21252B"/>
                </a:solidFill>
                <a:latin typeface="맑은 고딕"/>
              </a:defRPr>
            </a:pPr>
            <a:r>
              <a:rPr dirty="0"/>
              <a:t>• </a:t>
            </a:r>
            <a:r>
              <a:rPr dirty="0" err="1"/>
              <a:t>변이</a:t>
            </a:r>
            <a:r>
              <a:rPr dirty="0"/>
              <a:t> </a:t>
            </a:r>
            <a:r>
              <a:rPr dirty="0" err="1"/>
              <a:t>대상은</a:t>
            </a:r>
            <a:r>
              <a:rPr dirty="0"/>
              <a:t> </a:t>
            </a:r>
            <a:r>
              <a:rPr dirty="0" err="1"/>
              <a:t>선의</a:t>
            </a:r>
            <a:r>
              <a:rPr dirty="0"/>
              <a:t> 0 </a:t>
            </a:r>
            <a:r>
              <a:rPr dirty="0" err="1"/>
              <a:t>상태이거나</a:t>
            </a:r>
            <a:r>
              <a:rPr dirty="0"/>
              <a:t> </a:t>
            </a:r>
            <a:r>
              <a:rPr dirty="0" err="1"/>
              <a:t>자발적으로</a:t>
            </a:r>
            <a:r>
              <a:rPr dirty="0"/>
              <a:t> </a:t>
            </a:r>
            <a:r>
              <a:rPr dirty="0" err="1"/>
              <a:t>균열에</a:t>
            </a:r>
            <a:r>
              <a:rPr dirty="0"/>
              <a:t> </a:t>
            </a:r>
            <a:r>
              <a:rPr dirty="0" err="1"/>
              <a:t>들어간</a:t>
            </a:r>
            <a:r>
              <a:rPr dirty="0"/>
              <a:t> </a:t>
            </a:r>
            <a:r>
              <a:rPr dirty="0" err="1"/>
              <a:t>인간이다</a:t>
            </a:r>
            <a:r>
              <a:rPr dirty="0"/>
              <a:t>.</a:t>
            </a:r>
          </a:p>
          <a:p>
            <a:pPr algn="l">
              <a:lnSpc>
                <a:spcPct val="150000"/>
              </a:lnSpc>
              <a:defRPr sz="965" b="0">
                <a:solidFill>
                  <a:srgbClr val="21252B"/>
                </a:solidFill>
                <a:latin typeface="맑은 고딕"/>
              </a:defRPr>
            </a:pPr>
            <a:r>
              <a:rPr dirty="0"/>
              <a:t>• </a:t>
            </a:r>
            <a:r>
              <a:rPr dirty="0" err="1"/>
              <a:t>인간의</a:t>
            </a:r>
            <a:r>
              <a:rPr dirty="0"/>
              <a:t> </a:t>
            </a:r>
            <a:r>
              <a:rPr dirty="0" err="1"/>
              <a:t>본체는</a:t>
            </a:r>
            <a:r>
              <a:rPr dirty="0"/>
              <a:t> </a:t>
            </a:r>
            <a:r>
              <a:rPr dirty="0" err="1"/>
              <a:t>균열</a:t>
            </a:r>
            <a:r>
              <a:rPr dirty="0"/>
              <a:t> </a:t>
            </a:r>
            <a:r>
              <a:rPr dirty="0" err="1"/>
              <a:t>안에</a:t>
            </a:r>
            <a:r>
              <a:rPr dirty="0"/>
              <a:t> </a:t>
            </a:r>
            <a:r>
              <a:rPr dirty="0" err="1"/>
              <a:t>껍데기처럼</a:t>
            </a:r>
            <a:r>
              <a:rPr dirty="0"/>
              <a:t> </a:t>
            </a:r>
            <a:r>
              <a:rPr dirty="0" err="1"/>
              <a:t>남고</a:t>
            </a:r>
            <a:r>
              <a:rPr dirty="0"/>
              <a:t>, </a:t>
            </a:r>
            <a:r>
              <a:rPr dirty="0" err="1"/>
              <a:t>부정적</a:t>
            </a:r>
            <a:r>
              <a:rPr dirty="0"/>
              <a:t> </a:t>
            </a:r>
            <a:r>
              <a:rPr dirty="0" err="1"/>
              <a:t>요소만</a:t>
            </a:r>
            <a:r>
              <a:rPr dirty="0"/>
              <a:t> </a:t>
            </a:r>
            <a:r>
              <a:rPr dirty="0" err="1"/>
              <a:t>몬스터로</a:t>
            </a:r>
            <a:r>
              <a:rPr dirty="0"/>
              <a:t> </a:t>
            </a:r>
            <a:r>
              <a:rPr dirty="0" err="1"/>
              <a:t>배출된다</a:t>
            </a:r>
            <a:r>
              <a:rPr dirty="0"/>
              <a:t>.</a:t>
            </a:r>
          </a:p>
          <a:p>
            <a:pPr algn="l">
              <a:lnSpc>
                <a:spcPct val="150000"/>
              </a:lnSpc>
              <a:defRPr sz="965" b="0">
                <a:solidFill>
                  <a:srgbClr val="21252B"/>
                </a:solidFill>
                <a:latin typeface="맑은 고딕"/>
              </a:defRPr>
            </a:pPr>
            <a:r>
              <a:rPr dirty="0"/>
              <a:t>• </a:t>
            </a:r>
            <a:r>
              <a:rPr dirty="0" err="1"/>
              <a:t>변이</a:t>
            </a:r>
            <a:r>
              <a:rPr dirty="0"/>
              <a:t> 전 </a:t>
            </a:r>
            <a:r>
              <a:rPr dirty="0" err="1"/>
              <a:t>인간의</a:t>
            </a:r>
            <a:r>
              <a:rPr dirty="0"/>
              <a:t> </a:t>
            </a:r>
            <a:r>
              <a:rPr dirty="0" err="1"/>
              <a:t>트라우마와</a:t>
            </a:r>
            <a:r>
              <a:rPr dirty="0"/>
              <a:t> </a:t>
            </a:r>
            <a:r>
              <a:rPr dirty="0" err="1"/>
              <a:t>부정성이</a:t>
            </a:r>
            <a:r>
              <a:rPr dirty="0"/>
              <a:t> </a:t>
            </a:r>
            <a:r>
              <a:rPr dirty="0" err="1"/>
              <a:t>몬스터의</a:t>
            </a:r>
            <a:r>
              <a:rPr dirty="0"/>
              <a:t> </a:t>
            </a:r>
            <a:r>
              <a:rPr dirty="0" err="1"/>
              <a:t>외형·타입·패턴에</a:t>
            </a:r>
            <a:r>
              <a:rPr dirty="0"/>
              <a:t> </a:t>
            </a:r>
            <a:r>
              <a:rPr dirty="0" err="1"/>
              <a:t>반영된다</a:t>
            </a:r>
            <a:r>
              <a:rPr dirty="0"/>
              <a:t>.</a:t>
            </a:r>
          </a:p>
          <a:p>
            <a:pPr algn="l">
              <a:lnSpc>
                <a:spcPct val="150000"/>
              </a:lnSpc>
              <a:defRPr sz="965" b="0">
                <a:solidFill>
                  <a:srgbClr val="21252B"/>
                </a:solidFill>
                <a:latin typeface="맑은 고딕"/>
              </a:defRPr>
            </a:pPr>
            <a:r>
              <a:rPr dirty="0"/>
              <a:t>• </a:t>
            </a:r>
            <a:r>
              <a:rPr dirty="0" err="1"/>
              <a:t>변이는</a:t>
            </a:r>
            <a:r>
              <a:rPr dirty="0"/>
              <a:t> NPC </a:t>
            </a:r>
            <a:r>
              <a:rPr dirty="0" err="1"/>
              <a:t>서사를</a:t>
            </a:r>
            <a:r>
              <a:rPr dirty="0"/>
              <a:t> </a:t>
            </a:r>
            <a:r>
              <a:rPr dirty="0" err="1"/>
              <a:t>몬스터</a:t>
            </a:r>
            <a:r>
              <a:rPr dirty="0"/>
              <a:t> </a:t>
            </a:r>
            <a:r>
              <a:rPr dirty="0" err="1"/>
              <a:t>콘텐츠로</a:t>
            </a:r>
            <a:r>
              <a:rPr dirty="0"/>
              <a:t> </a:t>
            </a:r>
            <a:r>
              <a:rPr dirty="0" err="1"/>
              <a:t>바꾸는</a:t>
            </a:r>
            <a:r>
              <a:rPr dirty="0"/>
              <a:t> </a:t>
            </a:r>
            <a:r>
              <a:rPr err="1"/>
              <a:t>변환</a:t>
            </a:r>
            <a:r>
              <a:rPr/>
              <a:t> </a:t>
            </a:r>
            <a:r>
              <a:rPr lang="ko-KR" altLang="en-US" smtClean="0"/>
              <a:t>톱니</a:t>
            </a:r>
            <a:r>
              <a:rPr smtClean="0"/>
              <a:t>다</a:t>
            </a:r>
            <a:r>
              <a:rPr dirty="0"/>
              <a:t>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0556" y="5216652"/>
            <a:ext cx="5330952" cy="9144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50000"/>
              </a:lnSpc>
              <a:defRPr sz="1015" b="0">
                <a:solidFill>
                  <a:srgbClr val="21252B"/>
                </a:solidFill>
                <a:latin typeface="맑은 고딕"/>
              </a:defRPr>
            </a:pPr>
            <a:r>
              <a:rPr dirty="0" err="1"/>
              <a:t>선의</a:t>
            </a:r>
            <a:r>
              <a:rPr dirty="0"/>
              <a:t> </a:t>
            </a:r>
            <a:r>
              <a:rPr dirty="0" err="1"/>
              <a:t>고갈은</a:t>
            </a:r>
            <a:r>
              <a:rPr dirty="0"/>
              <a:t> </a:t>
            </a:r>
            <a:r>
              <a:rPr dirty="0" err="1"/>
              <a:t>변이의</a:t>
            </a:r>
            <a:r>
              <a:rPr dirty="0"/>
              <a:t> </a:t>
            </a:r>
            <a:r>
              <a:rPr dirty="0" err="1"/>
              <a:t>조건이다</a:t>
            </a:r>
            <a:r>
              <a:rPr dirty="0"/>
              <a:t>. </a:t>
            </a:r>
            <a:r>
              <a:rPr dirty="0" err="1"/>
              <a:t>균열은</a:t>
            </a:r>
            <a:r>
              <a:rPr dirty="0"/>
              <a:t> </a:t>
            </a:r>
            <a:r>
              <a:rPr dirty="0" err="1"/>
              <a:t>이기심</a:t>
            </a:r>
            <a:r>
              <a:rPr dirty="0"/>
              <a:t>, </a:t>
            </a:r>
            <a:r>
              <a:rPr dirty="0" err="1"/>
              <a:t>폭력성</a:t>
            </a:r>
            <a:r>
              <a:rPr dirty="0"/>
              <a:t>, </a:t>
            </a:r>
            <a:r>
              <a:rPr dirty="0" err="1"/>
              <a:t>부도덕함</a:t>
            </a:r>
            <a:r>
              <a:rPr dirty="0"/>
              <a:t> </a:t>
            </a:r>
            <a:r>
              <a:rPr dirty="0" err="1"/>
              <a:t>같은</a:t>
            </a:r>
            <a:r>
              <a:rPr dirty="0"/>
              <a:t> </a:t>
            </a:r>
            <a:r>
              <a:rPr dirty="0" err="1"/>
              <a:t>부정적인</a:t>
            </a:r>
            <a:r>
              <a:rPr dirty="0"/>
              <a:t> </a:t>
            </a:r>
            <a:r>
              <a:rPr dirty="0" err="1"/>
              <a:t>것들을</a:t>
            </a:r>
            <a:r>
              <a:rPr dirty="0"/>
              <a:t> </a:t>
            </a:r>
            <a:r>
              <a:rPr dirty="0" err="1"/>
              <a:t>한데</a:t>
            </a:r>
            <a:r>
              <a:rPr dirty="0"/>
              <a:t> </a:t>
            </a:r>
            <a:r>
              <a:rPr dirty="0" err="1"/>
              <a:t>뭉쳐</a:t>
            </a:r>
            <a:r>
              <a:rPr dirty="0"/>
              <a:t> </a:t>
            </a:r>
            <a:r>
              <a:rPr dirty="0" err="1"/>
              <a:t>인간</a:t>
            </a:r>
            <a:r>
              <a:rPr dirty="0"/>
              <a:t> </a:t>
            </a:r>
            <a:r>
              <a:rPr dirty="0" err="1"/>
              <a:t>하나당</a:t>
            </a:r>
            <a:r>
              <a:rPr dirty="0"/>
              <a:t> </a:t>
            </a:r>
            <a:r>
              <a:rPr dirty="0" err="1"/>
              <a:t>하나의</a:t>
            </a:r>
            <a:r>
              <a:rPr dirty="0"/>
              <a:t> </a:t>
            </a:r>
            <a:r>
              <a:rPr dirty="0" err="1"/>
              <a:t>괴물로</a:t>
            </a:r>
            <a:r>
              <a:rPr dirty="0"/>
              <a:t> </a:t>
            </a:r>
            <a:r>
              <a:rPr dirty="0" err="1"/>
              <a:t>균열</a:t>
            </a:r>
            <a:r>
              <a:rPr dirty="0"/>
              <a:t> </a:t>
            </a:r>
            <a:r>
              <a:rPr dirty="0" err="1"/>
              <a:t>밖에</a:t>
            </a:r>
            <a:r>
              <a:rPr dirty="0"/>
              <a:t> </a:t>
            </a:r>
            <a:r>
              <a:rPr dirty="0" err="1"/>
              <a:t>배출한다</a:t>
            </a:r>
            <a:r>
              <a:rPr dirty="0"/>
              <a:t>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0556" y="4912189"/>
            <a:ext cx="5330952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92500" lnSpcReduction="20000"/>
          </a:bodyPr>
          <a:lstStyle/>
          <a:p>
            <a:pPr algn="l">
              <a:lnSpc>
                <a:spcPct val="150000"/>
              </a:lnSpc>
              <a:defRPr sz="1220" b="1">
                <a:solidFill>
                  <a:srgbClr val="042D62"/>
                </a:solidFill>
                <a:latin typeface="맑은 고딕"/>
              </a:defRPr>
            </a:pPr>
            <a:r>
              <a:t>선의와 맞물리는 부분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00556" y="3663167"/>
            <a:ext cx="5330952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92500" lnSpcReduction="20000"/>
          </a:bodyPr>
          <a:lstStyle/>
          <a:p>
            <a:pPr algn="l">
              <a:lnSpc>
                <a:spcPct val="150000"/>
              </a:lnSpc>
              <a:defRPr sz="1220" b="1">
                <a:solidFill>
                  <a:srgbClr val="042D62"/>
                </a:solidFill>
                <a:latin typeface="맑은 고딕"/>
              </a:defRPr>
            </a:pPr>
            <a:r>
              <a:rPr dirty="0" err="1"/>
              <a:t>정의</a:t>
            </a:r>
            <a:endParaRPr dirty="0"/>
          </a:p>
        </p:txBody>
      </p:sp>
      <p:sp>
        <p:nvSpPr>
          <p:cNvPr id="42" name="TextBox 41"/>
          <p:cNvSpPr txBox="1"/>
          <p:nvPr/>
        </p:nvSpPr>
        <p:spPr>
          <a:xfrm>
            <a:off x="6669836" y="3663167"/>
            <a:ext cx="4965192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92500" lnSpcReduction="20000"/>
          </a:bodyPr>
          <a:lstStyle/>
          <a:p>
            <a:pPr algn="l">
              <a:lnSpc>
                <a:spcPct val="150000"/>
              </a:lnSpc>
              <a:defRPr sz="1220" b="1">
                <a:solidFill>
                  <a:srgbClr val="042D62"/>
                </a:solidFill>
                <a:latin typeface="맑은 고딕"/>
              </a:defRPr>
            </a:pPr>
            <a:r>
              <a:rPr dirty="0" err="1"/>
              <a:t>정의와</a:t>
            </a:r>
            <a:r>
              <a:rPr dirty="0"/>
              <a:t> </a:t>
            </a:r>
            <a:r>
              <a:rPr dirty="0" err="1"/>
              <a:t>특징</a:t>
            </a:r>
            <a:r>
              <a:rPr dirty="0"/>
              <a:t> / </a:t>
            </a:r>
            <a:r>
              <a:rPr dirty="0" err="1"/>
              <a:t>작동</a:t>
            </a:r>
            <a:r>
              <a:rPr dirty="0"/>
              <a:t> </a:t>
            </a:r>
            <a:r>
              <a:rPr dirty="0" err="1"/>
              <a:t>약속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29184"/>
            <a:ext cx="8595360" cy="402336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85000" lnSpcReduction="20000"/>
          </a:bodyPr>
          <a:lstStyle/>
          <a:p>
            <a:pPr algn="l">
              <a:lnSpc>
                <a:spcPct val="150000"/>
              </a:lnSpc>
              <a:defRPr sz="2400" b="1">
                <a:solidFill>
                  <a:srgbClr val="21252B"/>
                </a:solidFill>
                <a:latin typeface="맑은 고딕"/>
              </a:defRPr>
            </a:pPr>
            <a:r>
              <a:t>선의 × 전투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786384"/>
            <a:ext cx="10241280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50000"/>
              </a:lnSpc>
              <a:defRPr sz="1050" b="0">
                <a:solidFill>
                  <a:srgbClr val="66707A"/>
                </a:solidFill>
                <a:latin typeface="맑은 고딕"/>
              </a:defRPr>
            </a:pPr>
            <a:r>
              <a:t>플레이 콘텐츠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1078992"/>
            <a:ext cx="11045952" cy="0"/>
          </a:xfrm>
          <a:prstGeom prst="line">
            <a:avLst/>
          </a:prstGeom>
          <a:ln w="12700">
            <a:solidFill>
              <a:srgbClr val="EFF2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4"/>
          <p:cNvSpPr/>
          <p:nvPr/>
        </p:nvSpPr>
        <p:spPr>
          <a:xfrm>
            <a:off x="1000556" y="1608479"/>
            <a:ext cx="850392" cy="850392"/>
          </a:xfrm>
          <a:prstGeom prst="ellipse">
            <a:avLst/>
          </a:prstGeom>
          <a:solidFill>
            <a:srgbClr val="042D62"/>
          </a:solidFill>
          <a:ln w="17145">
            <a:solidFill>
              <a:srgbClr val="042D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>
            <a:normAutofit/>
          </a:bodyPr>
          <a:lstStyle/>
          <a:p>
            <a:pPr algn="ctr">
              <a:lnSpc>
                <a:spcPct val="150000"/>
              </a:lnSpc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선의</a:t>
            </a:r>
          </a:p>
        </p:txBody>
      </p:sp>
      <p:sp>
        <p:nvSpPr>
          <p:cNvPr id="22" name="Oval 5"/>
          <p:cNvSpPr/>
          <p:nvPr/>
        </p:nvSpPr>
        <p:spPr>
          <a:xfrm>
            <a:off x="1937817" y="1649628"/>
            <a:ext cx="768096" cy="768096"/>
          </a:xfrm>
          <a:prstGeom prst="ellipse">
            <a:avLst/>
          </a:prstGeom>
          <a:solidFill>
            <a:srgbClr val="FFF2E6"/>
          </a:solidFill>
          <a:ln w="17145">
            <a:solidFill>
              <a:srgbClr val="E19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>
            <a:normAutofit/>
          </a:bodyPr>
          <a:lstStyle/>
          <a:p>
            <a:pPr algn="ctr">
              <a:lnSpc>
                <a:spcPct val="150000"/>
              </a:lnSpc>
              <a:defRPr sz="1100" b="1">
                <a:solidFill>
                  <a:srgbClr val="21252B"/>
                </a:solidFill>
                <a:latin typeface="맑은 고딕"/>
              </a:defRPr>
            </a:pPr>
            <a:r>
              <a:t>전투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25369" y="1845227"/>
            <a:ext cx="6995160" cy="3657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50000"/>
              </a:lnSpc>
              <a:defRPr sz="1520" b="1">
                <a:solidFill>
                  <a:srgbClr val="21252B"/>
                </a:solidFill>
                <a:latin typeface="맑은 고딕"/>
              </a:defRPr>
            </a:pPr>
            <a:r>
              <a:t>선의 판정이 플레이 충돌로 드러나는 순간</a:t>
            </a:r>
          </a:p>
        </p:txBody>
      </p:sp>
      <p:sp>
        <p:nvSpPr>
          <p:cNvPr id="26" name="Rounded Rectangle 9"/>
          <p:cNvSpPr/>
          <p:nvPr/>
        </p:nvSpPr>
        <p:spPr>
          <a:xfrm>
            <a:off x="2043684" y="2719065"/>
            <a:ext cx="8092440" cy="420624"/>
          </a:xfrm>
          <a:prstGeom prst="roundRect">
            <a:avLst/>
          </a:prstGeom>
          <a:solidFill>
            <a:srgbClr val="FBFCFE"/>
          </a:solidFill>
          <a:ln w="1016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9144" rIns="45720" bIns="9144" rtlCol="0" anchor="ctr">
            <a:normAutofit/>
          </a:bodyPr>
          <a:lstStyle/>
          <a:p>
            <a:pPr algn="ctr">
              <a:lnSpc>
                <a:spcPct val="150000"/>
              </a:lnSpc>
              <a:defRPr sz="1060" b="1">
                <a:solidFill>
                  <a:srgbClr val="21252B"/>
                </a:solidFill>
                <a:latin typeface="맑은 고딕"/>
              </a:defRPr>
            </a:pPr>
            <a:r>
              <a:t>선의 고갈 → 변이/몬스터 → AI 행동 → 전투·보호 목표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0556" y="5190460"/>
            <a:ext cx="5330952" cy="9144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50000"/>
              </a:lnSpc>
              <a:defRPr sz="1015" b="0">
                <a:solidFill>
                  <a:srgbClr val="21252B"/>
                </a:solidFill>
                <a:latin typeface="맑은 고딕"/>
              </a:defRPr>
            </a:pPr>
            <a:r>
              <a:t>전투 자체가 선의를 깎는 것은 아니다. 선의가 0이 된 인간이 변이하고, 그 결과로 등장한 몬스터가 </a:t>
            </a:r>
            <a:r>
              <a:rPr/>
              <a:t>인간을 </a:t>
            </a:r>
            <a:r>
              <a:rPr smtClean="0"/>
              <a:t>공격하</a:t>
            </a:r>
            <a:r>
              <a:rPr lang="ko-KR" altLang="en-US" smtClean="0"/>
              <a:t>고</a:t>
            </a:r>
            <a:r>
              <a:rPr smtClean="0"/>
              <a:t> </a:t>
            </a:r>
            <a:r>
              <a:t>선의 0 NPC를 </a:t>
            </a:r>
            <a:r>
              <a:rPr/>
              <a:t>다르게 </a:t>
            </a:r>
            <a:r>
              <a:rPr smtClean="0"/>
              <a:t>다루</a:t>
            </a:r>
            <a:r>
              <a:rPr lang="ko-KR" altLang="en-US" smtClean="0"/>
              <a:t>기도 하</a:t>
            </a:r>
            <a:r>
              <a:rPr smtClean="0"/>
              <a:t>면서 </a:t>
            </a:r>
            <a:r>
              <a:t>전투 상황이 발생한다.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00556" y="3977660"/>
            <a:ext cx="5330952" cy="585215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50000"/>
              </a:lnSpc>
              <a:defRPr sz="1035" b="0">
                <a:solidFill>
                  <a:srgbClr val="21252B"/>
                </a:solidFill>
                <a:latin typeface="맑은 고딕"/>
              </a:defRPr>
            </a:pPr>
            <a:r>
              <a:t>전투는 선의 고갈과 변이로 발생한 몬스터, 그리고 몬스터 AI의 행동이 플레이어에게 직접 드러나는 콘텐츠다.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669836" y="3977660"/>
            <a:ext cx="4965192" cy="2066544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50000"/>
              </a:lnSpc>
              <a:defRPr sz="965" b="0">
                <a:solidFill>
                  <a:srgbClr val="21252B"/>
                </a:solidFill>
                <a:latin typeface="맑은 고딕"/>
              </a:defRPr>
            </a:pPr>
            <a:r>
              <a:t>• 주인공의 선의 ∞는 전투력 무한대를 의미하지 않는다.</a:t>
            </a:r>
          </a:p>
          <a:p>
            <a:pPr algn="l">
              <a:lnSpc>
                <a:spcPct val="150000"/>
              </a:lnSpc>
              <a:defRPr sz="965" b="0">
                <a:solidFill>
                  <a:srgbClr val="21252B"/>
                </a:solidFill>
                <a:latin typeface="맑은 고딕"/>
              </a:defRPr>
            </a:pPr>
            <a:r>
              <a:t>• 전투력 성장은 무기, 방어구, 균열 대응 장비, 콘텐츠 진행으로 설계한다.</a:t>
            </a:r>
          </a:p>
          <a:p>
            <a:pPr algn="l">
              <a:lnSpc>
                <a:spcPct val="150000"/>
              </a:lnSpc>
              <a:defRPr sz="965" b="0">
                <a:solidFill>
                  <a:srgbClr val="21252B"/>
                </a:solidFill>
                <a:latin typeface="맑은 고딕"/>
              </a:defRPr>
            </a:pPr>
            <a:r>
              <a:t>• 전투 목표는 처치뿐 아니라 NPC 보호, 유인 차단, 구조와 결합한다.</a:t>
            </a:r>
          </a:p>
          <a:p>
            <a:pPr algn="l">
              <a:lnSpc>
                <a:spcPct val="150000"/>
              </a:lnSpc>
              <a:defRPr sz="965" b="0">
                <a:solidFill>
                  <a:srgbClr val="21252B"/>
                </a:solidFill>
                <a:latin typeface="맑은 고딕"/>
              </a:defRPr>
            </a:pPr>
            <a:r>
              <a:t>• 몬스터 타입과 AI가 전투 패턴과 우선 목표를 바꾼다.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00556" y="4912189"/>
            <a:ext cx="5330952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92500" lnSpcReduction="20000"/>
          </a:bodyPr>
          <a:lstStyle/>
          <a:p>
            <a:pPr algn="l">
              <a:lnSpc>
                <a:spcPct val="150000"/>
              </a:lnSpc>
              <a:defRPr sz="1220" b="1">
                <a:solidFill>
                  <a:srgbClr val="042D62"/>
                </a:solidFill>
                <a:latin typeface="맑은 고딕"/>
              </a:defRPr>
            </a:pPr>
            <a:r>
              <a:t>선의와 맞물리는 부분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00556" y="3663167"/>
            <a:ext cx="5330952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92500" lnSpcReduction="20000"/>
          </a:bodyPr>
          <a:lstStyle/>
          <a:p>
            <a:pPr algn="l">
              <a:lnSpc>
                <a:spcPct val="150000"/>
              </a:lnSpc>
              <a:defRPr sz="1220" b="1">
                <a:solidFill>
                  <a:srgbClr val="042D62"/>
                </a:solidFill>
                <a:latin typeface="맑은 고딕"/>
              </a:defRPr>
            </a:pPr>
            <a:r>
              <a:rPr dirty="0" err="1"/>
              <a:t>정의</a:t>
            </a:r>
            <a:endParaRPr dirty="0"/>
          </a:p>
        </p:txBody>
      </p:sp>
      <p:sp>
        <p:nvSpPr>
          <p:cNvPr id="49" name="TextBox 48"/>
          <p:cNvSpPr txBox="1"/>
          <p:nvPr/>
        </p:nvSpPr>
        <p:spPr>
          <a:xfrm>
            <a:off x="6669836" y="3663167"/>
            <a:ext cx="4965192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92500" lnSpcReduction="20000"/>
          </a:bodyPr>
          <a:lstStyle/>
          <a:p>
            <a:pPr algn="l">
              <a:lnSpc>
                <a:spcPct val="150000"/>
              </a:lnSpc>
              <a:defRPr sz="1220" b="1">
                <a:solidFill>
                  <a:srgbClr val="042D62"/>
                </a:solidFill>
                <a:latin typeface="맑은 고딕"/>
              </a:defRPr>
            </a:pPr>
            <a:r>
              <a:rPr dirty="0" err="1"/>
              <a:t>정의와</a:t>
            </a:r>
            <a:r>
              <a:rPr dirty="0"/>
              <a:t> </a:t>
            </a:r>
            <a:r>
              <a:rPr dirty="0" err="1"/>
              <a:t>특징</a:t>
            </a:r>
            <a:r>
              <a:rPr dirty="0"/>
              <a:t> / </a:t>
            </a:r>
            <a:r>
              <a:rPr dirty="0" err="1"/>
              <a:t>작동</a:t>
            </a:r>
            <a:r>
              <a:rPr dirty="0"/>
              <a:t> </a:t>
            </a:r>
            <a:r>
              <a:rPr dirty="0" err="1"/>
              <a:t>약속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29184"/>
            <a:ext cx="8595360" cy="402336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85000" lnSpcReduction="20000"/>
          </a:bodyPr>
          <a:lstStyle/>
          <a:p>
            <a:pPr algn="l">
              <a:lnSpc>
                <a:spcPct val="150000"/>
              </a:lnSpc>
              <a:defRPr sz="2400" b="1">
                <a:solidFill>
                  <a:srgbClr val="21252B"/>
                </a:solidFill>
                <a:latin typeface="맑은 고딕"/>
              </a:defRPr>
            </a:pPr>
            <a:r>
              <a:t>선의 × 구조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786384"/>
            <a:ext cx="10241280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50000"/>
              </a:lnSpc>
              <a:defRPr sz="1050" b="0">
                <a:solidFill>
                  <a:srgbClr val="66707A"/>
                </a:solidFill>
                <a:latin typeface="맑은 고딕"/>
              </a:defRPr>
            </a:pPr>
            <a:r>
              <a:t>플레이 콘텐츠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1078992"/>
            <a:ext cx="11045952" cy="0"/>
          </a:xfrm>
          <a:prstGeom prst="line">
            <a:avLst/>
          </a:prstGeom>
          <a:ln w="12700">
            <a:solidFill>
              <a:srgbClr val="EFF2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4"/>
          <p:cNvSpPr/>
          <p:nvPr/>
        </p:nvSpPr>
        <p:spPr>
          <a:xfrm>
            <a:off x="1000556" y="1608479"/>
            <a:ext cx="850392" cy="850392"/>
          </a:xfrm>
          <a:prstGeom prst="ellipse">
            <a:avLst/>
          </a:prstGeom>
          <a:solidFill>
            <a:srgbClr val="042D62"/>
          </a:solidFill>
          <a:ln w="17145">
            <a:solidFill>
              <a:srgbClr val="042D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>
            <a:normAutofit/>
          </a:bodyPr>
          <a:lstStyle/>
          <a:p>
            <a:pPr algn="ctr">
              <a:lnSpc>
                <a:spcPct val="150000"/>
              </a:lnSpc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선의</a:t>
            </a:r>
          </a:p>
        </p:txBody>
      </p:sp>
      <p:sp>
        <p:nvSpPr>
          <p:cNvPr id="22" name="Oval 5"/>
          <p:cNvSpPr/>
          <p:nvPr/>
        </p:nvSpPr>
        <p:spPr>
          <a:xfrm>
            <a:off x="1937817" y="1649628"/>
            <a:ext cx="768096" cy="768096"/>
          </a:xfrm>
          <a:prstGeom prst="ellipse">
            <a:avLst/>
          </a:prstGeom>
          <a:solidFill>
            <a:srgbClr val="FFF2E6"/>
          </a:solidFill>
          <a:ln w="17145">
            <a:solidFill>
              <a:srgbClr val="E19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>
            <a:normAutofit/>
          </a:bodyPr>
          <a:lstStyle/>
          <a:p>
            <a:pPr algn="ctr">
              <a:lnSpc>
                <a:spcPct val="150000"/>
              </a:lnSpc>
              <a:defRPr sz="1100" b="1">
                <a:solidFill>
                  <a:srgbClr val="21252B"/>
                </a:solidFill>
                <a:latin typeface="맑은 고딕"/>
              </a:defRPr>
            </a:pPr>
            <a:r>
              <a:t>구조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25369" y="1842899"/>
            <a:ext cx="6995160" cy="3657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50000"/>
              </a:lnSpc>
              <a:defRPr sz="1520" b="1">
                <a:solidFill>
                  <a:srgbClr val="21252B"/>
                </a:solidFill>
                <a:latin typeface="맑은 고딕"/>
              </a:defRPr>
            </a:pPr>
            <a:r>
              <a:t>선의 0 NPC를 플레이 목표로 전환하는 콘텐츠</a:t>
            </a:r>
          </a:p>
        </p:txBody>
      </p:sp>
      <p:sp>
        <p:nvSpPr>
          <p:cNvPr id="24" name="Rounded Rectangle 9"/>
          <p:cNvSpPr/>
          <p:nvPr/>
        </p:nvSpPr>
        <p:spPr>
          <a:xfrm>
            <a:off x="2043684" y="2714102"/>
            <a:ext cx="8092440" cy="420624"/>
          </a:xfrm>
          <a:prstGeom prst="roundRect">
            <a:avLst/>
          </a:prstGeom>
          <a:solidFill>
            <a:srgbClr val="FBFCFE"/>
          </a:solidFill>
          <a:ln w="1016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9144" rIns="45720" bIns="9144" rtlCol="0" anchor="ctr">
            <a:normAutofit/>
          </a:bodyPr>
          <a:lstStyle/>
          <a:p>
            <a:pPr algn="ctr">
              <a:lnSpc>
                <a:spcPct val="150000"/>
              </a:lnSpc>
              <a:defRPr sz="1060" b="1">
                <a:solidFill>
                  <a:srgbClr val="21252B"/>
                </a:solidFill>
                <a:latin typeface="맑은 고딕"/>
              </a:defRPr>
            </a:pPr>
            <a:r>
              <a:t>선의 0 NPC + 균열/AI 위험 → 구조 콘텐츠 → NPC 상태 변화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0556" y="3984914"/>
            <a:ext cx="5330952" cy="585215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50000"/>
              </a:lnSpc>
              <a:defRPr sz="1035" b="0">
                <a:solidFill>
                  <a:srgbClr val="21252B"/>
                </a:solidFill>
                <a:latin typeface="맑은 고딕"/>
              </a:defRPr>
            </a:pPr>
            <a:r>
              <a:t>구조는 유인 파동에 끌려가거나 몬스터에게 특수 행동의 대상이 된 NPC를 플레이어가 보호·대피·차단하는 콘텐츠다.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69836" y="3984914"/>
            <a:ext cx="4965192" cy="2066544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50000"/>
              </a:lnSpc>
              <a:defRPr sz="965" b="0">
                <a:solidFill>
                  <a:srgbClr val="21252B"/>
                </a:solidFill>
                <a:latin typeface="맑은 고딕"/>
              </a:defRPr>
            </a:pPr>
            <a:r>
              <a:t>• 유인 파동 중에는 균열 이동을 막는 구조 목표가 생긴다.</a:t>
            </a:r>
          </a:p>
          <a:p>
            <a:pPr algn="l">
              <a:lnSpc>
                <a:spcPct val="150000"/>
              </a:lnSpc>
              <a:defRPr sz="965" b="0">
                <a:solidFill>
                  <a:srgbClr val="21252B"/>
                </a:solidFill>
                <a:latin typeface="맑은 고딕"/>
              </a:defRPr>
            </a:pPr>
            <a:r>
              <a:t>• 비유인 시간대에는 몬스터의 타입별 행동에서 NPC를 보호하는 목표가 생긴다.</a:t>
            </a:r>
          </a:p>
          <a:p>
            <a:pPr algn="l">
              <a:lnSpc>
                <a:spcPct val="150000"/>
              </a:lnSpc>
              <a:defRPr sz="965" b="0">
                <a:solidFill>
                  <a:srgbClr val="21252B"/>
                </a:solidFill>
                <a:latin typeface="맑은 고딕"/>
              </a:defRPr>
            </a:pPr>
            <a:r>
              <a:t>• 구조 결과는 NPC 서사, 퀘스트 변화, 여론 변화로 이어질 수 있다.</a:t>
            </a:r>
          </a:p>
          <a:p>
            <a:pPr algn="l">
              <a:lnSpc>
                <a:spcPct val="150000"/>
              </a:lnSpc>
              <a:defRPr sz="965" b="0">
                <a:solidFill>
                  <a:srgbClr val="21252B"/>
                </a:solidFill>
                <a:latin typeface="맑은 고딕"/>
              </a:defRPr>
            </a:pPr>
            <a:r>
              <a:t>• 구조는 선의 시스템이 플레이어 행동으로 전환되는 중요한 접점이다.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0556" y="5190460"/>
            <a:ext cx="5330952" cy="9144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50000"/>
              </a:lnSpc>
              <a:defRPr sz="1015" b="0">
                <a:solidFill>
                  <a:srgbClr val="21252B"/>
                </a:solidFill>
                <a:latin typeface="맑은 고딕"/>
              </a:defRPr>
            </a:pPr>
            <a:r>
              <a:t>선의 0 NPC는 유인 시간대에는 균열로 끌려가고, 비유인 시간대에는 몬스터의 비사냥·유도·회수 대상이 된다. 이 위험을 플레이어가 해결하는 방식이 구조 콘텐츠다.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0556" y="4912189"/>
            <a:ext cx="5330952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92500" lnSpcReduction="20000"/>
          </a:bodyPr>
          <a:lstStyle/>
          <a:p>
            <a:pPr algn="l">
              <a:lnSpc>
                <a:spcPct val="150000"/>
              </a:lnSpc>
              <a:defRPr sz="1220" b="1">
                <a:solidFill>
                  <a:srgbClr val="042D62"/>
                </a:solidFill>
                <a:latin typeface="맑은 고딕"/>
              </a:defRPr>
            </a:pPr>
            <a:r>
              <a:t>선의와 맞물리는 부분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0556" y="3663167"/>
            <a:ext cx="5330952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92500" lnSpcReduction="20000"/>
          </a:bodyPr>
          <a:lstStyle/>
          <a:p>
            <a:pPr algn="l">
              <a:lnSpc>
                <a:spcPct val="150000"/>
              </a:lnSpc>
              <a:defRPr sz="1220" b="1">
                <a:solidFill>
                  <a:srgbClr val="042D62"/>
                </a:solidFill>
                <a:latin typeface="맑은 고딕"/>
              </a:defRPr>
            </a:pPr>
            <a:r>
              <a:rPr dirty="0" err="1"/>
              <a:t>정의</a:t>
            </a:r>
            <a:endParaRPr dirty="0"/>
          </a:p>
        </p:txBody>
      </p:sp>
      <p:sp>
        <p:nvSpPr>
          <p:cNvPr id="34" name="TextBox 33"/>
          <p:cNvSpPr txBox="1"/>
          <p:nvPr/>
        </p:nvSpPr>
        <p:spPr>
          <a:xfrm>
            <a:off x="6669836" y="3663167"/>
            <a:ext cx="4965192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92500" lnSpcReduction="20000"/>
          </a:bodyPr>
          <a:lstStyle/>
          <a:p>
            <a:pPr algn="l">
              <a:lnSpc>
                <a:spcPct val="150000"/>
              </a:lnSpc>
              <a:defRPr sz="1220" b="1">
                <a:solidFill>
                  <a:srgbClr val="042D62"/>
                </a:solidFill>
                <a:latin typeface="맑은 고딕"/>
              </a:defRPr>
            </a:pPr>
            <a:r>
              <a:rPr dirty="0" err="1"/>
              <a:t>정의와</a:t>
            </a:r>
            <a:r>
              <a:rPr dirty="0"/>
              <a:t> </a:t>
            </a:r>
            <a:r>
              <a:rPr dirty="0" err="1"/>
              <a:t>특징</a:t>
            </a:r>
            <a:r>
              <a:rPr dirty="0"/>
              <a:t> / </a:t>
            </a:r>
            <a:r>
              <a:rPr dirty="0" err="1"/>
              <a:t>작동</a:t>
            </a:r>
            <a:r>
              <a:rPr dirty="0"/>
              <a:t> </a:t>
            </a:r>
            <a:r>
              <a:rPr dirty="0" err="1"/>
              <a:t>약속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29184"/>
            <a:ext cx="8595360" cy="402336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85000" lnSpcReduction="20000"/>
          </a:bodyPr>
          <a:lstStyle/>
          <a:p>
            <a:pPr algn="l">
              <a:lnSpc>
                <a:spcPct val="150000"/>
              </a:lnSpc>
              <a:defRPr sz="2400" b="1">
                <a:solidFill>
                  <a:srgbClr val="21252B"/>
                </a:solidFill>
                <a:latin typeface="맑은 고딕"/>
              </a:defRPr>
            </a:pPr>
            <a:r>
              <a:rPr dirty="0" err="1"/>
              <a:t>선의</a:t>
            </a:r>
            <a:r>
              <a:rPr dirty="0"/>
              <a:t> × </a:t>
            </a:r>
            <a:r>
              <a:rPr dirty="0" err="1"/>
              <a:t>유인</a:t>
            </a:r>
            <a:r>
              <a:rPr dirty="0"/>
              <a:t> </a:t>
            </a:r>
            <a:r>
              <a:rPr dirty="0" err="1"/>
              <a:t>파동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585216" y="786384"/>
            <a:ext cx="10241280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50000"/>
              </a:lnSpc>
              <a:defRPr sz="1050" b="0">
                <a:solidFill>
                  <a:srgbClr val="66707A"/>
                </a:solidFill>
                <a:latin typeface="맑은 고딕"/>
              </a:defRPr>
            </a:pPr>
            <a:r>
              <a:t>균열 하위 시스템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1078992"/>
            <a:ext cx="11045952" cy="0"/>
          </a:xfrm>
          <a:prstGeom prst="line">
            <a:avLst/>
          </a:prstGeom>
          <a:ln w="12700">
            <a:solidFill>
              <a:srgbClr val="EFF2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4">
            <a:extLst>
              <a:ext uri="{FF2B5EF4-FFF2-40B4-BE49-F238E27FC236}">
                <a16:creationId xmlns:a16="http://schemas.microsoft.com/office/drawing/2014/main" id="{654D26E4-C6BA-463E-849C-F64093FAE100}"/>
              </a:ext>
            </a:extLst>
          </p:cNvPr>
          <p:cNvSpPr/>
          <p:nvPr/>
        </p:nvSpPr>
        <p:spPr>
          <a:xfrm>
            <a:off x="1000556" y="1588481"/>
            <a:ext cx="850392" cy="850392"/>
          </a:xfrm>
          <a:prstGeom prst="ellipse">
            <a:avLst/>
          </a:prstGeom>
          <a:solidFill>
            <a:srgbClr val="042D62"/>
          </a:solidFill>
          <a:ln w="17145">
            <a:solidFill>
              <a:srgbClr val="042D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>
            <a:normAutofit/>
          </a:bodyPr>
          <a:lstStyle/>
          <a:p>
            <a:pPr algn="ctr">
              <a:lnSpc>
                <a:spcPct val="150000"/>
              </a:lnSpc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선의</a:t>
            </a:r>
          </a:p>
        </p:txBody>
      </p:sp>
      <p:sp>
        <p:nvSpPr>
          <p:cNvPr id="22" name="Oval 5">
            <a:extLst>
              <a:ext uri="{FF2B5EF4-FFF2-40B4-BE49-F238E27FC236}">
                <a16:creationId xmlns:a16="http://schemas.microsoft.com/office/drawing/2014/main" id="{D75983DE-B91F-437B-A65B-EB32DC85BB4F}"/>
              </a:ext>
            </a:extLst>
          </p:cNvPr>
          <p:cNvSpPr/>
          <p:nvPr/>
        </p:nvSpPr>
        <p:spPr>
          <a:xfrm>
            <a:off x="1937817" y="1629630"/>
            <a:ext cx="768096" cy="768096"/>
          </a:xfrm>
          <a:prstGeom prst="ellipse">
            <a:avLst/>
          </a:prstGeom>
          <a:solidFill>
            <a:srgbClr val="F1ECFF"/>
          </a:solidFill>
          <a:ln w="17145">
            <a:solidFill>
              <a:srgbClr val="8B75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>
            <a:normAutofit/>
          </a:bodyPr>
          <a:lstStyle/>
          <a:p>
            <a:pPr algn="ctr">
              <a:lnSpc>
                <a:spcPct val="150000"/>
              </a:lnSpc>
              <a:defRPr sz="800" b="1">
                <a:solidFill>
                  <a:srgbClr val="21252B"/>
                </a:solidFill>
                <a:latin typeface="맑은 고딕"/>
              </a:defRPr>
            </a:pPr>
            <a:r>
              <a:t>유인 파동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25369" y="1830797"/>
            <a:ext cx="6995160" cy="3657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50000"/>
              </a:lnSpc>
              <a:defRPr sz="1520" b="1">
                <a:solidFill>
                  <a:srgbClr val="21252B"/>
                </a:solidFill>
                <a:latin typeface="맑은 고딕"/>
              </a:defRPr>
            </a:pPr>
            <a:r>
              <a:rPr dirty="0" err="1"/>
              <a:t>선의</a:t>
            </a:r>
            <a:r>
              <a:rPr dirty="0"/>
              <a:t> 0을 </a:t>
            </a:r>
            <a:r>
              <a:rPr dirty="0" err="1"/>
              <a:t>균열</a:t>
            </a:r>
            <a:r>
              <a:rPr dirty="0"/>
              <a:t> </a:t>
            </a:r>
            <a:r>
              <a:rPr dirty="0" err="1"/>
              <a:t>이동으로</a:t>
            </a:r>
            <a:r>
              <a:rPr dirty="0"/>
              <a:t> </a:t>
            </a:r>
            <a:r>
              <a:rPr dirty="0" err="1"/>
              <a:t>전환하는</a:t>
            </a:r>
            <a:r>
              <a:rPr dirty="0"/>
              <a:t> </a:t>
            </a:r>
            <a:r>
              <a:rPr dirty="0" err="1"/>
              <a:t>현상</a:t>
            </a:r>
            <a:endParaRPr dirty="0"/>
          </a:p>
        </p:txBody>
      </p:sp>
      <p:sp>
        <p:nvSpPr>
          <p:cNvPr id="20" name="Rounded Rectangle 9"/>
          <p:cNvSpPr/>
          <p:nvPr/>
        </p:nvSpPr>
        <p:spPr>
          <a:xfrm>
            <a:off x="2043684" y="2710227"/>
            <a:ext cx="8092440" cy="420624"/>
          </a:xfrm>
          <a:prstGeom prst="roundRect">
            <a:avLst/>
          </a:prstGeom>
          <a:solidFill>
            <a:srgbClr val="FBFCFE"/>
          </a:solidFill>
          <a:ln w="1016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9144" rIns="45720" bIns="9144" rtlCol="0" anchor="ctr">
            <a:normAutofit/>
          </a:bodyPr>
          <a:lstStyle/>
          <a:p>
            <a:pPr algn="ctr">
              <a:lnSpc>
                <a:spcPct val="150000"/>
              </a:lnSpc>
              <a:defRPr sz="1060" b="1">
                <a:solidFill>
                  <a:srgbClr val="21252B"/>
                </a:solidFill>
                <a:latin typeface="맑은 고딕"/>
              </a:defRPr>
            </a:pPr>
            <a:r>
              <a:t>선의 0 NPC + 유인 파동 ON → 균열 이동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0556" y="5219287"/>
            <a:ext cx="5330952" cy="9144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50000"/>
              </a:lnSpc>
              <a:defRPr sz="1015" b="0">
                <a:solidFill>
                  <a:srgbClr val="21252B"/>
                </a:solidFill>
                <a:latin typeface="맑은 고딕"/>
              </a:defRPr>
            </a:pPr>
            <a:r>
              <a:rPr dirty="0" err="1"/>
              <a:t>선의</a:t>
            </a:r>
            <a:r>
              <a:rPr dirty="0"/>
              <a:t> 0이라는 </a:t>
            </a:r>
            <a:r>
              <a:rPr dirty="0" err="1"/>
              <a:t>판정은</a:t>
            </a:r>
            <a:r>
              <a:rPr dirty="0"/>
              <a:t> </a:t>
            </a:r>
            <a:r>
              <a:rPr dirty="0" err="1"/>
              <a:t>유인</a:t>
            </a:r>
            <a:r>
              <a:rPr dirty="0"/>
              <a:t> </a:t>
            </a:r>
            <a:r>
              <a:rPr dirty="0" err="1"/>
              <a:t>파동을</a:t>
            </a:r>
            <a:r>
              <a:rPr dirty="0"/>
              <a:t> </a:t>
            </a:r>
            <a:r>
              <a:rPr dirty="0" err="1"/>
              <a:t>만나</a:t>
            </a:r>
            <a:r>
              <a:rPr dirty="0"/>
              <a:t> </a:t>
            </a:r>
            <a:r>
              <a:rPr dirty="0" err="1"/>
              <a:t>실제</a:t>
            </a:r>
            <a:r>
              <a:rPr dirty="0"/>
              <a:t> </a:t>
            </a:r>
            <a:r>
              <a:rPr dirty="0" err="1"/>
              <a:t>이동</a:t>
            </a:r>
            <a:r>
              <a:rPr dirty="0"/>
              <a:t> </a:t>
            </a:r>
            <a:r>
              <a:rPr dirty="0" err="1"/>
              <a:t>행동으로</a:t>
            </a:r>
            <a:r>
              <a:rPr dirty="0"/>
              <a:t> </a:t>
            </a:r>
            <a:r>
              <a:rPr dirty="0" err="1"/>
              <a:t>바뀐다</a:t>
            </a:r>
            <a:r>
              <a:rPr dirty="0"/>
              <a:t>. </a:t>
            </a:r>
            <a:r>
              <a:rPr dirty="0" err="1"/>
              <a:t>선의</a:t>
            </a:r>
            <a:r>
              <a:rPr dirty="0"/>
              <a:t> 0이 </a:t>
            </a:r>
            <a:r>
              <a:rPr dirty="0" err="1"/>
              <a:t>아닌</a:t>
            </a:r>
            <a:r>
              <a:rPr dirty="0"/>
              <a:t> </a:t>
            </a:r>
            <a:r>
              <a:rPr dirty="0" err="1"/>
              <a:t>인간은</a:t>
            </a:r>
            <a:r>
              <a:rPr dirty="0"/>
              <a:t> </a:t>
            </a:r>
            <a:r>
              <a:rPr dirty="0" err="1"/>
              <a:t>파동의</a:t>
            </a:r>
            <a:r>
              <a:rPr dirty="0"/>
              <a:t> </a:t>
            </a:r>
            <a:r>
              <a:rPr dirty="0" err="1"/>
              <a:t>대상이</a:t>
            </a:r>
            <a:r>
              <a:rPr dirty="0"/>
              <a:t> </a:t>
            </a:r>
            <a:r>
              <a:rPr dirty="0" err="1"/>
              <a:t>아니며</a:t>
            </a:r>
            <a:r>
              <a:rPr dirty="0"/>
              <a:t>, </a:t>
            </a:r>
            <a:r>
              <a:rPr dirty="0" err="1"/>
              <a:t>파동을</a:t>
            </a:r>
            <a:r>
              <a:rPr dirty="0"/>
              <a:t> </a:t>
            </a:r>
            <a:r>
              <a:rPr dirty="0" err="1"/>
              <a:t>받는</a:t>
            </a:r>
            <a:r>
              <a:rPr dirty="0"/>
              <a:t> </a:t>
            </a:r>
            <a:r>
              <a:rPr dirty="0" err="1"/>
              <a:t>사람들도</a:t>
            </a:r>
            <a:r>
              <a:rPr dirty="0"/>
              <a:t> </a:t>
            </a:r>
            <a:r>
              <a:rPr dirty="0" err="1"/>
              <a:t>겉으로는</a:t>
            </a:r>
            <a:r>
              <a:rPr dirty="0"/>
              <a:t> </a:t>
            </a:r>
            <a:r>
              <a:rPr dirty="0" err="1"/>
              <a:t>평범하게</a:t>
            </a:r>
            <a:r>
              <a:rPr dirty="0"/>
              <a:t> </a:t>
            </a:r>
            <a:r>
              <a:rPr dirty="0" err="1"/>
              <a:t>이동하는</a:t>
            </a:r>
            <a:r>
              <a:rPr dirty="0"/>
              <a:t> </a:t>
            </a:r>
            <a:r>
              <a:rPr dirty="0" err="1"/>
              <a:t>것처럼</a:t>
            </a:r>
            <a:r>
              <a:rPr dirty="0"/>
              <a:t> </a:t>
            </a:r>
            <a:r>
              <a:rPr dirty="0" err="1"/>
              <a:t>보일</a:t>
            </a:r>
            <a:r>
              <a:rPr dirty="0"/>
              <a:t> 수 </a:t>
            </a:r>
            <a:r>
              <a:rPr dirty="0" err="1"/>
              <a:t>있다</a:t>
            </a:r>
            <a:r>
              <a:rPr dirty="0"/>
              <a:t>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00556" y="3977660"/>
            <a:ext cx="5330952" cy="585215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50000"/>
              </a:lnSpc>
              <a:defRPr sz="1035" b="0">
                <a:solidFill>
                  <a:srgbClr val="21252B"/>
                </a:solidFill>
                <a:latin typeface="맑은 고딕"/>
              </a:defRPr>
            </a:pPr>
            <a:r>
              <a:t>유인 파동은 특정 시간대에 균열이 발생시키는 유인 현상으로, 선의 0인 인간을 균열 방향으로 이동하게 만든다.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679692" y="3990001"/>
            <a:ext cx="4965192" cy="2066544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50000"/>
              </a:lnSpc>
              <a:defRPr sz="965" b="0">
                <a:solidFill>
                  <a:srgbClr val="21252B"/>
                </a:solidFill>
                <a:latin typeface="맑은 고딕"/>
              </a:defRPr>
            </a:pPr>
            <a:r>
              <a:rPr dirty="0"/>
              <a:t>• </a:t>
            </a:r>
            <a:r>
              <a:rPr dirty="0" err="1"/>
              <a:t>늦은</a:t>
            </a:r>
            <a:r>
              <a:rPr dirty="0"/>
              <a:t> </a:t>
            </a:r>
            <a:r>
              <a:rPr dirty="0" err="1"/>
              <a:t>밤부터</a:t>
            </a:r>
            <a:r>
              <a:rPr dirty="0"/>
              <a:t> </a:t>
            </a:r>
            <a:r>
              <a:rPr dirty="0" err="1"/>
              <a:t>이른</a:t>
            </a:r>
            <a:r>
              <a:rPr dirty="0"/>
              <a:t> </a:t>
            </a:r>
            <a:r>
              <a:rPr dirty="0" err="1"/>
              <a:t>새벽까지</a:t>
            </a:r>
            <a:r>
              <a:rPr dirty="0"/>
              <a:t> </a:t>
            </a:r>
            <a:r>
              <a:rPr dirty="0" err="1"/>
              <a:t>정규</a:t>
            </a:r>
            <a:r>
              <a:rPr dirty="0"/>
              <a:t> </a:t>
            </a:r>
            <a:r>
              <a:rPr dirty="0" err="1"/>
              <a:t>유인</a:t>
            </a:r>
            <a:r>
              <a:rPr dirty="0"/>
              <a:t> </a:t>
            </a:r>
            <a:r>
              <a:rPr dirty="0" err="1"/>
              <a:t>파동이</a:t>
            </a:r>
            <a:r>
              <a:rPr dirty="0"/>
              <a:t> </a:t>
            </a:r>
            <a:r>
              <a:rPr dirty="0" err="1"/>
              <a:t>발생한다</a:t>
            </a:r>
            <a:r>
              <a:rPr dirty="0"/>
              <a:t>.</a:t>
            </a:r>
          </a:p>
          <a:p>
            <a:pPr algn="l">
              <a:lnSpc>
                <a:spcPct val="150000"/>
              </a:lnSpc>
              <a:defRPr sz="965" b="0">
                <a:solidFill>
                  <a:srgbClr val="21252B"/>
                </a:solidFill>
                <a:latin typeface="맑은 고딕"/>
              </a:defRPr>
            </a:pPr>
            <a:r>
              <a:rPr dirty="0"/>
              <a:t>• </a:t>
            </a:r>
            <a:r>
              <a:rPr dirty="0" err="1"/>
              <a:t>선의</a:t>
            </a:r>
            <a:r>
              <a:rPr dirty="0"/>
              <a:t> 0 </a:t>
            </a:r>
            <a:r>
              <a:rPr dirty="0" err="1"/>
              <a:t>NPC만</a:t>
            </a:r>
            <a:r>
              <a:rPr dirty="0"/>
              <a:t> </a:t>
            </a:r>
            <a:r>
              <a:rPr dirty="0" err="1"/>
              <a:t>파동의</a:t>
            </a:r>
            <a:r>
              <a:rPr dirty="0"/>
              <a:t> </a:t>
            </a:r>
            <a:r>
              <a:rPr dirty="0" err="1"/>
              <a:t>영향을</a:t>
            </a:r>
            <a:r>
              <a:rPr dirty="0"/>
              <a:t> </a:t>
            </a:r>
            <a:r>
              <a:rPr dirty="0" err="1"/>
              <a:t>받는다</a:t>
            </a:r>
            <a:r>
              <a:rPr dirty="0"/>
              <a:t>.</a:t>
            </a:r>
          </a:p>
          <a:p>
            <a:pPr algn="l">
              <a:lnSpc>
                <a:spcPct val="150000"/>
              </a:lnSpc>
              <a:defRPr sz="965" b="0">
                <a:solidFill>
                  <a:srgbClr val="21252B"/>
                </a:solidFill>
                <a:latin typeface="맑은 고딕"/>
              </a:defRPr>
            </a:pPr>
            <a:r>
              <a:rPr dirty="0"/>
              <a:t>• </a:t>
            </a:r>
            <a:r>
              <a:rPr dirty="0" err="1"/>
              <a:t>유인</a:t>
            </a:r>
            <a:r>
              <a:rPr dirty="0"/>
              <a:t> </a:t>
            </a:r>
            <a:r>
              <a:rPr dirty="0" err="1"/>
              <a:t>파동이</a:t>
            </a:r>
            <a:r>
              <a:rPr dirty="0"/>
              <a:t> </a:t>
            </a:r>
            <a:r>
              <a:rPr dirty="0" err="1"/>
              <a:t>없는</a:t>
            </a:r>
            <a:r>
              <a:rPr dirty="0"/>
              <a:t> 낮 </a:t>
            </a:r>
            <a:r>
              <a:rPr dirty="0" err="1"/>
              <a:t>시간대는</a:t>
            </a:r>
            <a:r>
              <a:rPr dirty="0"/>
              <a:t> </a:t>
            </a:r>
            <a:r>
              <a:rPr dirty="0" err="1"/>
              <a:t>다음</a:t>
            </a:r>
            <a:r>
              <a:rPr dirty="0"/>
              <a:t> </a:t>
            </a:r>
            <a:r>
              <a:rPr dirty="0" err="1"/>
              <a:t>파동을</a:t>
            </a:r>
            <a:r>
              <a:rPr dirty="0"/>
              <a:t> </a:t>
            </a:r>
            <a:r>
              <a:rPr dirty="0" err="1"/>
              <a:t>준비하는</a:t>
            </a:r>
            <a:r>
              <a:rPr dirty="0"/>
              <a:t> </a:t>
            </a:r>
            <a:r>
              <a:rPr dirty="0" err="1"/>
              <a:t>상태로</a:t>
            </a:r>
            <a:r>
              <a:rPr dirty="0"/>
              <a:t> </a:t>
            </a:r>
            <a:r>
              <a:rPr dirty="0" err="1"/>
              <a:t>둔다</a:t>
            </a:r>
            <a:r>
              <a:rPr dirty="0"/>
              <a:t>.</a:t>
            </a:r>
          </a:p>
          <a:p>
            <a:pPr algn="l">
              <a:lnSpc>
                <a:spcPct val="150000"/>
              </a:lnSpc>
              <a:defRPr sz="965" b="0">
                <a:solidFill>
                  <a:srgbClr val="21252B"/>
                </a:solidFill>
                <a:latin typeface="맑은 고딕"/>
              </a:defRPr>
            </a:pPr>
            <a:r>
              <a:rPr dirty="0"/>
              <a:t>• </a:t>
            </a:r>
            <a:r>
              <a:rPr dirty="0" err="1"/>
              <a:t>유인</a:t>
            </a:r>
            <a:r>
              <a:rPr dirty="0"/>
              <a:t> </a:t>
            </a:r>
            <a:r>
              <a:rPr dirty="0" err="1"/>
              <a:t>파동은</a:t>
            </a:r>
            <a:r>
              <a:rPr dirty="0"/>
              <a:t> </a:t>
            </a:r>
            <a:r>
              <a:rPr dirty="0" err="1"/>
              <a:t>NPC와</a:t>
            </a:r>
            <a:r>
              <a:rPr dirty="0"/>
              <a:t> </a:t>
            </a:r>
            <a:r>
              <a:rPr dirty="0" err="1"/>
              <a:t>균열을</a:t>
            </a:r>
            <a:r>
              <a:rPr dirty="0"/>
              <a:t> </a:t>
            </a:r>
            <a:r>
              <a:rPr dirty="0" err="1"/>
              <a:t>연결하는</a:t>
            </a:r>
            <a:r>
              <a:rPr dirty="0"/>
              <a:t> </a:t>
            </a:r>
            <a:r>
              <a:rPr dirty="0" err="1"/>
              <a:t>조건</a:t>
            </a:r>
            <a:r>
              <a:rPr dirty="0"/>
              <a:t> </a:t>
            </a:r>
            <a:r>
              <a:rPr dirty="0" err="1"/>
              <a:t>톱니로</a:t>
            </a:r>
            <a:r>
              <a:rPr dirty="0"/>
              <a:t> </a:t>
            </a:r>
            <a:r>
              <a:rPr dirty="0" err="1"/>
              <a:t>작동한다</a:t>
            </a:r>
            <a:r>
              <a:rPr dirty="0"/>
              <a:t>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00556" y="4912189"/>
            <a:ext cx="5330952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92500" lnSpcReduction="20000"/>
          </a:bodyPr>
          <a:lstStyle/>
          <a:p>
            <a:pPr algn="l">
              <a:lnSpc>
                <a:spcPct val="150000"/>
              </a:lnSpc>
              <a:defRPr sz="1220" b="1">
                <a:solidFill>
                  <a:srgbClr val="042D62"/>
                </a:solidFill>
                <a:latin typeface="맑은 고딕"/>
              </a:defRPr>
            </a:pPr>
            <a:r>
              <a:t>선의와 맞물리는 부분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00556" y="3663167"/>
            <a:ext cx="5330952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92500" lnSpcReduction="20000"/>
          </a:bodyPr>
          <a:lstStyle/>
          <a:p>
            <a:pPr algn="l">
              <a:lnSpc>
                <a:spcPct val="150000"/>
              </a:lnSpc>
              <a:defRPr sz="1220" b="1">
                <a:solidFill>
                  <a:srgbClr val="042D62"/>
                </a:solidFill>
                <a:latin typeface="맑은 고딕"/>
              </a:defRPr>
            </a:pPr>
            <a:r>
              <a:rPr dirty="0" err="1"/>
              <a:t>정의</a:t>
            </a:r>
            <a:endParaRPr dirty="0"/>
          </a:p>
        </p:txBody>
      </p:sp>
      <p:sp>
        <p:nvSpPr>
          <p:cNvPr id="43" name="TextBox 42"/>
          <p:cNvSpPr txBox="1"/>
          <p:nvPr/>
        </p:nvSpPr>
        <p:spPr>
          <a:xfrm>
            <a:off x="6669836" y="3663167"/>
            <a:ext cx="4965192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92500" lnSpcReduction="20000"/>
          </a:bodyPr>
          <a:lstStyle/>
          <a:p>
            <a:pPr algn="l">
              <a:lnSpc>
                <a:spcPct val="150000"/>
              </a:lnSpc>
              <a:defRPr sz="1220" b="1">
                <a:solidFill>
                  <a:srgbClr val="042D62"/>
                </a:solidFill>
                <a:latin typeface="맑은 고딕"/>
              </a:defRPr>
            </a:pPr>
            <a:r>
              <a:rPr dirty="0" err="1"/>
              <a:t>정의와</a:t>
            </a:r>
            <a:r>
              <a:rPr dirty="0"/>
              <a:t> </a:t>
            </a:r>
            <a:r>
              <a:rPr dirty="0" err="1"/>
              <a:t>특징</a:t>
            </a:r>
            <a:r>
              <a:rPr dirty="0"/>
              <a:t> / </a:t>
            </a:r>
            <a:r>
              <a:rPr dirty="0" err="1"/>
              <a:t>작동</a:t>
            </a:r>
            <a:r>
              <a:rPr dirty="0"/>
              <a:t> </a:t>
            </a:r>
            <a:r>
              <a:rPr dirty="0" err="1"/>
              <a:t>약속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29184"/>
            <a:ext cx="8595360" cy="402336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85000" lnSpcReduction="20000"/>
          </a:bodyPr>
          <a:lstStyle/>
          <a:p>
            <a:pPr algn="l">
              <a:lnSpc>
                <a:spcPct val="150000"/>
              </a:lnSpc>
              <a:defRPr sz="2400" b="1">
                <a:solidFill>
                  <a:srgbClr val="21252B"/>
                </a:solidFill>
                <a:latin typeface="맑은 고딕"/>
              </a:defRPr>
            </a:pPr>
            <a:r>
              <a:t>선의 × 시간대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786384"/>
            <a:ext cx="10241280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50000"/>
              </a:lnSpc>
              <a:defRPr sz="1050" b="0">
                <a:solidFill>
                  <a:srgbClr val="66707A"/>
                </a:solidFill>
                <a:latin typeface="맑은 고딕"/>
              </a:defRPr>
            </a:pPr>
            <a:r>
              <a:t>조건 시스템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1078992"/>
            <a:ext cx="11045952" cy="0"/>
          </a:xfrm>
          <a:prstGeom prst="line">
            <a:avLst/>
          </a:prstGeom>
          <a:ln w="12700">
            <a:solidFill>
              <a:srgbClr val="EFF2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4">
            <a:extLst>
              <a:ext uri="{FF2B5EF4-FFF2-40B4-BE49-F238E27FC236}">
                <a16:creationId xmlns:a16="http://schemas.microsoft.com/office/drawing/2014/main" id="{D73DB639-6FAB-4CB3-8A21-6E415BE8A21B}"/>
              </a:ext>
            </a:extLst>
          </p:cNvPr>
          <p:cNvSpPr/>
          <p:nvPr/>
        </p:nvSpPr>
        <p:spPr>
          <a:xfrm>
            <a:off x="1000556" y="1591786"/>
            <a:ext cx="850392" cy="850392"/>
          </a:xfrm>
          <a:prstGeom prst="ellipse">
            <a:avLst/>
          </a:prstGeom>
          <a:solidFill>
            <a:srgbClr val="042D62"/>
          </a:solidFill>
          <a:ln w="17145">
            <a:solidFill>
              <a:srgbClr val="042D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>
            <a:normAutofit/>
          </a:bodyPr>
          <a:lstStyle/>
          <a:p>
            <a:pPr algn="ctr">
              <a:lnSpc>
                <a:spcPct val="150000"/>
              </a:lnSpc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rPr dirty="0" err="1"/>
              <a:t>선의</a:t>
            </a:r>
            <a:endParaRPr dirty="0"/>
          </a:p>
        </p:txBody>
      </p:sp>
      <p:sp>
        <p:nvSpPr>
          <p:cNvPr id="22" name="Oval 5">
            <a:extLst>
              <a:ext uri="{FF2B5EF4-FFF2-40B4-BE49-F238E27FC236}">
                <a16:creationId xmlns:a16="http://schemas.microsoft.com/office/drawing/2014/main" id="{3D473BD7-C635-48EB-A794-3E4D94D84669}"/>
              </a:ext>
            </a:extLst>
          </p:cNvPr>
          <p:cNvSpPr/>
          <p:nvPr/>
        </p:nvSpPr>
        <p:spPr>
          <a:xfrm>
            <a:off x="1937817" y="1632935"/>
            <a:ext cx="768096" cy="768096"/>
          </a:xfrm>
          <a:prstGeom prst="ellipse">
            <a:avLst/>
          </a:prstGeom>
          <a:solidFill>
            <a:srgbClr val="F1ECFF"/>
          </a:solidFill>
          <a:ln w="17145">
            <a:solidFill>
              <a:srgbClr val="8B75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>
            <a:normAutofit/>
          </a:bodyPr>
          <a:lstStyle/>
          <a:p>
            <a:pPr algn="ctr">
              <a:lnSpc>
                <a:spcPct val="150000"/>
              </a:lnSpc>
              <a:defRPr sz="1100" b="1">
                <a:solidFill>
                  <a:srgbClr val="21252B"/>
                </a:solidFill>
                <a:latin typeface="맑은 고딕"/>
              </a:defRPr>
            </a:pPr>
            <a:r>
              <a:t>시간대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5369" y="1825938"/>
            <a:ext cx="6995160" cy="3657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50000"/>
              </a:lnSpc>
              <a:defRPr sz="1520" b="1">
                <a:solidFill>
                  <a:srgbClr val="21252B"/>
                </a:solidFill>
                <a:latin typeface="맑은 고딕"/>
              </a:defRPr>
            </a:pPr>
            <a:r>
              <a:rPr dirty="0" err="1"/>
              <a:t>같은</a:t>
            </a:r>
            <a:r>
              <a:rPr dirty="0"/>
              <a:t> </a:t>
            </a:r>
            <a:r>
              <a:rPr dirty="0" err="1"/>
              <a:t>선의</a:t>
            </a:r>
            <a:r>
              <a:rPr dirty="0"/>
              <a:t> 0의 </a:t>
            </a:r>
            <a:r>
              <a:rPr dirty="0" err="1"/>
              <a:t>결과를</a:t>
            </a:r>
            <a:r>
              <a:rPr dirty="0"/>
              <a:t> </a:t>
            </a:r>
            <a:r>
              <a:rPr dirty="0" err="1"/>
              <a:t>갈라놓는</a:t>
            </a:r>
            <a:r>
              <a:rPr dirty="0"/>
              <a:t> </a:t>
            </a:r>
            <a:r>
              <a:rPr dirty="0" err="1"/>
              <a:t>조건</a:t>
            </a:r>
            <a:endParaRPr dirty="0"/>
          </a:p>
        </p:txBody>
      </p:sp>
      <p:sp>
        <p:nvSpPr>
          <p:cNvPr id="18" name="Rounded Rectangle 9"/>
          <p:cNvSpPr/>
          <p:nvPr/>
        </p:nvSpPr>
        <p:spPr>
          <a:xfrm>
            <a:off x="2043684" y="2706799"/>
            <a:ext cx="8092440" cy="420624"/>
          </a:xfrm>
          <a:prstGeom prst="roundRect">
            <a:avLst/>
          </a:prstGeom>
          <a:solidFill>
            <a:srgbClr val="FBFCFE"/>
          </a:solidFill>
          <a:ln w="1016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9144" rIns="45720" bIns="9144" rtlCol="0" anchor="ctr">
            <a:normAutofit/>
          </a:bodyPr>
          <a:lstStyle/>
          <a:p>
            <a:pPr algn="ctr">
              <a:lnSpc>
                <a:spcPct val="150000"/>
              </a:lnSpc>
              <a:defRPr sz="1060" b="1">
                <a:solidFill>
                  <a:srgbClr val="21252B"/>
                </a:solidFill>
                <a:latin typeface="맑은 고딕"/>
              </a:defRPr>
            </a:pPr>
            <a:r>
              <a:t>선의 0 × 시간대 → 균열 이동 / 월드 잔류 / AI 특수 행동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0556" y="3977660"/>
            <a:ext cx="5330952" cy="585215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50000"/>
              </a:lnSpc>
              <a:defRPr sz="1035" b="0">
                <a:solidFill>
                  <a:srgbClr val="21252B"/>
                </a:solidFill>
                <a:latin typeface="맑은 고딕"/>
              </a:defRPr>
            </a:pPr>
            <a:r>
              <a:t>시간대는 균열의 유인 파동 발동 여부와 몬스터 AI의 특수 행동 노출 여부를 바꾸는 월드 조건이다.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69836" y="3977660"/>
            <a:ext cx="4965192" cy="2066544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50000"/>
              </a:lnSpc>
              <a:defRPr sz="965" b="0">
                <a:solidFill>
                  <a:srgbClr val="21252B"/>
                </a:solidFill>
                <a:latin typeface="맑은 고딕"/>
              </a:defRPr>
            </a:pPr>
            <a:r>
              <a:t>• </a:t>
            </a:r>
            <a:r>
              <a:rPr/>
              <a:t>유인 </a:t>
            </a:r>
            <a:r>
              <a:rPr smtClean="0"/>
              <a:t>시간대</a:t>
            </a:r>
            <a:r>
              <a:rPr lang="en-US" smtClean="0"/>
              <a:t> </a:t>
            </a:r>
            <a:r>
              <a:rPr smtClean="0"/>
              <a:t>: </a:t>
            </a:r>
            <a:r>
              <a:t>선의 0 NPC가 균열로 향한다.</a:t>
            </a:r>
          </a:p>
          <a:p>
            <a:pPr algn="l">
              <a:lnSpc>
                <a:spcPct val="150000"/>
              </a:lnSpc>
              <a:defRPr sz="965" b="0">
                <a:solidFill>
                  <a:srgbClr val="21252B"/>
                </a:solidFill>
                <a:latin typeface="맑은 고딕"/>
              </a:defRPr>
            </a:pPr>
            <a:r>
              <a:t>• </a:t>
            </a:r>
            <a:r>
              <a:rPr/>
              <a:t>비유인 </a:t>
            </a:r>
            <a:r>
              <a:rPr smtClean="0"/>
              <a:t>시간대</a:t>
            </a:r>
            <a:r>
              <a:rPr lang="en-US" smtClean="0"/>
              <a:t> </a:t>
            </a:r>
            <a:r>
              <a:rPr smtClean="0"/>
              <a:t>: </a:t>
            </a:r>
            <a:r>
              <a:t>선의 0 NPC가 월드에 남는다.</a:t>
            </a:r>
          </a:p>
          <a:p>
            <a:pPr algn="l">
              <a:lnSpc>
                <a:spcPct val="150000"/>
              </a:lnSpc>
              <a:defRPr sz="965" b="0">
                <a:solidFill>
                  <a:srgbClr val="21252B"/>
                </a:solidFill>
                <a:latin typeface="맑은 고딕"/>
              </a:defRPr>
            </a:pPr>
            <a:r>
              <a:t>• 월드에 남은 선의 0 NPC는 모든 몬스터에게 공통적으로 비사냥 대상이다.</a:t>
            </a:r>
          </a:p>
          <a:p>
            <a:pPr algn="l">
              <a:lnSpc>
                <a:spcPct val="150000"/>
              </a:lnSpc>
              <a:defRPr sz="965" b="0">
                <a:solidFill>
                  <a:srgbClr val="21252B"/>
                </a:solidFill>
                <a:latin typeface="맑은 고딕"/>
              </a:defRPr>
            </a:pPr>
            <a:r>
              <a:t>• 시간대는 단순 배경이 아니라 콘텐츠 발생 조건으로 관리한다.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0556" y="5216652"/>
            <a:ext cx="5330952" cy="9144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50000"/>
              </a:lnSpc>
              <a:defRPr sz="1015" b="0">
                <a:solidFill>
                  <a:srgbClr val="21252B"/>
                </a:solidFill>
                <a:latin typeface="맑은 고딕"/>
              </a:defRPr>
            </a:pPr>
            <a:r>
              <a:t>같은 선의 0 상태라도 시간대에 따라 결과가 달라진다. 유인 파동 시간에는 균열 이동이 우선되고, 유인 파동이 없는 시간에는 월드에 남은 선의 0 NPC를 몬스터가 타입별로 다르게 다룬다.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00556" y="4912189"/>
            <a:ext cx="5330952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92500" lnSpcReduction="20000"/>
          </a:bodyPr>
          <a:lstStyle/>
          <a:p>
            <a:pPr algn="l">
              <a:lnSpc>
                <a:spcPct val="150000"/>
              </a:lnSpc>
              <a:defRPr sz="1220" b="1">
                <a:solidFill>
                  <a:srgbClr val="042D62"/>
                </a:solidFill>
                <a:latin typeface="맑은 고딕"/>
              </a:defRPr>
            </a:pPr>
            <a:r>
              <a:t>선의와 맞물리는 부분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00556" y="3663167"/>
            <a:ext cx="5330952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92500" lnSpcReduction="20000"/>
          </a:bodyPr>
          <a:lstStyle/>
          <a:p>
            <a:pPr algn="l">
              <a:lnSpc>
                <a:spcPct val="150000"/>
              </a:lnSpc>
              <a:defRPr sz="1220" b="1">
                <a:solidFill>
                  <a:srgbClr val="042D62"/>
                </a:solidFill>
                <a:latin typeface="맑은 고딕"/>
              </a:defRPr>
            </a:pPr>
            <a:r>
              <a:rPr dirty="0" err="1"/>
              <a:t>정의</a:t>
            </a:r>
            <a:endParaRPr dirty="0"/>
          </a:p>
        </p:txBody>
      </p:sp>
      <p:sp>
        <p:nvSpPr>
          <p:cNvPr id="45" name="TextBox 44"/>
          <p:cNvSpPr txBox="1"/>
          <p:nvPr/>
        </p:nvSpPr>
        <p:spPr>
          <a:xfrm>
            <a:off x="6669836" y="3663167"/>
            <a:ext cx="4965192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92500" lnSpcReduction="20000"/>
          </a:bodyPr>
          <a:lstStyle/>
          <a:p>
            <a:pPr algn="l">
              <a:lnSpc>
                <a:spcPct val="150000"/>
              </a:lnSpc>
              <a:defRPr sz="1220" b="1">
                <a:solidFill>
                  <a:srgbClr val="042D62"/>
                </a:solidFill>
                <a:latin typeface="맑은 고딕"/>
              </a:defRPr>
            </a:pPr>
            <a:r>
              <a:rPr dirty="0" err="1"/>
              <a:t>정의와</a:t>
            </a:r>
            <a:r>
              <a:rPr dirty="0"/>
              <a:t> </a:t>
            </a:r>
            <a:r>
              <a:rPr dirty="0" err="1"/>
              <a:t>특징</a:t>
            </a:r>
            <a:r>
              <a:rPr dirty="0"/>
              <a:t> / </a:t>
            </a:r>
            <a:r>
              <a:rPr dirty="0" err="1"/>
              <a:t>작동</a:t>
            </a:r>
            <a:r>
              <a:rPr dirty="0"/>
              <a:t> </a:t>
            </a:r>
            <a:r>
              <a:rPr dirty="0" err="1"/>
              <a:t>약속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29184"/>
            <a:ext cx="8595360" cy="402336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85000" lnSpcReduction="20000"/>
          </a:bodyPr>
          <a:lstStyle/>
          <a:p>
            <a:pPr algn="l">
              <a:lnSpc>
                <a:spcPct val="150000"/>
              </a:lnSpc>
              <a:defRPr sz="2400" b="1">
                <a:solidFill>
                  <a:srgbClr val="21252B"/>
                </a:solidFill>
                <a:latin typeface="맑은 고딕"/>
              </a:defRPr>
            </a:pPr>
            <a:r>
              <a:t>선의 × 몬스터 타입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786384"/>
            <a:ext cx="10241280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50000"/>
              </a:lnSpc>
              <a:defRPr sz="1050" b="0">
                <a:solidFill>
                  <a:srgbClr val="66707A"/>
                </a:solidFill>
                <a:latin typeface="맑은 고딕"/>
              </a:defRPr>
            </a:pPr>
            <a:r>
              <a:t>몬스터 분류 시스템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1078992"/>
            <a:ext cx="11045952" cy="0"/>
          </a:xfrm>
          <a:prstGeom prst="line">
            <a:avLst/>
          </a:prstGeom>
          <a:ln w="12700">
            <a:solidFill>
              <a:srgbClr val="EFF2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4">
            <a:extLst>
              <a:ext uri="{FF2B5EF4-FFF2-40B4-BE49-F238E27FC236}">
                <a16:creationId xmlns:a16="http://schemas.microsoft.com/office/drawing/2014/main" id="{13699D90-6421-4A36-843F-2C2D153EF091}"/>
              </a:ext>
            </a:extLst>
          </p:cNvPr>
          <p:cNvSpPr/>
          <p:nvPr/>
        </p:nvSpPr>
        <p:spPr>
          <a:xfrm>
            <a:off x="1000556" y="1588127"/>
            <a:ext cx="850392" cy="850392"/>
          </a:xfrm>
          <a:prstGeom prst="ellipse">
            <a:avLst/>
          </a:prstGeom>
          <a:solidFill>
            <a:srgbClr val="042D62"/>
          </a:solidFill>
          <a:ln w="17145">
            <a:solidFill>
              <a:srgbClr val="042D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>
            <a:normAutofit/>
          </a:bodyPr>
          <a:lstStyle/>
          <a:p>
            <a:pPr algn="ctr">
              <a:lnSpc>
                <a:spcPct val="150000"/>
              </a:lnSpc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선의</a:t>
            </a:r>
          </a:p>
        </p:txBody>
      </p:sp>
      <p:sp>
        <p:nvSpPr>
          <p:cNvPr id="22" name="Oval 5">
            <a:extLst>
              <a:ext uri="{FF2B5EF4-FFF2-40B4-BE49-F238E27FC236}">
                <a16:creationId xmlns:a16="http://schemas.microsoft.com/office/drawing/2014/main" id="{3FCFC5A6-868D-45CC-B4AC-8DF81898E52F}"/>
              </a:ext>
            </a:extLst>
          </p:cNvPr>
          <p:cNvSpPr/>
          <p:nvPr/>
        </p:nvSpPr>
        <p:spPr>
          <a:xfrm>
            <a:off x="1937817" y="1629276"/>
            <a:ext cx="768096" cy="768096"/>
          </a:xfrm>
          <a:prstGeom prst="ellipse">
            <a:avLst/>
          </a:prstGeom>
          <a:solidFill>
            <a:srgbClr val="F1ECFF"/>
          </a:solidFill>
          <a:ln w="17145">
            <a:solidFill>
              <a:srgbClr val="8B75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>
            <a:normAutofit/>
          </a:bodyPr>
          <a:lstStyle/>
          <a:p>
            <a:pPr algn="ctr">
              <a:lnSpc>
                <a:spcPct val="150000"/>
              </a:lnSpc>
              <a:defRPr sz="800" b="1">
                <a:solidFill>
                  <a:srgbClr val="21252B"/>
                </a:solidFill>
                <a:latin typeface="맑은 고딕"/>
              </a:defRPr>
            </a:pPr>
            <a:r>
              <a:rPr smtClean="0"/>
              <a:t>몬스터</a:t>
            </a:r>
            <a:endParaRPr lang="en-US" smtClean="0"/>
          </a:p>
          <a:p>
            <a:pPr algn="ctr">
              <a:lnSpc>
                <a:spcPct val="150000"/>
              </a:lnSpc>
              <a:defRPr sz="800" b="1">
                <a:solidFill>
                  <a:srgbClr val="21252B"/>
                </a:solidFill>
                <a:latin typeface="맑은 고딕"/>
              </a:defRPr>
            </a:pPr>
            <a:r>
              <a:rPr smtClean="0"/>
              <a:t>타입</a:t>
            </a:r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925369" y="1834838"/>
            <a:ext cx="6995160" cy="3657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50000"/>
              </a:lnSpc>
              <a:defRPr sz="1520" b="1">
                <a:solidFill>
                  <a:srgbClr val="21252B"/>
                </a:solidFill>
                <a:latin typeface="맑은 고딕"/>
              </a:defRPr>
            </a:pPr>
            <a:r>
              <a:rPr dirty="0" err="1"/>
              <a:t>선의</a:t>
            </a:r>
            <a:r>
              <a:rPr dirty="0"/>
              <a:t> 0 </a:t>
            </a:r>
            <a:r>
              <a:rPr dirty="0" err="1"/>
              <a:t>대상에</a:t>
            </a:r>
            <a:r>
              <a:rPr dirty="0"/>
              <a:t> </a:t>
            </a:r>
            <a:r>
              <a:rPr dirty="0" err="1"/>
              <a:t>대한</a:t>
            </a:r>
            <a:r>
              <a:rPr dirty="0"/>
              <a:t> </a:t>
            </a:r>
            <a:r>
              <a:rPr dirty="0" err="1"/>
              <a:t>반응</a:t>
            </a:r>
            <a:r>
              <a:rPr dirty="0"/>
              <a:t> </a:t>
            </a:r>
            <a:r>
              <a:rPr dirty="0" err="1"/>
              <a:t>차이를</a:t>
            </a:r>
            <a:r>
              <a:rPr dirty="0"/>
              <a:t> </a:t>
            </a:r>
            <a:r>
              <a:rPr dirty="0" err="1"/>
              <a:t>만드는</a:t>
            </a:r>
            <a:r>
              <a:rPr dirty="0"/>
              <a:t> </a:t>
            </a:r>
            <a:r>
              <a:rPr dirty="0" err="1"/>
              <a:t>분류</a:t>
            </a:r>
            <a:endParaRPr dirty="0"/>
          </a:p>
        </p:txBody>
      </p:sp>
      <p:sp>
        <p:nvSpPr>
          <p:cNvPr id="18" name="Rounded Rectangle 9"/>
          <p:cNvSpPr/>
          <p:nvPr/>
        </p:nvSpPr>
        <p:spPr>
          <a:xfrm>
            <a:off x="2043684" y="2703086"/>
            <a:ext cx="8092440" cy="420624"/>
          </a:xfrm>
          <a:prstGeom prst="roundRect">
            <a:avLst/>
          </a:prstGeom>
          <a:solidFill>
            <a:srgbClr val="FBFCFE"/>
          </a:solidFill>
          <a:ln w="1016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9144" rIns="45720" bIns="9144" rtlCol="0" anchor="ctr">
            <a:normAutofit/>
          </a:bodyPr>
          <a:lstStyle/>
          <a:p>
            <a:pPr algn="ctr">
              <a:lnSpc>
                <a:spcPct val="150000"/>
              </a:lnSpc>
              <a:defRPr sz="1060" b="1">
                <a:solidFill>
                  <a:srgbClr val="21252B"/>
                </a:solidFill>
                <a:latin typeface="맑은 고딕"/>
              </a:defRPr>
            </a:pPr>
            <a:r>
              <a:t>선의 0 대상 + 몬스터 타입 → 무시 / 보호 / 유도 / 회수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0556" y="3989487"/>
            <a:ext cx="5330952" cy="585215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50000"/>
              </a:lnSpc>
              <a:defRPr sz="1035" b="0">
                <a:solidFill>
                  <a:srgbClr val="21252B"/>
                </a:solidFill>
                <a:latin typeface="맑은 고딕"/>
              </a:defRPr>
            </a:pPr>
            <a:r>
              <a:t>몬스터 타입은 변이체의 단계와 역할을 구분하는 분류이며, 선의 0 인간을 어떻게 다룰지 결정하는 AI 세부 조건이다.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69836" y="3989487"/>
            <a:ext cx="4965192" cy="2066544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50000"/>
              </a:lnSpc>
              <a:defRPr sz="965" b="0">
                <a:solidFill>
                  <a:srgbClr val="21252B"/>
                </a:solidFill>
                <a:latin typeface="맑은 고딕"/>
              </a:defRPr>
            </a:pPr>
            <a:r>
              <a:t>• 초기 변이체: 비사냥 인식은 있으나 행동 제어가 미숙하다.</a:t>
            </a:r>
          </a:p>
          <a:p>
            <a:pPr algn="l">
              <a:lnSpc>
                <a:spcPct val="150000"/>
              </a:lnSpc>
              <a:defRPr sz="965" b="0">
                <a:solidFill>
                  <a:srgbClr val="21252B"/>
                </a:solidFill>
                <a:latin typeface="맑은 고딕"/>
              </a:defRPr>
            </a:pPr>
            <a:r>
              <a:t>• 일반 변이체: 선의 0 인간을 의도적으로 무시한다.</a:t>
            </a:r>
          </a:p>
          <a:p>
            <a:pPr algn="l">
              <a:lnSpc>
                <a:spcPct val="150000"/>
              </a:lnSpc>
              <a:defRPr sz="965" b="0">
                <a:solidFill>
                  <a:srgbClr val="21252B"/>
                </a:solidFill>
                <a:latin typeface="맑은 고딕"/>
              </a:defRPr>
            </a:pPr>
            <a:r>
              <a:t>• 강화 변이체: 위험 상황에서 선의 0 인간을 빼내거나 보호할 수 있다.</a:t>
            </a:r>
          </a:p>
          <a:p>
            <a:pPr algn="l">
              <a:lnSpc>
                <a:spcPct val="150000"/>
              </a:lnSpc>
              <a:defRPr sz="965" b="0">
                <a:solidFill>
                  <a:srgbClr val="21252B"/>
                </a:solidFill>
                <a:latin typeface="맑은 고딕"/>
              </a:defRPr>
            </a:pPr>
            <a:r>
              <a:t>• 무리 선도체: 부하를 이용해 선의 0 인간을 균열로 운반·회수한다.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0556" y="5225548"/>
            <a:ext cx="5330952" cy="9144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50000"/>
              </a:lnSpc>
              <a:defRPr sz="1015" b="0">
                <a:solidFill>
                  <a:srgbClr val="21252B"/>
                </a:solidFill>
                <a:latin typeface="맑은 고딕"/>
              </a:defRPr>
            </a:pPr>
            <a:r>
              <a:t>모든 몬스터는 선의 0 NPC를 비사냥 대상으로 인식하지만, 타입이 진화될수록 더 능동적인 행동을 보인다. 같은 선의 0 판정도 몬스터 타입과 결합하면 콘텐츠 결과가 달라진다.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00556" y="4912189"/>
            <a:ext cx="5330952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92500" lnSpcReduction="20000"/>
          </a:bodyPr>
          <a:lstStyle/>
          <a:p>
            <a:pPr algn="l">
              <a:lnSpc>
                <a:spcPct val="150000"/>
              </a:lnSpc>
              <a:defRPr sz="1220" b="1">
                <a:solidFill>
                  <a:srgbClr val="042D62"/>
                </a:solidFill>
                <a:latin typeface="맑은 고딕"/>
              </a:defRPr>
            </a:pPr>
            <a:r>
              <a:t>선의와 맞물리는 부분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0556" y="3663167"/>
            <a:ext cx="5330952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92500" lnSpcReduction="20000"/>
          </a:bodyPr>
          <a:lstStyle/>
          <a:p>
            <a:pPr algn="l">
              <a:lnSpc>
                <a:spcPct val="150000"/>
              </a:lnSpc>
              <a:defRPr sz="1220" b="1">
                <a:solidFill>
                  <a:srgbClr val="042D62"/>
                </a:solidFill>
                <a:latin typeface="맑은 고딕"/>
              </a:defRPr>
            </a:pPr>
            <a:r>
              <a:rPr dirty="0" err="1"/>
              <a:t>정의</a:t>
            </a:r>
            <a:endParaRPr dirty="0"/>
          </a:p>
        </p:txBody>
      </p:sp>
      <p:sp>
        <p:nvSpPr>
          <p:cNvPr id="40" name="TextBox 39"/>
          <p:cNvSpPr txBox="1"/>
          <p:nvPr/>
        </p:nvSpPr>
        <p:spPr>
          <a:xfrm>
            <a:off x="6669836" y="3663167"/>
            <a:ext cx="4965192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92500" lnSpcReduction="20000"/>
          </a:bodyPr>
          <a:lstStyle/>
          <a:p>
            <a:pPr algn="l">
              <a:lnSpc>
                <a:spcPct val="150000"/>
              </a:lnSpc>
              <a:defRPr sz="1220" b="1">
                <a:solidFill>
                  <a:srgbClr val="042D62"/>
                </a:solidFill>
                <a:latin typeface="맑은 고딕"/>
              </a:defRPr>
            </a:pPr>
            <a:r>
              <a:rPr dirty="0" err="1"/>
              <a:t>정의와</a:t>
            </a:r>
            <a:r>
              <a:rPr dirty="0"/>
              <a:t> </a:t>
            </a:r>
            <a:r>
              <a:rPr dirty="0" err="1"/>
              <a:t>특징</a:t>
            </a:r>
            <a:r>
              <a:rPr dirty="0"/>
              <a:t> / </a:t>
            </a:r>
            <a:r>
              <a:rPr dirty="0" err="1"/>
              <a:t>작동</a:t>
            </a:r>
            <a:r>
              <a:rPr dirty="0"/>
              <a:t> </a:t>
            </a:r>
            <a:r>
              <a:rPr dirty="0" err="1"/>
              <a:t>약속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29184"/>
            <a:ext cx="8595360" cy="402336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85000" lnSpcReduction="20000"/>
          </a:bodyPr>
          <a:lstStyle/>
          <a:p>
            <a:pPr algn="l">
              <a:lnSpc>
                <a:spcPct val="150000"/>
              </a:lnSpc>
              <a:defRPr sz="2400" b="1">
                <a:solidFill>
                  <a:srgbClr val="21252B"/>
                </a:solidFill>
                <a:latin typeface="맑은 고딕"/>
              </a:defRPr>
            </a:pPr>
            <a:r>
              <a:t>선의 × 몬스터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786384"/>
            <a:ext cx="10241280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50000"/>
              </a:lnSpc>
              <a:defRPr sz="1050" b="0">
                <a:solidFill>
                  <a:srgbClr val="66707A"/>
                </a:solidFill>
                <a:latin typeface="맑은 고딕"/>
              </a:defRPr>
            </a:pPr>
            <a:r>
              <a:t>AI 시스템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1078992"/>
            <a:ext cx="11045952" cy="0"/>
          </a:xfrm>
          <a:prstGeom prst="line">
            <a:avLst/>
          </a:prstGeom>
          <a:ln w="12700">
            <a:solidFill>
              <a:srgbClr val="EFF2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4">
            <a:extLst>
              <a:ext uri="{FF2B5EF4-FFF2-40B4-BE49-F238E27FC236}">
                <a16:creationId xmlns:a16="http://schemas.microsoft.com/office/drawing/2014/main" id="{CC3780A2-6348-42F3-BC00-E9FF2E015629}"/>
              </a:ext>
            </a:extLst>
          </p:cNvPr>
          <p:cNvSpPr/>
          <p:nvPr/>
        </p:nvSpPr>
        <p:spPr>
          <a:xfrm>
            <a:off x="1000556" y="1588127"/>
            <a:ext cx="850392" cy="850392"/>
          </a:xfrm>
          <a:prstGeom prst="ellipse">
            <a:avLst/>
          </a:prstGeom>
          <a:solidFill>
            <a:srgbClr val="042D62"/>
          </a:solidFill>
          <a:ln w="17145">
            <a:solidFill>
              <a:srgbClr val="042D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>
            <a:normAutofit/>
          </a:bodyPr>
          <a:lstStyle/>
          <a:p>
            <a:pPr algn="ctr">
              <a:lnSpc>
                <a:spcPct val="150000"/>
              </a:lnSpc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선의</a:t>
            </a:r>
          </a:p>
        </p:txBody>
      </p:sp>
      <p:sp>
        <p:nvSpPr>
          <p:cNvPr id="22" name="Oval 5">
            <a:extLst>
              <a:ext uri="{FF2B5EF4-FFF2-40B4-BE49-F238E27FC236}">
                <a16:creationId xmlns:a16="http://schemas.microsoft.com/office/drawing/2014/main" id="{1E422E51-F66B-4EA0-A9D1-08E318643DE1}"/>
              </a:ext>
            </a:extLst>
          </p:cNvPr>
          <p:cNvSpPr/>
          <p:nvPr/>
        </p:nvSpPr>
        <p:spPr>
          <a:xfrm>
            <a:off x="1937817" y="1629276"/>
            <a:ext cx="768096" cy="768096"/>
          </a:xfrm>
          <a:prstGeom prst="ellipse">
            <a:avLst/>
          </a:prstGeom>
          <a:solidFill>
            <a:srgbClr val="F1ECFF"/>
          </a:solidFill>
          <a:ln w="17145">
            <a:solidFill>
              <a:srgbClr val="8B75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>
            <a:normAutofit/>
          </a:bodyPr>
          <a:lstStyle/>
          <a:p>
            <a:pPr algn="ctr">
              <a:lnSpc>
                <a:spcPct val="150000"/>
              </a:lnSpc>
              <a:defRPr sz="800" b="1">
                <a:solidFill>
                  <a:srgbClr val="21252B"/>
                </a:solidFill>
                <a:latin typeface="맑은 고딕"/>
              </a:defRPr>
            </a:pPr>
            <a:r>
              <a:t>몬스터 AI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5369" y="1832851"/>
            <a:ext cx="6995160" cy="3657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50000"/>
              </a:lnSpc>
              <a:defRPr sz="1520" b="1">
                <a:solidFill>
                  <a:srgbClr val="21252B"/>
                </a:solidFill>
                <a:latin typeface="맑은 고딕"/>
              </a:defRPr>
            </a:pPr>
            <a:r>
              <a:rPr dirty="0" err="1"/>
              <a:t>대상의</a:t>
            </a:r>
            <a:r>
              <a:rPr dirty="0"/>
              <a:t> </a:t>
            </a:r>
            <a:r>
              <a:rPr dirty="0" err="1"/>
              <a:t>선의</a:t>
            </a:r>
            <a:r>
              <a:rPr dirty="0"/>
              <a:t> </a:t>
            </a:r>
            <a:r>
              <a:rPr dirty="0" err="1"/>
              <a:t>상태에</a:t>
            </a:r>
            <a:r>
              <a:rPr dirty="0"/>
              <a:t> </a:t>
            </a:r>
            <a:r>
              <a:rPr dirty="0" err="1"/>
              <a:t>따라</a:t>
            </a:r>
            <a:r>
              <a:rPr dirty="0"/>
              <a:t> </a:t>
            </a:r>
            <a:r>
              <a:rPr dirty="0" err="1"/>
              <a:t>행동을</a:t>
            </a:r>
            <a:r>
              <a:rPr dirty="0"/>
              <a:t> </a:t>
            </a:r>
            <a:r>
              <a:rPr dirty="0" err="1"/>
              <a:t>바꾸는</a:t>
            </a:r>
            <a:r>
              <a:rPr dirty="0"/>
              <a:t> </a:t>
            </a:r>
            <a:r>
              <a:rPr dirty="0" err="1"/>
              <a:t>규칙</a:t>
            </a:r>
            <a:endParaRPr dirty="0"/>
          </a:p>
        </p:txBody>
      </p:sp>
      <p:sp>
        <p:nvSpPr>
          <p:cNvPr id="18" name="Rounded Rectangle 9"/>
          <p:cNvSpPr/>
          <p:nvPr/>
        </p:nvSpPr>
        <p:spPr>
          <a:xfrm>
            <a:off x="2043684" y="2703086"/>
            <a:ext cx="8092440" cy="420624"/>
          </a:xfrm>
          <a:prstGeom prst="roundRect">
            <a:avLst/>
          </a:prstGeom>
          <a:solidFill>
            <a:srgbClr val="FBFCFE"/>
          </a:solidFill>
          <a:ln w="1016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9144" rIns="45720" bIns="9144" rtlCol="0" anchor="ctr">
            <a:normAutofit/>
          </a:bodyPr>
          <a:lstStyle/>
          <a:p>
            <a:pPr algn="ctr">
              <a:lnSpc>
                <a:spcPct val="150000"/>
              </a:lnSpc>
              <a:defRPr sz="1060" b="1">
                <a:solidFill>
                  <a:srgbClr val="21252B"/>
                </a:solidFill>
                <a:latin typeface="맑은 고딕"/>
              </a:defRPr>
            </a:pPr>
            <a:r>
              <a:t>인간 발견 → 선의 0 판정 → 비사냥/공격 구분 → 타입별 행동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0556" y="3989487"/>
            <a:ext cx="5330952" cy="585215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50000"/>
              </a:lnSpc>
              <a:defRPr sz="1035" b="0">
                <a:solidFill>
                  <a:srgbClr val="21252B"/>
                </a:solidFill>
                <a:latin typeface="맑은 고딕"/>
              </a:defRPr>
            </a:pPr>
            <a:r>
              <a:t>몬스터 AI는 인간을 발견했을 때 대상의 선의 상태와 자신의 타입을 참조해 행동을 선택하는 규칙이다.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69836" y="3989487"/>
            <a:ext cx="4965192" cy="2066544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50000"/>
              </a:lnSpc>
              <a:defRPr sz="965" b="0">
                <a:solidFill>
                  <a:srgbClr val="21252B"/>
                </a:solidFill>
                <a:latin typeface="맑은 고딕"/>
              </a:defRPr>
            </a:pPr>
            <a:r>
              <a:t>• 공통 규칙: 선의 0 NPC를 의도를 가지고 공격하지 않는다.</a:t>
            </a:r>
          </a:p>
          <a:p>
            <a:pPr algn="l">
              <a:lnSpc>
                <a:spcPct val="150000"/>
              </a:lnSpc>
              <a:defRPr sz="965" b="0">
                <a:solidFill>
                  <a:srgbClr val="21252B"/>
                </a:solidFill>
                <a:latin typeface="맑은 고딕"/>
              </a:defRPr>
            </a:pPr>
            <a:r>
              <a:t>• 초기 </a:t>
            </a:r>
            <a:r>
              <a:rPr/>
              <a:t>타입은 </a:t>
            </a:r>
            <a:r>
              <a:rPr lang="ko-KR" altLang="en-US" smtClean="0"/>
              <a:t>선의 </a:t>
            </a:r>
            <a:r>
              <a:rPr lang="en-US" altLang="ko-KR" smtClean="0"/>
              <a:t>0 NPC</a:t>
            </a:r>
            <a:r>
              <a:rPr lang="ko-KR" altLang="en-US" smtClean="0"/>
              <a:t>에 대한 비사냥 규칙은 유지되나</a:t>
            </a:r>
            <a:r>
              <a:rPr lang="en-US" altLang="ko-KR" smtClean="0"/>
              <a:t>, </a:t>
            </a:r>
            <a:r>
              <a:rPr lang="ko-KR" altLang="en-US" smtClean="0"/>
              <a:t>행동</a:t>
            </a:r>
            <a:r>
              <a:rPr smtClean="0"/>
              <a:t>.</a:t>
            </a:r>
            <a:endParaRPr/>
          </a:p>
          <a:p>
            <a:pPr algn="l">
              <a:lnSpc>
                <a:spcPct val="150000"/>
              </a:lnSpc>
              <a:defRPr sz="965" b="0">
                <a:solidFill>
                  <a:srgbClr val="21252B"/>
                </a:solidFill>
                <a:latin typeface="맑은 고딕"/>
              </a:defRPr>
            </a:pPr>
            <a:r>
              <a:t>• 진화된 타입은 무시, 유도, 보호, 회수, 운반 행동으로 확장된다.</a:t>
            </a:r>
          </a:p>
          <a:p>
            <a:pPr algn="l">
              <a:lnSpc>
                <a:spcPct val="150000"/>
              </a:lnSpc>
              <a:defRPr sz="965" b="0">
                <a:solidFill>
                  <a:srgbClr val="21252B"/>
                </a:solidFill>
                <a:latin typeface="맑은 고딕"/>
              </a:defRPr>
            </a:pPr>
            <a:r>
              <a:t>• AI 결과는 전투 목표와 구조 목표를 동시에 발생시킨다.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0556" y="5225548"/>
            <a:ext cx="5330952" cy="9144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50000"/>
              </a:lnSpc>
              <a:defRPr sz="1015" b="0">
                <a:solidFill>
                  <a:srgbClr val="21252B"/>
                </a:solidFill>
                <a:latin typeface="맑은 고딕"/>
              </a:defRPr>
            </a:pPr>
            <a:r>
              <a:t>몬스터 AI는 먼저 대상이 선의 0인지 판정한다. 선의 0이 아니면 공격 대상이 되고, 선의 0이면 모든 몬스터에게 공통적으로 비사냥 대상이 된다. </a:t>
            </a:r>
            <a:r>
              <a:rPr/>
              <a:t>이후 </a:t>
            </a:r>
            <a:r>
              <a:rPr smtClean="0"/>
              <a:t>타입</a:t>
            </a:r>
            <a:r>
              <a:rPr lang="ko-KR" altLang="en-US" smtClean="0"/>
              <a:t>마다</a:t>
            </a:r>
            <a:r>
              <a:rPr smtClean="0"/>
              <a:t> </a:t>
            </a:r>
            <a:r>
              <a:rPr/>
              <a:t>행동이 </a:t>
            </a:r>
            <a:r>
              <a:rPr lang="ko-KR" altLang="en-US" smtClean="0"/>
              <a:t>달</a:t>
            </a:r>
            <a:r>
              <a:rPr smtClean="0"/>
              <a:t>라진다</a:t>
            </a:r>
            <a:r>
              <a:t>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00556" y="4912189"/>
            <a:ext cx="5330952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92500" lnSpcReduction="20000"/>
          </a:bodyPr>
          <a:lstStyle/>
          <a:p>
            <a:pPr algn="l">
              <a:lnSpc>
                <a:spcPct val="150000"/>
              </a:lnSpc>
              <a:defRPr sz="1220" b="1">
                <a:solidFill>
                  <a:srgbClr val="042D62"/>
                </a:solidFill>
                <a:latin typeface="맑은 고딕"/>
              </a:defRPr>
            </a:pPr>
            <a:r>
              <a:t>선의와 맞물리는 부분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0556" y="3663167"/>
            <a:ext cx="5330952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92500" lnSpcReduction="20000"/>
          </a:bodyPr>
          <a:lstStyle/>
          <a:p>
            <a:pPr algn="l">
              <a:lnSpc>
                <a:spcPct val="150000"/>
              </a:lnSpc>
              <a:defRPr sz="1220" b="1">
                <a:solidFill>
                  <a:srgbClr val="042D62"/>
                </a:solidFill>
                <a:latin typeface="맑은 고딕"/>
              </a:defRPr>
            </a:pPr>
            <a:r>
              <a:rPr dirty="0" err="1"/>
              <a:t>정의</a:t>
            </a:r>
            <a:endParaRPr dirty="0"/>
          </a:p>
        </p:txBody>
      </p:sp>
      <p:sp>
        <p:nvSpPr>
          <p:cNvPr id="40" name="TextBox 39"/>
          <p:cNvSpPr txBox="1"/>
          <p:nvPr/>
        </p:nvSpPr>
        <p:spPr>
          <a:xfrm>
            <a:off x="6669836" y="3663167"/>
            <a:ext cx="4965192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92500" lnSpcReduction="20000"/>
          </a:bodyPr>
          <a:lstStyle/>
          <a:p>
            <a:pPr algn="l">
              <a:lnSpc>
                <a:spcPct val="150000"/>
              </a:lnSpc>
              <a:defRPr sz="1220" b="1">
                <a:solidFill>
                  <a:srgbClr val="042D62"/>
                </a:solidFill>
                <a:latin typeface="맑은 고딕"/>
              </a:defRPr>
            </a:pPr>
            <a:r>
              <a:rPr dirty="0" err="1"/>
              <a:t>정의와</a:t>
            </a:r>
            <a:r>
              <a:rPr dirty="0"/>
              <a:t> </a:t>
            </a:r>
            <a:r>
              <a:rPr dirty="0" err="1"/>
              <a:t>특징</a:t>
            </a:r>
            <a:r>
              <a:rPr dirty="0"/>
              <a:t> / </a:t>
            </a:r>
            <a:r>
              <a:rPr dirty="0" err="1"/>
              <a:t>작동</a:t>
            </a:r>
            <a:r>
              <a:rPr dirty="0"/>
              <a:t> </a:t>
            </a:r>
            <a:r>
              <a:rPr dirty="0" err="1"/>
              <a:t>약속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29184"/>
            <a:ext cx="8595360" cy="40233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defRPr sz="2400" b="1">
                <a:solidFill>
                  <a:srgbClr val="21252B"/>
                </a:solidFill>
                <a:latin typeface="맑은 고딕"/>
              </a:defRPr>
            </a:pPr>
            <a:r>
              <a:t>선의 × 인간 껍데기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786384"/>
            <a:ext cx="10241280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defRPr sz="1050" b="0">
                <a:solidFill>
                  <a:srgbClr val="66707A"/>
                </a:solidFill>
                <a:latin typeface="맑은 고딕"/>
              </a:defRPr>
            </a:pPr>
            <a:r>
              <a:t>균열 내부 잔존 요소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1078992"/>
            <a:ext cx="11045952" cy="0"/>
          </a:xfrm>
          <a:prstGeom prst="line">
            <a:avLst/>
          </a:prstGeom>
          <a:ln w="12700">
            <a:solidFill>
              <a:srgbClr val="EFF2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4">
            <a:extLst>
              <a:ext uri="{FF2B5EF4-FFF2-40B4-BE49-F238E27FC236}">
                <a16:creationId xmlns:a16="http://schemas.microsoft.com/office/drawing/2014/main" id="{79DCF5C8-AC0F-4902-8E49-75497450ACAA}"/>
              </a:ext>
            </a:extLst>
          </p:cNvPr>
          <p:cNvSpPr/>
          <p:nvPr/>
        </p:nvSpPr>
        <p:spPr>
          <a:xfrm>
            <a:off x="1000556" y="1588505"/>
            <a:ext cx="850392" cy="850392"/>
          </a:xfrm>
          <a:prstGeom prst="ellipse">
            <a:avLst/>
          </a:prstGeom>
          <a:solidFill>
            <a:srgbClr val="042D62"/>
          </a:solidFill>
          <a:ln w="17145">
            <a:solidFill>
              <a:srgbClr val="042D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>
            <a:norm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선의</a:t>
            </a:r>
          </a:p>
        </p:txBody>
      </p:sp>
      <p:sp>
        <p:nvSpPr>
          <p:cNvPr id="22" name="Oval 5">
            <a:extLst>
              <a:ext uri="{FF2B5EF4-FFF2-40B4-BE49-F238E27FC236}">
                <a16:creationId xmlns:a16="http://schemas.microsoft.com/office/drawing/2014/main" id="{7795387F-84A4-449E-992E-9DB2C47E1606}"/>
              </a:ext>
            </a:extLst>
          </p:cNvPr>
          <p:cNvSpPr/>
          <p:nvPr/>
        </p:nvSpPr>
        <p:spPr>
          <a:xfrm>
            <a:off x="1937817" y="1629654"/>
            <a:ext cx="768096" cy="768096"/>
          </a:xfrm>
          <a:prstGeom prst="ellipse">
            <a:avLst/>
          </a:prstGeom>
          <a:solidFill>
            <a:srgbClr val="E8F8F8"/>
          </a:solidFill>
          <a:ln w="17145">
            <a:solidFill>
              <a:srgbClr val="4AB0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>
            <a:normAutofit/>
          </a:bodyPr>
          <a:lstStyle/>
          <a:p>
            <a:pPr algn="ctr">
              <a:defRPr sz="800" b="1">
                <a:solidFill>
                  <a:srgbClr val="21252B"/>
                </a:solidFill>
                <a:latin typeface="맑은 고딕"/>
              </a:defRPr>
            </a:pPr>
            <a:r>
              <a:rPr dirty="0" err="1"/>
              <a:t>인간</a:t>
            </a:r>
            <a:endParaRPr lang="en-US" dirty="0"/>
          </a:p>
          <a:p>
            <a:pPr algn="ctr">
              <a:defRPr sz="800" b="1">
                <a:solidFill>
                  <a:srgbClr val="21252B"/>
                </a:solidFill>
                <a:latin typeface="맑은 고딕"/>
              </a:defRPr>
            </a:pPr>
            <a:r>
              <a:rPr dirty="0" err="1"/>
              <a:t>껍데기</a:t>
            </a:r>
            <a:endParaRPr dirty="0"/>
          </a:p>
        </p:txBody>
      </p:sp>
      <p:sp>
        <p:nvSpPr>
          <p:cNvPr id="17" name="TextBox 16"/>
          <p:cNvSpPr txBox="1"/>
          <p:nvPr/>
        </p:nvSpPr>
        <p:spPr>
          <a:xfrm>
            <a:off x="2925369" y="1890554"/>
            <a:ext cx="6995160" cy="3657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defRPr sz="1520" b="1">
                <a:solidFill>
                  <a:srgbClr val="21252B"/>
                </a:solidFill>
                <a:latin typeface="맑은 고딕"/>
              </a:defRPr>
            </a:pPr>
            <a:r>
              <a:rPr dirty="0" err="1"/>
              <a:t>부정적</a:t>
            </a:r>
            <a:r>
              <a:rPr dirty="0"/>
              <a:t> </a:t>
            </a:r>
            <a:r>
              <a:rPr dirty="0" err="1"/>
              <a:t>요소가</a:t>
            </a:r>
            <a:r>
              <a:rPr dirty="0"/>
              <a:t> </a:t>
            </a:r>
            <a:r>
              <a:rPr dirty="0" err="1"/>
              <a:t>빠져나간</a:t>
            </a:r>
            <a:r>
              <a:rPr dirty="0"/>
              <a:t> </a:t>
            </a:r>
            <a:r>
              <a:rPr dirty="0" err="1"/>
              <a:t>인간의</a:t>
            </a:r>
            <a:r>
              <a:rPr dirty="0"/>
              <a:t> </a:t>
            </a:r>
            <a:r>
              <a:rPr dirty="0" err="1"/>
              <a:t>잔여</a:t>
            </a:r>
            <a:r>
              <a:rPr dirty="0"/>
              <a:t> </a:t>
            </a:r>
            <a:r>
              <a:rPr dirty="0" err="1"/>
              <a:t>상태</a:t>
            </a:r>
            <a:endParaRPr dirty="0"/>
          </a:p>
        </p:txBody>
      </p:sp>
      <p:sp>
        <p:nvSpPr>
          <p:cNvPr id="18" name="Rounded Rectangle 9"/>
          <p:cNvSpPr/>
          <p:nvPr/>
        </p:nvSpPr>
        <p:spPr>
          <a:xfrm>
            <a:off x="2043684" y="2706799"/>
            <a:ext cx="8092440" cy="420624"/>
          </a:xfrm>
          <a:prstGeom prst="roundRect">
            <a:avLst/>
          </a:prstGeom>
          <a:solidFill>
            <a:srgbClr val="FBFCFE"/>
          </a:solidFill>
          <a:ln w="1016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9144" rIns="45720" bIns="9144" rtlCol="0" anchor="ctr">
            <a:normAutofit/>
          </a:bodyPr>
          <a:lstStyle/>
          <a:p>
            <a:pPr algn="ctr">
              <a:defRPr sz="1060" b="1">
                <a:solidFill>
                  <a:srgbClr val="21252B"/>
                </a:solidFill>
                <a:latin typeface="맑은 고딕"/>
              </a:defRPr>
            </a:pPr>
            <a:r>
              <a:t>변이 → 부정성 배출 + 인간 껍데기 잔존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0556" y="3977660"/>
            <a:ext cx="5330952" cy="585215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50000"/>
              </a:lnSpc>
              <a:defRPr sz="1035" b="0">
                <a:solidFill>
                  <a:srgbClr val="21252B"/>
                </a:solidFill>
                <a:latin typeface="맑은 고딕"/>
              </a:defRPr>
            </a:pPr>
            <a:r>
              <a:t>인간 껍데기는 변이 과정에서 부정적인 요소가 빠져나간 뒤 균열 내부에 남는 인간의 잔여 상태다.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69836" y="3977660"/>
            <a:ext cx="4521608" cy="2066544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50000"/>
              </a:lnSpc>
              <a:defRPr sz="965" b="0">
                <a:solidFill>
                  <a:srgbClr val="21252B"/>
                </a:solidFill>
                <a:latin typeface="맑은 고딕"/>
              </a:defRPr>
            </a:pPr>
            <a:r>
              <a:t>• 인간 하나당 하나의 몬스터가 배출되고, 하나의 인간 껍데기가 남는다.</a:t>
            </a:r>
          </a:p>
          <a:p>
            <a:pPr algn="l">
              <a:lnSpc>
                <a:spcPct val="150000"/>
              </a:lnSpc>
              <a:defRPr sz="965" b="0">
                <a:solidFill>
                  <a:srgbClr val="21252B"/>
                </a:solidFill>
                <a:latin typeface="맑은 고딕"/>
              </a:defRPr>
            </a:pPr>
            <a:r>
              <a:t>• 껍데기는 균열 내부에서 식물인간 같은 상태로 떠다닌다.</a:t>
            </a:r>
          </a:p>
          <a:p>
            <a:pPr algn="l">
              <a:lnSpc>
                <a:spcPct val="150000"/>
              </a:lnSpc>
              <a:defRPr sz="965" b="0">
                <a:solidFill>
                  <a:srgbClr val="21252B"/>
                </a:solidFill>
                <a:latin typeface="맑은 고딕"/>
              </a:defRPr>
            </a:pPr>
            <a:r>
              <a:t>• 이 설정은 변이가 완전한 죽음이 아니라 복원 가능성과 연결될 수 있음을 만든다.</a:t>
            </a:r>
          </a:p>
          <a:p>
            <a:pPr algn="l">
              <a:lnSpc>
                <a:spcPct val="150000"/>
              </a:lnSpc>
              <a:defRPr sz="965" b="0">
                <a:solidFill>
                  <a:srgbClr val="21252B"/>
                </a:solidFill>
                <a:latin typeface="맑은 고딕"/>
              </a:defRPr>
            </a:pPr>
            <a:r>
              <a:t>• 인간 껍데기는 변이와 선의의 바다를 연결하는 중간 결과물이다.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0556" y="5225548"/>
            <a:ext cx="5330952" cy="9144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50000"/>
              </a:lnSpc>
              <a:defRPr sz="1015" b="0">
                <a:solidFill>
                  <a:srgbClr val="21252B"/>
                </a:solidFill>
                <a:latin typeface="맑은 고딕"/>
              </a:defRPr>
            </a:pPr>
            <a:r>
              <a:t>선의 0 인간이 변이한다고 해서 인간 전체가 곧바로 몬스터가 되는 것은 아니다. 선의가 고갈된 인간에게서 부정성만 분리되어 몬스터가 되고, 남은 껍데기는 선의의 바다 위에 보관된다.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0556" y="4912189"/>
            <a:ext cx="5330952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92500" lnSpcReduction="20000"/>
          </a:bodyPr>
          <a:lstStyle/>
          <a:p>
            <a:pPr algn="l">
              <a:lnSpc>
                <a:spcPct val="150000"/>
              </a:lnSpc>
              <a:defRPr sz="1220" b="1">
                <a:solidFill>
                  <a:srgbClr val="042D62"/>
                </a:solidFill>
                <a:latin typeface="맑은 고딕"/>
              </a:defRPr>
            </a:pPr>
            <a:r>
              <a:t>선의와 맞물리는 부분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0556" y="3663167"/>
            <a:ext cx="5330952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92500" lnSpcReduction="20000"/>
          </a:bodyPr>
          <a:lstStyle/>
          <a:p>
            <a:pPr algn="l">
              <a:lnSpc>
                <a:spcPct val="150000"/>
              </a:lnSpc>
              <a:defRPr sz="1220" b="1">
                <a:solidFill>
                  <a:srgbClr val="042D62"/>
                </a:solidFill>
                <a:latin typeface="맑은 고딕"/>
              </a:defRPr>
            </a:pPr>
            <a:r>
              <a:rPr dirty="0" err="1"/>
              <a:t>정의</a:t>
            </a:r>
            <a:endParaRPr dirty="0"/>
          </a:p>
        </p:txBody>
      </p:sp>
      <p:sp>
        <p:nvSpPr>
          <p:cNvPr id="38" name="TextBox 37"/>
          <p:cNvSpPr txBox="1"/>
          <p:nvPr/>
        </p:nvSpPr>
        <p:spPr>
          <a:xfrm>
            <a:off x="6669836" y="3663167"/>
            <a:ext cx="4965192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92500" lnSpcReduction="20000"/>
          </a:bodyPr>
          <a:lstStyle/>
          <a:p>
            <a:pPr algn="l">
              <a:lnSpc>
                <a:spcPct val="150000"/>
              </a:lnSpc>
              <a:defRPr sz="1220" b="1">
                <a:solidFill>
                  <a:srgbClr val="042D62"/>
                </a:solidFill>
                <a:latin typeface="맑은 고딕"/>
              </a:defRPr>
            </a:pPr>
            <a:r>
              <a:rPr dirty="0" err="1"/>
              <a:t>정의와</a:t>
            </a:r>
            <a:r>
              <a:rPr dirty="0"/>
              <a:t> </a:t>
            </a:r>
            <a:r>
              <a:rPr dirty="0" err="1"/>
              <a:t>특징</a:t>
            </a:r>
            <a:r>
              <a:rPr dirty="0"/>
              <a:t> / </a:t>
            </a:r>
            <a:r>
              <a:rPr dirty="0" err="1"/>
              <a:t>작동</a:t>
            </a:r>
            <a:r>
              <a:rPr dirty="0"/>
              <a:t> </a:t>
            </a:r>
            <a:r>
              <a:rPr dirty="0" err="1"/>
              <a:t>약속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29184"/>
            <a:ext cx="8595360" cy="402336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85000" lnSpcReduction="20000"/>
          </a:bodyPr>
          <a:lstStyle/>
          <a:p>
            <a:pPr algn="l">
              <a:lnSpc>
                <a:spcPct val="150000"/>
              </a:lnSpc>
              <a:defRPr sz="2400" b="1">
                <a:solidFill>
                  <a:srgbClr val="21252B"/>
                </a:solidFill>
                <a:latin typeface="맑은 고딕"/>
              </a:defRPr>
            </a:pPr>
            <a:r>
              <a:t>선의 × 선의의 바다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786384"/>
            <a:ext cx="10241280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50000"/>
              </a:lnSpc>
              <a:defRPr sz="1050" b="0">
                <a:solidFill>
                  <a:srgbClr val="66707A"/>
                </a:solidFill>
                <a:latin typeface="맑은 고딕"/>
              </a:defRPr>
            </a:pPr>
            <a:r>
              <a:t>균열 내부 회복 공간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1078992"/>
            <a:ext cx="11045952" cy="0"/>
          </a:xfrm>
          <a:prstGeom prst="line">
            <a:avLst/>
          </a:prstGeom>
          <a:ln w="12700">
            <a:solidFill>
              <a:srgbClr val="EFF2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4">
            <a:extLst>
              <a:ext uri="{FF2B5EF4-FFF2-40B4-BE49-F238E27FC236}">
                <a16:creationId xmlns:a16="http://schemas.microsoft.com/office/drawing/2014/main" id="{A3104B96-09D8-4039-9107-FA6CA897A61C}"/>
              </a:ext>
            </a:extLst>
          </p:cNvPr>
          <p:cNvSpPr/>
          <p:nvPr/>
        </p:nvSpPr>
        <p:spPr>
          <a:xfrm>
            <a:off x="1000556" y="1595965"/>
            <a:ext cx="850392" cy="850392"/>
          </a:xfrm>
          <a:prstGeom prst="ellipse">
            <a:avLst/>
          </a:prstGeom>
          <a:solidFill>
            <a:srgbClr val="042D62"/>
          </a:solidFill>
          <a:ln w="17145">
            <a:solidFill>
              <a:srgbClr val="042D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>
            <a:normAutofit/>
          </a:bodyPr>
          <a:lstStyle/>
          <a:p>
            <a:pPr algn="ctr">
              <a:lnSpc>
                <a:spcPct val="150000"/>
              </a:lnSpc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선의</a:t>
            </a:r>
          </a:p>
        </p:txBody>
      </p:sp>
      <p:sp>
        <p:nvSpPr>
          <p:cNvPr id="22" name="Oval 5">
            <a:extLst>
              <a:ext uri="{FF2B5EF4-FFF2-40B4-BE49-F238E27FC236}">
                <a16:creationId xmlns:a16="http://schemas.microsoft.com/office/drawing/2014/main" id="{FBA26AA1-062E-48F9-BCBE-B030EF653469}"/>
              </a:ext>
            </a:extLst>
          </p:cNvPr>
          <p:cNvSpPr/>
          <p:nvPr/>
        </p:nvSpPr>
        <p:spPr>
          <a:xfrm>
            <a:off x="1937817" y="1637114"/>
            <a:ext cx="768096" cy="768096"/>
          </a:xfrm>
          <a:prstGeom prst="ellipse">
            <a:avLst/>
          </a:prstGeom>
          <a:solidFill>
            <a:srgbClr val="E8F8F8"/>
          </a:solidFill>
          <a:ln w="17145">
            <a:solidFill>
              <a:srgbClr val="4AB0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>
            <a:normAutofit/>
          </a:bodyPr>
          <a:lstStyle/>
          <a:p>
            <a:pPr algn="ctr">
              <a:lnSpc>
                <a:spcPct val="150000"/>
              </a:lnSpc>
              <a:defRPr sz="800" b="1">
                <a:solidFill>
                  <a:srgbClr val="21252B"/>
                </a:solidFill>
                <a:latin typeface="맑은 고딕"/>
              </a:defRPr>
            </a:pPr>
            <a:r>
              <a:rPr dirty="0" err="1"/>
              <a:t>선의의</a:t>
            </a:r>
            <a:endParaRPr lang="en-US" dirty="0"/>
          </a:p>
          <a:p>
            <a:pPr algn="ctr">
              <a:lnSpc>
                <a:spcPct val="150000"/>
              </a:lnSpc>
              <a:defRPr sz="800" b="1">
                <a:solidFill>
                  <a:srgbClr val="21252B"/>
                </a:solidFill>
                <a:latin typeface="맑은 고딕"/>
              </a:defRPr>
            </a:pPr>
            <a:r>
              <a:rPr dirty="0" err="1"/>
              <a:t>바다</a:t>
            </a:r>
            <a:endParaRPr dirty="0"/>
          </a:p>
        </p:txBody>
      </p:sp>
      <p:sp>
        <p:nvSpPr>
          <p:cNvPr id="17" name="TextBox 16"/>
          <p:cNvSpPr txBox="1"/>
          <p:nvPr/>
        </p:nvSpPr>
        <p:spPr>
          <a:xfrm>
            <a:off x="2925369" y="1830821"/>
            <a:ext cx="6995160" cy="3657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50000"/>
              </a:lnSpc>
              <a:defRPr sz="1520" b="1">
                <a:solidFill>
                  <a:srgbClr val="21252B"/>
                </a:solidFill>
                <a:latin typeface="맑은 고딕"/>
              </a:defRPr>
            </a:pPr>
            <a:r>
              <a:rPr dirty="0" err="1"/>
              <a:t>인간</a:t>
            </a:r>
            <a:r>
              <a:rPr dirty="0"/>
              <a:t> </a:t>
            </a:r>
            <a:r>
              <a:rPr dirty="0" err="1"/>
              <a:t>껍데기를</a:t>
            </a:r>
            <a:r>
              <a:rPr dirty="0"/>
              <a:t> </a:t>
            </a:r>
            <a:r>
              <a:rPr dirty="0" err="1"/>
              <a:t>선의로</a:t>
            </a:r>
            <a:r>
              <a:rPr dirty="0"/>
              <a:t> </a:t>
            </a:r>
            <a:r>
              <a:rPr dirty="0" err="1"/>
              <a:t>채우는</a:t>
            </a:r>
            <a:r>
              <a:rPr dirty="0"/>
              <a:t> </a:t>
            </a:r>
            <a:r>
              <a:rPr dirty="0" err="1"/>
              <a:t>균열</a:t>
            </a:r>
            <a:r>
              <a:rPr dirty="0"/>
              <a:t> </a:t>
            </a:r>
            <a:r>
              <a:rPr dirty="0" err="1"/>
              <a:t>내부</a:t>
            </a:r>
            <a:r>
              <a:rPr dirty="0"/>
              <a:t> </a:t>
            </a:r>
            <a:r>
              <a:rPr dirty="0" err="1"/>
              <a:t>공간</a:t>
            </a:r>
            <a:endParaRPr dirty="0"/>
          </a:p>
        </p:txBody>
      </p:sp>
      <p:sp>
        <p:nvSpPr>
          <p:cNvPr id="18" name="Rounded Rectangle 9"/>
          <p:cNvSpPr/>
          <p:nvPr/>
        </p:nvSpPr>
        <p:spPr>
          <a:xfrm>
            <a:off x="2043684" y="2706799"/>
            <a:ext cx="8092440" cy="420624"/>
          </a:xfrm>
          <a:prstGeom prst="roundRect">
            <a:avLst/>
          </a:prstGeom>
          <a:solidFill>
            <a:srgbClr val="FBFCFE"/>
          </a:solidFill>
          <a:ln w="1016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9144" rIns="45720" bIns="9144" rtlCol="0" anchor="ctr">
            <a:normAutofit/>
          </a:bodyPr>
          <a:lstStyle/>
          <a:p>
            <a:pPr algn="ctr">
              <a:lnSpc>
                <a:spcPct val="150000"/>
              </a:lnSpc>
              <a:defRPr sz="1060" b="1">
                <a:solidFill>
                  <a:srgbClr val="21252B"/>
                </a:solidFill>
                <a:latin typeface="맑은 고딕"/>
              </a:defRPr>
            </a:pPr>
            <a:r>
              <a:t>인간 껍데기 + 선의의 바다 → 선의 충전 → 복원 가능성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0556" y="3977660"/>
            <a:ext cx="5330952" cy="585215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50000"/>
              </a:lnSpc>
              <a:defRPr sz="1035" b="0">
                <a:solidFill>
                  <a:srgbClr val="21252B"/>
                </a:solidFill>
                <a:latin typeface="맑은 고딕"/>
              </a:defRPr>
            </a:pPr>
            <a:r>
              <a:t>선의의 바다는 균열 내부에 존재하는 공간으로, 부정성이 빠진 인간 껍데기가 선의로 채워지는 장소다.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69836" y="3977660"/>
            <a:ext cx="4965192" cy="2066544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50000"/>
              </a:lnSpc>
              <a:defRPr sz="965" b="0">
                <a:solidFill>
                  <a:srgbClr val="21252B"/>
                </a:solidFill>
                <a:latin typeface="맑은 고딕"/>
              </a:defRPr>
            </a:pPr>
            <a:r>
              <a:t>• 인간 껍데기는 선의의 바다 위에 떠다니며 선의로 채워진다.</a:t>
            </a:r>
          </a:p>
          <a:p>
            <a:pPr algn="l">
              <a:lnSpc>
                <a:spcPct val="150000"/>
              </a:lnSpc>
              <a:defRPr sz="965" b="0">
                <a:solidFill>
                  <a:srgbClr val="21252B"/>
                </a:solidFill>
                <a:latin typeface="맑은 고딕"/>
              </a:defRPr>
            </a:pPr>
            <a:r>
              <a:t>• 선의의 바다는 균열이 세상을 선의로 채우려는 목적을 시각화한다.</a:t>
            </a:r>
          </a:p>
          <a:p>
            <a:pPr algn="l">
              <a:lnSpc>
                <a:spcPct val="150000"/>
              </a:lnSpc>
              <a:defRPr sz="965" b="0">
                <a:solidFill>
                  <a:srgbClr val="21252B"/>
                </a:solidFill>
                <a:latin typeface="맑은 고딕"/>
              </a:defRPr>
            </a:pPr>
            <a:r>
              <a:t>• 복원 가능성, 균열 내부 탐색, 엔딩 선택지와 연결하기 좋다.</a:t>
            </a:r>
          </a:p>
          <a:p>
            <a:pPr algn="l">
              <a:lnSpc>
                <a:spcPct val="150000"/>
              </a:lnSpc>
              <a:defRPr sz="965" b="0">
                <a:solidFill>
                  <a:srgbClr val="21252B"/>
                </a:solidFill>
                <a:latin typeface="맑은 고딕"/>
              </a:defRPr>
            </a:pPr>
            <a:r>
              <a:t>• 선의가 단순 수치가 아니라 세계를 재구성하는 물질/상태처럼 보이게 만든다.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0556" y="5225548"/>
            <a:ext cx="5330952" cy="9144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50000"/>
              </a:lnSpc>
              <a:defRPr sz="1015" b="0">
                <a:solidFill>
                  <a:srgbClr val="21252B"/>
                </a:solidFill>
                <a:latin typeface="맑은 고딕"/>
              </a:defRPr>
            </a:pPr>
            <a:r>
              <a:t>균열이 바깥세상에서 나쁜 것들을 모두 제거하고 나면, 선의로 가득 채워진 인간 껍데기들이 다시 균열 밖에서 살게 된다는 가능성을 만든다. 이는 균열의 목적과 엔딩 구조를 연결한다.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00556" y="4912189"/>
            <a:ext cx="5330952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92500" lnSpcReduction="20000"/>
          </a:bodyPr>
          <a:lstStyle/>
          <a:p>
            <a:pPr algn="l">
              <a:lnSpc>
                <a:spcPct val="150000"/>
              </a:lnSpc>
              <a:defRPr sz="1220" b="1">
                <a:solidFill>
                  <a:srgbClr val="042D62"/>
                </a:solidFill>
                <a:latin typeface="맑은 고딕"/>
              </a:defRPr>
            </a:pPr>
            <a:r>
              <a:t>선의와 맞물리는 부분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0556" y="3663167"/>
            <a:ext cx="5330952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92500" lnSpcReduction="20000"/>
          </a:bodyPr>
          <a:lstStyle/>
          <a:p>
            <a:pPr algn="l">
              <a:lnSpc>
                <a:spcPct val="150000"/>
              </a:lnSpc>
              <a:defRPr sz="1220" b="1">
                <a:solidFill>
                  <a:srgbClr val="042D62"/>
                </a:solidFill>
                <a:latin typeface="맑은 고딕"/>
              </a:defRPr>
            </a:pPr>
            <a:r>
              <a:rPr dirty="0" err="1"/>
              <a:t>정의</a:t>
            </a:r>
            <a:endParaRPr dirty="0"/>
          </a:p>
        </p:txBody>
      </p:sp>
      <p:sp>
        <p:nvSpPr>
          <p:cNvPr id="40" name="TextBox 39"/>
          <p:cNvSpPr txBox="1"/>
          <p:nvPr/>
        </p:nvSpPr>
        <p:spPr>
          <a:xfrm>
            <a:off x="6669836" y="3663167"/>
            <a:ext cx="4965192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92500" lnSpcReduction="20000"/>
          </a:bodyPr>
          <a:lstStyle/>
          <a:p>
            <a:pPr algn="l">
              <a:lnSpc>
                <a:spcPct val="150000"/>
              </a:lnSpc>
              <a:defRPr sz="1220" b="1">
                <a:solidFill>
                  <a:srgbClr val="042D62"/>
                </a:solidFill>
                <a:latin typeface="맑은 고딕"/>
              </a:defRPr>
            </a:pPr>
            <a:r>
              <a:rPr dirty="0" err="1"/>
              <a:t>정의와</a:t>
            </a:r>
            <a:r>
              <a:rPr dirty="0"/>
              <a:t> </a:t>
            </a:r>
            <a:r>
              <a:rPr dirty="0" err="1"/>
              <a:t>특징</a:t>
            </a:r>
            <a:r>
              <a:rPr dirty="0"/>
              <a:t> / </a:t>
            </a:r>
            <a:r>
              <a:rPr dirty="0" err="1"/>
              <a:t>작동</a:t>
            </a:r>
            <a:r>
              <a:rPr dirty="0"/>
              <a:t> </a:t>
            </a:r>
            <a:r>
              <a:rPr dirty="0" err="1"/>
              <a:t>약속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124</TotalTime>
  <Words>1955</Words>
  <Application>Microsoft Office PowerPoint</Application>
  <PresentationFormat>와이드스크린</PresentationFormat>
  <Paragraphs>260</Paragraphs>
  <Slides>16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16</vt:i4>
      </vt:variant>
    </vt:vector>
  </HeadingPairs>
  <TitlesOfParts>
    <vt:vector size="20" baseType="lpstr">
      <vt:lpstr>맑은 고딕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subject/>
  <dc:creator/>
  <cp:keywords/>
  <dc:description>generated using python-pptx</dc:description>
  <cp:lastModifiedBy>FullName</cp:lastModifiedBy>
  <cp:revision>12</cp:revision>
  <dcterms:created xsi:type="dcterms:W3CDTF">2013-01-27T09:14:16Z</dcterms:created>
  <dcterms:modified xsi:type="dcterms:W3CDTF">2026-08-14T06:51:03Z</dcterms:modified>
  <cp:category/>
</cp:coreProperties>
</file>