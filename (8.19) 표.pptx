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7EE"/>
    <a:srgbClr val="073B5A"/>
    <a:srgbClr val="E4867C"/>
    <a:srgbClr val="61A5FF"/>
    <a:srgbClr val="E69486"/>
    <a:srgbClr val="EFCDB5"/>
    <a:srgbClr val="A7CDFF"/>
    <a:srgbClr val="EAF3FF"/>
    <a:srgbClr val="789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2796" y="12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C7C77-B071-495F-86F2-4B8B5D049A9B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37DDB-5BEE-4CEB-9D15-B9C1F3063E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52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837DDB-5BEE-4CEB-9D15-B9C1F3063E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47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18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9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753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2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78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79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221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3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19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57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79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8EF28-70DA-4FAA-8D38-6F013B029937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12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microsoft.com/office/2007/relationships/hdphoto" Target="../media/hdphoto1.wdp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221" y="271026"/>
            <a:ext cx="9737558" cy="631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0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순서도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마지막에 시스템 메시지를 추가하는 것도 신경쓰자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포트폴리오에 넣을 순서도는 </a:t>
            </a:r>
            <a:r>
              <a:rPr lang="en-US" altLang="ko-KR" smtClean="0"/>
              <a:t>2~3</a:t>
            </a:r>
            <a:r>
              <a:rPr lang="ko-KR" altLang="en-US" smtClean="0"/>
              <a:t>개 정도면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85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꺾인 연결선 53"/>
          <p:cNvCxnSpPr>
            <a:stCxn id="20" idx="3"/>
            <a:endCxn id="27" idx="1"/>
          </p:cNvCxnSpPr>
          <p:nvPr/>
        </p:nvCxnSpPr>
        <p:spPr>
          <a:xfrm flipV="1">
            <a:off x="2706128" y="2763214"/>
            <a:ext cx="370729" cy="929520"/>
          </a:xfrm>
          <a:prstGeom prst="bentConnector3">
            <a:avLst>
              <a:gd name="adj1" fmla="val 63703"/>
            </a:avLst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942" y="524655"/>
            <a:ext cx="10515600" cy="1325563"/>
          </a:xfrm>
        </p:spPr>
        <p:txBody>
          <a:bodyPr/>
          <a:lstStyle/>
          <a:p>
            <a:r>
              <a:rPr lang="ko-KR" altLang="en-US" smtClean="0"/>
              <a:t>내 시스템의 순서도 만들기</a:t>
            </a:r>
            <a:endParaRPr lang="ko-KR" altLang="en-US"/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1528994" y="235173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현재 공기가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정상적인가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377131" y="244317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0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/>
          <p:cNvCxnSpPr>
            <a:stCxn id="6" idx="3"/>
          </p:cNvCxnSpPr>
          <p:nvPr/>
        </p:nvCxnSpPr>
        <p:spPr>
          <a:xfrm>
            <a:off x="2882306" y="2763214"/>
            <a:ext cx="198000" cy="0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205650" y="3174694"/>
            <a:ext cx="0" cy="198000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8" idx="3"/>
          </p:cNvCxnSpPr>
          <p:nvPr/>
        </p:nvCxnSpPr>
        <p:spPr>
          <a:xfrm>
            <a:off x="1330994" y="2763214"/>
            <a:ext cx="198000" cy="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1752265" y="337269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en-US" altLang="ko-KR" sz="100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한도 제한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3076857" y="235173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들이마시기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 </a:t>
            </a: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키를 계속 누르고 있는가</a:t>
            </a:r>
            <a:r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4624720" y="244317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en-US" altLang="ko-KR" sz="100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상승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직선 화살표 연결선 32"/>
          <p:cNvCxnSpPr>
            <a:stCxn id="27" idx="3"/>
            <a:endCxn id="32" idx="1"/>
          </p:cNvCxnSpPr>
          <p:nvPr/>
        </p:nvCxnSpPr>
        <p:spPr>
          <a:xfrm>
            <a:off x="4430169" y="2763214"/>
            <a:ext cx="194551" cy="0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27" idx="2"/>
            <a:endCxn id="43" idx="0"/>
          </p:cNvCxnSpPr>
          <p:nvPr/>
        </p:nvCxnSpPr>
        <p:spPr>
          <a:xfrm>
            <a:off x="3753513" y="3174694"/>
            <a:ext cx="0" cy="192420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1928443" y="447393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자동 내뱉기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3076857" y="336711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키를 눌렀는가</a:t>
            </a:r>
            <a:r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3076857" y="438249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내뱉기 키를 눌렀는가</a:t>
            </a:r>
            <a:r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7" name="직선 화살표 연결선 46"/>
          <p:cNvCxnSpPr>
            <a:stCxn id="43" idx="2"/>
            <a:endCxn id="44" idx="0"/>
          </p:cNvCxnSpPr>
          <p:nvPr/>
        </p:nvCxnSpPr>
        <p:spPr>
          <a:xfrm>
            <a:off x="3753513" y="4190074"/>
            <a:ext cx="0" cy="192420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4" idx="1"/>
            <a:endCxn id="42" idx="3"/>
          </p:cNvCxnSpPr>
          <p:nvPr/>
        </p:nvCxnSpPr>
        <p:spPr>
          <a:xfrm flipH="1">
            <a:off x="2882306" y="4793974"/>
            <a:ext cx="194551" cy="0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stCxn id="43" idx="3"/>
            <a:endCxn id="58" idx="1"/>
          </p:cNvCxnSpPr>
          <p:nvPr/>
        </p:nvCxnSpPr>
        <p:spPr>
          <a:xfrm>
            <a:off x="4430169" y="3778594"/>
            <a:ext cx="194551" cy="0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4624720" y="345855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게이지 상승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4624862" y="4473933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내뱉기 효과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2" name="직선 화살표 연결선 61"/>
          <p:cNvCxnSpPr>
            <a:stCxn id="44" idx="3"/>
            <a:endCxn id="61" idx="1"/>
          </p:cNvCxnSpPr>
          <p:nvPr/>
        </p:nvCxnSpPr>
        <p:spPr>
          <a:xfrm flipV="1">
            <a:off x="4430169" y="4793973"/>
            <a:ext cx="194693" cy="1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58" idx="3"/>
            <a:endCxn id="95" idx="1"/>
          </p:cNvCxnSpPr>
          <p:nvPr/>
        </p:nvCxnSpPr>
        <p:spPr>
          <a:xfrm flipV="1">
            <a:off x="5578583" y="3778284"/>
            <a:ext cx="191630" cy="31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8109352" y="336649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키를 계속 누르고 있는가</a:t>
            </a:r>
            <a:r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2" name="직선 화살표 연결선 71"/>
          <p:cNvCxnSpPr>
            <a:stCxn id="73" idx="3"/>
            <a:endCxn id="70" idx="1"/>
          </p:cNvCxnSpPr>
          <p:nvPr/>
        </p:nvCxnSpPr>
        <p:spPr>
          <a:xfrm flipV="1">
            <a:off x="7917894" y="3777974"/>
            <a:ext cx="191458" cy="31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6964031" y="345824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한계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" name="직선 화살표 연결선 83"/>
          <p:cNvCxnSpPr>
            <a:stCxn id="70" idx="3"/>
            <a:endCxn id="85" idx="1"/>
          </p:cNvCxnSpPr>
          <p:nvPr/>
        </p:nvCxnSpPr>
        <p:spPr>
          <a:xfrm>
            <a:off x="9462664" y="3777974"/>
            <a:ext cx="191458" cy="0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9654122" y="345793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한계 내뱉기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화살표 연결선 88"/>
          <p:cNvCxnSpPr>
            <a:stCxn id="85" idx="3"/>
            <a:endCxn id="92" idx="1"/>
          </p:cNvCxnSpPr>
          <p:nvPr/>
        </p:nvCxnSpPr>
        <p:spPr>
          <a:xfrm>
            <a:off x="10607985" y="3777974"/>
            <a:ext cx="191458" cy="1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순서도: 문서 91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10799443" y="3457935"/>
            <a:ext cx="1002188" cy="640080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아주 큰 소음 </a:t>
            </a:r>
            <a:r>
              <a:rPr lang="en-US" altLang="ko-KR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헐떡이는 모션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순서도: 문서 94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5770213" y="3458244"/>
            <a:ext cx="1002188" cy="640080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참는 모션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0" name="직선 화살표 연결선 99"/>
          <p:cNvCxnSpPr>
            <a:stCxn id="95" idx="3"/>
            <a:endCxn id="73" idx="1"/>
          </p:cNvCxnSpPr>
          <p:nvPr/>
        </p:nvCxnSpPr>
        <p:spPr>
          <a:xfrm>
            <a:off x="6772401" y="3778284"/>
            <a:ext cx="191630" cy="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순서도: 문서 102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5770213" y="2443174"/>
            <a:ext cx="1306828" cy="640080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 모션 </a:t>
            </a:r>
            <a:r>
              <a:rPr lang="en-US" altLang="ko-KR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 소리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4" name="직선 화살표 연결선 103"/>
          <p:cNvCxnSpPr>
            <a:stCxn id="32" idx="3"/>
            <a:endCxn id="103" idx="1"/>
          </p:cNvCxnSpPr>
          <p:nvPr/>
        </p:nvCxnSpPr>
        <p:spPr>
          <a:xfrm>
            <a:off x="5578583" y="2763214"/>
            <a:ext cx="191630" cy="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70" idx="2"/>
            <a:endCxn id="44" idx="0"/>
          </p:cNvCxnSpPr>
          <p:nvPr/>
        </p:nvCxnSpPr>
        <p:spPr>
          <a:xfrm rot="5400000">
            <a:off x="6173241" y="1769727"/>
            <a:ext cx="193040" cy="5032495"/>
          </a:xfrm>
          <a:prstGeom prst="bentConnector3">
            <a:avLst>
              <a:gd name="adj1" fmla="val 36841"/>
            </a:avLst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순서도: 문서 112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3252419" y="5419054"/>
            <a:ext cx="1002188" cy="640080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소음 </a:t>
            </a:r>
            <a:r>
              <a:rPr lang="en-US" altLang="ko-KR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내뱉는 모션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4" name="꺾인 연결선 113"/>
          <p:cNvCxnSpPr>
            <a:stCxn id="42" idx="2"/>
            <a:endCxn id="113" idx="1"/>
          </p:cNvCxnSpPr>
          <p:nvPr/>
        </p:nvCxnSpPr>
        <p:spPr>
          <a:xfrm rot="16200000" flipH="1">
            <a:off x="2516357" y="5003032"/>
            <a:ext cx="625080" cy="847044"/>
          </a:xfrm>
          <a:prstGeom prst="bentConnector2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61" idx="2"/>
            <a:endCxn id="113" idx="3"/>
          </p:cNvCxnSpPr>
          <p:nvPr/>
        </p:nvCxnSpPr>
        <p:spPr>
          <a:xfrm rot="5400000">
            <a:off x="4365661" y="5002960"/>
            <a:ext cx="625081" cy="847187"/>
          </a:xfrm>
          <a:prstGeom prst="bentConnector2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86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 화면을 만들고</a:t>
            </a:r>
            <a:endParaRPr lang="en-US" altLang="ko-KR" smtClean="0"/>
          </a:p>
          <a:p>
            <a:r>
              <a:rPr lang="ko-KR" altLang="en-US" smtClean="0"/>
              <a:t>시스템에 영향을 주는 </a:t>
            </a:r>
            <a:r>
              <a:rPr lang="en-US" altLang="ko-KR" smtClean="0"/>
              <a:t>UI </a:t>
            </a:r>
            <a:r>
              <a:rPr lang="ko-KR" altLang="en-US" smtClean="0"/>
              <a:t>위주로 번호를 매겨서</a:t>
            </a:r>
            <a:endParaRPr lang="en-US" altLang="ko-KR" smtClean="0"/>
          </a:p>
          <a:p>
            <a:r>
              <a:rPr lang="ko-KR" altLang="en-US" smtClean="0"/>
              <a:t>표로 그 </a:t>
            </a:r>
            <a:r>
              <a:rPr lang="en-US" altLang="ko-KR" smtClean="0"/>
              <a:t>UI</a:t>
            </a:r>
            <a:r>
              <a:rPr lang="ko-KR" altLang="en-US" smtClean="0"/>
              <a:t>의 기능과 내용을 작성하면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시스템은 거의 대부분의 내요을 표로 설명해야 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Why? </a:t>
            </a:r>
            <a:r>
              <a:rPr lang="ko-KR" altLang="en-US" smtClean="0"/>
              <a:t>별 내용 아닌데도</a:t>
            </a:r>
            <a:r>
              <a:rPr lang="en-US" altLang="ko-KR" smtClean="0"/>
              <a:t>, </a:t>
            </a:r>
            <a:r>
              <a:rPr lang="ko-KR" altLang="en-US" smtClean="0"/>
              <a:t>표로 적으면 의미있어 보인다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표 속의 내용들이 이유가 있는</a:t>
            </a:r>
            <a:r>
              <a:rPr lang="en-US" altLang="ko-KR" smtClean="0"/>
              <a:t>,</a:t>
            </a:r>
            <a:r>
              <a:rPr lang="ko-KR" altLang="en-US" smtClean="0"/>
              <a:t> 신뢰도가 생긴다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정성적인 것을 정량적인 것처럼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222274"/>
            <a:ext cx="4963886" cy="641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9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61" y="597224"/>
            <a:ext cx="5299592" cy="2982605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89064"/>
              </p:ext>
            </p:extLst>
          </p:nvPr>
        </p:nvGraphicFramePr>
        <p:xfrm>
          <a:off x="6311899" y="325863"/>
          <a:ext cx="5441241" cy="62062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49155">
                  <a:extLst>
                    <a:ext uri="{9D8B030D-6E8A-4147-A177-3AD203B41FA5}">
                      <a16:colId xmlns:a16="http://schemas.microsoft.com/office/drawing/2014/main" val="2544917600"/>
                    </a:ext>
                  </a:extLst>
                </a:gridCol>
                <a:gridCol w="1461135">
                  <a:extLst>
                    <a:ext uri="{9D8B030D-6E8A-4147-A177-3AD203B41FA5}">
                      <a16:colId xmlns:a16="http://schemas.microsoft.com/office/drawing/2014/main" val="476897612"/>
                    </a:ext>
                  </a:extLst>
                </a:gridCol>
                <a:gridCol w="1461135">
                  <a:extLst>
                    <a:ext uri="{9D8B030D-6E8A-4147-A177-3AD203B41FA5}">
                      <a16:colId xmlns:a16="http://schemas.microsoft.com/office/drawing/2014/main" val="3604146317"/>
                    </a:ext>
                  </a:extLst>
                </a:gridCol>
                <a:gridCol w="1669816">
                  <a:extLst>
                    <a:ext uri="{9D8B030D-6E8A-4147-A177-3AD203B41FA5}">
                      <a16:colId xmlns:a16="http://schemas.microsoft.com/office/drawing/2014/main" val="4273060456"/>
                    </a:ext>
                  </a:extLst>
                </a:gridCol>
              </a:tblGrid>
              <a:tr h="604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항목</a:t>
                      </a:r>
                      <a:endParaRPr lang="ko-KR" altLang="en-US" sz="1500"/>
                    </a:p>
                  </a:txBody>
                  <a:tcPr anchor="ctr">
                    <a:solidFill>
                      <a:srgbClr val="EAF7E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내용</a:t>
                      </a:r>
                      <a:endParaRPr lang="ko-KR" altLang="en-US" sz="1500"/>
                    </a:p>
                  </a:txBody>
                  <a:tcPr anchor="ctr">
                    <a:solidFill>
                      <a:srgbClr val="EAF7E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613229"/>
                  </a:ext>
                </a:extLst>
              </a:tr>
              <a:tr h="53881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들이마시기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모션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조작키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게이지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6970"/>
                  </a:ext>
                </a:extLst>
              </a:tr>
              <a:tr h="132322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700937"/>
                  </a:ext>
                </a:extLst>
              </a:tr>
              <a:tr h="5203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숨 참기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모션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조작키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게이지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84948"/>
                  </a:ext>
                </a:extLst>
              </a:tr>
              <a:tr h="132322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937608"/>
                  </a:ext>
                </a:extLst>
              </a:tr>
              <a:tr h="5732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내뱉기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모션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조작키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게이지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161141"/>
                  </a:ext>
                </a:extLst>
              </a:tr>
              <a:tr h="132322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20317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967" b="89565" l="40809" r="45410">
                        <a14:foregroundMark x1="41089" y1="86397" x2="44677" y2="88204"/>
                        <a14:foregroundMark x1="41208" y1="86929" x2="41208" y2="88098"/>
                        <a14:foregroundMark x1="41208" y1="88310" x2="44438" y2="88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34" t="84392" r="54015" b="9860"/>
          <a:stretch/>
        </p:blipFill>
        <p:spPr>
          <a:xfrm>
            <a:off x="9035318" y="1895248"/>
            <a:ext cx="687211" cy="38655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442" b="89019" l="54208" r="56604">
                        <a14:foregroundMark x1="55801" y1="87779" x2="55084" y2="88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909" t="84995" r="43096" b="10534"/>
          <a:stretch/>
        </p:blipFill>
        <p:spPr>
          <a:xfrm>
            <a:off x="9199364" y="3824951"/>
            <a:ext cx="359118" cy="30165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760" b="92136" l="65132" r="72010">
                        <a14:foregroundMark x1="65610" y1="86397" x2="67045" y2="88204"/>
                        <a14:foregroundMark x1="65730" y1="88310" x2="66866" y2="88310"/>
                        <a14:foregroundMark x1="67165" y1="86185" x2="67165" y2="88204"/>
                        <a14:foregroundMark x1="72010" y1="92136" x2="72010" y2="921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37" t="85335" r="32144" b="10322"/>
          <a:stretch/>
        </p:blipFill>
        <p:spPr>
          <a:xfrm>
            <a:off x="9203146" y="5669757"/>
            <a:ext cx="355336" cy="287655"/>
          </a:xfrm>
          <a:prstGeom prst="rect">
            <a:avLst/>
          </a:prstGeom>
        </p:spPr>
      </p:pic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81851"/>
              </p:ext>
            </p:extLst>
          </p:nvPr>
        </p:nvGraphicFramePr>
        <p:xfrm>
          <a:off x="348836" y="4065938"/>
          <a:ext cx="5441241" cy="2466199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49155">
                  <a:extLst>
                    <a:ext uri="{9D8B030D-6E8A-4147-A177-3AD203B41FA5}">
                      <a16:colId xmlns:a16="http://schemas.microsoft.com/office/drawing/2014/main" val="2544917600"/>
                    </a:ext>
                  </a:extLst>
                </a:gridCol>
                <a:gridCol w="2922270">
                  <a:extLst>
                    <a:ext uri="{9D8B030D-6E8A-4147-A177-3AD203B41FA5}">
                      <a16:colId xmlns:a16="http://schemas.microsoft.com/office/drawing/2014/main" val="476897612"/>
                    </a:ext>
                  </a:extLst>
                </a:gridCol>
                <a:gridCol w="1669816">
                  <a:extLst>
                    <a:ext uri="{9D8B030D-6E8A-4147-A177-3AD203B41FA5}">
                      <a16:colId xmlns:a16="http://schemas.microsoft.com/office/drawing/2014/main" val="4273060456"/>
                    </a:ext>
                  </a:extLst>
                </a:gridCol>
              </a:tblGrid>
              <a:tr h="604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항목</a:t>
                      </a:r>
                      <a:endParaRPr lang="ko-KR" altLang="en-US" sz="1500"/>
                    </a:p>
                  </a:txBody>
                  <a:tcPr anchor="ctr">
                    <a:solidFill>
                      <a:srgbClr val="EAF7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500" smtClean="0"/>
                        <a:t>내용</a:t>
                      </a:r>
                      <a:endParaRPr lang="ko-KR" altLang="en-US" sz="1500"/>
                    </a:p>
                  </a:txBody>
                  <a:tcPr anchor="ctr">
                    <a:solidFill>
                      <a:srgbClr val="EAF7E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613229"/>
                  </a:ext>
                </a:extLst>
              </a:tr>
              <a:tr h="53881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숨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게이지</a:t>
                      </a:r>
                      <a:endParaRPr lang="en-US" altLang="ko-KR" sz="1000" baseline="0" smtClean="0"/>
                    </a:p>
                    <a:p>
                      <a:pPr algn="ctr" latinLnBrk="1"/>
                      <a:r>
                        <a:rPr lang="ko-KR" altLang="en-US" sz="1000" baseline="0" smtClean="0"/>
                        <a:t>한계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화면 연출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게이지</a:t>
                      </a: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6970"/>
                  </a:ext>
                </a:extLst>
              </a:tr>
              <a:tr h="132322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700937"/>
                  </a:ext>
                </a:extLst>
              </a:tr>
            </a:tbl>
          </a:graphicData>
        </a:graphic>
      </p:graphicFrame>
      <p:pic>
        <p:nvPicPr>
          <p:cNvPr id="18" name="그림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261" y="3743450"/>
            <a:ext cx="1099250" cy="38316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261" y="5645717"/>
            <a:ext cx="1099250" cy="38316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113" y="5651442"/>
            <a:ext cx="1099250" cy="377435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262" y="1967548"/>
            <a:ext cx="1099250" cy="377435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513" y="3405088"/>
            <a:ext cx="970172" cy="1212283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31" y="1524723"/>
            <a:ext cx="1326535" cy="1212283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195" y="5266494"/>
            <a:ext cx="970172" cy="1212283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62" y="5278440"/>
            <a:ext cx="2081309" cy="116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0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270803"/>
            <a:ext cx="8724900" cy="631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11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167</Words>
  <Application>Microsoft Office PowerPoint</Application>
  <PresentationFormat>와이드스크린</PresentationFormat>
  <Paragraphs>58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순서도</vt:lpstr>
      <vt:lpstr>내 시스템의 순서도 만들기</vt:lpstr>
      <vt:lpstr>표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10</cp:revision>
  <dcterms:created xsi:type="dcterms:W3CDTF">2026-08-19T05:03:45Z</dcterms:created>
  <dcterms:modified xsi:type="dcterms:W3CDTF">2026-08-19T06:51:21Z</dcterms:modified>
</cp:coreProperties>
</file>