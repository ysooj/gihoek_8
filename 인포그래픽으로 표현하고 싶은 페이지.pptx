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8" d="100"/>
          <a:sy n="58" d="100"/>
        </p:scale>
        <p:origin x="78" y="11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E95442-5AA8-461E-84D8-2E62A6CDF3AA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74AAF3-1DBC-4F24-B9C6-FBAC1EA9F7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9508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6173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65063-CC6E-448A-8581-CDD68C277988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C78EC-A210-47C1-B27C-160B3DC765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653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65063-CC6E-448A-8581-CDD68C277988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C78EC-A210-47C1-B27C-160B3DC765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5955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65063-CC6E-448A-8581-CDD68C277988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C78EC-A210-47C1-B27C-160B3DC765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7017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65063-CC6E-448A-8581-CDD68C277988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C78EC-A210-47C1-B27C-160B3DC765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696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65063-CC6E-448A-8581-CDD68C277988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C78EC-A210-47C1-B27C-160B3DC765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5952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65063-CC6E-448A-8581-CDD68C277988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C78EC-A210-47C1-B27C-160B3DC765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9305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65063-CC6E-448A-8581-CDD68C277988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C78EC-A210-47C1-B27C-160B3DC765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183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65063-CC6E-448A-8581-CDD68C277988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C78EC-A210-47C1-B27C-160B3DC765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0389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65063-CC6E-448A-8581-CDD68C277988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C78EC-A210-47C1-B27C-160B3DC765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1705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65063-CC6E-448A-8581-CDD68C277988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C78EC-A210-47C1-B27C-160B3DC765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234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65063-CC6E-448A-8581-CDD68C277988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C78EC-A210-47C1-B27C-160B3DC765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2450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8766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165063-CC6E-448A-8581-CDD68C277988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BC78EC-A210-47C1-B27C-160B3DC765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305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직사각형 64">
            <a:extLst>
              <a:ext uri="{FF2B5EF4-FFF2-40B4-BE49-F238E27FC236}">
                <a16:creationId xmlns:a16="http://schemas.microsoft.com/office/drawing/2014/main" id="{C5CB5293-F945-4FE8-9387-9384985BF9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7CAB377A-75C0-4B28-8EBF-9B0915B09835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112395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A588AD5-B486-426C-A623-B0EA68DE5447}"/>
              </a:ext>
            </a:extLst>
          </p:cNvPr>
          <p:cNvSpPr>
            <a:spLocks noGrp="1"/>
          </p:cNvSpPr>
          <p:nvPr/>
        </p:nvSpPr>
        <p:spPr>
          <a:xfrm>
            <a:off x="457200" y="1257300"/>
            <a:ext cx="6096000" cy="323850"/>
          </a:xfrm>
          <a:prstGeom prst="roundRect">
            <a:avLst>
              <a:gd name="adj" fmla="val 14706"/>
            </a:avLst>
          </a:prstGeom>
          <a:solidFill>
            <a:srgbClr val="D9F5F1"/>
          </a:solidFill>
          <a:ln w="9525">
            <a:solidFill>
              <a:srgbClr val="D9F5F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1F34321-F74D-4D68-89F0-54DD9E699814}"/>
              </a:ext>
            </a:extLst>
          </p:cNvPr>
          <p:cNvSpPr>
            <a:spLocks noGrp="1"/>
          </p:cNvSpPr>
          <p:nvPr/>
        </p:nvSpPr>
        <p:spPr>
          <a:xfrm>
            <a:off x="523875" y="1257300"/>
            <a:ext cx="5962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공기 환경 속성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141EAF8-CDD6-4167-B370-7AB8D0408F36}"/>
              </a:ext>
            </a:extLst>
          </p:cNvPr>
          <p:cNvSpPr>
            <a:spLocks noGrp="1"/>
          </p:cNvSpPr>
          <p:nvPr/>
        </p:nvSpPr>
        <p:spPr>
          <a:xfrm>
            <a:off x="457200" y="1657350"/>
            <a:ext cx="6096000" cy="40005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0542229-0648-4E20-9C38-74EC5194AC03}"/>
              </a:ext>
            </a:extLst>
          </p:cNvPr>
          <p:cNvSpPr>
            <a:spLocks noGrp="1"/>
          </p:cNvSpPr>
          <p:nvPr/>
        </p:nvSpPr>
        <p:spPr>
          <a:xfrm>
            <a:off x="571500" y="1685925"/>
            <a:ext cx="85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정상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DFFEDFD-8A7F-4F48-AE6B-66592F5D6C73}"/>
              </a:ext>
            </a:extLst>
          </p:cNvPr>
          <p:cNvSpPr>
            <a:spLocks noGrp="1"/>
          </p:cNvSpPr>
          <p:nvPr/>
        </p:nvSpPr>
        <p:spPr>
          <a:xfrm>
            <a:off x="1524000" y="1685925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안전 한계 100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97ED0CB-7DF8-453C-A99D-89AD2DE8322F}"/>
              </a:ext>
            </a:extLst>
          </p:cNvPr>
          <p:cNvSpPr>
            <a:spLocks noGrp="1"/>
          </p:cNvSpPr>
          <p:nvPr/>
        </p:nvSpPr>
        <p:spPr>
          <a:xfrm>
            <a:off x="3638550" y="1685925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667B8B"/>
                </a:solidFill>
              </a:defRPr>
            </a:pPr>
            <a:r>
              <a:rPr sz="1000" b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제약 없음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4C4E72C-B900-43DB-B15D-0981EC2CC8DF}"/>
              </a:ext>
            </a:extLst>
          </p:cNvPr>
          <p:cNvSpPr>
            <a:spLocks noGrp="1"/>
          </p:cNvSpPr>
          <p:nvPr/>
        </p:nvSpPr>
        <p:spPr>
          <a:xfrm>
            <a:off x="457200" y="2133600"/>
            <a:ext cx="6096000" cy="400050"/>
          </a:xfrm>
          <a:prstGeom prst="roundRect">
            <a:avLst>
              <a:gd name="adj" fmla="val 7143"/>
            </a:avLst>
          </a:prstGeom>
          <a:solidFill>
            <a:srgbClr val="FBFCFD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8D1A912-93CF-4BAB-902B-5554F410717D}"/>
              </a:ext>
            </a:extLst>
          </p:cNvPr>
          <p:cNvSpPr>
            <a:spLocks noGrp="1"/>
          </p:cNvSpPr>
          <p:nvPr/>
        </p:nvSpPr>
        <p:spPr>
          <a:xfrm>
            <a:off x="571500" y="2162175"/>
            <a:ext cx="85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먼지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4B23F07-1F93-4953-8C33-49760092803C}"/>
              </a:ext>
            </a:extLst>
          </p:cNvPr>
          <p:cNvSpPr>
            <a:spLocks noGrp="1"/>
          </p:cNvSpPr>
          <p:nvPr/>
        </p:nvSpPr>
        <p:spPr>
          <a:xfrm>
            <a:off x="1524000" y="2162175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안전 한계 감소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C85D9F8-D8BB-4CB6-A0B3-8E91CD40C7DA}"/>
              </a:ext>
            </a:extLst>
          </p:cNvPr>
          <p:cNvSpPr>
            <a:spLocks noGrp="1"/>
          </p:cNvSpPr>
          <p:nvPr/>
        </p:nvSpPr>
        <p:spPr>
          <a:xfrm>
            <a:off x="3638550" y="2162175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667B8B"/>
                </a:solidFill>
              </a:defRPr>
            </a:pPr>
            <a:r>
              <a:rPr sz="1000" b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기침 자극 누적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BF3BBCF-B4EA-4C69-952A-966FD0A83DB7}"/>
              </a:ext>
            </a:extLst>
          </p:cNvPr>
          <p:cNvSpPr>
            <a:spLocks noGrp="1"/>
          </p:cNvSpPr>
          <p:nvPr/>
        </p:nvSpPr>
        <p:spPr>
          <a:xfrm>
            <a:off x="457200" y="2609850"/>
            <a:ext cx="6096000" cy="40005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C8E9F58-DAE2-4F5D-9938-C9010BD58872}"/>
              </a:ext>
            </a:extLst>
          </p:cNvPr>
          <p:cNvSpPr>
            <a:spLocks noGrp="1"/>
          </p:cNvSpPr>
          <p:nvPr/>
        </p:nvSpPr>
        <p:spPr>
          <a:xfrm>
            <a:off x="571500" y="2638425"/>
            <a:ext cx="85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꽃가루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34B228C-3B74-4AF4-B947-77C9750BB7BB}"/>
              </a:ext>
            </a:extLst>
          </p:cNvPr>
          <p:cNvSpPr>
            <a:spLocks noGrp="1"/>
          </p:cNvSpPr>
          <p:nvPr/>
        </p:nvSpPr>
        <p:spPr>
          <a:xfrm>
            <a:off x="1524000" y="2638425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안전 한계 감소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363D7A5-0909-4D37-9D88-BB27B69DC35A}"/>
              </a:ext>
            </a:extLst>
          </p:cNvPr>
          <p:cNvSpPr>
            <a:spLocks noGrp="1"/>
          </p:cNvSpPr>
          <p:nvPr/>
        </p:nvSpPr>
        <p:spPr>
          <a:xfrm>
            <a:off x="3638550" y="2638425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667B8B"/>
                </a:solidFill>
              </a:defRPr>
            </a:pPr>
            <a:r>
              <a:rPr sz="1000" b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재채기 자극 누적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DB13501-BC31-44D1-B8AD-B4891493C209}"/>
              </a:ext>
            </a:extLst>
          </p:cNvPr>
          <p:cNvSpPr>
            <a:spLocks noGrp="1"/>
          </p:cNvSpPr>
          <p:nvPr/>
        </p:nvSpPr>
        <p:spPr>
          <a:xfrm>
            <a:off x="457200" y="3086100"/>
            <a:ext cx="6096000" cy="400050"/>
          </a:xfrm>
          <a:prstGeom prst="roundRect">
            <a:avLst>
              <a:gd name="adj" fmla="val 7143"/>
            </a:avLst>
          </a:prstGeom>
          <a:solidFill>
            <a:srgbClr val="FBFCFD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BB9713F-2C87-47A4-9D47-3ADB45599521}"/>
              </a:ext>
            </a:extLst>
          </p:cNvPr>
          <p:cNvSpPr>
            <a:spLocks noGrp="1"/>
          </p:cNvSpPr>
          <p:nvPr/>
        </p:nvSpPr>
        <p:spPr>
          <a:xfrm>
            <a:off x="571500" y="3114675"/>
            <a:ext cx="85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연기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A4BE54A-D101-4B09-96ED-0BEC3B562CBE}"/>
              </a:ext>
            </a:extLst>
          </p:cNvPr>
          <p:cNvSpPr>
            <a:spLocks noGrp="1"/>
          </p:cNvSpPr>
          <p:nvPr/>
        </p:nvSpPr>
        <p:spPr>
          <a:xfrm>
            <a:off x="1524000" y="3114675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들이마시기 크게 제한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60928A7-1CB6-4A76-BBC7-E50DA54EC04C}"/>
              </a:ext>
            </a:extLst>
          </p:cNvPr>
          <p:cNvSpPr>
            <a:spLocks noGrp="1"/>
          </p:cNvSpPr>
          <p:nvPr/>
        </p:nvSpPr>
        <p:spPr>
          <a:xfrm>
            <a:off x="3638550" y="3114675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A14C39"/>
                </a:solidFill>
              </a:defRPr>
            </a:pPr>
            <a:r>
              <a:rPr sz="1000" b="1">
                <a:solidFill>
                  <a:srgbClr val="A14C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기침 · 시야 저하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03581F8-4F88-482A-B76E-E8BFC4927117}"/>
              </a:ext>
            </a:extLst>
          </p:cNvPr>
          <p:cNvSpPr>
            <a:spLocks noGrp="1"/>
          </p:cNvSpPr>
          <p:nvPr/>
        </p:nvSpPr>
        <p:spPr>
          <a:xfrm>
            <a:off x="457200" y="3562350"/>
            <a:ext cx="6096000" cy="40005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BCCEBCF-6DE1-4184-BDBA-1DDFA630707A}"/>
              </a:ext>
            </a:extLst>
          </p:cNvPr>
          <p:cNvSpPr>
            <a:spLocks noGrp="1"/>
          </p:cNvSpPr>
          <p:nvPr/>
        </p:nvSpPr>
        <p:spPr>
          <a:xfrm>
            <a:off x="571500" y="3590925"/>
            <a:ext cx="85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독가스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113F0A4-B2AD-4853-8C86-0610115D5729}"/>
              </a:ext>
            </a:extLst>
          </p:cNvPr>
          <p:cNvSpPr>
            <a:spLocks noGrp="1"/>
          </p:cNvSpPr>
          <p:nvPr/>
        </p:nvSpPr>
        <p:spPr>
          <a:xfrm>
            <a:off x="1524000" y="3590925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들이마시기 불가에 가까움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6A05666-C412-402B-8600-3577809809F2}"/>
              </a:ext>
            </a:extLst>
          </p:cNvPr>
          <p:cNvSpPr>
            <a:spLocks noGrp="1"/>
          </p:cNvSpPr>
          <p:nvPr/>
        </p:nvSpPr>
        <p:spPr>
          <a:xfrm>
            <a:off x="3638550" y="3590925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A14C39"/>
                </a:solidFill>
              </a:defRPr>
            </a:pPr>
            <a:r>
              <a:rPr sz="1000" b="1">
                <a:solidFill>
                  <a:srgbClr val="A14C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피해 · 상태이상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B40F0325-7DC3-42D5-97EB-77F2C73D4AD7}"/>
              </a:ext>
            </a:extLst>
          </p:cNvPr>
          <p:cNvSpPr>
            <a:spLocks noGrp="1"/>
          </p:cNvSpPr>
          <p:nvPr/>
        </p:nvSpPr>
        <p:spPr>
          <a:xfrm>
            <a:off x="457200" y="4038600"/>
            <a:ext cx="6096000" cy="400050"/>
          </a:xfrm>
          <a:prstGeom prst="roundRect">
            <a:avLst>
              <a:gd name="adj" fmla="val 7143"/>
            </a:avLst>
          </a:prstGeom>
          <a:solidFill>
            <a:srgbClr val="FBFCFD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B746302-60BB-4D2D-8FEC-90A8EB753934}"/>
              </a:ext>
            </a:extLst>
          </p:cNvPr>
          <p:cNvSpPr>
            <a:spLocks noGrp="1"/>
          </p:cNvSpPr>
          <p:nvPr/>
        </p:nvSpPr>
        <p:spPr>
          <a:xfrm>
            <a:off x="571500" y="4067175"/>
            <a:ext cx="85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수중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41F331D-16DD-4A5D-B1E0-F2211D29A01C}"/>
              </a:ext>
            </a:extLst>
          </p:cNvPr>
          <p:cNvSpPr>
            <a:spLocks noGrp="1"/>
          </p:cNvSpPr>
          <p:nvPr/>
        </p:nvSpPr>
        <p:spPr>
          <a:xfrm>
            <a:off x="1524000" y="4067175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들이마시기 불가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3C1CC68-B4CE-433F-9C4E-A82A3E85A601}"/>
              </a:ext>
            </a:extLst>
          </p:cNvPr>
          <p:cNvSpPr>
            <a:spLocks noGrp="1"/>
          </p:cNvSpPr>
          <p:nvPr/>
        </p:nvSpPr>
        <p:spPr>
          <a:xfrm>
            <a:off x="3638550" y="4067175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A14C39"/>
                </a:solidFill>
              </a:defRPr>
            </a:pPr>
            <a:r>
              <a:rPr sz="1000" b="1">
                <a:solidFill>
                  <a:srgbClr val="A14C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보유 호흡만 사용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7377AADA-6483-4ACA-9A53-10AB424DAA79}"/>
              </a:ext>
            </a:extLst>
          </p:cNvPr>
          <p:cNvSpPr>
            <a:spLocks noGrp="1"/>
          </p:cNvSpPr>
          <p:nvPr/>
        </p:nvSpPr>
        <p:spPr>
          <a:xfrm>
            <a:off x="6934200" y="1257300"/>
            <a:ext cx="4686300" cy="323850"/>
          </a:xfrm>
          <a:prstGeom prst="roundRect">
            <a:avLst>
              <a:gd name="adj" fmla="val 14706"/>
            </a:avLst>
          </a:prstGeom>
          <a:solidFill>
            <a:srgbClr val="FFE3D4"/>
          </a:solidFill>
          <a:ln w="9525">
            <a:solidFill>
              <a:srgbClr val="FFE3D4"/>
            </a:solidFill>
            <a:prstDash val="solid"/>
          </a:ln>
        </p:spPr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78F8741-8950-4626-A387-8275097D2249}"/>
              </a:ext>
            </a:extLst>
          </p:cNvPr>
          <p:cNvSpPr>
            <a:spLocks noGrp="1"/>
          </p:cNvSpPr>
          <p:nvPr/>
        </p:nvSpPr>
        <p:spPr>
          <a:xfrm>
            <a:off x="7000875" y="1257300"/>
            <a:ext cx="455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적 의심 게이지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828AB7E-A9F0-4B99-BF24-1624CC7C0D54}"/>
              </a:ext>
            </a:extLst>
          </p:cNvPr>
          <p:cNvSpPr>
            <a:spLocks noGrp="1"/>
          </p:cNvSpPr>
          <p:nvPr/>
        </p:nvSpPr>
        <p:spPr>
          <a:xfrm>
            <a:off x="7143750" y="1781175"/>
            <a:ext cx="1047750" cy="285750"/>
          </a:xfrm>
          <a:prstGeom prst="rect">
            <a:avLst/>
          </a:prstGeom>
          <a:solidFill>
            <a:srgbClr val="D9F5F1"/>
          </a:solidFill>
          <a:ln w="9525">
            <a:solidFill>
              <a:srgbClr val="D9F5F1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287FD48-2B2F-452C-9090-97E52D59744C}"/>
              </a:ext>
            </a:extLst>
          </p:cNvPr>
          <p:cNvSpPr>
            <a:spLocks noGrp="1"/>
          </p:cNvSpPr>
          <p:nvPr/>
        </p:nvSpPr>
        <p:spPr>
          <a:xfrm>
            <a:off x="8191500" y="1781175"/>
            <a:ext cx="1047750" cy="285750"/>
          </a:xfrm>
          <a:prstGeom prst="rect">
            <a:avLst/>
          </a:prstGeom>
          <a:solidFill>
            <a:srgbClr val="FFF2C7"/>
          </a:solidFill>
          <a:ln w="9525">
            <a:solidFill>
              <a:srgbClr val="FFF2C7"/>
            </a:solidFill>
            <a:prstDash val="solid"/>
          </a:ln>
        </p:spPr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42DEAB6-966A-4F62-B6EE-6EDF74CE700B}"/>
              </a:ext>
            </a:extLst>
          </p:cNvPr>
          <p:cNvSpPr>
            <a:spLocks noGrp="1"/>
          </p:cNvSpPr>
          <p:nvPr/>
        </p:nvSpPr>
        <p:spPr>
          <a:xfrm>
            <a:off x="9239250" y="1781175"/>
            <a:ext cx="1047750" cy="285750"/>
          </a:xfrm>
          <a:prstGeom prst="rect">
            <a:avLst/>
          </a:prstGeom>
          <a:solidFill>
            <a:srgbClr val="FFE3D4"/>
          </a:solidFill>
          <a:ln w="9525">
            <a:solidFill>
              <a:srgbClr val="FFE3D4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105406B-A5C9-415F-974B-FF2BA2536574}"/>
              </a:ext>
            </a:extLst>
          </p:cNvPr>
          <p:cNvSpPr>
            <a:spLocks noGrp="1"/>
          </p:cNvSpPr>
          <p:nvPr/>
        </p:nvSpPr>
        <p:spPr>
          <a:xfrm>
            <a:off x="10287000" y="1781175"/>
            <a:ext cx="1047750" cy="285750"/>
          </a:xfrm>
          <a:prstGeom prst="rect">
            <a:avLst/>
          </a:prstGeom>
          <a:solidFill>
            <a:srgbClr val="F7D8D8"/>
          </a:solidFill>
          <a:ln w="9525">
            <a:solidFill>
              <a:srgbClr val="F7D8D8"/>
            </a:solidFill>
            <a:prstDash val="solid"/>
          </a:ln>
        </p:spPr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EB1CDE48-7A54-46E2-BAF9-FD8CB0F938B4}"/>
              </a:ext>
            </a:extLst>
          </p:cNvPr>
          <p:cNvSpPr>
            <a:spLocks noGrp="1"/>
          </p:cNvSpPr>
          <p:nvPr/>
        </p:nvSpPr>
        <p:spPr>
          <a:xfrm>
            <a:off x="7143750" y="1781175"/>
            <a:ext cx="4191000" cy="285750"/>
          </a:xfrm>
          <a:prstGeom prst="roundRect">
            <a:avLst>
              <a:gd name="adj" fmla="val 13333"/>
            </a:avLst>
          </a:prstGeom>
          <a:noFill/>
          <a:ln w="9525">
            <a:solidFill>
              <a:srgbClr val="073B5C"/>
            </a:solidFill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BAFC3A5-9163-4BA6-B420-D12D4FBD4230}"/>
              </a:ext>
            </a:extLst>
          </p:cNvPr>
          <p:cNvSpPr>
            <a:spLocks noGrp="1"/>
          </p:cNvSpPr>
          <p:nvPr/>
        </p:nvSpPr>
        <p:spPr>
          <a:xfrm>
            <a:off x="7143750" y="2114550"/>
            <a:ext cx="1000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0–24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2031B65-9905-4526-9BF5-196F5CF82381}"/>
              </a:ext>
            </a:extLst>
          </p:cNvPr>
          <p:cNvSpPr>
            <a:spLocks noGrp="1"/>
          </p:cNvSpPr>
          <p:nvPr/>
        </p:nvSpPr>
        <p:spPr>
          <a:xfrm>
            <a:off x="7143750" y="2324100"/>
            <a:ext cx="1000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미탐지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84A1AB4-F32F-420A-AA32-7B2FD87B8803}"/>
              </a:ext>
            </a:extLst>
          </p:cNvPr>
          <p:cNvSpPr>
            <a:spLocks noGrp="1"/>
          </p:cNvSpPr>
          <p:nvPr/>
        </p:nvSpPr>
        <p:spPr>
          <a:xfrm>
            <a:off x="8191500" y="2114550"/>
            <a:ext cx="1000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25–49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08CB134-B3BD-4F78-913F-3E6B99474B30}"/>
              </a:ext>
            </a:extLst>
          </p:cNvPr>
          <p:cNvSpPr>
            <a:spLocks noGrp="1"/>
          </p:cNvSpPr>
          <p:nvPr/>
        </p:nvSpPr>
        <p:spPr>
          <a:xfrm>
            <a:off x="8191500" y="2324100"/>
            <a:ext cx="1000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의심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4BE6374-F3A2-4521-B05E-6510913C1666}"/>
              </a:ext>
            </a:extLst>
          </p:cNvPr>
          <p:cNvSpPr>
            <a:spLocks noGrp="1"/>
          </p:cNvSpPr>
          <p:nvPr/>
        </p:nvSpPr>
        <p:spPr>
          <a:xfrm>
            <a:off x="9239250" y="2114550"/>
            <a:ext cx="1000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50–74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301ADF3-F74B-421E-AC00-07ED4044ADC7}"/>
              </a:ext>
            </a:extLst>
          </p:cNvPr>
          <p:cNvSpPr>
            <a:spLocks noGrp="1"/>
          </p:cNvSpPr>
          <p:nvPr/>
        </p:nvSpPr>
        <p:spPr>
          <a:xfrm>
            <a:off x="9239250" y="2324100"/>
            <a:ext cx="1000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위치 조사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B82325A-7A02-42A4-9B61-81166BE1F44B}"/>
              </a:ext>
            </a:extLst>
          </p:cNvPr>
          <p:cNvSpPr>
            <a:spLocks noGrp="1"/>
          </p:cNvSpPr>
          <p:nvPr/>
        </p:nvSpPr>
        <p:spPr>
          <a:xfrm>
            <a:off x="10287000" y="2114550"/>
            <a:ext cx="1000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75–100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682DB708-37CE-4FA3-82DB-646719224A9E}"/>
              </a:ext>
            </a:extLst>
          </p:cNvPr>
          <p:cNvSpPr>
            <a:spLocks noGrp="1"/>
          </p:cNvSpPr>
          <p:nvPr/>
        </p:nvSpPr>
        <p:spPr>
          <a:xfrm>
            <a:off x="10287000" y="2324100"/>
            <a:ext cx="1000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발견 / 추격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FCA477B1-8B3F-447A-9CA6-58FA6FBD9C20}"/>
              </a:ext>
            </a:extLst>
          </p:cNvPr>
          <p:cNvSpPr>
            <a:spLocks noGrp="1"/>
          </p:cNvSpPr>
          <p:nvPr/>
        </p:nvSpPr>
        <p:spPr>
          <a:xfrm>
            <a:off x="6934200" y="2743200"/>
            <a:ext cx="4686300" cy="15716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495BE82-7BA7-4C0C-B0A8-487FFEA95309}"/>
              </a:ext>
            </a:extLst>
          </p:cNvPr>
          <p:cNvSpPr>
            <a:spLocks noGrp="1"/>
          </p:cNvSpPr>
          <p:nvPr/>
        </p:nvSpPr>
        <p:spPr>
          <a:xfrm>
            <a:off x="7200900" y="3022854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충전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C170232-214D-48AE-AF6D-E59CD9AB3D07}"/>
              </a:ext>
            </a:extLst>
          </p:cNvPr>
          <p:cNvSpPr>
            <a:spLocks noGrp="1"/>
          </p:cNvSpPr>
          <p:nvPr/>
        </p:nvSpPr>
        <p:spPr>
          <a:xfrm>
            <a:off x="7905750" y="3003804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호흡·발소리·충돌 소음이 청각 범위에 들어오면 상승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6CF97CD-BDBE-4CE6-95A7-102F1D47BCEE}"/>
              </a:ext>
            </a:extLst>
          </p:cNvPr>
          <p:cNvSpPr>
            <a:spLocks noGrp="1"/>
          </p:cNvSpPr>
          <p:nvPr/>
        </p:nvSpPr>
        <p:spPr>
          <a:xfrm>
            <a:off x="7200900" y="3422904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전환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4E941A6-CCB0-48ED-95D9-AC9EA87D1048}"/>
              </a:ext>
            </a:extLst>
          </p:cNvPr>
          <p:cNvSpPr>
            <a:spLocks noGrp="1"/>
          </p:cNvSpPr>
          <p:nvPr/>
        </p:nvSpPr>
        <p:spPr>
          <a:xfrm>
            <a:off x="7905750" y="3403854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임계값을 넘을 때 의심 → 조사 → 추격으로 행동 변경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A473FE5-B969-41E8-82D0-43F46DBB5524}"/>
              </a:ext>
            </a:extLst>
          </p:cNvPr>
          <p:cNvSpPr>
            <a:spLocks noGrp="1"/>
          </p:cNvSpPr>
          <p:nvPr/>
        </p:nvSpPr>
        <p:spPr>
          <a:xfrm>
            <a:off x="7200900" y="3822954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감소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31CAB71-DB59-43F8-B33C-A04D6B12FCF4}"/>
              </a:ext>
            </a:extLst>
          </p:cNvPr>
          <p:cNvSpPr>
            <a:spLocks noGrp="1"/>
          </p:cNvSpPr>
          <p:nvPr/>
        </p:nvSpPr>
        <p:spPr>
          <a:xfrm>
            <a:off x="7905750" y="3803904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추가 기척이 없으면 시간 경과에 따라 감소·순찰 복귀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7E7D21D2-5628-4E18-A77C-AEFF27396290}"/>
              </a:ext>
            </a:extLst>
          </p:cNvPr>
          <p:cNvSpPr>
            <a:spLocks noGrp="1"/>
          </p:cNvSpPr>
          <p:nvPr/>
        </p:nvSpPr>
        <p:spPr>
          <a:xfrm>
            <a:off x="457200" y="4762500"/>
            <a:ext cx="11163300" cy="323850"/>
          </a:xfrm>
          <a:prstGeom prst="roundRect">
            <a:avLst>
              <a:gd name="adj" fmla="val 14706"/>
            </a:avLst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B240E20-5575-4C52-BDC6-45BB6B97A95F}"/>
              </a:ext>
            </a:extLst>
          </p:cNvPr>
          <p:cNvSpPr>
            <a:spLocks noGrp="1"/>
          </p:cNvSpPr>
          <p:nvPr/>
        </p:nvSpPr>
        <p:spPr>
          <a:xfrm>
            <a:off x="523875" y="4762500"/>
            <a:ext cx="11029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중복 / 덮어쓰기 규칙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512397AA-A767-4D99-A5D4-B159387C863C}"/>
              </a:ext>
            </a:extLst>
          </p:cNvPr>
          <p:cNvSpPr>
            <a:spLocks noGrp="1"/>
          </p:cNvSpPr>
          <p:nvPr/>
        </p:nvSpPr>
        <p:spPr>
          <a:xfrm>
            <a:off x="457200" y="5181600"/>
            <a:ext cx="3621024" cy="685800"/>
          </a:xfrm>
          <a:prstGeom prst="roundRect">
            <a:avLst>
              <a:gd name="adj" fmla="val 9722"/>
            </a:avLst>
          </a:prstGeom>
          <a:solidFill>
            <a:srgbClr val="F7D8D8"/>
          </a:solidFill>
          <a:ln w="9525">
            <a:solidFill>
              <a:srgbClr val="F7D8D8"/>
            </a:solidFill>
            <a:prstDash val="solid"/>
          </a:ln>
        </p:spPr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706638F-69AA-44BD-BC99-4514874C196D}"/>
              </a:ext>
            </a:extLst>
          </p:cNvPr>
          <p:cNvSpPr>
            <a:spLocks noGrp="1"/>
          </p:cNvSpPr>
          <p:nvPr/>
        </p:nvSpPr>
        <p:spPr>
          <a:xfrm>
            <a:off x="457200" y="5250561"/>
            <a:ext cx="304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5418F2C-7B26-4B0F-8952-D60F5DDF54CE}"/>
              </a:ext>
            </a:extLst>
          </p:cNvPr>
          <p:cNvSpPr>
            <a:spLocks noGrp="1"/>
          </p:cNvSpPr>
          <p:nvPr/>
        </p:nvSpPr>
        <p:spPr>
          <a:xfrm>
            <a:off x="572643" y="5364861"/>
            <a:ext cx="3390138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163247"/>
                </a:solidFill>
              </a:defRPr>
            </a:pPr>
            <a:r>
              <a:rPr sz="1000" b="1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우선순위</a:t>
            </a:r>
            <a:r>
              <a:rPr sz="10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 </a:t>
            </a:r>
            <a:r>
              <a:rPr sz="1000" b="1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수중</a:t>
            </a:r>
            <a:r>
              <a:rPr sz="10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&gt; </a:t>
            </a:r>
            <a:r>
              <a:rPr sz="1000" b="1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독가스</a:t>
            </a:r>
            <a:r>
              <a:rPr sz="10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&gt; </a:t>
            </a:r>
            <a:r>
              <a:rPr sz="1000" b="1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연기</a:t>
            </a:r>
            <a:r>
              <a:rPr sz="10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&gt; </a:t>
            </a:r>
            <a:r>
              <a:rPr sz="1000" b="1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꽃가루</a:t>
            </a:r>
            <a:r>
              <a:rPr sz="10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&gt; </a:t>
            </a:r>
            <a:r>
              <a:rPr sz="1000" b="1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먼지</a:t>
            </a:r>
            <a:r>
              <a:rPr sz="10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&gt; </a:t>
            </a:r>
            <a:r>
              <a:rPr sz="1000" b="1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정상</a:t>
            </a:r>
            <a:endParaRPr sz="1000" b="1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849D4C82-EECC-4028-BFB4-83577C193EB3}"/>
              </a:ext>
            </a:extLst>
          </p:cNvPr>
          <p:cNvSpPr>
            <a:spLocks noGrp="1"/>
          </p:cNvSpPr>
          <p:nvPr/>
        </p:nvSpPr>
        <p:spPr>
          <a:xfrm>
            <a:off x="4228338" y="5181600"/>
            <a:ext cx="3621024" cy="685800"/>
          </a:xfrm>
          <a:prstGeom prst="roundRect">
            <a:avLst>
              <a:gd name="adj" fmla="val 9722"/>
            </a:avLst>
          </a:prstGeom>
          <a:solidFill>
            <a:srgbClr val="FFF2C7"/>
          </a:solidFill>
          <a:ln w="9525">
            <a:solidFill>
              <a:srgbClr val="FFF2C7"/>
            </a:solidFill>
            <a:prstDash val="solid"/>
          </a:ln>
        </p:spPr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18B8F697-B17B-4975-B5D3-5DAE5A00547D}"/>
              </a:ext>
            </a:extLst>
          </p:cNvPr>
          <p:cNvSpPr>
            <a:spLocks noGrp="1"/>
          </p:cNvSpPr>
          <p:nvPr/>
        </p:nvSpPr>
        <p:spPr>
          <a:xfrm>
            <a:off x="4229100" y="5250561"/>
            <a:ext cx="304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347FB78-AC1F-4C50-A475-D830BA1DA07C}"/>
              </a:ext>
            </a:extLst>
          </p:cNvPr>
          <p:cNvSpPr>
            <a:spLocks noGrp="1"/>
          </p:cNvSpPr>
          <p:nvPr/>
        </p:nvSpPr>
        <p:spPr>
          <a:xfrm>
            <a:off x="4362831" y="5364861"/>
            <a:ext cx="3352038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동일 단계 중복  안전 한계는 최저값 적용 · 자극도는 누적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0326957-1D8C-4B6A-8205-F4432892F103}"/>
              </a:ext>
            </a:extLst>
          </p:cNvPr>
          <p:cNvSpPr>
            <a:spLocks noGrp="1"/>
          </p:cNvSpPr>
          <p:nvPr/>
        </p:nvSpPr>
        <p:spPr>
          <a:xfrm>
            <a:off x="7999476" y="5181600"/>
            <a:ext cx="3621024" cy="685800"/>
          </a:xfrm>
          <a:prstGeom prst="roundRect">
            <a:avLst>
              <a:gd name="adj" fmla="val 9722"/>
            </a:avLst>
          </a:prstGeom>
          <a:solidFill>
            <a:srgbClr val="D9F5F1"/>
          </a:solidFill>
          <a:ln w="9525">
            <a:solidFill>
              <a:srgbClr val="D9F5F1"/>
            </a:solidFill>
            <a:prstDash val="solid"/>
          </a:ln>
        </p:spPr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A9994C3C-6228-4252-A68B-056346FA69AA}"/>
              </a:ext>
            </a:extLst>
          </p:cNvPr>
          <p:cNvSpPr>
            <a:spLocks noGrp="1"/>
          </p:cNvSpPr>
          <p:nvPr/>
        </p:nvSpPr>
        <p:spPr>
          <a:xfrm>
            <a:off x="7999476" y="5250561"/>
            <a:ext cx="304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821B9E7A-A1F0-45AC-8CEC-2460F02AE170}"/>
              </a:ext>
            </a:extLst>
          </p:cNvPr>
          <p:cNvSpPr>
            <a:spLocks noGrp="1"/>
          </p:cNvSpPr>
          <p:nvPr/>
        </p:nvSpPr>
        <p:spPr>
          <a:xfrm>
            <a:off x="8454390" y="5248275"/>
            <a:ext cx="2449068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구역 </a:t>
            </a:r>
            <a:r>
              <a:rPr sz="1000" b="1" smtClean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이탈</a:t>
            </a:r>
            <a:r>
              <a:rPr lang="en-US" sz="1000" b="1" smtClean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1000" b="1" smtClean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</a:t>
            </a:r>
            <a:r>
              <a:rPr sz="1000" b="1" smtClean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환경 </a:t>
            </a: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효과 </a:t>
            </a:r>
            <a:r>
              <a:rPr sz="1000" b="1" smtClean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해제</a:t>
            </a:r>
            <a:r>
              <a:rPr lang="en-US" sz="1000" b="1" smtClean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.</a:t>
            </a:r>
          </a:p>
          <a:p>
            <a:pPr algn="l">
              <a:lnSpc>
                <a:spcPct val="150000"/>
              </a:lnSpc>
              <a:defRPr sz="1000" b="1">
                <a:solidFill>
                  <a:srgbClr val="163247"/>
                </a:solidFill>
              </a:defRPr>
            </a:pPr>
            <a:r>
              <a:rPr sz="1000" b="1" smtClean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이미 </a:t>
            </a: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누적된 자극도는 시간에 따라 감소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4BCDA269-C267-4BCE-BF56-2834A48C7F17}"/>
              </a:ext>
            </a:extLst>
          </p:cNvPr>
          <p:cNvSpPr>
            <a:spLocks noGrp="1"/>
          </p:cNvSpPr>
          <p:nvPr/>
        </p:nvSpPr>
        <p:spPr>
          <a:xfrm>
            <a:off x="457200" y="447675"/>
            <a:ext cx="2542674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1000" b="1">
                <a:solidFill>
                  <a:srgbClr val="20A6A0"/>
                </a:solidFill>
              </a:defRPr>
            </a:pPr>
            <a:r>
              <a:rPr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04  </a:t>
            </a:r>
            <a:r>
              <a:rPr lang="ko-KR" altLang="en-US"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연동</a:t>
            </a:r>
            <a:r>
              <a:rPr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2000" b="1" dirty="0" err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규칙</a:t>
            </a:r>
            <a:endParaRPr sz="2000" b="1" dirty="0">
              <a:solidFill>
                <a:srgbClr val="20A6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206304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136</Words>
  <Application>Microsoft Office PowerPoint</Application>
  <PresentationFormat>와이드스크린</PresentationFormat>
  <Paragraphs>43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1</cp:revision>
  <dcterms:created xsi:type="dcterms:W3CDTF">2026-08-25T06:16:32Z</dcterms:created>
  <dcterms:modified xsi:type="dcterms:W3CDTF">2026-08-25T06:50:50Z</dcterms:modified>
</cp:coreProperties>
</file>