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3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36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6656" y="106070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76656" y="16642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· 숨 참기 · 내쉬기를 조절하는 잠입/탐색 핵심 시스템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92440" y="960120"/>
            <a:ext cx="1325880" cy="132588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FDF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쉬어야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 수 있지만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281160" y="2395728"/>
            <a:ext cx="1508760" cy="150876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살아남으려면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죽여야 한다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60920" y="3822192"/>
            <a:ext cx="713232" cy="713232"/>
          </a:xfrm>
          <a:prstGeom prst="ellipse">
            <a:avLst/>
          </a:prstGeom>
          <a:solidFill>
            <a:srgbClr val="E9F8E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75320" y="4315968"/>
            <a:ext cx="822960" cy="822960"/>
          </a:xfrm>
          <a:prstGeom prst="ellipse">
            <a:avLst/>
          </a:prstGeom>
          <a:solidFill>
            <a:srgbClr val="F0EC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46920" y="4160520"/>
            <a:ext cx="713232" cy="713232"/>
          </a:xfrm>
          <a:prstGeom prst="ellipse">
            <a:avLst/>
          </a:prstGeom>
          <a:solidFill>
            <a:srgbClr val="FFF1E7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4983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플레이어는 호흡을 자원처럼 모으는 것이 아니라,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상황에 맞게 조절하며 위험을 미래로 넘기거나 회수한다.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64739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포트폴리오 / 호흡 중심 게임 설계</a:t>
            </a:r>
            <a:endParaRPr lang="en-US" sz="1000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D3DEE91-8CA7-42B6-A370-FA15A33B4A97}"/>
              </a:ext>
            </a:extLst>
          </p:cNvPr>
          <p:cNvCxnSpPr/>
          <p:nvPr/>
        </p:nvCxnSpPr>
        <p:spPr>
          <a:xfrm>
            <a:off x="676656" y="71323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70475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8197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호흡 시스템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2167212"/>
            <a:ext cx="3246120" cy="1435608"/>
          </a:xfrm>
          <a:prstGeom prst="roundRect">
            <a:avLst>
              <a:gd name="adj" fmla="val 4459"/>
            </a:avLst>
          </a:prstGeom>
          <a:solidFill>
            <a:srgbClr val="EAF3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76940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목적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정의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플레이 경험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62272" y="18197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호흡 시스템 플레이 화면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62272" y="2167212"/>
            <a:ext cx="3246120" cy="1435608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276940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화면 목업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HUD 구성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 피드백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11312" y="18197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시스템 규칙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11312" y="2167212"/>
            <a:ext cx="3246120" cy="1435608"/>
          </a:xfrm>
          <a:prstGeom prst="roundRect">
            <a:avLst>
              <a:gd name="adj" fmla="val 4459"/>
            </a:avLst>
          </a:prstGeom>
          <a:solidFill>
            <a:srgbClr val="EAF3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276940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구조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들이마시기·숨 참기·내쉬기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게이지·호흡 부채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소음·어그로 규칙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42611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시스템 구조도(Unity)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608660"/>
            <a:ext cx="3246120" cy="1435608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18388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볼륨 맵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순환 구조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컴포넌트/데이터 구조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62272" y="42611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리소스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62272" y="4608660"/>
            <a:ext cx="3246120" cy="1435608"/>
          </a:xfrm>
          <a:prstGeom prst="roundRect">
            <a:avLst>
              <a:gd name="adj" fmla="val 4459"/>
            </a:avLst>
          </a:prstGeom>
          <a:solidFill>
            <a:srgbClr val="EAF3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718388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 / SFX / VFX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환경/적/장비 리소스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11312" y="42611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예외사항 안전장치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11312" y="4608660"/>
            <a:ext cx="3246120" cy="1435608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4718388"/>
            <a:ext cx="302666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구간 보호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오작동 방지</a:t>
            </a:r>
            <a:endParaRPr lang="en-US" sz="1000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게이지/능력 악용 방지</a:t>
            </a:r>
            <a:endParaRPr lang="en-US" sz="10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1F69F93-8ED0-4076-B4C8-EB139017E829}"/>
              </a:ext>
            </a:extLst>
          </p:cNvPr>
          <p:cNvCxnSpPr/>
          <p:nvPr/>
        </p:nvCxnSpPr>
        <p:spPr>
          <a:xfrm>
            <a:off x="676656" y="1180246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호흡 시스템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6384" y="1458468"/>
            <a:ext cx="713232" cy="713232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19072" y="1723645"/>
            <a:ext cx="7132320" cy="288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들이마시기·숨 참기·내쉬기를 </a:t>
            </a:r>
            <a:r>
              <a:rPr lang="en-US" sz="1000" b="1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</a:t>
            </a: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조절하여</a:t>
            </a: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호흡량과</a:t>
            </a: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소음, 기척을 관리하는 핵심 플레이 시스템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2679673"/>
            <a:ext cx="1865376" cy="411480"/>
          </a:xfrm>
          <a:prstGeom prst="roundRect">
            <a:avLst>
              <a:gd name="adj" fmla="val 15556"/>
            </a:avLst>
          </a:prstGeom>
          <a:solidFill>
            <a:srgbClr val="EAF3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84448" y="2885413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49040" y="2679673"/>
            <a:ext cx="1865376" cy="411480"/>
          </a:xfrm>
          <a:prstGeom prst="roundRect">
            <a:avLst>
              <a:gd name="adj" fmla="val 15556"/>
            </a:avLst>
          </a:prstGeom>
          <a:solidFill>
            <a:srgbClr val="E9F8E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14416" y="2885413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779008" y="2679673"/>
            <a:ext cx="1865376" cy="411480"/>
          </a:xfrm>
          <a:prstGeom prst="roundRect">
            <a:avLst>
              <a:gd name="adj" fmla="val 15556"/>
            </a:avLst>
          </a:prstGeom>
          <a:solidFill>
            <a:srgbClr val="FFF1E7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내쉬기/회복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44384" y="2885413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808976" y="2679673"/>
            <a:ext cx="1865376" cy="411480"/>
          </a:xfrm>
          <a:prstGeom prst="roundRect">
            <a:avLst>
              <a:gd name="adj" fmla="val 15556"/>
            </a:avLst>
          </a:prstGeom>
          <a:solidFill>
            <a:srgbClr val="F0EC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호흡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356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슬로건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" y="3913872"/>
            <a:ext cx="3291840" cy="589546"/>
          </a:xfrm>
          <a:prstGeom prst="roundRect">
            <a:avLst>
              <a:gd name="adj" fmla="val 5738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023600"/>
            <a:ext cx="3072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쉬어야 살 수 </a:t>
            </a: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있지만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000" dirty="0" err="1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살아남으려면</a:t>
            </a: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숨을 죽여야 한다.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07408" y="356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07408" y="3913872"/>
            <a:ext cx="3291840" cy="589546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4023600"/>
            <a:ext cx="3072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상태가 이동, 은신, 소음, 환경 대응, 적 AI 반응을 연쇄적으로 변화시킨다.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65008" y="3566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65008" y="3913872"/>
            <a:ext cx="3291840" cy="589546"/>
          </a:xfrm>
          <a:prstGeom prst="roundRect">
            <a:avLst>
              <a:gd name="adj" fmla="val 5738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4023600"/>
            <a:ext cx="3072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플레이어는 언제, 얼마나, 어디에서 숨을 쉴지 스스로 판단한다.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5363786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숨을 쉴 것인가? / 얼마나 들이마실 것인가? / 어디에서 회복할 것인가?</a:t>
            </a:r>
            <a:endParaRPr lang="en-US" sz="1000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DB48A4F-76CD-440A-AFC0-0DAAD60ED563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A0B366-D973-4064-9129-5785A200F784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099E88BF-45BB-4F8A-8A9A-B7508D2CD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183" y="1153768"/>
            <a:ext cx="9420586" cy="5301896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BB77EA34-D450-4A7B-BBE2-7CBA2F04D8FB}"/>
              </a:ext>
            </a:extLst>
          </p:cNvPr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호흡 시스템 플레이 화면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 시스템 볼륨 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68112" y="2351015"/>
            <a:ext cx="1024128" cy="1024128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72388" y="3194234"/>
            <a:ext cx="768096" cy="768096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마시기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08124" y="4622669"/>
            <a:ext cx="768096" cy="768096"/>
          </a:xfrm>
          <a:prstGeom prst="ellipse">
            <a:avLst/>
          </a:prstGeom>
          <a:solidFill>
            <a:srgbClr val="E9F8EF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96128" y="3614858"/>
            <a:ext cx="768096" cy="768096"/>
          </a:xfrm>
          <a:prstGeom prst="ellipse">
            <a:avLst/>
          </a:prstGeom>
          <a:solidFill>
            <a:srgbClr val="F0ECFF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04104" y="1437411"/>
            <a:ext cx="768096" cy="768096"/>
          </a:xfrm>
          <a:prstGeom prst="ellipse">
            <a:avLst/>
          </a:prstGeom>
          <a:solidFill>
            <a:srgbClr val="FFF1E7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19868" y="3191340"/>
            <a:ext cx="768096" cy="768096"/>
          </a:xfrm>
          <a:prstGeom prst="ellipse">
            <a:avLst/>
          </a:prstGeom>
          <a:solidFill>
            <a:srgbClr val="FFF8D9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53712" y="2200473"/>
            <a:ext cx="768096" cy="768096"/>
          </a:xfrm>
          <a:prstGeom prst="ellipse">
            <a:avLst/>
          </a:prstGeom>
          <a:solidFill>
            <a:srgbClr val="FFEDED"/>
          </a:solidFill>
          <a:ln w="12700">
            <a:solidFill>
              <a:srgbClr val="BCC8D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86016" y="2543039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78677" y="190195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0040" y="4183004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4163751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0114" y="4987132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40282" y="2883591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69812" y="3268979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80362" y="1380075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AD4E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6345936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→ 소음 → 적 AI뿐 아니라, 이동·환경·장비·능력이 서로의 조건과 결과가 되어 다시 호흡으로 돌아온다.</a:t>
            </a:r>
            <a:endParaRPr lang="en-US" sz="100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BAB4A12-22AF-4E32-8E22-582BFA34CC7F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 전체 순환 구조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4216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호흡은 한 번 누르는 기능이 아니라, 위험을 관리하고 다음 행동을 준비하는 순환 장치다.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EAF3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확보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37083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301675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E9F8E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88951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53543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FFF1E7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이동/은신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40818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405410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F0EC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92686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957278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FFF8D9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44553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509145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EAF3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소음/어그로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96421" y="1723392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061013" y="1471932"/>
            <a:ext cx="1387275" cy="502920"/>
          </a:xfrm>
          <a:prstGeom prst="roundRect">
            <a:avLst>
              <a:gd name="adj" fmla="val 12727"/>
            </a:avLst>
          </a:prstGeom>
          <a:solidFill>
            <a:srgbClr val="E9F8E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재은신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61543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</a:t>
            </a:r>
            <a:r>
              <a:rPr lang="en-US" sz="1500" b="1" dirty="0" err="1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</a:t>
            </a: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 : 은신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9808" y="2962908"/>
            <a:ext cx="5166360" cy="564243"/>
          </a:xfrm>
          <a:prstGeom prst="roundRect">
            <a:avLst>
              <a:gd name="adj" fmla="val 5983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072636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→ 소음 제거 → 적 통과 → 호흡 부채 증가 → 안전 타이밍에 내쉬기 → 다시 숨 참기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261543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</a:t>
            </a:r>
            <a:r>
              <a:rPr lang="en-US" sz="1500" b="1" dirty="0" err="1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</a:t>
            </a: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 : 환경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36208" y="2962908"/>
            <a:ext cx="5166360" cy="564243"/>
          </a:xfrm>
          <a:prstGeom prst="roundRect">
            <a:avLst>
              <a:gd name="adj" fmla="val 5983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3072636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 → 들이마시기 제한 → 재채기 위험 → 소음 발생 → 적 AI 의심 → 안전한 호흡 지점 탐색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43985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</a:t>
            </a:r>
            <a:r>
              <a:rPr lang="en-US" sz="1500" b="1" dirty="0" err="1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</a:t>
            </a: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 : 능력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9808" y="4745988"/>
            <a:ext cx="5166360" cy="564243"/>
          </a:xfrm>
          <a:prstGeom prst="roundRect">
            <a:avLst>
              <a:gd name="adj" fmla="val 5983"/>
            </a:avLst>
          </a:prstGeom>
          <a:solidFill>
            <a:srgbClr val="F0EC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855716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참기/내쉬기/들이마시기 능력은 독립 스킬이 아니라, 기존 호흡 규칙의 결과를 확장한다.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43985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36208" y="4745988"/>
            <a:ext cx="5166360" cy="564243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4855716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위험을 완전히 삭제하지 않고, 숨을 언제 회복하고 어디서 소음을 처리할지 계획하게 만든다.</a:t>
            </a:r>
            <a:endParaRPr lang="en-US" sz="1000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8DD2961E-4C40-48F9-8333-E1B9AE787AC6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입력 구조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012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키를 누르는 시간과 해제 타이밍이 호흡량과 소음, 다음 행동을 결정한다.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626355"/>
            <a:ext cx="2011680" cy="41148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61488" y="1626355"/>
            <a:ext cx="4572000" cy="41148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결과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33488" y="1626355"/>
            <a:ext cx="4114800" cy="41148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위험/비용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037835"/>
            <a:ext cx="20116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누르고 유지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61488" y="2037835"/>
            <a:ext cx="45720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후 숨 참기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33488" y="2037835"/>
            <a:ext cx="41148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깊은 들숨은 이동 속도 저하와 소음 가능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2449315"/>
            <a:ext cx="201168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 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61488" y="2449315"/>
            <a:ext cx="457200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감소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33488" y="2449315"/>
            <a:ext cx="411480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 도달 시 강제 헐떡임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860795"/>
            <a:ext cx="201168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61488" y="2860795"/>
            <a:ext cx="45720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내쉬기/회복 시작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33488" y="2860795"/>
            <a:ext cx="41148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 단계에 따라 소음 발생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272275"/>
            <a:ext cx="201168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 중 재입력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1488" y="3272275"/>
            <a:ext cx="457200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회복량으로 다시 숨 참기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33488" y="3272275"/>
            <a:ext cx="4114800" cy="41148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회복 전 행동으로 이후 한계 감소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41386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약속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9808" y="4486140"/>
            <a:ext cx="5166360" cy="523494"/>
          </a:xfrm>
          <a:prstGeom prst="roundRect">
            <a:avLst>
              <a:gd name="adj" fmla="val 6542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4595868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들이마시기 시작하면 끝까지 채워야 하는 구조가 아니라, 플레이어가 누르고 있는 시간만큼 호흡량을 확보한다.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413866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 요소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36208" y="4486140"/>
            <a:ext cx="5166360" cy="523494"/>
          </a:xfrm>
          <a:prstGeom prst="roundRect">
            <a:avLst>
              <a:gd name="adj" fmla="val 6542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4595868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플레이는 오래 참는 것이 아니라, 필요한 만큼만 채우고 한계 전에 회복해 소음을 관리하는 것이다.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" y="5464548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조작은 단순하지만, 들이마시는 양·참는 시간·내쉬는 타이밍이 모두 플레이 판단이 된다.</a:t>
            </a:r>
            <a:endParaRPr lang="en-US" sz="1000" dirty="0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57DC08E-17AC-4407-AE4A-2F2FED559347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1498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554480"/>
            <a:ext cx="640080" cy="64008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마시기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87452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62763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→ 호흡 확보 → 다음 행동 준비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7980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145536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55264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플레이어가 호흡 게이지를 채우는 기본 행동이다. 누르고 있는 시간만큼 확보량이 증가한다.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7980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145536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255264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들이마시기는 숨 참기의 전제이면서 흡음, 흡인, 흡기 도약 같은 성장 능력의 기반이 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439412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786883"/>
            <a:ext cx="10506456" cy="886969"/>
          </a:xfrm>
          <a:prstGeom prst="roundRect">
            <a:avLst>
              <a:gd name="adj" fmla="val 8046"/>
            </a:avLst>
          </a:prstGeom>
          <a:solidFill>
            <a:srgbClr val="EAF3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96612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깊게 들이마실수록 이동이 느려진다.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먼지·꽃가루 지역에서는 안전 들숨 한계가 낮아진다.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흡음 상태에서는 소리를 방출하기 전까지 일반 호흡 조작이 제한된다.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90FDED0-9BC5-4D11-B19D-0F0FA3729739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07181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819655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819655"/>
            <a:ext cx="640080" cy="640080"/>
          </a:xfrm>
          <a:prstGeom prst="ellipse">
            <a:avLst/>
          </a:prstGeom>
          <a:solidFill>
            <a:srgbClr val="F0EC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139695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892807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→ 소음 억제 → 호흡 소비 → 기척 제어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0815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429000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38728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플레이어가 호흡 게이지를 소비해 호흡음을 없애는 행동이다.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0815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429000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538728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참기는 은신의 기본 수단이며, 이후 기척 소거, 공중 부유, 시간 정지 능력으로 확장된다.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1"/>
            <a:ext cx="10506456" cy="950977"/>
          </a:xfrm>
          <a:prstGeom prst="roundRect">
            <a:avLst>
              <a:gd name="adj" fmla="val 8046"/>
            </a:avLst>
          </a:prstGeom>
          <a:solidFill>
            <a:srgbClr val="F0EC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지상에서 시작하면 일반 숨 참기.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공중에서 시작하면 공중 부유 판정.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0% 도달 시 입력과 무관하게 강제 헐떡임이 발생한다.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0103417-3A94-47B1-92CC-B422FC798129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06426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705649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705649"/>
            <a:ext cx="640080" cy="640080"/>
          </a:xfrm>
          <a:prstGeom prst="ellipse">
            <a:avLst/>
          </a:prstGeom>
          <a:solidFill>
            <a:srgbClr val="FFF8D9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025689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78801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 → 호흡 회복 → 소음 발생 → 상황 재정비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039835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387307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97035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참기를 해제하고 호흡 상태를 회복하는 행동이다.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039835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387307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497035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내쉬기는 위험한 소음원이지만, 환경 소음과 결합하면 부채를 안전하게 갚을 수 있다. 성장 후 공명, 탐지, 잔기로 확장된다.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8D9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호흡 부채가 클수록 소음 반경이 커진다.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환경 소음이 있을 때 큰 숨을 안전하게 회복할 수 있다.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공명 호흡은 내쉬기를 환경 조작 행동으로 바꾼다.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6A4E8D2-0F4D-4637-9465-B3C6A8C99366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992123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661922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661922"/>
            <a:ext cx="640080" cy="640080"/>
          </a:xfrm>
          <a:prstGeom prst="ellipse">
            <a:avLst/>
          </a:prstGeom>
          <a:solidFill>
            <a:srgbClr val="E9F8E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981962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35074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호흡량 → 숨 참기 가능 시간 → 행동 가능 거리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927799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75271"/>
            <a:ext cx="5074920" cy="658368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4999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확보한 호흡량을 나타내는 주요 UI 값이다.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927799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275271"/>
            <a:ext cx="5074920" cy="658368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384999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플레이어는 100% 회복을 기다리지 않고 현재 확보량만큼 다시 숨을 참을 수 있다.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1"/>
            <a:ext cx="10506456" cy="900685"/>
          </a:xfrm>
          <a:prstGeom prst="roundRect">
            <a:avLst>
              <a:gd name="adj" fmla="val 8046"/>
            </a:avLst>
          </a:prstGeom>
          <a:solidFill>
            <a:srgbClr val="E9F8E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게이지는 들이마시기로 증가하고 숨 참기·격한 행동으로 감소한다.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환경별 안전 한계가 표시될 수 있다.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수중에서는 들숨이 불가능하고 보유 호흡만 사용한다.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B826854-BA33-42FB-B3A5-96E24983CF0E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10239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681993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681993"/>
            <a:ext cx="640080" cy="640080"/>
          </a:xfrm>
          <a:prstGeom prst="ellipse">
            <a:avLst/>
          </a:prstGeom>
          <a:solidFill>
            <a:srgbClr val="FFF1E7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002033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55145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격한 행동/장기 숨 참기 → 부채 누적 → 내쉬기 소음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926079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73551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3279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오래 참거나 달리기, 전투, 무거운 이동 등으로 누적되는 내부 부담값이다.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926079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273551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383279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부채는 플레이어에게 보이는 별도 게이지보다, 내쉬기 소음과 회복 단계로 피드백한다.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1"/>
            <a:ext cx="10506456" cy="886969"/>
          </a:xfrm>
          <a:prstGeom prst="roundRect">
            <a:avLst>
              <a:gd name="adj" fmla="val 8046"/>
            </a:avLst>
          </a:prstGeom>
          <a:solidFill>
            <a:srgbClr val="FFF1E7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부채 단계에 따라 조용한 호흡/헐떡임/강제 호흡이 갈린다.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달리기와 전투는 부채를 빠르게 높인다.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강제 호흡은 짧은 시간 숨 참기 재입력을 제한한다.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7598CA3-54EB-4391-8737-A3C8317BA8F5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소음/어그로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992123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707641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707641"/>
            <a:ext cx="640080" cy="640080"/>
          </a:xfrm>
          <a:prstGeom prst="ellipse">
            <a:avLst/>
          </a:prstGeom>
          <a:solidFill>
            <a:srgbClr val="FFEDED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027681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80793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소음 → 적 의심 → 조사 → 재은신 가능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110973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458445"/>
            <a:ext cx="5074920" cy="521208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8173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 행동이 적 AI에 전달되는 청각 정보다.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110973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458445"/>
            <a:ext cx="5074920" cy="521208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568173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소음은 즉시 확정 발각이 아니라 의심도를 높이고, 플레이어가 다시 숨을 죽이면 어그로가 감소한다.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1"/>
            <a:ext cx="10506456" cy="900685"/>
          </a:xfrm>
          <a:prstGeom prst="roundRect">
            <a:avLst>
              <a:gd name="adj" fmla="val 8046"/>
            </a:avLst>
          </a:prstGeom>
          <a:solidFill>
            <a:srgbClr val="FFEDED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발소리, 물체 충돌, 호흡 소음은 별도 소음원으로 관리한다.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환경 소음은 플레이어 소음을 덮을 수 있다.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투명화 상태에서도 소음은 남는다.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73F2DA5-2CF8-4DAB-AD15-EFB36CC3EAE2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96011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691639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691639"/>
            <a:ext cx="640080" cy="64008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011679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764791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방식 → 호흡 부채/발소리 → 은신 난이도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0266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374136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83864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걷기, 달리기, 기어가기, 점프 등 캐릭터 이동 행동이다.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0266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374136"/>
            <a:ext cx="5074920" cy="566927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483864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게임의 스태미나를 호흡이 대체한다. 빠르게 이동할수록 이후 호흡 관리가 어려워진다.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932690"/>
          </a:xfrm>
          <a:prstGeom prst="roundRect">
            <a:avLst>
              <a:gd name="adj" fmla="val 8046"/>
            </a:avLst>
          </a:prstGeom>
          <a:solidFill>
            <a:srgbClr val="EAF3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달리기는 빠르지만 호흡 부채와 발소리를 크게 만든다.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기어가기는 느리지만 소음과 부채가 낮다.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흡기 도약은 들이마시기 중 점프해 긴 이동을 만든다.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63CE895-BE5B-4CD5-AF1F-009D487554BF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13232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982979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783080"/>
            <a:ext cx="640080" cy="640080"/>
          </a:xfrm>
          <a:prstGeom prst="ellipse">
            <a:avLst/>
          </a:prstGeom>
          <a:solidFill>
            <a:srgbClr val="F0EC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210312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85623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+ 이동 소음 관리 → 적 시야/청각 회피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30632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410712"/>
            <a:ext cx="5074920" cy="521208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20440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적의 탐지 범위를 피해 목표 지점까지 이동하는 플레이 방식이다.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30632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3410712"/>
            <a:ext cx="5074920" cy="521208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520440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호흡은 은신의 핵심이지만 전부는 아니다. 투명해도 발소리, 흔적, 물체 충돌은 남는다.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932688"/>
          </a:xfrm>
          <a:prstGeom prst="roundRect">
            <a:avLst>
              <a:gd name="adj" fmla="val 8046"/>
            </a:avLst>
          </a:prstGeom>
          <a:solidFill>
            <a:srgbClr val="F0EC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숨 참기는 호흡음을 지우지만 발소리는 지우지 않는다.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투명화는 시각 탐지를 줄이나 청각 탐지는 유지한다.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숨을 잘못 풀어도 다시 숨을 죽이면 어그로를 낮출 수 있다.</a:t>
            </a:r>
            <a:endParaRPr lang="en-US" sz="10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A7974B5-32FA-4501-91D0-92EFE5A4EE9D}"/>
              </a:ext>
            </a:extLst>
          </p:cNvPr>
          <p:cNvCxnSpPr/>
          <p:nvPr/>
        </p:nvCxnSpPr>
        <p:spPr>
          <a:xfrm>
            <a:off x="676656" y="832102"/>
            <a:ext cx="10835640" cy="1"/>
          </a:xfrm>
          <a:prstGeom prst="line">
            <a:avLst/>
          </a:prstGeom>
          <a:ln w="38100" cap="rnd">
            <a:solidFill>
              <a:srgbClr val="07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소음/시야/감지 → 의심 → 조사 → 추적/복귀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플레이어의 시각 정보와 청각 정보를 읽어 반응하는 AI 규칙이다.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AI는 호흡 소음을 확정 위치가 아니라 마지막 의심 위치로 받아들이며, 추가 정보가 없으면 복귀한다.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일반 경비병은 시야와 소리에 반응한다.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청각형 적은 호흡과 발소리에 민감하다.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감지 장비는 투명화 이후 난이도 상승 장치가 된다.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소음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8D9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기계/천둥/폭발음 → 호흡 소음 은폐 → 회복 기회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맵에서 일정 시간 발생하는 큰 배경 소음이다.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소음은 플레이어가 큰 내쉬기나 저장 소음 방출을 안전하게 처리하는 타이밍이 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8D9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기차, 환풍기, 경보음, 기계 작동음 등을 사용한다.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타이밍을 읽어 호흡 부채를 갚게 만든다.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흡음으로 저장한 소음도 환경 소음에 맞춰 방출할 수 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E9F8E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먼지/꽃가루/연기/독가스 → 들숨 조건 변화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들이마시기의 안정성과 위험도를 바꾸는 환경 조건이다.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환경은 단순 디버프가 아니라 어디서 얼마만큼 숨을 확보할지 결정하게 하는 레벨 디자인 요소다.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E9F8E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꽃가루/먼지는 재채기 임계선을 낮춘다.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연기/독가스는 흡입 피해나 상태이상을 발생시킨다.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수중에서는 들이마시기가 불가능하다.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1E7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자극성 공기 흡입 → 전조 → 큰 소음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먼지와 꽃가루를 과도하게 들이마셨을 때 발생하는 강제 소음 이벤트다.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재채기는 들숨을 위험한 선택으로 만들며, 숨 참기와 장비 선택의 의미를 강화한다.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1E7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안전 한계를 넘으면 전조 애니메이션과 UI 떨림을 제공한다.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임계치 도달 시 강한 소음으로 적 AI가 의심한다.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방진 장비는 임계치를 올리되 들숨 속도를 낮출 수 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대응 → 들숨 조건 변화 → 이동/소음 비용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마스크, 산소통, 방독면처럼 호흡 조건을 바꾸는 도구다.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장비는 문제를 무효화하는 것이 아니라 한쪽 조건을 완화하고 다른 비용을 만든다.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방진 마스크: 재채기 한계 상승 / 들숨 속도 저하.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방독면: 독가스 방어 / 호흡 저항 증가.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산소 장치: 최대 호흡 증가 / 무게로 이동 부담 증가.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5.1 능력 확장 구조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능력은 새 버튼이 아니라 기존 호흡 행동의 결과를 확장한다.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2377440" cy="48006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행동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27248" y="1298448"/>
            <a:ext cx="3657600" cy="48006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역할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84848" y="1298448"/>
            <a:ext cx="4663440" cy="48006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 후 역할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778508"/>
            <a:ext cx="237744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27248" y="1778508"/>
            <a:ext cx="36576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확보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84848" y="1778508"/>
            <a:ext cx="466344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흡음, 흡인, 흡기 도약, 비상 호흡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2258568"/>
            <a:ext cx="2377440" cy="48006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7248" y="2258568"/>
            <a:ext cx="3657600" cy="48006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호흡음 제거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84848" y="2258568"/>
            <a:ext cx="4663440" cy="48006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 소거, 공중 부유, 시간 정지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738628"/>
            <a:ext cx="237744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27248" y="2738628"/>
            <a:ext cx="36576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회복과 소음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2738628"/>
            <a:ext cx="466344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공명, 탐지, 잔기, 저장 소음 방출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6118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원칙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9808" y="3959352"/>
            <a:ext cx="5166360" cy="978408"/>
          </a:xfrm>
          <a:prstGeom prst="roundRect">
            <a:avLst>
              <a:gd name="adj" fmla="val 6542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06908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능력을 얻어도 조작 체계는 유지한다. 플레이어는 같은 호흡 행동을 더 다양한 상황에 응용하게 된다.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36118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곡선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36208" y="3959352"/>
            <a:ext cx="5166360" cy="978408"/>
          </a:xfrm>
          <a:prstGeom prst="roundRect">
            <a:avLst>
              <a:gd name="adj" fmla="val 6542"/>
            </a:avLst>
          </a:prstGeom>
          <a:solidFill>
            <a:srgbClr val="F0EC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406908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능력이 기존 문제를 해결하면, 이후에는 그 능력만으로 해결되지 않는 적과 환경을 배치한다.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5870448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들이마시기=저장/회수/준비, 숨 참기=은폐/고정/정지, 내쉬기=방출/공명/기만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 소거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0EC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 → 시각적 기척 제거 → 청각 위험 유지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참는 동안 몸이 투명해지는 중반 성장 능력이다.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참기의 가치가 소음 억제에서 시각 탐지 회피까지 확장된다. 단, 발소리와 물체 충돌은 남는다.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0EC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숨 참기 중에만 유지된다.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호흡 게이지가 0%가 되면 해제와 함께 큰 호흡 소음 발생.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청각형 적과 감지 장비로 후반 난이도를 상승시킨다.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부유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E9F8E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공중 상태에서 숨 참기 시작 → 높이 유지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점프 후 발이 땅에서 떨어진 상태에서 숨 참기를 시작하면 공중에 머무르는 능력이다.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숨 참기 입력도 시작 상태에 따라 일반 은신과 공중 부유로 갈린다.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E9F8E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지상에서 숨 참기 시작 후 점프하면 부유하지 않는다.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공중에서 시작한 숨 참기 동안만 높이 유지.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호흡 게이지가 떨어지면 낙하한다.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흡음/흡인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EAF3FF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→ 소리/물체를 끌어들임 → 이후 처리 필요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들이마시기의 성장 능력으로, 소리 또는 가벼운 물체를 끌어당긴다.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흡음은 폭발 같은 큰 소리를 잠시 머금고 안전한 곳에서 방출하게 한다. 흡인은 은신 중 원거리 탐색과 회수에 사용된다.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EAF3FF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흡음 중 저장 소음을 방출하기 전까지 일반 호흡 조작 제한.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흡인으로 주변 물체가 함께 움직여 소음 위험이 생긴다.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둘 다 문제를 삭제하지 않고 위치와 타이밍 문제로 바꾼다.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공명/잔기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1E7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 → 공기 파동/가짜 기척 → 환경·AI 조작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내쉬기를 환경 조작과 적 AI 기만으로 확장하는 능력이다.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공명은 먼지와 오브젝트를 흔들어 단서를 드러내고, 잔기는 특정 위치에 가짜 기척을 남긴다.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1E7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먼지를 날려 숨은 글자나 유리 안 단서를 노출한다.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은신한 적 주변 오브젝트 반응으로 위치를 추론한다.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잔기는 감지형 적을 잘못된 위치로 유도한다.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호흡/시간 정지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구성 요소의 맞물림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640080" cy="640080"/>
          </a:xfrm>
          <a:prstGeom prst="ellipse">
            <a:avLst/>
          </a:prstGeom>
          <a:solidFill>
            <a:srgbClr val="073763"/>
          </a:solidFill>
          <a:ln w="12700">
            <a:solidFill>
              <a:srgbClr val="07376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36192" y="1371600"/>
            <a:ext cx="640080" cy="640080"/>
          </a:xfrm>
          <a:prstGeom prst="ellipse">
            <a:avLst/>
          </a:prstGeom>
          <a:solidFill>
            <a:srgbClr val="FFF8D9"/>
          </a:solidFill>
          <a:ln w="12700">
            <a:solidFill>
              <a:srgbClr val="B8C1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691640"/>
            <a:ext cx="201168" cy="0"/>
          </a:xfrm>
          <a:prstGeom prst="line">
            <a:avLst/>
          </a:prstGeom>
          <a:noFill/>
          <a:ln w="13970">
            <a:solidFill>
              <a:srgbClr val="9EABBD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514600" y="1444752"/>
            <a:ext cx="8138160" cy="384048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직전 작은 들숨 / 최후반 호흡 억제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호흡은 숨 참기 중 짧은 기척을 감수하고 시간을 벌며, 시간 정지는 최후반 고급 능력이다.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4768" y="213969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호흡과 맞물리는 부분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4768" y="2487168"/>
            <a:ext cx="5074920" cy="1810512"/>
          </a:xfrm>
          <a:prstGeom prst="roundRect">
            <a:avLst>
              <a:gd name="adj" fmla="val 3535"/>
            </a:avLst>
          </a:prstGeom>
          <a:solidFill>
            <a:srgbClr val="F7F9FC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596896"/>
            <a:ext cx="48554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호흡은 큰 헐떡임을 피하는 완충 장치이고, 시간 정지는 호흡 억제의 최종 확장이다.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10506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작동 약속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965192"/>
            <a:ext cx="10506456" cy="795528"/>
          </a:xfrm>
          <a:prstGeom prst="roundRect">
            <a:avLst>
              <a:gd name="adj" fmla="val 8046"/>
            </a:avLst>
          </a:prstGeom>
          <a:solidFill>
            <a:srgbClr val="FFF8D9"/>
          </a:solidFill>
          <a:ln w="12700">
            <a:solidFill>
              <a:srgbClr val="C8C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10287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비상 호흡은 한 사이클 1회, 짧은 소음 발생.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강제 헐떡임보다 탐지 반경이 작다.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시간 정지는 매우 높은 비용과 제한 조건이 필요하다.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6.1 주인공·배경 설계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자체가 호흡을 요구해야 시스템이 시나리오와 어색하지 않다.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주인공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1645920"/>
            <a:ext cx="5166360" cy="1069848"/>
          </a:xfrm>
          <a:prstGeom prst="roundRect">
            <a:avLst>
              <a:gd name="adj" fmla="val 5983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755648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조절 훈련 경험이 있는 구조 전문가 또는 잠입 요원. 초반에는 순수 호흡만 사용하고, 사건을 통해 호흡 기반 능력을 얻는다.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36208" y="12984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36208" y="1645920"/>
            <a:ext cx="5166360" cy="1069848"/>
          </a:xfrm>
          <a:prstGeom prst="roundRect">
            <a:avLst>
              <a:gd name="adj" fmla="val 5983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755648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비윤리적 실험을 진행하던 연구 시설. 침수, 정전, 먼지, 꽃가루, 연기, 독가스, 감지 장비가 자연스럽게 등장한다.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31272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9808" y="3474720"/>
            <a:ext cx="5166360" cy="886968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584448"/>
            <a:ext cx="4946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연구소에 잠입해 단서를 확보하고, 위험한 실험과 감시 체계를 무너뜨린다.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36208" y="31272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난이도 상승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36208" y="3474720"/>
            <a:ext cx="5166360" cy="886968"/>
          </a:xfrm>
          <a:prstGeom prst="roundRect">
            <a:avLst>
              <a:gd name="adj" fmla="val 7216"/>
            </a:avLst>
          </a:prstGeom>
          <a:solidFill>
            <a:srgbClr val="F0EC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3584448"/>
            <a:ext cx="4946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초반은 청각 중심 은신, 중반은 투명화 대응 적, 후반은 감지 장비와 공기 환경 복합 구간으로 확장한다.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5715000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스토리는 호흡 시스템을 설명하는 핑계가 아니라, 호흡을 써야만 통과 가능한 공간을 자연스럽게 만든다.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4.10 시스템 구조도(Unity)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관점에서 호흡 시스템이 다른 컴포넌트와 데이터를 주고받는 구조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EAF3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PlayerInput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21254" y="1495044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85846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E9F8E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BreathController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57293" y="1495044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21885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FFF1E7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NoiseEmitter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93331" y="1495044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157923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F0ECFF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EnemyAI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29370" y="1495044"/>
            <a:ext cx="164592" cy="0"/>
          </a:xfrm>
          <a:prstGeom prst="line">
            <a:avLst/>
          </a:prstGeom>
          <a:noFill/>
          <a:ln w="15240">
            <a:solidFill>
              <a:srgbClr val="AAB7C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293962" y="1243584"/>
            <a:ext cx="1971446" cy="502920"/>
          </a:xfrm>
          <a:prstGeom prst="roundRect">
            <a:avLst>
              <a:gd name="adj" fmla="val 12727"/>
            </a:avLst>
          </a:prstGeom>
          <a:solidFill>
            <a:srgbClr val="FFF8D9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LevelEvent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1945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BreathController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" y="2542032"/>
            <a:ext cx="3337560" cy="1069848"/>
          </a:xfrm>
          <a:prstGeom prst="roundRect">
            <a:avLst>
              <a:gd name="adj" fmla="val 5983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6517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호흡량, 호흡 상태, 호흡 부채, 저장 소음, 능력 활성 여부를 관리한다.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1945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MovementController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34840" y="2542032"/>
            <a:ext cx="3337560" cy="1069848"/>
          </a:xfrm>
          <a:prstGeom prst="roundRect">
            <a:avLst>
              <a:gd name="adj" fmla="val 5983"/>
            </a:avLst>
          </a:prstGeom>
          <a:solidFill>
            <a:srgbClr val="E9F8EF"/>
          </a:solidFill>
          <a:ln w="12700">
            <a:solidFill>
              <a:srgbClr val="C7EF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26517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방식, 점프 상태, 공중 여부, 달리기 여부를 전달해 호흡 소비와 부유 판정을 결정한다.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19872" y="21945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NoiseEmitter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19872" y="2542032"/>
            <a:ext cx="3337560" cy="1069848"/>
          </a:xfrm>
          <a:prstGeom prst="roundRect">
            <a:avLst>
              <a:gd name="adj" fmla="val 5983"/>
            </a:avLst>
          </a:prstGeom>
          <a:solidFill>
            <a:srgbClr val="FFF1E7"/>
          </a:solidFill>
          <a:ln w="12700">
            <a:solidFill>
              <a:srgbClr val="FFD9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65176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소음, 발소리, 충돌음, 저장 소음 방출을 적 AI가 읽을 수 있는 이벤트로 변환한다.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41605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EnvironmentZone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9808" y="4507992"/>
            <a:ext cx="3337560" cy="97840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461772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꽃가루, 먼지, 독가스, 수중, 환경 소음 등 지역 조건을 호흡 규칙에 전달한다.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41605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AbilityModule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434840" y="4507992"/>
            <a:ext cx="3337560" cy="97840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4568" y="461772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기척 소거, 공중 부유, 흡음, 공명, 잔기 같은 확장 능력을 호흡 상태에 따라 실행한다.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19872" y="41605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EnemyAI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119872" y="4507992"/>
            <a:ext cx="3337560" cy="978408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4617720"/>
            <a:ext cx="3118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시야, 청각, 감지 장비 정보를 종합해 의심, 조사, 추적, 복귀 상태를 전환한다.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리소스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구현과 피드백에 필요한 화면·사운드·연출 리소스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43584"/>
            <a:ext cx="1371600" cy="581297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29968" y="1243584"/>
            <a:ext cx="3383280" cy="581297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13248" y="1243584"/>
            <a:ext cx="2743200" cy="581297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시점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56448" y="1243584"/>
            <a:ext cx="3383280" cy="581297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824881"/>
            <a:ext cx="13716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29968" y="1824881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/ 안전 들숨 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13248" y="1824881"/>
            <a:ext cx="27432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56448" y="1824881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호흡량과 위험 구간 표시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406178"/>
            <a:ext cx="13716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29968" y="2406178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파형 / 의심 표시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13248" y="2406178"/>
            <a:ext cx="27432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발생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56448" y="2406178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AI 반응 전조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2987475"/>
            <a:ext cx="13716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SFX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29968" y="2987475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들이마시기/헐떡임/재채기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13248" y="2987475"/>
            <a:ext cx="27432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단계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56448" y="2987475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반경과 단계별 구분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568773"/>
            <a:ext cx="13716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VFX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29968" y="3568773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공명 파동 / 잔기 / 투명화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13248" y="3568773"/>
            <a:ext cx="27432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능력 사용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56448" y="3568773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행동의 확장 표현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150070"/>
            <a:ext cx="13716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29968" y="4150070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먼지/꽃가루/연기/독가스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13248" y="4150070"/>
            <a:ext cx="274320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 구간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56448" y="4150070"/>
            <a:ext cx="3383280" cy="581297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들이마시기 조건 변화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4731367"/>
            <a:ext cx="13716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29968" y="4731367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기어가기/숨 참기/비상 호흡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13248" y="4731367"/>
            <a:ext cx="274320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조작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448" y="4731367"/>
            <a:ext cx="3383280" cy="581297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 상태 즉시 인지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" y="5897880"/>
            <a:ext cx="10789920" cy="347472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DEE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리소스는 “멋있게 보이기”보다 플레이어가 현재 호흡 위험과 다음 행동 가능성을 읽게 만드는 것을 우선한다.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4944"/>
            <a:ext cx="1101852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07008" y="402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예외사항 안전장치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07008" y="84124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4728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규칙으로 처리하면 플레이가 망가질 수 있는 상황을 미리 정리한다.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2743200" cy="57912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상황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01568" y="1234440"/>
            <a:ext cx="3840480" cy="57912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42048" y="1234440"/>
            <a:ext cx="4297680" cy="579120"/>
          </a:xfrm>
          <a:prstGeom prst="rect">
            <a:avLst/>
          </a:prstGeom>
          <a:solidFill>
            <a:srgbClr val="073763"/>
          </a:solidFill>
          <a:ln w="7620">
            <a:solidFill>
              <a:srgbClr val="0737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장치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813560"/>
            <a:ext cx="274320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게이지 0% 반복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01568" y="1813560"/>
            <a:ext cx="38404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불능 스트레스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42048" y="1813560"/>
            <a:ext cx="42976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강제 호흡 후 짧은 보호 시간 제공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2392680"/>
            <a:ext cx="274320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흡음 소음 미방출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01568" y="2392680"/>
            <a:ext cx="384048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조작 장기 봉인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42048" y="2392680"/>
            <a:ext cx="429768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방출 가능 구역 또는 자동 방출 경고 제공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2971800"/>
            <a:ext cx="274320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구간 재채기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2971800"/>
            <a:ext cx="38404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불가/억울한 발각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42048" y="2971800"/>
            <a:ext cx="42976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전조 시간을 길게 주고 회피 가능한 안전 호흡 지점 배치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550920"/>
            <a:ext cx="274320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투명화 만능화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3550920"/>
            <a:ext cx="384048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은신 난이도 붕괴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42048" y="3550920"/>
            <a:ext cx="4297680" cy="579120"/>
          </a:xfrm>
          <a:prstGeom prst="rect">
            <a:avLst/>
          </a:prstGeom>
          <a:solidFill>
            <a:srgbClr val="F9FBFE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발소리·흔적·청각형 적·감지 장비 유지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4130040"/>
            <a:ext cx="274320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과잉 추적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4130040"/>
            <a:ext cx="38404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소음으로 즉시 실패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42048" y="4130040"/>
            <a:ext cx="4297680" cy="5791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의심/조사/추적 단계를 분리하고 추가 정보 없으면 복귀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50749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원칙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9808" y="5422392"/>
            <a:ext cx="10515600" cy="38404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2700">
            <a:solidFill>
              <a:srgbClr val="BFD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532120"/>
            <a:ext cx="10296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5324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예외사항은 규칙을 없애는 것이 아니라, 플레이어가 원인을 이해하고 다음 행동으로 복구할 수 있게 만드는 처리 약속이다.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시스템 기획 문서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2661</Words>
  <Application>Microsoft Office PowerPoint</Application>
  <PresentationFormat>와이드스크린</PresentationFormat>
  <Paragraphs>525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호흡 시스템 기획 문서</dc:title>
  <dc:subject>호흡 시스템 기획 문서</dc:subject>
  <dc:creator>OpenAI</dc:creator>
  <cp:lastModifiedBy>Administrator</cp:lastModifiedBy>
  <cp:revision>3</cp:revision>
  <dcterms:created xsi:type="dcterms:W3CDTF">2026-08-18T04:17:06Z</dcterms:created>
  <dcterms:modified xsi:type="dcterms:W3CDTF">2026-08-18T04:59:02Z</dcterms:modified>
</cp:coreProperties>
</file>