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1E4"/>
    <a:srgbClr val="F88888"/>
    <a:srgbClr val="C9C0CA"/>
    <a:srgbClr val="5E526A"/>
    <a:srgbClr val="3F3747"/>
    <a:srgbClr val="9FD9CB"/>
    <a:srgbClr val="FFFFFF"/>
    <a:srgbClr val="88B4F4"/>
    <a:srgbClr val="BE83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7" d="100"/>
          <a:sy n="67" d="100"/>
        </p:scale>
        <p:origin x="96" y="918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789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78046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1784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488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774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54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54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9535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4133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962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83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3DC2B1-113C-4D19-A865-103388376616}" type="datetimeFigureOut">
              <a:rPr lang="ko-KR" altLang="en-US" smtClean="0"/>
              <a:t>2026-08-18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99407-3F09-411C-80B5-A52145DF96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75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시스템 포트폴리오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ko-KR" altLang="en-US" smtClean="0"/>
              <a:t>기본적인 규격이 있다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다른 사람들이 만든 시스템을 이해하려는 자세가 필요하다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내가 완전히 새로운 시스템을 만들겠다는 자세보다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이전에 만들어진 시스템에 덧붙이는 느낌으로 시스템을 만드려는 자세가 필요하다는 것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회사에 들어갔을 때 기존에 만들어진 시스템을 먼저 파악하고 공부해야 한다는 것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953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b="1" smtClean="0"/>
              <a:t>회사에 들어갔을 때 하는 일 </a:t>
            </a:r>
            <a:r>
              <a:rPr lang="en-US" altLang="ko-KR" sz="2800" b="1" smtClean="0"/>
              <a:t>– </a:t>
            </a:r>
            <a:r>
              <a:rPr lang="ko-KR" altLang="en-US" sz="2800" b="1" smtClean="0"/>
              <a:t>가장 예의있는 기획자의 자세</a:t>
            </a:r>
            <a:endParaRPr lang="ko-KR" altLang="en-US" sz="2800" b="1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368424"/>
            <a:ext cx="10515600" cy="5489576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mtClean="0"/>
              <a:t>그 팀의 모든 기획서</a:t>
            </a:r>
            <a:r>
              <a:rPr lang="en-US" altLang="ko-KR" smtClean="0"/>
              <a:t>, </a:t>
            </a:r>
            <a:r>
              <a:rPr lang="ko-KR" altLang="en-US" smtClean="0"/>
              <a:t>문서를 읽어본다</a:t>
            </a:r>
            <a:r>
              <a:rPr lang="en-US" altLang="ko-KR" smtClean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mtClean="0"/>
              <a:t>공유됐든 공유되지 않았든 찾아서 읽는다</a:t>
            </a:r>
            <a:r>
              <a:rPr lang="en-US" altLang="ko-KR" smtClean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mtClean="0"/>
              <a:t>모든 회의 내용을 읽어본다</a:t>
            </a:r>
            <a:r>
              <a:rPr lang="en-US" altLang="ko-KR" smtClean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smtClean="0"/>
              <a:t>모든 원화를 받아서 본다</a:t>
            </a:r>
            <a:r>
              <a:rPr lang="en-US" altLang="ko-KR" smtClean="0"/>
              <a:t>.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US" altLang="ko-KR"/>
          </a:p>
          <a:p>
            <a:pPr>
              <a:lnSpc>
                <a:spcPct val="150000"/>
              </a:lnSpc>
            </a:pPr>
            <a:r>
              <a:rPr lang="ko-KR" altLang="en-US" smtClean="0"/>
              <a:t>이 </a:t>
            </a:r>
            <a:r>
              <a:rPr lang="en-US" altLang="ko-KR" smtClean="0"/>
              <a:t>3</a:t>
            </a:r>
            <a:r>
              <a:rPr lang="ko-KR" altLang="en-US" smtClean="0"/>
              <a:t>가지가 이 팀의 히스토리다</a:t>
            </a:r>
            <a:r>
              <a:rPr lang="en-US" altLang="ko-KR" smtClean="0"/>
              <a:t>. </a:t>
            </a:r>
            <a:r>
              <a:rPr lang="ko-KR" altLang="en-US" smtClean="0"/>
              <a:t>읽은 후</a:t>
            </a:r>
            <a:r>
              <a:rPr lang="en-US" altLang="ko-KR" smtClean="0"/>
              <a:t>, </a:t>
            </a:r>
            <a:r>
              <a:rPr lang="ko-KR" altLang="en-US" smtClean="0"/>
              <a:t>내가 파악한 게 맞는 지 담당자 혹은 오래 있던 팀원들에게 </a:t>
            </a:r>
            <a:r>
              <a:rPr lang="en-US" altLang="ko-KR" smtClean="0"/>
              <a:t>(</a:t>
            </a:r>
            <a:r>
              <a:rPr lang="ko-KR" altLang="en-US" smtClean="0"/>
              <a:t>오해가 생기지 않게</a:t>
            </a:r>
            <a:r>
              <a:rPr lang="en-US" altLang="ko-KR" smtClean="0"/>
              <a:t>)</a:t>
            </a:r>
            <a:r>
              <a:rPr lang="ko-KR" altLang="en-US" smtClean="0"/>
              <a:t> 물어본다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알파</a:t>
            </a:r>
            <a:r>
              <a:rPr lang="en-US" altLang="ko-KR" smtClean="0"/>
              <a:t>, </a:t>
            </a:r>
            <a:r>
              <a:rPr lang="ko-KR" altLang="en-US" smtClean="0"/>
              <a:t>베타 버전 테스트 플레이를 해본다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그런 다음</a:t>
            </a:r>
            <a:r>
              <a:rPr lang="en-US" altLang="ko-KR" smtClean="0"/>
              <a:t>, </a:t>
            </a:r>
            <a:r>
              <a:rPr lang="ko-KR" altLang="en-US" smtClean="0"/>
              <a:t>어떻게 어울리는 시스템</a:t>
            </a:r>
            <a:r>
              <a:rPr lang="en-US" altLang="ko-KR" smtClean="0"/>
              <a:t>(</a:t>
            </a:r>
            <a:r>
              <a:rPr lang="ko-KR" altLang="en-US" smtClean="0"/>
              <a:t>새로운 요소</a:t>
            </a:r>
            <a:r>
              <a:rPr lang="en-US" altLang="ko-KR" smtClean="0"/>
              <a:t>)</a:t>
            </a:r>
            <a:r>
              <a:rPr lang="ko-KR" altLang="en-US" smtClean="0"/>
              <a:t>을 만들지 생각해야 한다</a:t>
            </a:r>
            <a:r>
              <a:rPr lang="en-US" altLang="ko-KR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이렇게 하면</a:t>
            </a:r>
            <a:r>
              <a:rPr lang="en-US" altLang="ko-KR" smtClean="0"/>
              <a:t>, Before</a:t>
            </a:r>
            <a:r>
              <a:rPr lang="ko-KR" altLang="en-US" smtClean="0"/>
              <a:t>와 </a:t>
            </a:r>
            <a:r>
              <a:rPr lang="en-US" altLang="ko-KR" smtClean="0"/>
              <a:t>After</a:t>
            </a:r>
            <a:r>
              <a:rPr lang="ko-KR" altLang="en-US" smtClean="0"/>
              <a:t>를 비교했을 때 </a:t>
            </a:r>
            <a:r>
              <a:rPr lang="ko-KR" altLang="en-US" b="1" u="sng" smtClean="0"/>
              <a:t>더 나은 결과물</a:t>
            </a:r>
            <a:r>
              <a:rPr lang="ko-KR" altLang="en-US" smtClean="0"/>
              <a:t>을 만들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748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우리의 포트폴리오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ko-KR" altLang="en-US" smtClean="0"/>
              <a:t>대부분의 신입들은 그런 자세를 갖고 있지 못하다</a:t>
            </a:r>
            <a:r>
              <a:rPr lang="en-US" altLang="ko-KR" smtClean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smtClean="0"/>
              <a:t>따라서 포트폴리오를 통해 우리는</a:t>
            </a:r>
            <a:endParaRPr lang="en-US" altLang="ko-KR" smtClean="0"/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ko-KR" altLang="en-US" smtClean="0"/>
              <a:t>디테일</a:t>
            </a:r>
            <a:endParaRPr lang="en-US" altLang="ko-KR" smtClean="0"/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ko-KR" altLang="en-US" smtClean="0"/>
              <a:t>고민의 깊이나 양</a:t>
            </a:r>
            <a:endParaRPr lang="en-US" altLang="ko-KR" smtClean="0"/>
          </a:p>
          <a:p>
            <a:pPr>
              <a:lnSpc>
                <a:spcPct val="160000"/>
              </a:lnSpc>
            </a:pPr>
            <a:endParaRPr lang="en-US" altLang="ko-KR"/>
          </a:p>
          <a:p>
            <a:pPr>
              <a:lnSpc>
                <a:spcPct val="160000"/>
              </a:lnSpc>
            </a:pPr>
            <a:r>
              <a:rPr lang="ko-KR" altLang="en-US" smtClean="0"/>
              <a:t>이것들로 성실함을 어필할 수 있다</a:t>
            </a:r>
            <a:r>
              <a:rPr lang="en-US" altLang="ko-KR" smtClean="0"/>
              <a:t>.</a:t>
            </a:r>
          </a:p>
          <a:p>
            <a:pPr>
              <a:lnSpc>
                <a:spcPct val="160000"/>
              </a:lnSpc>
            </a:pP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문서 버전 관리</a:t>
            </a:r>
            <a:r>
              <a:rPr lang="en-US" altLang="ko-KR" smtClean="0"/>
              <a:t>, </a:t>
            </a:r>
            <a:r>
              <a:rPr lang="ko-KR" altLang="en-US" smtClean="0"/>
              <a:t>목차</a:t>
            </a:r>
            <a:r>
              <a:rPr lang="en-US" altLang="ko-KR" smtClean="0"/>
              <a:t>(</a:t>
            </a:r>
            <a:r>
              <a:rPr lang="ko-KR" altLang="en-US" smtClean="0"/>
              <a:t>설계안</a:t>
            </a:r>
            <a:r>
              <a:rPr lang="en-US" altLang="ko-KR" smtClean="0"/>
              <a:t>), </a:t>
            </a:r>
            <a:r>
              <a:rPr lang="ko-KR" altLang="en-US" smtClean="0"/>
              <a:t>슬로건</a:t>
            </a:r>
            <a:r>
              <a:rPr lang="en-US" altLang="ko-KR" smtClean="0"/>
              <a:t>(</a:t>
            </a:r>
            <a:r>
              <a:rPr lang="ko-KR" altLang="en-US" smtClean="0"/>
              <a:t>이 시스템에서 가장 중요한 약속</a:t>
            </a:r>
            <a:r>
              <a:rPr lang="en-US" altLang="ko-KR" smtClean="0"/>
              <a:t>. </a:t>
            </a:r>
            <a:r>
              <a:rPr lang="ko-KR" altLang="en-US" smtClean="0"/>
              <a:t>어떠한 약속도 이 약속을 위배해서는 안 된다</a:t>
            </a:r>
            <a:r>
              <a:rPr lang="en-US" altLang="ko-KR" smtClean="0"/>
              <a:t>.), </a:t>
            </a:r>
            <a:r>
              <a:rPr lang="ko-KR" altLang="en-US" smtClean="0"/>
              <a:t>효과</a:t>
            </a:r>
            <a:r>
              <a:rPr lang="en-US" altLang="ko-KR" smtClean="0"/>
              <a:t>, </a:t>
            </a:r>
            <a:r>
              <a:rPr lang="ko-KR" altLang="en-US" smtClean="0"/>
              <a:t>재미 등에 대한 내용을 통해 우리가 만든 시스템의 </a:t>
            </a:r>
            <a:r>
              <a:rPr lang="en-US" altLang="ko-KR" smtClean="0"/>
              <a:t>‘</a:t>
            </a:r>
            <a:r>
              <a:rPr lang="ko-KR" altLang="en-US" smtClean="0"/>
              <a:t>가치</a:t>
            </a:r>
            <a:r>
              <a:rPr lang="en-US" altLang="ko-KR" smtClean="0"/>
              <a:t>’</a:t>
            </a:r>
            <a:r>
              <a:rPr lang="ko-KR" altLang="en-US" smtClean="0"/>
              <a:t>를 어필할 수 있다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72490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86701"/>
            <a:ext cx="8839200" cy="6284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30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156700"/>
            <a:ext cx="9372600" cy="654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570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순서도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1. </a:t>
            </a:r>
            <a:r>
              <a:rPr lang="ko-KR" altLang="en-US" smtClean="0"/>
              <a:t>수행</a:t>
            </a:r>
            <a:r>
              <a:rPr lang="en-US" altLang="ko-KR" smtClean="0"/>
              <a:t>, </a:t>
            </a:r>
            <a:r>
              <a:rPr lang="ko-KR" altLang="en-US" smtClean="0"/>
              <a:t>처리 </a:t>
            </a:r>
            <a:r>
              <a:rPr lang="en-US" altLang="ko-KR" smtClean="0"/>
              <a:t>:</a:t>
            </a:r>
          </a:p>
          <a:p>
            <a:endParaRPr lang="en-US" altLang="ko-KR"/>
          </a:p>
          <a:p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2. </a:t>
            </a:r>
            <a:r>
              <a:rPr lang="ko-KR" altLang="en-US" smtClean="0"/>
              <a:t>어떤 조건이 달성됐는지 묻는 것 </a:t>
            </a:r>
            <a:r>
              <a:rPr lang="en-US" altLang="ko-KR" smtClean="0"/>
              <a:t>:</a:t>
            </a:r>
          </a:p>
          <a:p>
            <a:pPr lvl="1"/>
            <a:r>
              <a:rPr lang="ko-KR" altLang="en-US" smtClean="0"/>
              <a:t>최대 </a:t>
            </a:r>
            <a:r>
              <a:rPr lang="en-US" altLang="ko-KR" smtClean="0"/>
              <a:t>3</a:t>
            </a:r>
            <a:r>
              <a:rPr lang="ko-KR" altLang="en-US" smtClean="0"/>
              <a:t>개까지</a:t>
            </a:r>
            <a:endParaRPr lang="en-US" altLang="ko-KR" smtClean="0"/>
          </a:p>
          <a:p>
            <a:pPr lvl="1"/>
            <a:r>
              <a:rPr lang="ko-KR" altLang="en-US" smtClean="0"/>
              <a:t>질문을 통해 디테일을 잡는 영역</a:t>
            </a:r>
            <a:endParaRPr lang="en-US" altLang="ko-KR"/>
          </a:p>
          <a:p>
            <a:pPr marL="0" indent="0">
              <a:buNone/>
            </a:pPr>
            <a:r>
              <a:rPr lang="en-US" altLang="ko-KR" smtClean="0"/>
              <a:t> </a:t>
            </a:r>
          </a:p>
          <a:p>
            <a:pPr marL="0" indent="0">
              <a:buNone/>
            </a:pPr>
            <a:r>
              <a:rPr lang="en-US" altLang="ko-KR" smtClean="0"/>
              <a:t>3. </a:t>
            </a:r>
            <a:r>
              <a:rPr lang="ko-KR" altLang="en-US" smtClean="0"/>
              <a:t>출력해</a:t>
            </a:r>
            <a:r>
              <a:rPr lang="en-US" altLang="ko-KR" smtClean="0"/>
              <a:t>, </a:t>
            </a:r>
            <a:r>
              <a:rPr lang="ko-KR" altLang="en-US" smtClean="0"/>
              <a:t>리소스 호출해 </a:t>
            </a:r>
            <a:r>
              <a:rPr lang="en-US" altLang="ko-KR" smtClean="0"/>
              <a:t>: </a:t>
            </a:r>
          </a:p>
          <a:p>
            <a:pPr lvl="1"/>
            <a:r>
              <a:rPr lang="ko-KR" altLang="en-US" smtClean="0"/>
              <a:t>애니메이션 영상 등</a:t>
            </a: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3710329" y="1690688"/>
            <a:ext cx="1685940" cy="1172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순서도: 판단 4"/>
          <p:cNvSpPr/>
          <p:nvPr/>
        </p:nvSpPr>
        <p:spPr>
          <a:xfrm>
            <a:off x="7146758" y="3414880"/>
            <a:ext cx="1750490" cy="1172828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순서도: 문서 6"/>
          <p:cNvSpPr/>
          <p:nvPr/>
        </p:nvSpPr>
        <p:spPr>
          <a:xfrm>
            <a:off x="5396269" y="5004135"/>
            <a:ext cx="1750489" cy="1172828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591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626" y="195858"/>
            <a:ext cx="5348748" cy="6466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80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02458"/>
            <a:ext cx="8839200" cy="6653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68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728664" y="228360"/>
            <a:ext cx="757236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실행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809753" y="228359"/>
            <a:ext cx="757236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CI </a:t>
            </a:r>
            <a:r>
              <a:rPr lang="ko-KR" altLang="en-US" sz="1000" smtClean="0">
                <a:solidFill>
                  <a:schemeClr val="tx1"/>
                </a:solidFill>
              </a:rPr>
              <a:t>로딩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890842" y="228359"/>
            <a:ext cx="757236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000">
                <a:solidFill>
                  <a:schemeClr val="tx1"/>
                </a:solidFill>
              </a:rPr>
              <a:t>B</a:t>
            </a:r>
            <a:r>
              <a:rPr lang="en-US" altLang="ko-KR" sz="1000" smtClean="0">
                <a:solidFill>
                  <a:schemeClr val="tx1"/>
                </a:solidFill>
              </a:rPr>
              <a:t>I </a:t>
            </a:r>
            <a:r>
              <a:rPr lang="ko-KR" altLang="en-US" sz="1000" smtClean="0">
                <a:solidFill>
                  <a:schemeClr val="tx1"/>
                </a:solidFill>
              </a:rPr>
              <a:t>로딩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971931" y="228358"/>
            <a:ext cx="757236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로그인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화면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9" name="순서도: 판단 8"/>
          <p:cNvSpPr/>
          <p:nvPr/>
        </p:nvSpPr>
        <p:spPr>
          <a:xfrm>
            <a:off x="5053020" y="228120"/>
            <a:ext cx="1833560" cy="400429"/>
          </a:xfrm>
          <a:prstGeom prst="flowChartDecision">
            <a:avLst/>
          </a:prstGeom>
          <a:noFill/>
          <a:ln w="25400">
            <a:solidFill>
              <a:srgbClr val="BE8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카카오톡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계정 로그인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210433" y="228120"/>
            <a:ext cx="757236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계정 접속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동의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3" name="순서도: 저장 데이터 12"/>
          <p:cNvSpPr/>
          <p:nvPr/>
        </p:nvSpPr>
        <p:spPr>
          <a:xfrm>
            <a:off x="8291522" y="228120"/>
            <a:ext cx="1157287" cy="400291"/>
          </a:xfrm>
          <a:prstGeom prst="flowChartOnlineStorage">
            <a:avLst/>
          </a:prstGeom>
          <a:noFill/>
          <a:ln w="25400">
            <a:solidFill>
              <a:srgbClr val="9FD9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카카오톡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계정 정보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28664" y="1237840"/>
            <a:ext cx="757236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게임시작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창 출력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00050" y="2663206"/>
            <a:ext cx="1414461" cy="213807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하트 </a:t>
            </a:r>
            <a:r>
              <a:rPr lang="en-US" altLang="ko-KR" sz="1000" smtClean="0">
                <a:solidFill>
                  <a:schemeClr val="tx1"/>
                </a:solidFill>
              </a:rPr>
              <a:t>1</a:t>
            </a:r>
            <a:r>
              <a:rPr lang="ko-KR" altLang="en-US" sz="1000" smtClean="0">
                <a:solidFill>
                  <a:schemeClr val="tx1"/>
                </a:solidFill>
              </a:rPr>
              <a:t>개 소모시킴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6" name="순서도: 판단 15"/>
          <p:cNvSpPr/>
          <p:nvPr/>
        </p:nvSpPr>
        <p:spPr>
          <a:xfrm>
            <a:off x="66676" y="2047176"/>
            <a:ext cx="2081211" cy="400429"/>
          </a:xfrm>
          <a:prstGeom prst="flowChartDecision">
            <a:avLst/>
          </a:prstGeom>
          <a:noFill/>
          <a:ln w="25400">
            <a:solidFill>
              <a:srgbClr val="BE8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하트 보유 개수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1</a:t>
            </a:r>
            <a:r>
              <a:rPr lang="ko-KR" altLang="en-US" sz="1000" smtClean="0">
                <a:solidFill>
                  <a:schemeClr val="tx1"/>
                </a:solidFill>
              </a:rPr>
              <a:t>개 이상</a:t>
            </a:r>
            <a:r>
              <a:rPr lang="en-US" altLang="ko-KR" sz="1000" smtClean="0">
                <a:solidFill>
                  <a:schemeClr val="tx1"/>
                </a:solidFill>
              </a:rPr>
              <a:t>?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433638" y="2047314"/>
            <a:ext cx="1014407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유료상점 창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</a:rPr>
              <a:t>하트 등 판매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00050" y="3092398"/>
            <a:ext cx="1414461" cy="213807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로딩 연출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483777" y="747756"/>
            <a:ext cx="1166796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1</a:t>
            </a:r>
            <a:r>
              <a:rPr lang="ko-KR" altLang="en-US" sz="1000" smtClean="0">
                <a:solidFill>
                  <a:schemeClr val="tx1"/>
                </a:solidFill>
              </a:rPr>
              <a:t>일 게임 플레이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5</a:t>
            </a:r>
            <a:r>
              <a:rPr lang="ko-KR" altLang="en-US" sz="1000" smtClean="0">
                <a:solidFill>
                  <a:schemeClr val="tx1"/>
                </a:solidFill>
              </a:rPr>
              <a:t>회 제한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567156" y="1333385"/>
            <a:ext cx="1014407" cy="63908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  <a:effectLst>
            <a:glow rad="101600">
              <a:srgbClr val="9FD9CB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카카오톡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친구정보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주간 순위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510680" y="2246146"/>
            <a:ext cx="1414461" cy="213807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게임 설정 메뉴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510679" y="2582257"/>
            <a:ext cx="1414461" cy="213807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  <a:effectLst>
            <a:glow rad="101600">
              <a:srgbClr val="9FD9CB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친구 초대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4510679" y="2918368"/>
            <a:ext cx="1414461" cy="213807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메시지함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269257" y="2375342"/>
            <a:ext cx="1376334" cy="626886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하트 처리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</a:rPr>
              <a:t>초대 수행 </a:t>
            </a:r>
            <a:r>
              <a:rPr lang="en-US" altLang="ko-KR" sz="1000" smtClean="0">
                <a:solidFill>
                  <a:schemeClr val="tx1"/>
                </a:solidFill>
              </a:rPr>
              <a:t>1</a:t>
            </a:r>
            <a:r>
              <a:rPr lang="ko-KR" altLang="en-US" sz="1000" smtClean="0">
                <a:solidFill>
                  <a:schemeClr val="tx1"/>
                </a:solidFill>
              </a:rPr>
              <a:t>회 마다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하트 </a:t>
            </a:r>
            <a:r>
              <a:rPr lang="en-US" altLang="ko-KR" sz="1000" smtClean="0">
                <a:solidFill>
                  <a:schemeClr val="tx1"/>
                </a:solidFill>
              </a:rPr>
              <a:t>1</a:t>
            </a:r>
            <a:r>
              <a:rPr lang="ko-KR" altLang="en-US" sz="1000" smtClean="0">
                <a:solidFill>
                  <a:schemeClr val="tx1"/>
                </a:solidFill>
              </a:rPr>
              <a:t>개 부여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67969" y="1742241"/>
            <a:ext cx="1776402" cy="401213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튜토리얼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</a:rPr>
              <a:t>이미지를</a:t>
            </a: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 smtClean="0">
                <a:solidFill>
                  <a:schemeClr val="tx1"/>
                </a:solidFill>
              </a:rPr>
              <a:t>페이지 뷰로 구성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6" name="순서도: 판단 25"/>
          <p:cNvSpPr/>
          <p:nvPr/>
        </p:nvSpPr>
        <p:spPr>
          <a:xfrm>
            <a:off x="5044713" y="1065180"/>
            <a:ext cx="1833560" cy="400429"/>
          </a:xfrm>
          <a:prstGeom prst="flowChartDecision">
            <a:avLst/>
          </a:prstGeom>
          <a:noFill/>
          <a:ln w="25400">
            <a:solidFill>
              <a:srgbClr val="BE8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계정 첫 접속</a:t>
            </a:r>
            <a:r>
              <a:rPr lang="en-US" altLang="ko-KR" sz="1000" smtClean="0">
                <a:solidFill>
                  <a:schemeClr val="tx1"/>
                </a:solidFill>
              </a:rPr>
              <a:t>?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7341423" y="1065318"/>
            <a:ext cx="1166796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  <a:effectLst>
            <a:glow rad="101600">
              <a:srgbClr val="9FD9CB">
                <a:alpha val="6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1</a:t>
            </a:r>
            <a:r>
              <a:rPr lang="ko-KR" altLang="en-US" sz="1000" smtClean="0">
                <a:solidFill>
                  <a:schemeClr val="tx1"/>
                </a:solidFill>
              </a:rPr>
              <a:t>일 게임 플레이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10</a:t>
            </a:r>
            <a:r>
              <a:rPr lang="ko-KR" altLang="en-US" sz="1000" smtClean="0">
                <a:solidFill>
                  <a:schemeClr val="tx1"/>
                </a:solidFill>
              </a:rPr>
              <a:t>회 제한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0465624" y="228120"/>
            <a:ext cx="757236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다시 하기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0" name="순서도: 판단 29"/>
          <p:cNvSpPr/>
          <p:nvPr/>
        </p:nvSpPr>
        <p:spPr>
          <a:xfrm>
            <a:off x="9927462" y="1000101"/>
            <a:ext cx="1833560" cy="400429"/>
          </a:xfrm>
          <a:prstGeom prst="flowChartDecision">
            <a:avLst/>
          </a:prstGeom>
          <a:noFill/>
          <a:ln w="25400">
            <a:solidFill>
              <a:srgbClr val="BE8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최고 점수</a:t>
            </a:r>
            <a:r>
              <a:rPr lang="en-US" altLang="ko-KR" sz="1000" smtClean="0">
                <a:solidFill>
                  <a:schemeClr val="tx1"/>
                </a:solidFill>
              </a:rPr>
              <a:t>?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1" name="순서도: 판단 30"/>
          <p:cNvSpPr/>
          <p:nvPr/>
        </p:nvSpPr>
        <p:spPr>
          <a:xfrm>
            <a:off x="9927462" y="1772252"/>
            <a:ext cx="1833560" cy="400429"/>
          </a:xfrm>
          <a:prstGeom prst="flowChartDecision">
            <a:avLst/>
          </a:prstGeom>
          <a:noFill/>
          <a:ln w="25400">
            <a:solidFill>
              <a:srgbClr val="BE8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레벨업을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했는가</a:t>
            </a:r>
            <a:r>
              <a:rPr lang="en-US" altLang="ko-KR" sz="1000" smtClean="0">
                <a:solidFill>
                  <a:schemeClr val="tx1"/>
                </a:solidFill>
              </a:rPr>
              <a:t>?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0247754" y="2556303"/>
            <a:ext cx="1192976" cy="213807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결산 창</a:t>
            </a: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 smtClean="0">
                <a:solidFill>
                  <a:schemeClr val="tx1"/>
                </a:solidFill>
              </a:rPr>
              <a:t>출력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267723" y="1586391"/>
            <a:ext cx="1166796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자랑하기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</a:rPr>
              <a:t>버튼 출력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8267723" y="2210037"/>
            <a:ext cx="1166796" cy="400291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자랑하기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창 출력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39" name="직선 화살표 연결선 38"/>
          <p:cNvCxnSpPr>
            <a:stCxn id="4" idx="3"/>
            <a:endCxn id="6" idx="1"/>
          </p:cNvCxnSpPr>
          <p:nvPr/>
        </p:nvCxnSpPr>
        <p:spPr>
          <a:xfrm flipV="1">
            <a:off x="1485900" y="428505"/>
            <a:ext cx="323853" cy="1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>
            <a:stCxn id="6" idx="3"/>
            <a:endCxn id="7" idx="1"/>
          </p:cNvCxnSpPr>
          <p:nvPr/>
        </p:nvCxnSpPr>
        <p:spPr>
          <a:xfrm>
            <a:off x="2566989" y="428505"/>
            <a:ext cx="323853" cy="0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7" idx="3"/>
            <a:endCxn id="8" idx="1"/>
          </p:cNvCxnSpPr>
          <p:nvPr/>
        </p:nvCxnSpPr>
        <p:spPr>
          <a:xfrm flipV="1">
            <a:off x="3648078" y="428504"/>
            <a:ext cx="323853" cy="1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8" idx="3"/>
            <a:endCxn id="9" idx="1"/>
          </p:cNvCxnSpPr>
          <p:nvPr/>
        </p:nvCxnSpPr>
        <p:spPr>
          <a:xfrm flipV="1">
            <a:off x="4729167" y="428335"/>
            <a:ext cx="323853" cy="169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/>
          <p:cNvCxnSpPr>
            <a:stCxn id="9" idx="3"/>
            <a:endCxn id="10" idx="1"/>
          </p:cNvCxnSpPr>
          <p:nvPr/>
        </p:nvCxnSpPr>
        <p:spPr>
          <a:xfrm flipV="1">
            <a:off x="6886580" y="428266"/>
            <a:ext cx="323853" cy="69"/>
          </a:xfrm>
          <a:prstGeom prst="straightConnector1">
            <a:avLst/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stCxn id="10" idx="3"/>
            <a:endCxn id="13" idx="1"/>
          </p:cNvCxnSpPr>
          <p:nvPr/>
        </p:nvCxnSpPr>
        <p:spPr>
          <a:xfrm>
            <a:off x="7967669" y="428266"/>
            <a:ext cx="323853" cy="0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28" idx="0"/>
            <a:endCxn id="14" idx="1"/>
          </p:cNvCxnSpPr>
          <p:nvPr/>
        </p:nvCxnSpPr>
        <p:spPr>
          <a:xfrm rot="16200000" flipH="1" flipV="1">
            <a:off x="5181520" y="-4224736"/>
            <a:ext cx="1209866" cy="10115578"/>
          </a:xfrm>
          <a:prstGeom prst="bentConnector4">
            <a:avLst>
              <a:gd name="adj1" fmla="val -10629"/>
              <a:gd name="adj2" fmla="val 102260"/>
            </a:avLst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9" idx="2"/>
            <a:endCxn id="19" idx="3"/>
          </p:cNvCxnSpPr>
          <p:nvPr/>
        </p:nvCxnSpPr>
        <p:spPr>
          <a:xfrm rot="5400000">
            <a:off x="5150511" y="128612"/>
            <a:ext cx="319353" cy="1319227"/>
          </a:xfrm>
          <a:prstGeom prst="bentConnector2">
            <a:avLst/>
          </a:prstGeom>
          <a:ln w="25400">
            <a:solidFill>
              <a:srgbClr val="F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26" idx="1"/>
            <a:endCxn id="20" idx="3"/>
          </p:cNvCxnSpPr>
          <p:nvPr/>
        </p:nvCxnSpPr>
        <p:spPr>
          <a:xfrm rot="10800000" flipV="1">
            <a:off x="4581563" y="1265394"/>
            <a:ext cx="463150" cy="387531"/>
          </a:xfrm>
          <a:prstGeom prst="bentConnector3">
            <a:avLst>
              <a:gd name="adj1" fmla="val 50000"/>
            </a:avLst>
          </a:prstGeom>
          <a:ln w="25400">
            <a:solidFill>
              <a:srgbClr val="F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>
            <a:stCxn id="16" idx="3"/>
            <a:endCxn id="17" idx="1"/>
          </p:cNvCxnSpPr>
          <p:nvPr/>
        </p:nvCxnSpPr>
        <p:spPr>
          <a:xfrm>
            <a:off x="2147887" y="2247391"/>
            <a:ext cx="285751" cy="69"/>
          </a:xfrm>
          <a:prstGeom prst="straightConnector1">
            <a:avLst/>
          </a:prstGeom>
          <a:ln w="25400">
            <a:solidFill>
              <a:srgbClr val="F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>
            <a:stCxn id="16" idx="2"/>
            <a:endCxn id="15" idx="0"/>
          </p:cNvCxnSpPr>
          <p:nvPr/>
        </p:nvCxnSpPr>
        <p:spPr>
          <a:xfrm flipH="1">
            <a:off x="1107281" y="2447605"/>
            <a:ext cx="1" cy="215601"/>
          </a:xfrm>
          <a:prstGeom prst="straightConnector1">
            <a:avLst/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/>
          <p:cNvCxnSpPr>
            <a:stCxn id="15" idx="2"/>
            <a:endCxn id="18" idx="0"/>
          </p:cNvCxnSpPr>
          <p:nvPr/>
        </p:nvCxnSpPr>
        <p:spPr>
          <a:xfrm>
            <a:off x="1107281" y="2877013"/>
            <a:ext cx="0" cy="215385"/>
          </a:xfrm>
          <a:prstGeom prst="straightConnector1">
            <a:avLst/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stCxn id="30" idx="1"/>
            <a:endCxn id="33" idx="3"/>
          </p:cNvCxnSpPr>
          <p:nvPr/>
        </p:nvCxnSpPr>
        <p:spPr>
          <a:xfrm rot="10800000" flipV="1">
            <a:off x="9434520" y="1200315"/>
            <a:ext cx="492943" cy="586221"/>
          </a:xfrm>
          <a:prstGeom prst="bentConnector3">
            <a:avLst>
              <a:gd name="adj1" fmla="val 50000"/>
            </a:avLst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31" idx="1"/>
            <a:endCxn id="33" idx="3"/>
          </p:cNvCxnSpPr>
          <p:nvPr/>
        </p:nvCxnSpPr>
        <p:spPr>
          <a:xfrm rot="10800000">
            <a:off x="9434520" y="1786537"/>
            <a:ext cx="492943" cy="185930"/>
          </a:xfrm>
          <a:prstGeom prst="bentConnector3">
            <a:avLst>
              <a:gd name="adj1" fmla="val 50000"/>
            </a:avLst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화살표 연결선 118"/>
          <p:cNvCxnSpPr>
            <a:stCxn id="30" idx="0"/>
            <a:endCxn id="28" idx="2"/>
          </p:cNvCxnSpPr>
          <p:nvPr/>
        </p:nvCxnSpPr>
        <p:spPr>
          <a:xfrm flipV="1">
            <a:off x="10844242" y="628411"/>
            <a:ext cx="0" cy="371690"/>
          </a:xfrm>
          <a:prstGeom prst="straightConnector1">
            <a:avLst/>
          </a:prstGeom>
          <a:ln w="25400">
            <a:solidFill>
              <a:srgbClr val="F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/>
          <p:cNvCxnSpPr>
            <a:stCxn id="31" idx="0"/>
            <a:endCxn id="30" idx="2"/>
          </p:cNvCxnSpPr>
          <p:nvPr/>
        </p:nvCxnSpPr>
        <p:spPr>
          <a:xfrm flipV="1">
            <a:off x="10844242" y="1400530"/>
            <a:ext cx="0" cy="371722"/>
          </a:xfrm>
          <a:prstGeom prst="straightConnector1">
            <a:avLst/>
          </a:prstGeom>
          <a:ln w="25400">
            <a:solidFill>
              <a:srgbClr val="F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127"/>
          <p:cNvCxnSpPr>
            <a:stCxn id="32" idx="0"/>
            <a:endCxn id="31" idx="2"/>
          </p:cNvCxnSpPr>
          <p:nvPr/>
        </p:nvCxnSpPr>
        <p:spPr>
          <a:xfrm flipV="1">
            <a:off x="10844242" y="2172681"/>
            <a:ext cx="0" cy="383622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34" idx="3"/>
            <a:endCxn id="32" idx="1"/>
          </p:cNvCxnSpPr>
          <p:nvPr/>
        </p:nvCxnSpPr>
        <p:spPr>
          <a:xfrm>
            <a:off x="9434519" y="2410183"/>
            <a:ext cx="813235" cy="253024"/>
          </a:xfrm>
          <a:prstGeom prst="bentConnector3">
            <a:avLst>
              <a:gd name="adj1" fmla="val 50000"/>
            </a:avLst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/>
          <p:cNvCxnSpPr>
            <a:stCxn id="33" idx="2"/>
            <a:endCxn id="34" idx="0"/>
          </p:cNvCxnSpPr>
          <p:nvPr/>
        </p:nvCxnSpPr>
        <p:spPr>
          <a:xfrm>
            <a:off x="8851121" y="1986682"/>
            <a:ext cx="0" cy="223355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137"/>
          <p:cNvCxnSpPr>
            <a:stCxn id="13" idx="2"/>
            <a:endCxn id="27" idx="3"/>
          </p:cNvCxnSpPr>
          <p:nvPr/>
        </p:nvCxnSpPr>
        <p:spPr>
          <a:xfrm rot="5400000">
            <a:off x="8370667" y="765964"/>
            <a:ext cx="637053" cy="361947"/>
          </a:xfrm>
          <a:prstGeom prst="bentConnector2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151"/>
          <p:cNvCxnSpPr>
            <a:stCxn id="27" idx="1"/>
            <a:endCxn id="26" idx="3"/>
          </p:cNvCxnSpPr>
          <p:nvPr/>
        </p:nvCxnSpPr>
        <p:spPr>
          <a:xfrm flipH="1" flipV="1">
            <a:off x="6878273" y="1265395"/>
            <a:ext cx="463150" cy="69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/>
          <p:cNvCxnSpPr>
            <a:stCxn id="26" idx="2"/>
            <a:endCxn id="25" idx="0"/>
          </p:cNvCxnSpPr>
          <p:nvPr/>
        </p:nvCxnSpPr>
        <p:spPr>
          <a:xfrm flipH="1">
            <a:off x="5956170" y="1465609"/>
            <a:ext cx="5323" cy="276632"/>
          </a:xfrm>
          <a:prstGeom prst="straightConnector1">
            <a:avLst/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꺾인 연결선 164"/>
          <p:cNvCxnSpPr>
            <a:stCxn id="25" idx="1"/>
            <a:endCxn id="20" idx="3"/>
          </p:cNvCxnSpPr>
          <p:nvPr/>
        </p:nvCxnSpPr>
        <p:spPr>
          <a:xfrm rot="10800000">
            <a:off x="4581563" y="1652926"/>
            <a:ext cx="486406" cy="289922"/>
          </a:xfrm>
          <a:prstGeom prst="bentConnector3">
            <a:avLst>
              <a:gd name="adj1" fmla="val 52937"/>
            </a:avLst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꺾인 연결선 168"/>
          <p:cNvCxnSpPr>
            <a:stCxn id="20" idx="2"/>
            <a:endCxn id="21" idx="1"/>
          </p:cNvCxnSpPr>
          <p:nvPr/>
        </p:nvCxnSpPr>
        <p:spPr>
          <a:xfrm rot="16200000" flipH="1">
            <a:off x="4102228" y="1944598"/>
            <a:ext cx="380584" cy="436320"/>
          </a:xfrm>
          <a:prstGeom prst="bentConnector2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20" idx="2"/>
            <a:endCxn id="22" idx="1"/>
          </p:cNvCxnSpPr>
          <p:nvPr/>
        </p:nvCxnSpPr>
        <p:spPr>
          <a:xfrm rot="16200000" flipH="1">
            <a:off x="3934172" y="2112653"/>
            <a:ext cx="716695" cy="436319"/>
          </a:xfrm>
          <a:prstGeom prst="bentConnector2">
            <a:avLst/>
          </a:prstGeom>
          <a:ln w="25400">
            <a:solidFill>
              <a:srgbClr val="9FD9C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꺾인 연결선 174"/>
          <p:cNvCxnSpPr>
            <a:stCxn id="20" idx="2"/>
            <a:endCxn id="23" idx="1"/>
          </p:cNvCxnSpPr>
          <p:nvPr/>
        </p:nvCxnSpPr>
        <p:spPr>
          <a:xfrm rot="16200000" flipH="1">
            <a:off x="3766116" y="2280709"/>
            <a:ext cx="1052806" cy="436319"/>
          </a:xfrm>
          <a:prstGeom prst="bentConnector2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직선 화살표 연결선 183"/>
          <p:cNvCxnSpPr>
            <a:stCxn id="22" idx="3"/>
            <a:endCxn id="24" idx="1"/>
          </p:cNvCxnSpPr>
          <p:nvPr/>
        </p:nvCxnSpPr>
        <p:spPr>
          <a:xfrm flipV="1">
            <a:off x="5925140" y="2688785"/>
            <a:ext cx="344117" cy="376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꺾인 연결선 188"/>
          <p:cNvCxnSpPr>
            <a:stCxn id="14" idx="3"/>
            <a:endCxn id="32" idx="2"/>
          </p:cNvCxnSpPr>
          <p:nvPr/>
        </p:nvCxnSpPr>
        <p:spPr>
          <a:xfrm>
            <a:off x="1485900" y="1437986"/>
            <a:ext cx="9358342" cy="1332124"/>
          </a:xfrm>
          <a:prstGeom prst="bentConnector4">
            <a:avLst>
              <a:gd name="adj1" fmla="val 8187"/>
              <a:gd name="adj2" fmla="val 135394"/>
            </a:avLst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꺾인 연결선 197"/>
          <p:cNvCxnSpPr>
            <a:stCxn id="19" idx="1"/>
            <a:endCxn id="14" idx="3"/>
          </p:cNvCxnSpPr>
          <p:nvPr/>
        </p:nvCxnSpPr>
        <p:spPr>
          <a:xfrm rot="10800000" flipV="1">
            <a:off x="1485901" y="947902"/>
            <a:ext cx="1997877" cy="490084"/>
          </a:xfrm>
          <a:prstGeom prst="bentConnector3">
            <a:avLst>
              <a:gd name="adj1" fmla="val 50000"/>
            </a:avLst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꺾인 연결선 200"/>
          <p:cNvCxnSpPr>
            <a:stCxn id="20" idx="1"/>
            <a:endCxn id="14" idx="3"/>
          </p:cNvCxnSpPr>
          <p:nvPr/>
        </p:nvCxnSpPr>
        <p:spPr>
          <a:xfrm rot="10800000">
            <a:off x="1485900" y="1437986"/>
            <a:ext cx="2081256" cy="214940"/>
          </a:xfrm>
          <a:prstGeom prst="bentConnector3">
            <a:avLst>
              <a:gd name="adj1" fmla="val 52059"/>
            </a:avLst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연결선 206"/>
          <p:cNvCxnSpPr/>
          <p:nvPr/>
        </p:nvCxnSpPr>
        <p:spPr>
          <a:xfrm>
            <a:off x="0" y="3429000"/>
            <a:ext cx="12192000" cy="0"/>
          </a:xfrm>
          <a:prstGeom prst="line">
            <a:avLst/>
          </a:prstGeom>
          <a:ln w="28575">
            <a:solidFill>
              <a:srgbClr val="5E5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407193" y="3547018"/>
            <a:ext cx="3767138" cy="213807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HUD     Play time : 1</a:t>
            </a:r>
            <a:r>
              <a:rPr lang="ko-KR" altLang="en-US" sz="1000" smtClean="0">
                <a:solidFill>
                  <a:schemeClr val="tx1"/>
                </a:solidFill>
              </a:rPr>
              <a:t>분</a:t>
            </a:r>
            <a:r>
              <a:rPr lang="en-US" altLang="ko-KR" sz="1000" smtClean="0">
                <a:solidFill>
                  <a:schemeClr val="tx1"/>
                </a:solidFill>
              </a:rPr>
              <a:t>     Block type 7     Special Block 3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208" name="꺾인 연결선 207"/>
          <p:cNvCxnSpPr>
            <a:stCxn id="18" idx="2"/>
            <a:endCxn id="205" idx="1"/>
          </p:cNvCxnSpPr>
          <p:nvPr/>
        </p:nvCxnSpPr>
        <p:spPr>
          <a:xfrm rot="5400000">
            <a:off x="583379" y="3130019"/>
            <a:ext cx="347717" cy="700088"/>
          </a:xfrm>
          <a:prstGeom prst="bentConnector4">
            <a:avLst>
              <a:gd name="adj1" fmla="val 34628"/>
              <a:gd name="adj2" fmla="val 132653"/>
            </a:avLst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직사각형 212"/>
          <p:cNvSpPr/>
          <p:nvPr/>
        </p:nvSpPr>
        <p:spPr>
          <a:xfrm>
            <a:off x="842969" y="3887034"/>
            <a:ext cx="1345402" cy="239761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준비 알림 출력</a:t>
            </a:r>
            <a:r>
              <a:rPr lang="en-US" altLang="ko-KR" sz="1000" smtClean="0">
                <a:solidFill>
                  <a:schemeClr val="tx1"/>
                </a:solidFill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</a:rPr>
              <a:t>연출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2348705" y="3887033"/>
            <a:ext cx="1337468" cy="239761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시작 알림 출력</a:t>
            </a:r>
            <a:r>
              <a:rPr lang="en-US" altLang="ko-KR" sz="1000" smtClean="0">
                <a:solidFill>
                  <a:schemeClr val="tx1"/>
                </a:solidFill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</a:rPr>
              <a:t>연출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15" name="직사각형 214"/>
          <p:cNvSpPr/>
          <p:nvPr/>
        </p:nvSpPr>
        <p:spPr>
          <a:xfrm>
            <a:off x="3846507" y="3775386"/>
            <a:ext cx="1448593" cy="463056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제한시간 카운트</a:t>
            </a:r>
            <a:r>
              <a:rPr lang="en-US" altLang="ko-KR" sz="1000" smtClean="0">
                <a:solidFill>
                  <a:schemeClr val="tx1"/>
                </a:solidFill>
              </a:rPr>
              <a:t>(1</a:t>
            </a:r>
            <a:r>
              <a:rPr lang="ko-KR" altLang="en-US" sz="1000" smtClean="0">
                <a:solidFill>
                  <a:schemeClr val="tx1"/>
                </a:solidFill>
              </a:rPr>
              <a:t>분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: </a:t>
            </a:r>
            <a:r>
              <a:rPr lang="ko-KR" altLang="en-US" sz="1000" smtClean="0">
                <a:solidFill>
                  <a:schemeClr val="tx1"/>
                </a:solidFill>
              </a:rPr>
              <a:t>게임 플레이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16" name="순서도: 판단 215"/>
          <p:cNvSpPr/>
          <p:nvPr/>
        </p:nvSpPr>
        <p:spPr>
          <a:xfrm>
            <a:off x="651039" y="4951011"/>
            <a:ext cx="1537332" cy="400429"/>
          </a:xfrm>
          <a:prstGeom prst="flowChartDecision">
            <a:avLst/>
          </a:prstGeom>
          <a:noFill/>
          <a:ln w="25400">
            <a:solidFill>
              <a:srgbClr val="BE8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Time over?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17" name="순서도: 판단 216"/>
          <p:cNvSpPr/>
          <p:nvPr/>
        </p:nvSpPr>
        <p:spPr>
          <a:xfrm>
            <a:off x="2679379" y="4941670"/>
            <a:ext cx="1537332" cy="400429"/>
          </a:xfrm>
          <a:prstGeom prst="flowChartDecision">
            <a:avLst/>
          </a:prstGeom>
          <a:noFill/>
          <a:ln w="25400">
            <a:solidFill>
              <a:srgbClr val="BE8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남은</a:t>
            </a:r>
            <a:r>
              <a:rPr lang="en-US" altLang="ko-KR" sz="1000">
                <a:solidFill>
                  <a:schemeClr val="tx1"/>
                </a:solidFill>
              </a:rPr>
              <a:t> </a:t>
            </a:r>
            <a:r>
              <a:rPr lang="ko-KR" altLang="en-US" sz="1000" smtClean="0">
                <a:solidFill>
                  <a:schemeClr val="tx1"/>
                </a:solidFill>
              </a:rPr>
              <a:t>시간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15</a:t>
            </a:r>
            <a:r>
              <a:rPr lang="ko-KR" altLang="en-US" sz="1000" smtClean="0">
                <a:solidFill>
                  <a:schemeClr val="tx1"/>
                </a:solidFill>
              </a:rPr>
              <a:t>초</a:t>
            </a:r>
            <a:r>
              <a:rPr lang="en-US" altLang="ko-KR" sz="1000" smtClean="0">
                <a:solidFill>
                  <a:schemeClr val="tx1"/>
                </a:solidFill>
              </a:rPr>
              <a:t>?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218" name="꺾인 연결선 217"/>
          <p:cNvCxnSpPr>
            <a:endCxn id="213" idx="1"/>
          </p:cNvCxnSpPr>
          <p:nvPr/>
        </p:nvCxnSpPr>
        <p:spPr>
          <a:xfrm rot="16200000" flipH="1">
            <a:off x="659942" y="3823888"/>
            <a:ext cx="231530" cy="134523"/>
          </a:xfrm>
          <a:prstGeom prst="bentConnector2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/>
          <p:cNvCxnSpPr>
            <a:stCxn id="213" idx="3"/>
            <a:endCxn id="214" idx="1"/>
          </p:cNvCxnSpPr>
          <p:nvPr/>
        </p:nvCxnSpPr>
        <p:spPr>
          <a:xfrm flipV="1">
            <a:off x="2188371" y="4006914"/>
            <a:ext cx="160334" cy="1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224"/>
          <p:cNvCxnSpPr>
            <a:stCxn id="214" idx="3"/>
            <a:endCxn id="215" idx="1"/>
          </p:cNvCxnSpPr>
          <p:nvPr/>
        </p:nvCxnSpPr>
        <p:spPr>
          <a:xfrm>
            <a:off x="3686173" y="4006914"/>
            <a:ext cx="160334" cy="0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직사각형 232"/>
          <p:cNvSpPr/>
          <p:nvPr/>
        </p:nvSpPr>
        <p:spPr>
          <a:xfrm>
            <a:off x="490705" y="4434430"/>
            <a:ext cx="1858000" cy="239761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b="1" smtClean="0">
                <a:solidFill>
                  <a:srgbClr val="78B1E4"/>
                </a:solidFill>
              </a:rPr>
              <a:t>플레이 제한시간 카운트</a:t>
            </a:r>
            <a:r>
              <a:rPr lang="en-US" altLang="ko-KR" sz="1000" b="1" smtClean="0">
                <a:solidFill>
                  <a:srgbClr val="78B1E4"/>
                </a:solidFill>
              </a:rPr>
              <a:t>(</a:t>
            </a:r>
            <a:r>
              <a:rPr lang="ko-KR" altLang="en-US" sz="1000" b="1" smtClean="0">
                <a:solidFill>
                  <a:srgbClr val="78B1E4"/>
                </a:solidFill>
              </a:rPr>
              <a:t>연출</a:t>
            </a:r>
            <a:r>
              <a:rPr lang="en-US" altLang="ko-KR" sz="1000" b="1" smtClean="0">
                <a:solidFill>
                  <a:srgbClr val="78B1E4"/>
                </a:solidFill>
              </a:rPr>
              <a:t>)</a:t>
            </a:r>
            <a:endParaRPr lang="ko-KR" altLang="en-US" sz="1000" b="1">
              <a:solidFill>
                <a:srgbClr val="78B1E4"/>
              </a:solidFill>
            </a:endParaRPr>
          </a:p>
        </p:txBody>
      </p:sp>
      <p:sp>
        <p:nvSpPr>
          <p:cNvPr id="234" name="직사각형 233"/>
          <p:cNvSpPr/>
          <p:nvPr/>
        </p:nvSpPr>
        <p:spPr>
          <a:xfrm>
            <a:off x="3143981" y="5799500"/>
            <a:ext cx="1443300" cy="239761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1</a:t>
            </a:r>
            <a:r>
              <a:rPr lang="ko-KR" altLang="en-US" sz="1000" smtClean="0">
                <a:solidFill>
                  <a:schemeClr val="tx1"/>
                </a:solidFill>
              </a:rPr>
              <a:t>초 단위로 다시 체크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36" name="직사각형 235"/>
          <p:cNvSpPr/>
          <p:nvPr/>
        </p:nvSpPr>
        <p:spPr>
          <a:xfrm>
            <a:off x="1330111" y="5799501"/>
            <a:ext cx="1443300" cy="239761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1</a:t>
            </a:r>
            <a:r>
              <a:rPr lang="ko-KR" altLang="en-US" sz="1000" smtClean="0">
                <a:solidFill>
                  <a:schemeClr val="tx1"/>
                </a:solidFill>
              </a:rPr>
              <a:t>초 단위로 다시 체크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237" name="꺾인 연결선 236"/>
          <p:cNvCxnSpPr>
            <a:stCxn id="216" idx="2"/>
            <a:endCxn id="236" idx="1"/>
          </p:cNvCxnSpPr>
          <p:nvPr/>
        </p:nvCxnSpPr>
        <p:spPr>
          <a:xfrm rot="5400000">
            <a:off x="1090937" y="5590614"/>
            <a:ext cx="567942" cy="89594"/>
          </a:xfrm>
          <a:prstGeom prst="bentConnector4">
            <a:avLst>
              <a:gd name="adj1" fmla="val 39446"/>
              <a:gd name="adj2" fmla="val 355151"/>
            </a:avLst>
          </a:prstGeom>
          <a:ln w="25400">
            <a:solidFill>
              <a:srgbClr val="F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36" idx="0"/>
            <a:endCxn id="216" idx="0"/>
          </p:cNvCxnSpPr>
          <p:nvPr/>
        </p:nvCxnSpPr>
        <p:spPr>
          <a:xfrm rot="16200000" flipV="1">
            <a:off x="1311488" y="5059228"/>
            <a:ext cx="848490" cy="632056"/>
          </a:xfrm>
          <a:prstGeom prst="bentConnector5">
            <a:avLst>
              <a:gd name="adj1" fmla="val 26403"/>
              <a:gd name="adj2" fmla="val -41205"/>
              <a:gd name="adj3" fmla="val 126942"/>
            </a:avLst>
          </a:prstGeom>
          <a:ln w="25400">
            <a:solidFill>
              <a:srgbClr val="F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꺾인 연결선 253"/>
          <p:cNvCxnSpPr>
            <a:stCxn id="217" idx="2"/>
            <a:endCxn id="234" idx="1"/>
          </p:cNvCxnSpPr>
          <p:nvPr/>
        </p:nvCxnSpPr>
        <p:spPr>
          <a:xfrm rot="5400000">
            <a:off x="3007372" y="5478708"/>
            <a:ext cx="577282" cy="304064"/>
          </a:xfrm>
          <a:prstGeom prst="bentConnector4">
            <a:avLst>
              <a:gd name="adj1" fmla="val 39617"/>
              <a:gd name="adj2" fmla="val 175182"/>
            </a:avLst>
          </a:prstGeom>
          <a:ln w="25400">
            <a:solidFill>
              <a:srgbClr val="F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17" idx="1"/>
            <a:endCxn id="216" idx="0"/>
          </p:cNvCxnSpPr>
          <p:nvPr/>
        </p:nvCxnSpPr>
        <p:spPr>
          <a:xfrm rot="10800000">
            <a:off x="1419705" y="4951011"/>
            <a:ext cx="1259674" cy="190874"/>
          </a:xfrm>
          <a:prstGeom prst="bentConnector4">
            <a:avLst>
              <a:gd name="adj1" fmla="val 19489"/>
              <a:gd name="adj2" fmla="val 175851"/>
            </a:avLst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꺾인 연결선 265"/>
          <p:cNvCxnSpPr>
            <a:stCxn id="216" idx="1"/>
            <a:endCxn id="269" idx="1"/>
          </p:cNvCxnSpPr>
          <p:nvPr/>
        </p:nvCxnSpPr>
        <p:spPr>
          <a:xfrm rot="10800000" flipH="1" flipV="1">
            <a:off x="651038" y="5151226"/>
            <a:ext cx="275137" cy="1397014"/>
          </a:xfrm>
          <a:prstGeom prst="bentConnector3">
            <a:avLst>
              <a:gd name="adj1" fmla="val -83086"/>
            </a:avLst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직사각형 268"/>
          <p:cNvSpPr/>
          <p:nvPr/>
        </p:nvSpPr>
        <p:spPr>
          <a:xfrm>
            <a:off x="926176" y="6428359"/>
            <a:ext cx="1336964" cy="239761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타임 오버 출력</a:t>
            </a:r>
            <a:r>
              <a:rPr lang="en-US" altLang="ko-KR" sz="1000" smtClean="0">
                <a:solidFill>
                  <a:schemeClr val="tx1"/>
                </a:solidFill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</a:rPr>
              <a:t>연출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271" name="직사각형 270"/>
          <p:cNvSpPr/>
          <p:nvPr/>
        </p:nvSpPr>
        <p:spPr>
          <a:xfrm>
            <a:off x="2891258" y="6428359"/>
            <a:ext cx="1531160" cy="239761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보너스 결산 출력</a:t>
            </a:r>
            <a:r>
              <a:rPr lang="en-US" altLang="ko-KR" sz="1000" smtClean="0">
                <a:solidFill>
                  <a:schemeClr val="tx1"/>
                </a:solidFill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</a:rPr>
              <a:t>연출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</a:rPr>
              <a:t>결산식 적용 과정 연출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272" name="직선 화살표 연결선 271"/>
          <p:cNvCxnSpPr>
            <a:stCxn id="269" idx="3"/>
            <a:endCxn id="271" idx="1"/>
          </p:cNvCxnSpPr>
          <p:nvPr/>
        </p:nvCxnSpPr>
        <p:spPr>
          <a:xfrm>
            <a:off x="2263140" y="6548240"/>
            <a:ext cx="628118" cy="0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직사각형 274"/>
          <p:cNvSpPr/>
          <p:nvPr/>
        </p:nvSpPr>
        <p:spPr>
          <a:xfrm>
            <a:off x="7389632" y="6454313"/>
            <a:ext cx="878091" cy="213807"/>
          </a:xfrm>
          <a:prstGeom prst="rect">
            <a:avLst/>
          </a:prstGeom>
          <a:noFill/>
          <a:ln w="25400" cap="rnd">
            <a:solidFill>
              <a:srgbClr val="C9C0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결산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276" name="직선 화살표 연결선 275"/>
          <p:cNvCxnSpPr>
            <a:stCxn id="271" idx="3"/>
            <a:endCxn id="275" idx="1"/>
          </p:cNvCxnSpPr>
          <p:nvPr/>
        </p:nvCxnSpPr>
        <p:spPr>
          <a:xfrm>
            <a:off x="4422418" y="6548240"/>
            <a:ext cx="2967214" cy="12977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75" idx="3"/>
            <a:endCxn id="32" idx="3"/>
          </p:cNvCxnSpPr>
          <p:nvPr/>
        </p:nvCxnSpPr>
        <p:spPr>
          <a:xfrm flipV="1">
            <a:off x="8267723" y="2663207"/>
            <a:ext cx="3173007" cy="3898010"/>
          </a:xfrm>
          <a:prstGeom prst="bentConnector3">
            <a:avLst>
              <a:gd name="adj1" fmla="val 113509"/>
            </a:avLst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꺾인 연결선 290"/>
          <p:cNvCxnSpPr>
            <a:stCxn id="215" idx="2"/>
            <a:endCxn id="217" idx="0"/>
          </p:cNvCxnSpPr>
          <p:nvPr/>
        </p:nvCxnSpPr>
        <p:spPr>
          <a:xfrm rot="5400000">
            <a:off x="3657811" y="4028677"/>
            <a:ext cx="703228" cy="1122759"/>
          </a:xfrm>
          <a:prstGeom prst="bentConnector3">
            <a:avLst>
              <a:gd name="adj1" fmla="val 50000"/>
            </a:avLst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꺾인 연결선 257"/>
          <p:cNvCxnSpPr>
            <a:stCxn id="234" idx="0"/>
            <a:endCxn id="217" idx="0"/>
          </p:cNvCxnSpPr>
          <p:nvPr/>
        </p:nvCxnSpPr>
        <p:spPr>
          <a:xfrm rot="16200000" flipV="1">
            <a:off x="3227923" y="5161792"/>
            <a:ext cx="857830" cy="417586"/>
          </a:xfrm>
          <a:prstGeom prst="bentConnector5">
            <a:avLst>
              <a:gd name="adj1" fmla="val 26660"/>
              <a:gd name="adj2" fmla="val -111902"/>
              <a:gd name="adj3" fmla="val 126649"/>
            </a:avLst>
          </a:prstGeom>
          <a:ln w="25400">
            <a:solidFill>
              <a:srgbClr val="F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직사각형 297"/>
          <p:cNvSpPr/>
          <p:nvPr/>
        </p:nvSpPr>
        <p:spPr>
          <a:xfrm>
            <a:off x="5461530" y="3775385"/>
            <a:ext cx="5231870" cy="463056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동일한 타입</a:t>
            </a:r>
            <a:r>
              <a:rPr lang="en-US" altLang="ko-KR" sz="1000" smtClean="0">
                <a:solidFill>
                  <a:schemeClr val="tx1"/>
                </a:solidFill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</a:rPr>
              <a:t>같은 색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  <a:r>
              <a:rPr lang="ko-KR" altLang="en-US" sz="1000" smtClean="0">
                <a:solidFill>
                  <a:schemeClr val="tx1"/>
                </a:solidFill>
              </a:rPr>
              <a:t>의 블록이 상하좌우로 </a:t>
            </a:r>
            <a:r>
              <a:rPr lang="en-US" altLang="ko-KR" sz="1000" smtClean="0">
                <a:solidFill>
                  <a:schemeClr val="tx1"/>
                </a:solidFill>
              </a:rPr>
              <a:t>3</a:t>
            </a:r>
            <a:r>
              <a:rPr lang="ko-KR" altLang="en-US" sz="1000" smtClean="0">
                <a:solidFill>
                  <a:schemeClr val="tx1"/>
                </a:solidFill>
              </a:rPr>
              <a:t>개 이상 연결되어 있을 시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클릭하면 블록이 사라지면서</a:t>
            </a:r>
            <a:r>
              <a:rPr lang="en-US" altLang="ko-KR" sz="1000" smtClean="0">
                <a:solidFill>
                  <a:schemeClr val="tx1"/>
                </a:solidFill>
              </a:rPr>
              <a:t>, </a:t>
            </a:r>
            <a:r>
              <a:rPr lang="ko-KR" altLang="en-US" sz="1000" smtClean="0">
                <a:solidFill>
                  <a:schemeClr val="tx1"/>
                </a:solidFill>
              </a:rPr>
              <a:t>사라지는 블록 개수에 맞게 점수가 쌓인다</a:t>
            </a:r>
            <a:r>
              <a:rPr lang="en-US" altLang="ko-KR" sz="1000" smtClean="0">
                <a:solidFill>
                  <a:schemeClr val="tx1"/>
                </a:solidFill>
              </a:rPr>
              <a:t>.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299" name="직선 화살표 연결선 298"/>
          <p:cNvCxnSpPr>
            <a:stCxn id="215" idx="3"/>
            <a:endCxn id="298" idx="1"/>
          </p:cNvCxnSpPr>
          <p:nvPr/>
        </p:nvCxnSpPr>
        <p:spPr>
          <a:xfrm flipV="1">
            <a:off x="5295100" y="4006913"/>
            <a:ext cx="166430" cy="1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3" name="직사각형 302"/>
          <p:cNvSpPr/>
          <p:nvPr/>
        </p:nvSpPr>
        <p:spPr>
          <a:xfrm>
            <a:off x="6269257" y="4523603"/>
            <a:ext cx="5231870" cy="463056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000" b="1" smtClean="0">
                <a:solidFill>
                  <a:schemeClr val="tx1"/>
                </a:solidFill>
              </a:rPr>
              <a:t>: </a:t>
            </a:r>
            <a:r>
              <a:rPr lang="ko-KR" altLang="en-US" sz="1000" b="1" smtClean="0">
                <a:solidFill>
                  <a:schemeClr val="tx1"/>
                </a:solidFill>
              </a:rPr>
              <a:t>탭 명령이 입력된 블록의 상하 좌우에 직접 연결된 블록들 중</a:t>
            </a:r>
            <a:endParaRPr lang="en-US" altLang="ko-KR" sz="1000" b="1" smtClean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ko-KR" altLang="en-US" sz="1000" b="1" smtClean="0">
                <a:solidFill>
                  <a:schemeClr val="tx1"/>
                </a:solidFill>
              </a:rPr>
              <a:t>같은 색의 블록이 </a:t>
            </a:r>
            <a:r>
              <a:rPr lang="en-US" altLang="ko-KR" sz="1000" b="1" smtClean="0">
                <a:solidFill>
                  <a:schemeClr val="tx1"/>
                </a:solidFill>
              </a:rPr>
              <a:t>3</a:t>
            </a:r>
            <a:r>
              <a:rPr lang="ko-KR" altLang="en-US" sz="1000" b="1" smtClean="0">
                <a:solidFill>
                  <a:schemeClr val="tx1"/>
                </a:solidFill>
              </a:rPr>
              <a:t>개 이상 연결되어 있는가</a:t>
            </a:r>
            <a:r>
              <a:rPr lang="en-US" altLang="ko-KR" sz="1000" b="1" smtClean="0">
                <a:solidFill>
                  <a:schemeClr val="tx1"/>
                </a:solidFill>
              </a:rPr>
              <a:t>?</a:t>
            </a:r>
            <a:endParaRPr lang="ko-KR" altLang="en-US" sz="1000" b="1">
              <a:solidFill>
                <a:schemeClr val="tx1"/>
              </a:solidFill>
            </a:endParaRPr>
          </a:p>
        </p:txBody>
      </p:sp>
      <p:cxnSp>
        <p:nvCxnSpPr>
          <p:cNvPr id="304" name="직선 화살표 연결선 303"/>
          <p:cNvCxnSpPr>
            <a:stCxn id="306" idx="1"/>
            <a:endCxn id="310" idx="3"/>
          </p:cNvCxnSpPr>
          <p:nvPr/>
        </p:nvCxnSpPr>
        <p:spPr>
          <a:xfrm flipH="1">
            <a:off x="5516708" y="4658514"/>
            <a:ext cx="238255" cy="5704"/>
          </a:xfrm>
          <a:prstGeom prst="straightConnector1">
            <a:avLst/>
          </a:prstGeom>
          <a:ln w="25400">
            <a:solidFill>
              <a:srgbClr val="C9C0C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순서도: 판단 305"/>
          <p:cNvSpPr/>
          <p:nvPr/>
        </p:nvSpPr>
        <p:spPr>
          <a:xfrm>
            <a:off x="5754963" y="4458299"/>
            <a:ext cx="514294" cy="400429"/>
          </a:xfrm>
          <a:prstGeom prst="flowChartDecision">
            <a:avLst/>
          </a:prstGeom>
          <a:noFill/>
          <a:ln w="25400">
            <a:solidFill>
              <a:srgbClr val="BE8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10" name="직사각형 309"/>
          <p:cNvSpPr/>
          <p:nvPr/>
        </p:nvSpPr>
        <p:spPr>
          <a:xfrm>
            <a:off x="4650573" y="4432690"/>
            <a:ext cx="866135" cy="463056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지정 사운드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출력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322" name="꺾인 연결선 321"/>
          <p:cNvCxnSpPr>
            <a:stCxn id="306" idx="2"/>
            <a:endCxn id="325" idx="0"/>
          </p:cNvCxnSpPr>
          <p:nvPr/>
        </p:nvCxnSpPr>
        <p:spPr>
          <a:xfrm rot="16200000" flipH="1">
            <a:off x="5882890" y="4987948"/>
            <a:ext cx="434593" cy="176152"/>
          </a:xfrm>
          <a:prstGeom prst="bentConnector3">
            <a:avLst>
              <a:gd name="adj1" fmla="val 50000"/>
            </a:avLst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순서도: 판단 324"/>
          <p:cNvSpPr/>
          <p:nvPr/>
        </p:nvSpPr>
        <p:spPr>
          <a:xfrm>
            <a:off x="5120010" y="5293321"/>
            <a:ext cx="2136504" cy="400429"/>
          </a:xfrm>
          <a:prstGeom prst="flowChartDecision">
            <a:avLst/>
          </a:prstGeom>
          <a:noFill/>
          <a:ln w="25400">
            <a:solidFill>
              <a:srgbClr val="BE8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1</a:t>
            </a:r>
            <a:r>
              <a:rPr lang="ko-KR" altLang="en-US" sz="1000" smtClean="0">
                <a:solidFill>
                  <a:schemeClr val="tx1"/>
                </a:solidFill>
              </a:rPr>
              <a:t>초 내에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블록 연속 처리</a:t>
            </a:r>
            <a:r>
              <a:rPr lang="en-US" altLang="ko-KR" sz="1000" smtClean="0">
                <a:solidFill>
                  <a:schemeClr val="tx1"/>
                </a:solidFill>
              </a:rPr>
              <a:t>?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28" name="직사각형 327"/>
          <p:cNvSpPr/>
          <p:nvPr/>
        </p:nvSpPr>
        <p:spPr>
          <a:xfrm>
            <a:off x="4350549" y="5006315"/>
            <a:ext cx="866135" cy="227066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이벤트 없음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330" name="꺾인 연결선 329"/>
          <p:cNvCxnSpPr>
            <a:stCxn id="325" idx="1"/>
            <a:endCxn id="328" idx="2"/>
          </p:cNvCxnSpPr>
          <p:nvPr/>
        </p:nvCxnSpPr>
        <p:spPr>
          <a:xfrm rot="10800000">
            <a:off x="4783618" y="5233382"/>
            <a:ext cx="336393" cy="260155"/>
          </a:xfrm>
          <a:prstGeom prst="bentConnector2">
            <a:avLst/>
          </a:prstGeom>
          <a:ln w="25400">
            <a:solidFill>
              <a:srgbClr val="F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3" name="직사각형 332"/>
          <p:cNvSpPr/>
          <p:nvPr/>
        </p:nvSpPr>
        <p:spPr>
          <a:xfrm>
            <a:off x="6634644" y="5775809"/>
            <a:ext cx="1656878" cy="597020"/>
          </a:xfrm>
          <a:prstGeom prst="rect">
            <a:avLst/>
          </a:prstGeom>
          <a:noFill/>
          <a:ln w="25400" cap="rnd">
            <a:solidFill>
              <a:srgbClr val="78B1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콤보 카운트 수행 </a:t>
            </a:r>
            <a:r>
              <a:rPr lang="en-US" altLang="ko-KR" sz="1000" smtClean="0">
                <a:solidFill>
                  <a:schemeClr val="tx1"/>
                </a:solidFill>
              </a:rPr>
              <a:t>(</a:t>
            </a:r>
            <a:r>
              <a:rPr lang="ko-KR" altLang="en-US" sz="1000" smtClean="0">
                <a:solidFill>
                  <a:schemeClr val="tx1"/>
                </a:solidFill>
              </a:rPr>
              <a:t>연출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(1</a:t>
            </a:r>
            <a:r>
              <a:rPr lang="ko-KR" altLang="en-US" sz="1000" smtClean="0">
                <a:solidFill>
                  <a:schemeClr val="tx1"/>
                </a:solidFill>
              </a:rPr>
              <a:t>초 내 연속 블록 처리 시</a:t>
            </a:r>
            <a:r>
              <a:rPr lang="en-US" altLang="ko-KR" sz="1000" smtClean="0">
                <a:solidFill>
                  <a:schemeClr val="tx1"/>
                </a:solidFill>
              </a:rPr>
              <a:t>)</a:t>
            </a: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무제한 누적 수행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38" name="순서도: 판단 337"/>
          <p:cNvSpPr/>
          <p:nvPr/>
        </p:nvSpPr>
        <p:spPr>
          <a:xfrm>
            <a:off x="7629568" y="5287616"/>
            <a:ext cx="1489364" cy="400429"/>
          </a:xfrm>
          <a:prstGeom prst="flowChartDecision">
            <a:avLst/>
          </a:prstGeom>
          <a:noFill/>
          <a:ln w="25400">
            <a:solidFill>
              <a:srgbClr val="BE8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5</a:t>
            </a:r>
            <a:r>
              <a:rPr lang="ko-KR" altLang="en-US" sz="1000" smtClean="0">
                <a:solidFill>
                  <a:schemeClr val="tx1"/>
                </a:solidFill>
              </a:rPr>
              <a:t>콤보</a:t>
            </a:r>
            <a:endParaRPr lang="en-US" altLang="ko-KR" sz="1000" smtClean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달성</a:t>
            </a:r>
            <a:r>
              <a:rPr lang="en-US" altLang="ko-KR" sz="1000" smtClean="0">
                <a:solidFill>
                  <a:schemeClr val="tx1"/>
                </a:solidFill>
              </a:rPr>
              <a:t>?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339" name="꺾인 연결선 338"/>
          <p:cNvCxnSpPr>
            <a:stCxn id="325" idx="3"/>
            <a:endCxn id="333" idx="0"/>
          </p:cNvCxnSpPr>
          <p:nvPr/>
        </p:nvCxnSpPr>
        <p:spPr>
          <a:xfrm>
            <a:off x="7256514" y="5493536"/>
            <a:ext cx="206569" cy="282273"/>
          </a:xfrm>
          <a:prstGeom prst="bentConnector2">
            <a:avLst/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직선 화살표 연결선 342"/>
          <p:cNvCxnSpPr>
            <a:stCxn id="325" idx="3"/>
            <a:endCxn id="338" idx="1"/>
          </p:cNvCxnSpPr>
          <p:nvPr/>
        </p:nvCxnSpPr>
        <p:spPr>
          <a:xfrm flipV="1">
            <a:off x="7256514" y="5487831"/>
            <a:ext cx="373054" cy="5705"/>
          </a:xfrm>
          <a:prstGeom prst="straightConnector1">
            <a:avLst/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직사각형 345"/>
          <p:cNvSpPr/>
          <p:nvPr/>
        </p:nvSpPr>
        <p:spPr>
          <a:xfrm>
            <a:off x="9335974" y="5372066"/>
            <a:ext cx="1448593" cy="231528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ko-KR" altLang="en-US" sz="1000" b="1" smtClean="0">
                <a:solidFill>
                  <a:srgbClr val="78B1E4"/>
                </a:solidFill>
              </a:rPr>
              <a:t>게임 내 아이템 생성</a:t>
            </a:r>
            <a:endParaRPr lang="ko-KR" altLang="en-US" sz="1000" b="1">
              <a:solidFill>
                <a:srgbClr val="78B1E4"/>
              </a:solidFill>
            </a:endParaRPr>
          </a:p>
        </p:txBody>
      </p:sp>
      <p:cxnSp>
        <p:nvCxnSpPr>
          <p:cNvPr id="347" name="직선 화살표 연결선 346"/>
          <p:cNvCxnSpPr>
            <a:stCxn id="338" idx="3"/>
            <a:endCxn id="346" idx="1"/>
          </p:cNvCxnSpPr>
          <p:nvPr/>
        </p:nvCxnSpPr>
        <p:spPr>
          <a:xfrm flipV="1">
            <a:off x="9118932" y="5487830"/>
            <a:ext cx="217042" cy="1"/>
          </a:xfrm>
          <a:prstGeom prst="straightConnector1">
            <a:avLst/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직사각형 349"/>
          <p:cNvSpPr/>
          <p:nvPr/>
        </p:nvSpPr>
        <p:spPr>
          <a:xfrm>
            <a:off x="9266156" y="5627609"/>
            <a:ext cx="2503100" cy="463056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: 5</a:t>
            </a:r>
            <a:r>
              <a:rPr lang="ko-KR" altLang="en-US" sz="1000" smtClean="0">
                <a:solidFill>
                  <a:schemeClr val="tx1"/>
                </a:solidFill>
              </a:rPr>
              <a:t>콤보를 달성 시 </a:t>
            </a:r>
            <a:r>
              <a:rPr lang="en-US" altLang="ko-KR" sz="1000" smtClean="0">
                <a:solidFill>
                  <a:schemeClr val="tx1"/>
                </a:solidFill>
              </a:rPr>
              <a:t>(Bomb Block</a:t>
            </a:r>
          </a:p>
          <a:p>
            <a:pPr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아이템이 블록을 대신해서 생성됨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51" name="순서도: 판단 350"/>
          <p:cNvSpPr/>
          <p:nvPr/>
        </p:nvSpPr>
        <p:spPr>
          <a:xfrm>
            <a:off x="9791224" y="4908401"/>
            <a:ext cx="1797409" cy="400429"/>
          </a:xfrm>
          <a:prstGeom prst="flowChartDecision">
            <a:avLst/>
          </a:prstGeom>
          <a:noFill/>
          <a:ln w="25400">
            <a:solidFill>
              <a:srgbClr val="BE83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ko-KR" sz="1000" smtClean="0">
                <a:solidFill>
                  <a:schemeClr val="tx1"/>
                </a:solidFill>
              </a:rPr>
              <a:t>Spcial Block </a:t>
            </a:r>
            <a:r>
              <a:rPr lang="ko-KR" altLang="en-US" sz="1000" smtClean="0">
                <a:solidFill>
                  <a:schemeClr val="tx1"/>
                </a:solidFill>
              </a:rPr>
              <a:t>생성</a:t>
            </a:r>
            <a:r>
              <a:rPr lang="en-US" altLang="ko-KR" sz="1000" smtClean="0">
                <a:solidFill>
                  <a:schemeClr val="tx1"/>
                </a:solidFill>
              </a:rPr>
              <a:t>?</a:t>
            </a:r>
            <a:endParaRPr lang="ko-KR" altLang="en-US" sz="1000">
              <a:solidFill>
                <a:schemeClr val="tx1"/>
              </a:solidFill>
            </a:endParaRPr>
          </a:p>
        </p:txBody>
      </p:sp>
      <p:sp>
        <p:nvSpPr>
          <p:cNvPr id="352" name="직사각형 351"/>
          <p:cNvSpPr/>
          <p:nvPr/>
        </p:nvSpPr>
        <p:spPr>
          <a:xfrm>
            <a:off x="8696808" y="5000110"/>
            <a:ext cx="866135" cy="227066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smtClean="0">
                <a:solidFill>
                  <a:schemeClr val="tx1"/>
                </a:solidFill>
              </a:rPr>
              <a:t>이벤트 없음</a:t>
            </a:r>
            <a:endParaRPr lang="ko-KR" altLang="en-US" sz="1000">
              <a:solidFill>
                <a:schemeClr val="tx1"/>
              </a:solidFill>
            </a:endParaRPr>
          </a:p>
        </p:txBody>
      </p:sp>
      <p:cxnSp>
        <p:nvCxnSpPr>
          <p:cNvPr id="353" name="직선 화살표 연결선 352"/>
          <p:cNvCxnSpPr>
            <a:endCxn id="352" idx="3"/>
          </p:cNvCxnSpPr>
          <p:nvPr/>
        </p:nvCxnSpPr>
        <p:spPr>
          <a:xfrm flipH="1">
            <a:off x="9562943" y="5108616"/>
            <a:ext cx="175440" cy="5027"/>
          </a:xfrm>
          <a:prstGeom prst="straightConnector1">
            <a:avLst/>
          </a:prstGeom>
          <a:ln w="25400">
            <a:solidFill>
              <a:srgbClr val="F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직사각형 357"/>
          <p:cNvSpPr/>
          <p:nvPr/>
        </p:nvSpPr>
        <p:spPr>
          <a:xfrm>
            <a:off x="10335770" y="4291204"/>
            <a:ext cx="1001143" cy="398200"/>
          </a:xfrm>
          <a:prstGeom prst="rect">
            <a:avLst/>
          </a:prstGeom>
          <a:noFill/>
          <a:ln w="25400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ko-KR" altLang="en-US" sz="1000" b="1" smtClean="0">
                <a:solidFill>
                  <a:srgbClr val="78B1E4"/>
                </a:solidFill>
              </a:rPr>
              <a:t>게임 내</a:t>
            </a:r>
            <a:endParaRPr lang="en-US" altLang="ko-KR" sz="1000" b="1" smtClean="0">
              <a:solidFill>
                <a:srgbClr val="78B1E4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ko-KR" altLang="en-US" sz="1000" b="1" smtClean="0">
                <a:solidFill>
                  <a:srgbClr val="78B1E4"/>
                </a:solidFill>
              </a:rPr>
              <a:t>특수블록 생성</a:t>
            </a:r>
            <a:endParaRPr lang="ko-KR" altLang="en-US" sz="1000" b="1">
              <a:solidFill>
                <a:srgbClr val="78B1E4"/>
              </a:solidFill>
            </a:endParaRPr>
          </a:p>
        </p:txBody>
      </p:sp>
      <p:cxnSp>
        <p:nvCxnSpPr>
          <p:cNvPr id="359" name="꺾인 연결선 358"/>
          <p:cNvCxnSpPr>
            <a:stCxn id="351" idx="3"/>
            <a:endCxn id="358" idx="3"/>
          </p:cNvCxnSpPr>
          <p:nvPr/>
        </p:nvCxnSpPr>
        <p:spPr>
          <a:xfrm flipH="1" flipV="1">
            <a:off x="11336913" y="4490304"/>
            <a:ext cx="251720" cy="618312"/>
          </a:xfrm>
          <a:prstGeom prst="bentConnector3">
            <a:avLst>
              <a:gd name="adj1" fmla="val -73787"/>
            </a:avLst>
          </a:prstGeom>
          <a:ln w="25400">
            <a:solidFill>
              <a:srgbClr val="78B1E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제목 1"/>
          <p:cNvSpPr>
            <a:spLocks noGrp="1"/>
          </p:cNvSpPr>
          <p:nvPr>
            <p:ph type="title"/>
          </p:nvPr>
        </p:nvSpPr>
        <p:spPr>
          <a:xfrm>
            <a:off x="2106" y="-1378998"/>
            <a:ext cx="10515600" cy="1325563"/>
          </a:xfrm>
        </p:spPr>
        <p:txBody>
          <a:bodyPr/>
          <a:lstStyle/>
          <a:p>
            <a:r>
              <a:rPr lang="ko-KR" altLang="en-US" smtClean="0"/>
              <a:t>따라하기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80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메인</a:t>
            </a:r>
            <a:r>
              <a:rPr lang="en-US" altLang="ko-KR" smtClean="0"/>
              <a:t> </a:t>
            </a:r>
            <a:r>
              <a:rPr lang="ko-KR" altLang="en-US" smtClean="0"/>
              <a:t>허드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메인 플레이의 요소만 보여주는 부분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75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제목 1"/>
          <p:cNvSpPr>
            <a:spLocks noGrp="1"/>
          </p:cNvSpPr>
          <p:nvPr>
            <p:ph type="title"/>
          </p:nvPr>
        </p:nvSpPr>
        <p:spPr>
          <a:xfrm>
            <a:off x="383002" y="335503"/>
            <a:ext cx="11499021" cy="1325563"/>
          </a:xfrm>
        </p:spPr>
        <p:txBody>
          <a:bodyPr/>
          <a:lstStyle/>
          <a:p>
            <a:r>
              <a:rPr lang="ko-KR" altLang="en-US" smtClean="0"/>
              <a:t>이제 내 게임에 맞게 순서도를 만들어보자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912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526</Words>
  <Application>Microsoft Office PowerPoint</Application>
  <PresentationFormat>와이드스크린</PresentationFormat>
  <Paragraphs>117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시스템 포트폴리오</vt:lpstr>
      <vt:lpstr>회사에 들어갔을 때 하는 일 – 가장 예의있는 기획자의 자세</vt:lpstr>
      <vt:lpstr>우리의 포트폴리오</vt:lpstr>
      <vt:lpstr>PowerPoint 프레젠테이션</vt:lpstr>
      <vt:lpstr>PowerPoint 프레젠테이션</vt:lpstr>
      <vt:lpstr>순서도</vt:lpstr>
      <vt:lpstr>PowerPoint 프레젠테이션</vt:lpstr>
      <vt:lpstr>PowerPoint 프레젠테이션</vt:lpstr>
      <vt:lpstr>따라하기</vt:lpstr>
      <vt:lpstr>메인 허드</vt:lpstr>
      <vt:lpstr>이제 내 게임에 맞게 순서도를 만들어보자.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시스템 포트폴리오</dc:title>
  <dc:creator>FullName</dc:creator>
  <cp:lastModifiedBy>FullName</cp:lastModifiedBy>
  <cp:revision>14</cp:revision>
  <dcterms:created xsi:type="dcterms:W3CDTF">2026-08-18T05:30:13Z</dcterms:created>
  <dcterms:modified xsi:type="dcterms:W3CDTF">2026-08-18T06:50:43Z</dcterms:modified>
</cp:coreProperties>
</file>